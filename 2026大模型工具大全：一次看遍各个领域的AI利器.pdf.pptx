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3" Type="http://schemas.openxmlformats.org/officeDocument/2006/relationships/viewProps" Target="viewProps.xml"/><Relationship Id="rId52" Type="http://schemas.openxmlformats.org/officeDocument/2006/relationships/tableStyles" Target="tableStyles.xml"/><Relationship Id="rId51" Type="http://schemas.openxmlformats.org/officeDocument/2006/relationships/presProps" Target="presProps.xml"/><Relationship Id="rId50" Type="http://schemas.openxmlformats.org/officeDocument/2006/relationships/slide" Target="slides/slide49.xml"/><Relationship Id="rId5" Type="http://schemas.openxmlformats.org/officeDocument/2006/relationships/slide" Target="slides/slide4.xml"/><Relationship Id="rId49" Type="http://schemas.openxmlformats.org/officeDocument/2006/relationships/slide" Target="slides/slide48.xml"/><Relationship Id="rId48" Type="http://schemas.openxmlformats.org/officeDocument/2006/relationships/slide" Target="slides/slide47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8" Type="http://schemas.openxmlformats.org/officeDocument/2006/relationships/image" Target="../media/image37.jpeg"/><Relationship Id="rId47" Type="http://schemas.openxmlformats.org/officeDocument/2006/relationships/image" Target="../media/image36.png"/><Relationship Id="rId46" Type="http://schemas.openxmlformats.org/officeDocument/2006/relationships/image" Target="../media/image35.jpeg"/><Relationship Id="rId45" Type="http://schemas.openxmlformats.org/officeDocument/2006/relationships/image" Target="../media/image34.png"/><Relationship Id="rId44" Type="http://schemas.openxmlformats.org/officeDocument/2006/relationships/image" Target="../media/image33.png"/><Relationship Id="rId43" Type="http://schemas.openxmlformats.org/officeDocument/2006/relationships/image" Target="../media/image32.jpeg"/><Relationship Id="rId42" Type="http://schemas.openxmlformats.org/officeDocument/2006/relationships/image" Target="../media/image31.jpeg"/><Relationship Id="rId41" Type="http://schemas.openxmlformats.org/officeDocument/2006/relationships/image" Target="../media/image30.png"/><Relationship Id="rId40" Type="http://schemas.openxmlformats.org/officeDocument/2006/relationships/image" Target="../media/image29.jpeg"/><Relationship Id="rId4" Type="http://schemas.openxmlformats.org/officeDocument/2006/relationships/hyperlink" Target="https://gemini.google.com" TargetMode="External"/><Relationship Id="rId39" Type="http://schemas.openxmlformats.org/officeDocument/2006/relationships/image" Target="../media/image28.png"/><Relationship Id="rId38" Type="http://schemas.openxmlformats.org/officeDocument/2006/relationships/image" Target="../media/image27.png"/><Relationship Id="rId37" Type="http://schemas.openxmlformats.org/officeDocument/2006/relationships/hyperlink" Target="https://claude.com/" TargetMode="External"/><Relationship Id="rId36" Type="http://schemas.openxmlformats.org/officeDocument/2006/relationships/image" Target="../media/image26.png"/><Relationship Id="rId35" Type="http://schemas.openxmlformats.org/officeDocument/2006/relationships/image" Target="../media/image25.png"/><Relationship Id="rId34" Type="http://schemas.openxmlformats.org/officeDocument/2006/relationships/image" Target="../media/image24.png"/><Relationship Id="rId33" Type="http://schemas.openxmlformats.org/officeDocument/2006/relationships/hyperlink" Target="https://www.kimi.com/" TargetMode="External"/><Relationship Id="rId32" Type="http://schemas.openxmlformats.org/officeDocument/2006/relationships/image" Target="../media/image23.png"/><Relationship Id="rId31" Type="http://schemas.openxmlformats.org/officeDocument/2006/relationships/image" Target="../media/image22.png"/><Relationship Id="rId30" Type="http://schemas.openxmlformats.org/officeDocument/2006/relationships/image" Target="../media/image21.png"/><Relationship Id="rId3" Type="http://schemas.openxmlformats.org/officeDocument/2006/relationships/hyperlink" Target="https://chat.openai.com/" TargetMode="External"/><Relationship Id="rId29" Type="http://schemas.openxmlformats.org/officeDocument/2006/relationships/hyperlink" Target="https://www.qianwen.com/" TargetMode="External"/><Relationship Id="rId28" Type="http://schemas.openxmlformats.org/officeDocument/2006/relationships/image" Target="../media/image20.png"/><Relationship Id="rId27" Type="http://schemas.openxmlformats.org/officeDocument/2006/relationships/image" Target="../media/image19.png"/><Relationship Id="rId26" Type="http://schemas.openxmlformats.org/officeDocument/2006/relationships/image" Target="../media/image18.png"/><Relationship Id="rId25" Type="http://schemas.openxmlformats.org/officeDocument/2006/relationships/hyperlink" Target="https://www.deepseek.com/" TargetMode="External"/><Relationship Id="rId24" Type="http://schemas.openxmlformats.org/officeDocument/2006/relationships/image" Target="../media/image17.png"/><Relationship Id="rId23" Type="http://schemas.openxmlformats.org/officeDocument/2006/relationships/image" Target="../media/image16.png"/><Relationship Id="rId22" Type="http://schemas.openxmlformats.org/officeDocument/2006/relationships/image" Target="../media/image15.png"/><Relationship Id="rId21" Type="http://schemas.openxmlformats.org/officeDocument/2006/relationships/hyperlink" Target="https://yuanbao.tencent.com/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1.png"/><Relationship Id="rId19" Type="http://schemas.openxmlformats.org/officeDocument/2006/relationships/image" Target="../media/image13.png"/><Relationship Id="rId18" Type="http://schemas.openxmlformats.org/officeDocument/2006/relationships/image" Target="../media/image12.png"/><Relationship Id="rId17" Type="http://schemas.openxmlformats.org/officeDocument/2006/relationships/hyperlink" Target="https://grok.x.ai" TargetMode="External"/><Relationship Id="rId16" Type="http://schemas.openxmlformats.org/officeDocument/2006/relationships/image" Target="../media/image11.png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1" Type="http://schemas.openxmlformats.org/officeDocument/2006/relationships/hyperlink" Target="https://www.zhipuai.cn/" TargetMode="External"/><Relationship Id="rId10" Type="http://schemas.openxmlformats.org/officeDocument/2006/relationships/hyperlink" Target="https://www.doubao.com/chat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jpeg"/><Relationship Id="rId6" Type="http://schemas.openxmlformats.org/officeDocument/2006/relationships/image" Target="../media/image41.png"/><Relationship Id="rId55" Type="http://schemas.openxmlformats.org/officeDocument/2006/relationships/image" Target="../media/image81.jpeg"/><Relationship Id="rId54" Type="http://schemas.openxmlformats.org/officeDocument/2006/relationships/image" Target="../media/image80.jpeg"/><Relationship Id="rId53" Type="http://schemas.openxmlformats.org/officeDocument/2006/relationships/image" Target="../media/image79.jpeg"/><Relationship Id="rId52" Type="http://schemas.openxmlformats.org/officeDocument/2006/relationships/image" Target="../media/image78.jpeg"/><Relationship Id="rId51" Type="http://schemas.openxmlformats.org/officeDocument/2006/relationships/image" Target="../media/image77.jpeg"/><Relationship Id="rId50" Type="http://schemas.openxmlformats.org/officeDocument/2006/relationships/image" Target="../media/image29.jpeg"/><Relationship Id="rId5" Type="http://schemas.openxmlformats.org/officeDocument/2006/relationships/image" Target="../media/image40.png"/><Relationship Id="rId49" Type="http://schemas.openxmlformats.org/officeDocument/2006/relationships/image" Target="../media/image76.png"/><Relationship Id="rId48" Type="http://schemas.openxmlformats.org/officeDocument/2006/relationships/image" Target="../media/image75.png"/><Relationship Id="rId47" Type="http://schemas.openxmlformats.org/officeDocument/2006/relationships/image" Target="../media/image74.png"/><Relationship Id="rId46" Type="http://schemas.openxmlformats.org/officeDocument/2006/relationships/hyperlink" Target="https://promptoctopus.com/" TargetMode="External"/><Relationship Id="rId45" Type="http://schemas.openxmlformats.org/officeDocument/2006/relationships/image" Target="../media/image73.png"/><Relationship Id="rId44" Type="http://schemas.openxmlformats.org/officeDocument/2006/relationships/image" Target="../media/image72.png"/><Relationship Id="rId43" Type="http://schemas.openxmlformats.org/officeDocument/2006/relationships/image" Target="../media/image71.png"/><Relationship Id="rId42" Type="http://schemas.openxmlformats.org/officeDocument/2006/relationships/image" Target="../media/image70.png"/><Relationship Id="rId41" Type="http://schemas.openxmlformats.org/officeDocument/2006/relationships/hyperlink" Target="https://www.imiprompt.com/" TargetMode="External"/><Relationship Id="rId40" Type="http://schemas.openxmlformats.org/officeDocument/2006/relationships/image" Target="../media/image69.png"/><Relationship Id="rId4" Type="http://schemas.openxmlformats.org/officeDocument/2006/relationships/image" Target="../media/image39.png"/><Relationship Id="rId39" Type="http://schemas.openxmlformats.org/officeDocument/2006/relationships/image" Target="../media/image68.png"/><Relationship Id="rId38" Type="http://schemas.openxmlformats.org/officeDocument/2006/relationships/image" Target="../media/image67.png"/><Relationship Id="rId37" Type="http://schemas.openxmlformats.org/officeDocument/2006/relationships/image" Target="../media/image66.png"/><Relationship Id="rId36" Type="http://schemas.openxmlformats.org/officeDocument/2006/relationships/hyperlink" Target="https://promptperfect.jina" TargetMode="External"/><Relationship Id="rId35" Type="http://schemas.openxmlformats.org/officeDocument/2006/relationships/hyperlink" Target="https://promptperfect.jina.ai/" TargetMode="External"/><Relationship Id="rId34" Type="http://schemas.openxmlformats.org/officeDocument/2006/relationships/image" Target="../media/image65.png"/><Relationship Id="rId33" Type="http://schemas.openxmlformats.org/officeDocument/2006/relationships/image" Target="../media/image64.png"/><Relationship Id="rId32" Type="http://schemas.openxmlformats.org/officeDocument/2006/relationships/image" Target="../media/image63.png"/><Relationship Id="rId31" Type="http://schemas.openxmlformats.org/officeDocument/2006/relationships/image" Target="../media/image62.png"/><Relationship Id="rId30" Type="http://schemas.openxmlformats.org/officeDocument/2006/relationships/image" Target="../media/image61.png"/><Relationship Id="rId3" Type="http://schemas.openxmlformats.org/officeDocument/2006/relationships/hyperlink" Target="https://www.aishort.top/%20" TargetMode="External"/><Relationship Id="rId29" Type="http://schemas.openxmlformats.org/officeDocument/2006/relationships/image" Target="../media/image60.png"/><Relationship Id="rId28" Type="http://schemas.openxmlformats.org/officeDocument/2006/relationships/hyperlink" Target="https://www.aiprm.com/" TargetMode="External"/><Relationship Id="rId27" Type="http://schemas.openxmlformats.org/officeDocument/2006/relationships/image" Target="../media/image59.png"/><Relationship Id="rId26" Type="http://schemas.openxmlformats.org/officeDocument/2006/relationships/image" Target="../media/image58.png"/><Relationship Id="rId25" Type="http://schemas.openxmlformats.org/officeDocument/2006/relationships/image" Target="../media/image57.png"/><Relationship Id="rId24" Type="http://schemas.openxmlformats.org/officeDocument/2006/relationships/image" Target="../media/image56.png"/><Relationship Id="rId23" Type="http://schemas.openxmlformats.org/officeDocument/2006/relationships/hyperlink" Target="https://www.junia.ai/%20" TargetMode="External"/><Relationship Id="rId22" Type="http://schemas.openxmlformats.org/officeDocument/2006/relationships/image" Target="../media/image55.png"/><Relationship Id="rId21" Type="http://schemas.openxmlformats.org/officeDocument/2006/relationships/image" Target="../media/image54.png"/><Relationship Id="rId20" Type="http://schemas.openxmlformats.org/officeDocument/2006/relationships/image" Target="../media/image53.png"/><Relationship Id="rId2" Type="http://schemas.openxmlformats.org/officeDocument/2006/relationships/image" Target="../media/image38.png"/><Relationship Id="rId19" Type="http://schemas.openxmlformats.org/officeDocument/2006/relationships/image" Target="../media/image52.png"/><Relationship Id="rId18" Type="http://schemas.openxmlformats.org/officeDocument/2006/relationships/image" Target="../media/image51.png"/><Relationship Id="rId17" Type="http://schemas.openxmlformats.org/officeDocument/2006/relationships/hyperlink" Target="http://seotabriz.com/" TargetMode="External"/><Relationship Id="rId16" Type="http://schemas.openxmlformats.org/officeDocument/2006/relationships/image" Target="../media/image50.png"/><Relationship Id="rId15" Type="http://schemas.openxmlformats.org/officeDocument/2006/relationships/image" Target="../media/image49.png"/><Relationship Id="rId14" Type="http://schemas.openxmlformats.org/officeDocument/2006/relationships/image" Target="../media/image48.jpeg"/><Relationship Id="rId13" Type="http://schemas.openxmlformats.org/officeDocument/2006/relationships/image" Target="../media/image47.png"/><Relationship Id="rId12" Type="http://schemas.openxmlformats.org/officeDocument/2006/relationships/image" Target="../media/image46.png"/><Relationship Id="rId11" Type="http://schemas.openxmlformats.org/officeDocument/2006/relationships/image" Target="../media/image45.png"/><Relationship Id="rId10" Type="http://schemas.openxmlformats.org/officeDocument/2006/relationships/hyperlink" Target="https://promptpilot.volcengine.com/home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hyperlink" Target="https://krea-ai.com" TargetMode="External"/><Relationship Id="rId8" Type="http://schemas.openxmlformats.org/officeDocument/2006/relationships/hyperlink" Target="https://nanobanana.io" TargetMode="External"/><Relationship Id="rId7" Type="http://schemas.openxmlformats.org/officeDocument/2006/relationships/hyperlink" Target="https://openai.com/dall-e-3" TargetMode="External"/><Relationship Id="rId6" Type="http://schemas.openxmlformats.org/officeDocument/2006/relationships/hyperlink" Target="https://www.bing.com/create" TargetMode="External"/><Relationship Id="rId5" Type="http://schemas.openxmlformats.org/officeDocument/2006/relationships/hyperlink" Target="https://leonardo.ai" TargetMode="External"/><Relationship Id="rId46" Type="http://schemas.openxmlformats.org/officeDocument/2006/relationships/image" Target="../media/image117.jpeg"/><Relationship Id="rId45" Type="http://schemas.openxmlformats.org/officeDocument/2006/relationships/image" Target="../media/image116.jpeg"/><Relationship Id="rId44" Type="http://schemas.openxmlformats.org/officeDocument/2006/relationships/image" Target="../media/image115.png"/><Relationship Id="rId43" Type="http://schemas.openxmlformats.org/officeDocument/2006/relationships/image" Target="../media/image114.png"/><Relationship Id="rId42" Type="http://schemas.openxmlformats.org/officeDocument/2006/relationships/image" Target="../media/image113.png"/><Relationship Id="rId41" Type="http://schemas.openxmlformats.org/officeDocument/2006/relationships/image" Target="../media/image112.png"/><Relationship Id="rId40" Type="http://schemas.openxmlformats.org/officeDocument/2006/relationships/image" Target="../media/image111.png"/><Relationship Id="rId4" Type="http://schemas.openxmlformats.org/officeDocument/2006/relationships/hyperlink" Target="https://stablediffusionweb.com" TargetMode="External"/><Relationship Id="rId39" Type="http://schemas.openxmlformats.org/officeDocument/2006/relationships/image" Target="../media/image110.png"/><Relationship Id="rId38" Type="http://schemas.openxmlformats.org/officeDocument/2006/relationships/image" Target="../media/image109.png"/><Relationship Id="rId37" Type="http://schemas.openxmlformats.org/officeDocument/2006/relationships/image" Target="../media/image108.png"/><Relationship Id="rId36" Type="http://schemas.openxmlformats.org/officeDocument/2006/relationships/image" Target="../media/image107.png"/><Relationship Id="rId35" Type="http://schemas.openxmlformats.org/officeDocument/2006/relationships/image" Target="../media/image106.png"/><Relationship Id="rId34" Type="http://schemas.openxmlformats.org/officeDocument/2006/relationships/image" Target="../media/image105.png"/><Relationship Id="rId33" Type="http://schemas.openxmlformats.org/officeDocument/2006/relationships/image" Target="../media/image104.png"/><Relationship Id="rId32" Type="http://schemas.openxmlformats.org/officeDocument/2006/relationships/image" Target="../media/image103.png"/><Relationship Id="rId31" Type="http://schemas.openxmlformats.org/officeDocument/2006/relationships/image" Target="../media/image102.png"/><Relationship Id="rId30" Type="http://schemas.openxmlformats.org/officeDocument/2006/relationships/image" Target="../media/image101.png"/><Relationship Id="rId3" Type="http://schemas.openxmlformats.org/officeDocument/2006/relationships/hyperlink" Target="https://www.midjourney.com" TargetMode="External"/><Relationship Id="rId29" Type="http://schemas.openxmlformats.org/officeDocument/2006/relationships/image" Target="../media/image100.png"/><Relationship Id="rId28" Type="http://schemas.openxmlformats.org/officeDocument/2006/relationships/image" Target="../media/image99.png"/><Relationship Id="rId27" Type="http://schemas.openxmlformats.org/officeDocument/2006/relationships/image" Target="../media/image98.jpeg"/><Relationship Id="rId26" Type="http://schemas.openxmlformats.org/officeDocument/2006/relationships/image" Target="../media/image97.jpeg"/><Relationship Id="rId25" Type="http://schemas.openxmlformats.org/officeDocument/2006/relationships/image" Target="../media/image96.png"/><Relationship Id="rId24" Type="http://schemas.openxmlformats.org/officeDocument/2006/relationships/image" Target="../media/image95.png"/><Relationship Id="rId23" Type="http://schemas.openxmlformats.org/officeDocument/2006/relationships/image" Target="../media/image94.png"/><Relationship Id="rId22" Type="http://schemas.openxmlformats.org/officeDocument/2006/relationships/image" Target="../media/image93.png"/><Relationship Id="rId21" Type="http://schemas.openxmlformats.org/officeDocument/2006/relationships/image" Target="../media/image92.png"/><Relationship Id="rId20" Type="http://schemas.openxmlformats.org/officeDocument/2006/relationships/image" Target="../media/image91.png"/><Relationship Id="rId2" Type="http://schemas.openxmlformats.org/officeDocument/2006/relationships/image" Target="../media/image29.jpeg"/><Relationship Id="rId19" Type="http://schemas.openxmlformats.org/officeDocument/2006/relationships/image" Target="../media/image90.png"/><Relationship Id="rId18" Type="http://schemas.openxmlformats.org/officeDocument/2006/relationships/image" Target="../media/image89.png"/><Relationship Id="rId17" Type="http://schemas.openxmlformats.org/officeDocument/2006/relationships/image" Target="../media/image88.png"/><Relationship Id="rId16" Type="http://schemas.openxmlformats.org/officeDocument/2006/relationships/image" Target="../media/image87.png"/><Relationship Id="rId15" Type="http://schemas.openxmlformats.org/officeDocument/2006/relationships/image" Target="../media/image86.png"/><Relationship Id="rId14" Type="http://schemas.openxmlformats.org/officeDocument/2006/relationships/image" Target="../media/image85.png"/><Relationship Id="rId13" Type="http://schemas.openxmlformats.org/officeDocument/2006/relationships/image" Target="../media/image84.png"/><Relationship Id="rId12" Type="http://schemas.openxmlformats.org/officeDocument/2006/relationships/image" Target="../media/image83.png"/><Relationship Id="rId11" Type="http://schemas.openxmlformats.org/officeDocument/2006/relationships/image" Target="../media/image82.png"/><Relationship Id="rId10" Type="http://schemas.openxmlformats.org/officeDocument/2006/relationships/hyperlink" Target="https://emu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hyperlink" Target="https://runwayml.com" TargetMode="External"/><Relationship Id="rId8" Type="http://schemas.openxmlformats.org/officeDocument/2006/relationships/hyperlink" Target="https://openai.com/es-419/sora/" TargetMode="External"/><Relationship Id="rId7" Type="http://schemas.openxmlformats.org/officeDocument/2006/relationships/hyperlink" Target="https://d.design/" TargetMode="External"/><Relationship Id="rId6" Type="http://schemas.openxmlformats.org/officeDocument/2006/relationships/hyperlink" Target="https://yuanjing.zeelin.cn/" TargetMode="External"/><Relationship Id="rId56" Type="http://schemas.openxmlformats.org/officeDocument/2006/relationships/image" Target="../media/image158.jpeg"/><Relationship Id="rId55" Type="http://schemas.openxmlformats.org/officeDocument/2006/relationships/image" Target="../media/image157.jpeg"/><Relationship Id="rId54" Type="http://schemas.openxmlformats.org/officeDocument/2006/relationships/image" Target="../media/image156.jpeg"/><Relationship Id="rId53" Type="http://schemas.openxmlformats.org/officeDocument/2006/relationships/image" Target="../media/image155.jpeg"/><Relationship Id="rId52" Type="http://schemas.openxmlformats.org/officeDocument/2006/relationships/image" Target="../media/image154.jpeg"/><Relationship Id="rId51" Type="http://schemas.openxmlformats.org/officeDocument/2006/relationships/image" Target="../media/image153.jpeg"/><Relationship Id="rId50" Type="http://schemas.openxmlformats.org/officeDocument/2006/relationships/image" Target="../media/image152.jpeg"/><Relationship Id="rId5" Type="http://schemas.openxmlformats.org/officeDocument/2006/relationships/hyperlink" Target="https://hailuoai.com/" TargetMode="External"/><Relationship Id="rId49" Type="http://schemas.openxmlformats.org/officeDocument/2006/relationships/image" Target="../media/image151.jpeg"/><Relationship Id="rId48" Type="http://schemas.openxmlformats.org/officeDocument/2006/relationships/image" Target="../media/image150.jpeg"/><Relationship Id="rId47" Type="http://schemas.openxmlformats.org/officeDocument/2006/relationships/image" Target="../media/image149.jpeg"/><Relationship Id="rId46" Type="http://schemas.openxmlformats.org/officeDocument/2006/relationships/image" Target="../media/image148.png"/><Relationship Id="rId45" Type="http://schemas.openxmlformats.org/officeDocument/2006/relationships/image" Target="../media/image147.png"/><Relationship Id="rId44" Type="http://schemas.openxmlformats.org/officeDocument/2006/relationships/image" Target="../media/image146.png"/><Relationship Id="rId43" Type="http://schemas.openxmlformats.org/officeDocument/2006/relationships/image" Target="../media/image145.png"/><Relationship Id="rId42" Type="http://schemas.openxmlformats.org/officeDocument/2006/relationships/image" Target="../media/image144.png"/><Relationship Id="rId41" Type="http://schemas.openxmlformats.org/officeDocument/2006/relationships/image" Target="../media/image143.png"/><Relationship Id="rId40" Type="http://schemas.openxmlformats.org/officeDocument/2006/relationships/image" Target="../media/image142.png"/><Relationship Id="rId4" Type="http://schemas.openxmlformats.org/officeDocument/2006/relationships/hyperlink" Target="https://jimeng.jianying.com/" TargetMode="External"/><Relationship Id="rId39" Type="http://schemas.openxmlformats.org/officeDocument/2006/relationships/image" Target="../media/image141.png"/><Relationship Id="rId38" Type="http://schemas.openxmlformats.org/officeDocument/2006/relationships/image" Target="../media/image140.png"/><Relationship Id="rId37" Type="http://schemas.openxmlformats.org/officeDocument/2006/relationships/image" Target="../media/image139.png"/><Relationship Id="rId36" Type="http://schemas.openxmlformats.org/officeDocument/2006/relationships/image" Target="../media/image138.png"/><Relationship Id="rId35" Type="http://schemas.openxmlformats.org/officeDocument/2006/relationships/image" Target="../media/image137.png"/><Relationship Id="rId34" Type="http://schemas.openxmlformats.org/officeDocument/2006/relationships/image" Target="../media/image136.png"/><Relationship Id="rId33" Type="http://schemas.openxmlformats.org/officeDocument/2006/relationships/image" Target="../media/image135.png"/><Relationship Id="rId32" Type="http://schemas.openxmlformats.org/officeDocument/2006/relationships/image" Target="../media/image134.png"/><Relationship Id="rId31" Type="http://schemas.openxmlformats.org/officeDocument/2006/relationships/image" Target="../media/image133.png"/><Relationship Id="rId30" Type="http://schemas.openxmlformats.org/officeDocument/2006/relationships/image" Target="../media/image132.png"/><Relationship Id="rId3" Type="http://schemas.openxmlformats.org/officeDocument/2006/relationships/hyperlink" Target="https://app.klingai.com/cn/" TargetMode="External"/><Relationship Id="rId29" Type="http://schemas.openxmlformats.org/officeDocument/2006/relationships/image" Target="../media/image131.png"/><Relationship Id="rId28" Type="http://schemas.openxmlformats.org/officeDocument/2006/relationships/image" Target="../media/image130.png"/><Relationship Id="rId27" Type="http://schemas.openxmlformats.org/officeDocument/2006/relationships/image" Target="../media/image129.png"/><Relationship Id="rId26" Type="http://schemas.openxmlformats.org/officeDocument/2006/relationships/image" Target="../media/image128.png"/><Relationship Id="rId25" Type="http://schemas.openxmlformats.org/officeDocument/2006/relationships/image" Target="../media/image127.png"/><Relationship Id="rId24" Type="http://schemas.openxmlformats.org/officeDocument/2006/relationships/image" Target="../media/image126.png"/><Relationship Id="rId23" Type="http://schemas.openxmlformats.org/officeDocument/2006/relationships/image" Target="../media/image125.png"/><Relationship Id="rId22" Type="http://schemas.openxmlformats.org/officeDocument/2006/relationships/image" Target="../media/image124.png"/><Relationship Id="rId21" Type="http://schemas.openxmlformats.org/officeDocument/2006/relationships/image" Target="../media/image123.png"/><Relationship Id="rId20" Type="http://schemas.openxmlformats.org/officeDocument/2006/relationships/image" Target="../media/image122.png"/><Relationship Id="rId2" Type="http://schemas.openxmlformats.org/officeDocument/2006/relationships/image" Target="../media/image29.jpeg"/><Relationship Id="rId19" Type="http://schemas.openxmlformats.org/officeDocument/2006/relationships/image" Target="../media/image121.png"/><Relationship Id="rId18" Type="http://schemas.openxmlformats.org/officeDocument/2006/relationships/image" Target="../media/image120.png"/><Relationship Id="rId17" Type="http://schemas.openxmlformats.org/officeDocument/2006/relationships/image" Target="../media/image119.png"/><Relationship Id="rId16" Type="http://schemas.openxmlformats.org/officeDocument/2006/relationships/image" Target="../media/image118.png"/><Relationship Id="rId15" Type="http://schemas.openxmlformats.org/officeDocument/2006/relationships/hyperlink" Target="https://plaiday.io/" TargetMode="External"/><Relationship Id="rId14" Type="http://schemas.openxmlformats.org/officeDocument/2006/relationships/hyperlink" Target="https://emu-video.metademolab.com/" TargetMode="External"/><Relationship Id="rId13" Type="http://schemas.openxmlformats.org/officeDocument/2006/relationships/hyperlink" Target="https://vidu-china.com/" TargetMode="External"/><Relationship Id="rId12" Type="http://schemas.openxmlformats.org/officeDocument/2006/relationships/hyperlink" Target="https://aistudio.google.com" TargetMode="External"/><Relationship Id="rId11" Type="http://schemas.openxmlformats.org/officeDocument/2006/relationships/hyperlink" Target="https://moonvalley.me/" TargetMode="External"/><Relationship Id="rId10" Type="http://schemas.openxmlformats.org/officeDocument/2006/relationships/hyperlink" Target="https://www.pika.fr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9.png"/><Relationship Id="rId8" Type="http://schemas.openxmlformats.org/officeDocument/2006/relationships/hyperlink" Target="https://remini.ai/" TargetMode="External"/><Relationship Id="rId7" Type="http://schemas.openxmlformats.org/officeDocument/2006/relationships/hyperlink" Target="https://www.chging.com/" TargetMode="External"/><Relationship Id="rId6" Type="http://schemas.openxmlformats.org/officeDocument/2006/relationships/hyperlink" Target="https://www.retouchpics.com/" TargetMode="External"/><Relationship Id="rId5" Type="http://schemas.openxmlformats.org/officeDocument/2006/relationships/hyperlink" Target="https://www.aixtsy.com/black_light" TargetMode="External"/><Relationship Id="rId4" Type="http://schemas.openxmlformats.org/officeDocument/2006/relationships/hyperlink" Target="https://www.pixcakeai.com/" TargetMode="External"/><Relationship Id="rId39" Type="http://schemas.openxmlformats.org/officeDocument/2006/relationships/image" Target="../media/image189.jpeg"/><Relationship Id="rId38" Type="http://schemas.openxmlformats.org/officeDocument/2006/relationships/image" Target="../media/image188.jpeg"/><Relationship Id="rId37" Type="http://schemas.openxmlformats.org/officeDocument/2006/relationships/image" Target="../media/image187.jpeg"/><Relationship Id="rId36" Type="http://schemas.openxmlformats.org/officeDocument/2006/relationships/image" Target="../media/image186.jpeg"/><Relationship Id="rId35" Type="http://schemas.openxmlformats.org/officeDocument/2006/relationships/image" Target="../media/image185.jpeg"/><Relationship Id="rId34" Type="http://schemas.openxmlformats.org/officeDocument/2006/relationships/image" Target="../media/image184.jpeg"/><Relationship Id="rId33" Type="http://schemas.openxmlformats.org/officeDocument/2006/relationships/image" Target="../media/image183.jpeg"/><Relationship Id="rId32" Type="http://schemas.openxmlformats.org/officeDocument/2006/relationships/image" Target="../media/image182.png"/><Relationship Id="rId31" Type="http://schemas.openxmlformats.org/officeDocument/2006/relationships/image" Target="../media/image181.png"/><Relationship Id="rId30" Type="http://schemas.openxmlformats.org/officeDocument/2006/relationships/image" Target="../media/image180.png"/><Relationship Id="rId3" Type="http://schemas.openxmlformats.org/officeDocument/2006/relationships/hyperlink" Target="https://yunxiu.meitu.com/hom" TargetMode="External"/><Relationship Id="rId29" Type="http://schemas.openxmlformats.org/officeDocument/2006/relationships/image" Target="../media/image179.png"/><Relationship Id="rId28" Type="http://schemas.openxmlformats.org/officeDocument/2006/relationships/image" Target="../media/image178.png"/><Relationship Id="rId27" Type="http://schemas.openxmlformats.org/officeDocument/2006/relationships/image" Target="../media/image177.png"/><Relationship Id="rId26" Type="http://schemas.openxmlformats.org/officeDocument/2006/relationships/image" Target="../media/image176.png"/><Relationship Id="rId25" Type="http://schemas.openxmlformats.org/officeDocument/2006/relationships/image" Target="../media/image175.png"/><Relationship Id="rId24" Type="http://schemas.openxmlformats.org/officeDocument/2006/relationships/image" Target="../media/image174.png"/><Relationship Id="rId23" Type="http://schemas.openxmlformats.org/officeDocument/2006/relationships/image" Target="../media/image173.png"/><Relationship Id="rId22" Type="http://schemas.openxmlformats.org/officeDocument/2006/relationships/image" Target="../media/image172.png"/><Relationship Id="rId21" Type="http://schemas.openxmlformats.org/officeDocument/2006/relationships/image" Target="../media/image171.png"/><Relationship Id="rId20" Type="http://schemas.openxmlformats.org/officeDocument/2006/relationships/image" Target="../media/image170.png"/><Relationship Id="rId2" Type="http://schemas.openxmlformats.org/officeDocument/2006/relationships/image" Target="../media/image29.jpeg"/><Relationship Id="rId19" Type="http://schemas.openxmlformats.org/officeDocument/2006/relationships/image" Target="../media/image169.png"/><Relationship Id="rId18" Type="http://schemas.openxmlformats.org/officeDocument/2006/relationships/image" Target="../media/image168.png"/><Relationship Id="rId17" Type="http://schemas.openxmlformats.org/officeDocument/2006/relationships/image" Target="../media/image167.png"/><Relationship Id="rId16" Type="http://schemas.openxmlformats.org/officeDocument/2006/relationships/image" Target="../media/image166.png"/><Relationship Id="rId15" Type="http://schemas.openxmlformats.org/officeDocument/2006/relationships/image" Target="../media/image165.png"/><Relationship Id="rId14" Type="http://schemas.openxmlformats.org/officeDocument/2006/relationships/image" Target="../media/image164.png"/><Relationship Id="rId13" Type="http://schemas.openxmlformats.org/officeDocument/2006/relationships/image" Target="../media/image163.png"/><Relationship Id="rId12" Type="http://schemas.openxmlformats.org/officeDocument/2006/relationships/image" Target="../media/image162.png"/><Relationship Id="rId11" Type="http://schemas.openxmlformats.org/officeDocument/2006/relationships/image" Target="../media/image161.png"/><Relationship Id="rId10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png"/><Relationship Id="rId8" Type="http://schemas.openxmlformats.org/officeDocument/2006/relationships/image" Target="../media/image190.png"/><Relationship Id="rId7" Type="http://schemas.openxmlformats.org/officeDocument/2006/relationships/hyperlink" Target="https://soundraw.io/" TargetMode="External"/><Relationship Id="rId6" Type="http://schemas.openxmlformats.org/officeDocument/2006/relationships/hyperlink" Target="https://noiz.cn/" TargetMode="External"/><Relationship Id="rId51" Type="http://schemas.openxmlformats.org/officeDocument/2006/relationships/image" Target="../media/image233.jpeg"/><Relationship Id="rId50" Type="http://schemas.openxmlformats.org/officeDocument/2006/relationships/image" Target="../media/image232.jpeg"/><Relationship Id="rId5" Type="http://schemas.openxmlformats.org/officeDocument/2006/relationships/hyperlink" Target="https://www.aiva.ai/" TargetMode="External"/><Relationship Id="rId49" Type="http://schemas.openxmlformats.org/officeDocument/2006/relationships/image" Target="../media/image231.png"/><Relationship Id="rId48" Type="http://schemas.openxmlformats.org/officeDocument/2006/relationships/image" Target="../media/image230.jpeg"/><Relationship Id="rId47" Type="http://schemas.openxmlformats.org/officeDocument/2006/relationships/image" Target="../media/image229.png"/><Relationship Id="rId46" Type="http://schemas.openxmlformats.org/officeDocument/2006/relationships/image" Target="../media/image228.jpeg"/><Relationship Id="rId45" Type="http://schemas.openxmlformats.org/officeDocument/2006/relationships/image" Target="../media/image227.png"/><Relationship Id="rId44" Type="http://schemas.openxmlformats.org/officeDocument/2006/relationships/image" Target="../media/image226.png"/><Relationship Id="rId43" Type="http://schemas.openxmlformats.org/officeDocument/2006/relationships/image" Target="../media/image225.png"/><Relationship Id="rId42" Type="http://schemas.openxmlformats.org/officeDocument/2006/relationships/image" Target="../media/image224.png"/><Relationship Id="rId41" Type="http://schemas.openxmlformats.org/officeDocument/2006/relationships/image" Target="../media/image223.png"/><Relationship Id="rId40" Type="http://schemas.openxmlformats.org/officeDocument/2006/relationships/image" Target="../media/image222.png"/><Relationship Id="rId4" Type="http://schemas.openxmlformats.org/officeDocument/2006/relationships/hyperlink" Target="https://www.udio.com/" TargetMode="External"/><Relationship Id="rId39" Type="http://schemas.openxmlformats.org/officeDocument/2006/relationships/image" Target="../media/image221.png"/><Relationship Id="rId38" Type="http://schemas.openxmlformats.org/officeDocument/2006/relationships/image" Target="../media/image220.png"/><Relationship Id="rId37" Type="http://schemas.openxmlformats.org/officeDocument/2006/relationships/image" Target="../media/image219.png"/><Relationship Id="rId36" Type="http://schemas.openxmlformats.org/officeDocument/2006/relationships/image" Target="../media/image218.png"/><Relationship Id="rId35" Type="http://schemas.openxmlformats.org/officeDocument/2006/relationships/image" Target="../media/image217.png"/><Relationship Id="rId34" Type="http://schemas.openxmlformats.org/officeDocument/2006/relationships/image" Target="../media/image216.png"/><Relationship Id="rId33" Type="http://schemas.openxmlformats.org/officeDocument/2006/relationships/image" Target="../media/image215.png"/><Relationship Id="rId32" Type="http://schemas.openxmlformats.org/officeDocument/2006/relationships/image" Target="../media/image214.png"/><Relationship Id="rId31" Type="http://schemas.openxmlformats.org/officeDocument/2006/relationships/image" Target="../media/image213.png"/><Relationship Id="rId30" Type="http://schemas.openxmlformats.org/officeDocument/2006/relationships/image" Target="../media/image212.png"/><Relationship Id="rId3" Type="http://schemas.openxmlformats.org/officeDocument/2006/relationships/hyperlink" Target="https://www.suno.cn/" TargetMode="External"/><Relationship Id="rId29" Type="http://schemas.openxmlformats.org/officeDocument/2006/relationships/image" Target="../media/image211.png"/><Relationship Id="rId28" Type="http://schemas.openxmlformats.org/officeDocument/2006/relationships/image" Target="../media/image210.png"/><Relationship Id="rId27" Type="http://schemas.openxmlformats.org/officeDocument/2006/relationships/image" Target="../media/image209.jpeg"/><Relationship Id="rId26" Type="http://schemas.openxmlformats.org/officeDocument/2006/relationships/image" Target="../media/image208.jpeg"/><Relationship Id="rId25" Type="http://schemas.openxmlformats.org/officeDocument/2006/relationships/image" Target="../media/image207.jpeg"/><Relationship Id="rId24" Type="http://schemas.openxmlformats.org/officeDocument/2006/relationships/image" Target="../media/image206.png"/><Relationship Id="rId23" Type="http://schemas.openxmlformats.org/officeDocument/2006/relationships/image" Target="../media/image205.png"/><Relationship Id="rId22" Type="http://schemas.openxmlformats.org/officeDocument/2006/relationships/image" Target="../media/image204.png"/><Relationship Id="rId21" Type="http://schemas.openxmlformats.org/officeDocument/2006/relationships/image" Target="../media/image203.png"/><Relationship Id="rId20" Type="http://schemas.openxmlformats.org/officeDocument/2006/relationships/image" Target="../media/image202.png"/><Relationship Id="rId2" Type="http://schemas.openxmlformats.org/officeDocument/2006/relationships/image" Target="../media/image29.jpeg"/><Relationship Id="rId19" Type="http://schemas.openxmlformats.org/officeDocument/2006/relationships/image" Target="../media/image201.png"/><Relationship Id="rId18" Type="http://schemas.openxmlformats.org/officeDocument/2006/relationships/image" Target="../media/image200.png"/><Relationship Id="rId17" Type="http://schemas.openxmlformats.org/officeDocument/2006/relationships/image" Target="../media/image199.png"/><Relationship Id="rId16" Type="http://schemas.openxmlformats.org/officeDocument/2006/relationships/image" Target="../media/image198.png"/><Relationship Id="rId15" Type="http://schemas.openxmlformats.org/officeDocument/2006/relationships/image" Target="../media/image197.png"/><Relationship Id="rId14" Type="http://schemas.openxmlformats.org/officeDocument/2006/relationships/image" Target="../media/image196.png"/><Relationship Id="rId13" Type="http://schemas.openxmlformats.org/officeDocument/2006/relationships/image" Target="../media/image195.png"/><Relationship Id="rId12" Type="http://schemas.openxmlformats.org/officeDocument/2006/relationships/image" Target="../media/image194.png"/><Relationship Id="rId11" Type="http://schemas.openxmlformats.org/officeDocument/2006/relationships/image" Target="../media/image193.png"/><Relationship Id="rId10" Type="http://schemas.openxmlformats.org/officeDocument/2006/relationships/image" Target="../media/image19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minecho.com/" TargetMode="External"/><Relationship Id="rId8" Type="http://schemas.openxmlformats.org/officeDocument/2006/relationships/hyperlink" Target="https://aigc.unisound.com" TargetMode="External"/><Relationship Id="rId7" Type="http://schemas.openxmlformats.org/officeDocument/2006/relationships/hyperlink" Target="https://www.wellsaid.io/" TargetMode="External"/><Relationship Id="rId6" Type="http://schemas.openxmlformats.org/officeDocument/2006/relationships/hyperlink" Target="https://pixbim.com/" TargetMode="External"/><Relationship Id="rId59" Type="http://schemas.openxmlformats.org/officeDocument/2006/relationships/image" Target="../media/image280.jpeg"/><Relationship Id="rId58" Type="http://schemas.openxmlformats.org/officeDocument/2006/relationships/image" Target="../media/image279.jpeg"/><Relationship Id="rId57" Type="http://schemas.openxmlformats.org/officeDocument/2006/relationships/image" Target="../media/image278.jpeg"/><Relationship Id="rId56" Type="http://schemas.openxmlformats.org/officeDocument/2006/relationships/image" Target="../media/image277.jpeg"/><Relationship Id="rId55" Type="http://schemas.openxmlformats.org/officeDocument/2006/relationships/image" Target="../media/image276.jpeg"/><Relationship Id="rId54" Type="http://schemas.openxmlformats.org/officeDocument/2006/relationships/image" Target="../media/image275.jpeg"/><Relationship Id="rId53" Type="http://schemas.openxmlformats.org/officeDocument/2006/relationships/image" Target="../media/image274.jpeg"/><Relationship Id="rId52" Type="http://schemas.openxmlformats.org/officeDocument/2006/relationships/image" Target="../media/image273.jpeg"/><Relationship Id="rId51" Type="http://schemas.openxmlformats.org/officeDocument/2006/relationships/image" Target="../media/image272.png"/><Relationship Id="rId50" Type="http://schemas.openxmlformats.org/officeDocument/2006/relationships/image" Target="../media/image271.png"/><Relationship Id="rId5" Type="http://schemas.openxmlformats.org/officeDocument/2006/relationships/hyperlink" Target="https://www.uberduck.ai/" TargetMode="External"/><Relationship Id="rId49" Type="http://schemas.openxmlformats.org/officeDocument/2006/relationships/image" Target="../media/image270.png"/><Relationship Id="rId48" Type="http://schemas.openxmlformats.org/officeDocument/2006/relationships/image" Target="../media/image269.png"/><Relationship Id="rId47" Type="http://schemas.openxmlformats.org/officeDocument/2006/relationships/image" Target="../media/image268.png"/><Relationship Id="rId46" Type="http://schemas.openxmlformats.org/officeDocument/2006/relationships/image" Target="../media/image267.png"/><Relationship Id="rId45" Type="http://schemas.openxmlformats.org/officeDocument/2006/relationships/image" Target="../media/image266.png"/><Relationship Id="rId44" Type="http://schemas.openxmlformats.org/officeDocument/2006/relationships/image" Target="../media/image265.png"/><Relationship Id="rId43" Type="http://schemas.openxmlformats.org/officeDocument/2006/relationships/image" Target="../media/image264.png"/><Relationship Id="rId42" Type="http://schemas.openxmlformats.org/officeDocument/2006/relationships/image" Target="../media/image263.png"/><Relationship Id="rId41" Type="http://schemas.openxmlformats.org/officeDocument/2006/relationships/image" Target="../media/image262.png"/><Relationship Id="rId40" Type="http://schemas.openxmlformats.org/officeDocument/2006/relationships/image" Target="../media/image261.png"/><Relationship Id="rId4" Type="http://schemas.openxmlformats.org/officeDocument/2006/relationships/hyperlink" Target="https://www.resemble.ai/" TargetMode="External"/><Relationship Id="rId39" Type="http://schemas.openxmlformats.org/officeDocument/2006/relationships/image" Target="../media/image260.png"/><Relationship Id="rId38" Type="http://schemas.openxmlformats.org/officeDocument/2006/relationships/image" Target="../media/image259.png"/><Relationship Id="rId37" Type="http://schemas.openxmlformats.org/officeDocument/2006/relationships/image" Target="../media/image258.png"/><Relationship Id="rId36" Type="http://schemas.openxmlformats.org/officeDocument/2006/relationships/image" Target="../media/image257.png"/><Relationship Id="rId35" Type="http://schemas.openxmlformats.org/officeDocument/2006/relationships/image" Target="../media/image256.png"/><Relationship Id="rId34" Type="http://schemas.openxmlformats.org/officeDocument/2006/relationships/image" Target="../media/image255.png"/><Relationship Id="rId33" Type="http://schemas.openxmlformats.org/officeDocument/2006/relationships/image" Target="../media/image254.png"/><Relationship Id="rId32" Type="http://schemas.openxmlformats.org/officeDocument/2006/relationships/image" Target="../media/image253.jpeg"/><Relationship Id="rId31" Type="http://schemas.openxmlformats.org/officeDocument/2006/relationships/image" Target="../media/image252.png"/><Relationship Id="rId30" Type="http://schemas.openxmlformats.org/officeDocument/2006/relationships/image" Target="../media/image251.png"/><Relationship Id="rId3" Type="http://schemas.openxmlformats.org/officeDocument/2006/relationships/hyperlink" Target="https://elevenlabs.io/" TargetMode="External"/><Relationship Id="rId29" Type="http://schemas.openxmlformats.org/officeDocument/2006/relationships/image" Target="../media/image250.png"/><Relationship Id="rId28" Type="http://schemas.openxmlformats.org/officeDocument/2006/relationships/image" Target="../media/image249.png"/><Relationship Id="rId27" Type="http://schemas.openxmlformats.org/officeDocument/2006/relationships/image" Target="../media/image248.png"/><Relationship Id="rId26" Type="http://schemas.openxmlformats.org/officeDocument/2006/relationships/image" Target="../media/image247.png"/><Relationship Id="rId25" Type="http://schemas.openxmlformats.org/officeDocument/2006/relationships/image" Target="../media/image246.png"/><Relationship Id="rId24" Type="http://schemas.openxmlformats.org/officeDocument/2006/relationships/image" Target="../media/image245.png"/><Relationship Id="rId23" Type="http://schemas.openxmlformats.org/officeDocument/2006/relationships/image" Target="../media/image244.png"/><Relationship Id="rId22" Type="http://schemas.openxmlformats.org/officeDocument/2006/relationships/image" Target="../media/image243.png"/><Relationship Id="rId21" Type="http://schemas.openxmlformats.org/officeDocument/2006/relationships/image" Target="../media/image242.png"/><Relationship Id="rId20" Type="http://schemas.openxmlformats.org/officeDocument/2006/relationships/image" Target="../media/image241.png"/><Relationship Id="rId2" Type="http://schemas.openxmlformats.org/officeDocument/2006/relationships/image" Target="../media/image29.jpeg"/><Relationship Id="rId19" Type="http://schemas.openxmlformats.org/officeDocument/2006/relationships/image" Target="../media/image240.png"/><Relationship Id="rId18" Type="http://schemas.openxmlformats.org/officeDocument/2006/relationships/image" Target="../media/image239.png"/><Relationship Id="rId17" Type="http://schemas.openxmlformats.org/officeDocument/2006/relationships/image" Target="../media/image238.png"/><Relationship Id="rId16" Type="http://schemas.openxmlformats.org/officeDocument/2006/relationships/image" Target="../media/image237.png"/><Relationship Id="rId15" Type="http://schemas.openxmlformats.org/officeDocument/2006/relationships/image" Target="../media/image236.png"/><Relationship Id="rId14" Type="http://schemas.openxmlformats.org/officeDocument/2006/relationships/image" Target="../media/image235.png"/><Relationship Id="rId13" Type="http://schemas.openxmlformats.org/officeDocument/2006/relationships/image" Target="../media/image234.png"/><Relationship Id="rId12" Type="http://schemas.openxmlformats.org/officeDocument/2006/relationships/hyperlink" Target="https://www.reecho.cn/" TargetMode="External"/><Relationship Id="rId11" Type="http://schemas.openxmlformats.org/officeDocument/2006/relationships/hyperlink" Target="https://motionsound.yoo" TargetMode="External"/><Relationship Id="rId10" Type="http://schemas.openxmlformats.org/officeDocument/2006/relationships/hyperlink" Target="https://www.douge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capcut.cn/" TargetMode="External"/><Relationship Id="rId8" Type="http://schemas.openxmlformats.org/officeDocument/2006/relationships/hyperlink" Target="https://www.kaipai.com/" TargetMode="External"/><Relationship Id="rId7" Type="http://schemas.openxmlformats.org/officeDocument/2006/relationships/hyperlink" Target="https://miao.wondershare.cn/" TargetMode="External"/><Relationship Id="rId6" Type="http://schemas.openxmlformats.org/officeDocument/2006/relationships/hyperlink" Target="https://vimeo.com/" TargetMode="External"/><Relationship Id="rId5" Type="http://schemas.openxmlformats.org/officeDocument/2006/relationships/hyperlink" Target="https://www.veed.io/" TargetMode="External"/><Relationship Id="rId45" Type="http://schemas.openxmlformats.org/officeDocument/2006/relationships/image" Target="../media/image315.jpeg"/><Relationship Id="rId44" Type="http://schemas.openxmlformats.org/officeDocument/2006/relationships/image" Target="../media/image314.jpeg"/><Relationship Id="rId43" Type="http://schemas.openxmlformats.org/officeDocument/2006/relationships/image" Target="../media/image313.jpeg"/><Relationship Id="rId42" Type="http://schemas.openxmlformats.org/officeDocument/2006/relationships/image" Target="../media/image312.jpeg"/><Relationship Id="rId41" Type="http://schemas.openxmlformats.org/officeDocument/2006/relationships/image" Target="../media/image311.jpeg"/><Relationship Id="rId40" Type="http://schemas.openxmlformats.org/officeDocument/2006/relationships/image" Target="../media/image310.jpeg"/><Relationship Id="rId4" Type="http://schemas.openxmlformats.org/officeDocument/2006/relationships/hyperlink" Target="https://www.descript.com/" TargetMode="External"/><Relationship Id="rId39" Type="http://schemas.openxmlformats.org/officeDocument/2006/relationships/image" Target="../media/image309.jpeg"/><Relationship Id="rId38" Type="http://schemas.openxmlformats.org/officeDocument/2006/relationships/image" Target="../media/image308.png"/><Relationship Id="rId37" Type="http://schemas.openxmlformats.org/officeDocument/2006/relationships/image" Target="../media/image307.png"/><Relationship Id="rId36" Type="http://schemas.openxmlformats.org/officeDocument/2006/relationships/image" Target="../media/image306.png"/><Relationship Id="rId35" Type="http://schemas.openxmlformats.org/officeDocument/2006/relationships/image" Target="../media/image305.png"/><Relationship Id="rId34" Type="http://schemas.openxmlformats.org/officeDocument/2006/relationships/image" Target="../media/image304.png"/><Relationship Id="rId33" Type="http://schemas.openxmlformats.org/officeDocument/2006/relationships/image" Target="../media/image303.png"/><Relationship Id="rId32" Type="http://schemas.openxmlformats.org/officeDocument/2006/relationships/image" Target="../media/image302.png"/><Relationship Id="rId31" Type="http://schemas.openxmlformats.org/officeDocument/2006/relationships/image" Target="../media/image301.png"/><Relationship Id="rId30" Type="http://schemas.openxmlformats.org/officeDocument/2006/relationships/image" Target="../media/image300.png"/><Relationship Id="rId3" Type="http://schemas.openxmlformats.org/officeDocument/2006/relationships/hyperlink" Target="https://www.capcut.com" TargetMode="External"/><Relationship Id="rId29" Type="http://schemas.openxmlformats.org/officeDocument/2006/relationships/image" Target="../media/image299.png"/><Relationship Id="rId28" Type="http://schemas.openxmlformats.org/officeDocument/2006/relationships/image" Target="../media/image298.png"/><Relationship Id="rId27" Type="http://schemas.openxmlformats.org/officeDocument/2006/relationships/image" Target="../media/image297.png"/><Relationship Id="rId26" Type="http://schemas.openxmlformats.org/officeDocument/2006/relationships/image" Target="../media/image296.png"/><Relationship Id="rId25" Type="http://schemas.openxmlformats.org/officeDocument/2006/relationships/image" Target="../media/image295.png"/><Relationship Id="rId24" Type="http://schemas.openxmlformats.org/officeDocument/2006/relationships/image" Target="../media/image294.png"/><Relationship Id="rId23" Type="http://schemas.openxmlformats.org/officeDocument/2006/relationships/image" Target="../media/image293.jpeg"/><Relationship Id="rId22" Type="http://schemas.openxmlformats.org/officeDocument/2006/relationships/image" Target="../media/image292.png"/><Relationship Id="rId21" Type="http://schemas.openxmlformats.org/officeDocument/2006/relationships/image" Target="../media/image291.png"/><Relationship Id="rId20" Type="http://schemas.openxmlformats.org/officeDocument/2006/relationships/image" Target="../media/image290.png"/><Relationship Id="rId2" Type="http://schemas.openxmlformats.org/officeDocument/2006/relationships/image" Target="../media/image29.jpeg"/><Relationship Id="rId19" Type="http://schemas.openxmlformats.org/officeDocument/2006/relationships/image" Target="../media/image289.png"/><Relationship Id="rId18" Type="http://schemas.openxmlformats.org/officeDocument/2006/relationships/image" Target="../media/image288.png"/><Relationship Id="rId17" Type="http://schemas.openxmlformats.org/officeDocument/2006/relationships/image" Target="../media/image287.png"/><Relationship Id="rId16" Type="http://schemas.openxmlformats.org/officeDocument/2006/relationships/image" Target="../media/image286.png"/><Relationship Id="rId15" Type="http://schemas.openxmlformats.org/officeDocument/2006/relationships/image" Target="../media/image285.png"/><Relationship Id="rId14" Type="http://schemas.openxmlformats.org/officeDocument/2006/relationships/image" Target="../media/image284.png"/><Relationship Id="rId13" Type="http://schemas.openxmlformats.org/officeDocument/2006/relationships/image" Target="../media/image283.png"/><Relationship Id="rId12" Type="http://schemas.openxmlformats.org/officeDocument/2006/relationships/image" Target="../media/image282.png"/><Relationship Id="rId11" Type="http://schemas.openxmlformats.org/officeDocument/2006/relationships/image" Target="../media/image281.png"/><Relationship Id="rId10" Type="http://schemas.openxmlformats.org/officeDocument/2006/relationships/hyperlink" Target="https://www.aimix.pro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2.png"/><Relationship Id="rId8" Type="http://schemas.openxmlformats.org/officeDocument/2006/relationships/image" Target="../media/image321.jpeg"/><Relationship Id="rId71" Type="http://schemas.openxmlformats.org/officeDocument/2006/relationships/image" Target="../media/image372.jpeg"/><Relationship Id="rId70" Type="http://schemas.openxmlformats.org/officeDocument/2006/relationships/image" Target="../media/image371.jpeg"/><Relationship Id="rId7" Type="http://schemas.openxmlformats.org/officeDocument/2006/relationships/image" Target="../media/image320.png"/><Relationship Id="rId69" Type="http://schemas.openxmlformats.org/officeDocument/2006/relationships/image" Target="../media/image370.jpeg"/><Relationship Id="rId68" Type="http://schemas.openxmlformats.org/officeDocument/2006/relationships/image" Target="../media/image369.jpeg"/><Relationship Id="rId67" Type="http://schemas.openxmlformats.org/officeDocument/2006/relationships/image" Target="../media/image368.jpeg"/><Relationship Id="rId66" Type="http://schemas.openxmlformats.org/officeDocument/2006/relationships/image" Target="../media/image367.jpeg"/><Relationship Id="rId65" Type="http://schemas.openxmlformats.org/officeDocument/2006/relationships/image" Target="../media/image366.jpeg"/><Relationship Id="rId64" Type="http://schemas.openxmlformats.org/officeDocument/2006/relationships/image" Target="../media/image365.jpeg"/><Relationship Id="rId63" Type="http://schemas.openxmlformats.org/officeDocument/2006/relationships/image" Target="../media/image29.jpeg"/><Relationship Id="rId62" Type="http://schemas.openxmlformats.org/officeDocument/2006/relationships/image" Target="../media/image364.png"/><Relationship Id="rId61" Type="http://schemas.openxmlformats.org/officeDocument/2006/relationships/image" Target="../media/image363.png"/><Relationship Id="rId60" Type="http://schemas.openxmlformats.org/officeDocument/2006/relationships/image" Target="../media/image362.png"/><Relationship Id="rId6" Type="http://schemas.openxmlformats.org/officeDocument/2006/relationships/image" Target="../media/image319.png"/><Relationship Id="rId59" Type="http://schemas.openxmlformats.org/officeDocument/2006/relationships/hyperlink" Target="http://www.vipxue.com/" TargetMode="External"/><Relationship Id="rId58" Type="http://schemas.openxmlformats.org/officeDocument/2006/relationships/image" Target="../media/image361.png"/><Relationship Id="rId57" Type="http://schemas.openxmlformats.org/officeDocument/2006/relationships/image" Target="../media/image360.png"/><Relationship Id="rId56" Type="http://schemas.openxmlformats.org/officeDocument/2006/relationships/image" Target="../media/image359.png"/><Relationship Id="rId55" Type="http://schemas.openxmlformats.org/officeDocument/2006/relationships/image" Target="../media/image358.png"/><Relationship Id="rId54" Type="http://schemas.openxmlformats.org/officeDocument/2006/relationships/hyperlink" Target="https://www.heygen.co" TargetMode="External"/><Relationship Id="rId53" Type="http://schemas.openxmlformats.org/officeDocument/2006/relationships/hyperlink" Target="https://www.heygen.com" TargetMode="External"/><Relationship Id="rId52" Type="http://schemas.openxmlformats.org/officeDocument/2006/relationships/image" Target="../media/image357.png"/><Relationship Id="rId51" Type="http://schemas.openxmlformats.org/officeDocument/2006/relationships/image" Target="../media/image356.png"/><Relationship Id="rId50" Type="http://schemas.openxmlformats.org/officeDocument/2006/relationships/image" Target="../media/image355.png"/><Relationship Id="rId5" Type="http://schemas.openxmlformats.org/officeDocument/2006/relationships/image" Target="../media/image318.png"/><Relationship Id="rId49" Type="http://schemas.openxmlformats.org/officeDocument/2006/relationships/image" Target="../media/image354.png"/><Relationship Id="rId48" Type="http://schemas.openxmlformats.org/officeDocument/2006/relationships/hyperlink" Target="https://virtual" TargetMode="External"/><Relationship Id="rId47" Type="http://schemas.openxmlformats.org/officeDocument/2006/relationships/hyperlink" Target="https://virtual-man.xfyun.cn/" TargetMode="External"/><Relationship Id="rId46" Type="http://schemas.openxmlformats.org/officeDocument/2006/relationships/image" Target="../media/image353.png"/><Relationship Id="rId45" Type="http://schemas.openxmlformats.org/officeDocument/2006/relationships/image" Target="../media/image352.png"/><Relationship Id="rId44" Type="http://schemas.openxmlformats.org/officeDocument/2006/relationships/image" Target="../media/image351.png"/><Relationship Id="rId43" Type="http://schemas.openxmlformats.org/officeDocument/2006/relationships/image" Target="../media/image350.png"/><Relationship Id="rId42" Type="http://schemas.openxmlformats.org/officeDocument/2006/relationships/hyperlink" Target="https://xiling.cloud.baidu.com/" TargetMode="External"/><Relationship Id="rId41" Type="http://schemas.openxmlformats.org/officeDocument/2006/relationships/image" Target="../media/image349.png"/><Relationship Id="rId40" Type="http://schemas.openxmlformats.org/officeDocument/2006/relationships/image" Target="../media/image348.png"/><Relationship Id="rId4" Type="http://schemas.openxmlformats.org/officeDocument/2006/relationships/hyperlink" Target="https://zenvideo.qq.com/" TargetMode="External"/><Relationship Id="rId39" Type="http://schemas.openxmlformats.org/officeDocument/2006/relationships/image" Target="../media/image347.png"/><Relationship Id="rId38" Type="http://schemas.openxmlformats.org/officeDocument/2006/relationships/image" Target="../media/image346.png"/><Relationship Id="rId37" Type="http://schemas.openxmlformats.org/officeDocument/2006/relationships/hyperlink" Target="https://virbo.wondershare.cn/" TargetMode="External"/><Relationship Id="rId36" Type="http://schemas.openxmlformats.org/officeDocument/2006/relationships/image" Target="../media/image345.png"/><Relationship Id="rId35" Type="http://schemas.openxmlformats.org/officeDocument/2006/relationships/image" Target="../media/image344.png"/><Relationship Id="rId34" Type="http://schemas.openxmlformats.org/officeDocument/2006/relationships/image" Target="../media/image343.png"/><Relationship Id="rId33" Type="http://schemas.openxmlformats.org/officeDocument/2006/relationships/image" Target="../media/image342.png"/><Relationship Id="rId32" Type="http://schemas.openxmlformats.org/officeDocument/2006/relationships/hyperlink" Target="https://www.xiaoice.com/%20" TargetMode="External"/><Relationship Id="rId31" Type="http://schemas.openxmlformats.org/officeDocument/2006/relationships/image" Target="../media/image341.png"/><Relationship Id="rId30" Type="http://schemas.openxmlformats.org/officeDocument/2006/relationships/image" Target="../media/image340.png"/><Relationship Id="rId3" Type="http://schemas.openxmlformats.org/officeDocument/2006/relationships/image" Target="../media/image317.png"/><Relationship Id="rId29" Type="http://schemas.openxmlformats.org/officeDocument/2006/relationships/image" Target="../media/image339.png"/><Relationship Id="rId28" Type="http://schemas.openxmlformats.org/officeDocument/2006/relationships/image" Target="../media/image338.png"/><Relationship Id="rId27" Type="http://schemas.openxmlformats.org/officeDocument/2006/relationships/image" Target="../media/image337.png"/><Relationship Id="rId26" Type="http://schemas.openxmlformats.org/officeDocument/2006/relationships/image" Target="../media/image336.png"/><Relationship Id="rId25" Type="http://schemas.openxmlformats.org/officeDocument/2006/relationships/hyperlink" Target="https://metawa.cn/" TargetMode="External"/><Relationship Id="rId24" Type="http://schemas.openxmlformats.org/officeDocument/2006/relationships/image" Target="../media/image335.png"/><Relationship Id="rId23" Type="http://schemas.openxmlformats.org/officeDocument/2006/relationships/image" Target="../media/image334.png"/><Relationship Id="rId22" Type="http://schemas.openxmlformats.org/officeDocument/2006/relationships/image" Target="../media/image333.png"/><Relationship Id="rId21" Type="http://schemas.openxmlformats.org/officeDocument/2006/relationships/image" Target="../media/image332.png"/><Relationship Id="rId20" Type="http://schemas.openxmlformats.org/officeDocument/2006/relationships/image" Target="../media/image331.png"/><Relationship Id="rId2" Type="http://schemas.openxmlformats.org/officeDocument/2006/relationships/image" Target="../media/image316.png"/><Relationship Id="rId19" Type="http://schemas.openxmlformats.org/officeDocument/2006/relationships/image" Target="../media/image330.png"/><Relationship Id="rId18" Type="http://schemas.openxmlformats.org/officeDocument/2006/relationships/image" Target="../media/image329.png"/><Relationship Id="rId17" Type="http://schemas.openxmlformats.org/officeDocument/2006/relationships/image" Target="../media/image328.png"/><Relationship Id="rId16" Type="http://schemas.openxmlformats.org/officeDocument/2006/relationships/hyperlink" Target="https://www.tavus.io/" TargetMode="External"/><Relationship Id="rId15" Type="http://schemas.openxmlformats.org/officeDocument/2006/relationships/image" Target="../media/image327.png"/><Relationship Id="rId14" Type="http://schemas.openxmlformats.org/officeDocument/2006/relationships/image" Target="../media/image326.jpeg"/><Relationship Id="rId13" Type="http://schemas.openxmlformats.org/officeDocument/2006/relationships/image" Target="../media/image325.png"/><Relationship Id="rId12" Type="http://schemas.openxmlformats.org/officeDocument/2006/relationships/image" Target="../media/image324.png"/><Relationship Id="rId11" Type="http://schemas.openxmlformats.org/officeDocument/2006/relationships/image" Target="../media/image323.png"/><Relationship Id="rId10" Type="http://schemas.openxmlformats.org/officeDocument/2006/relationships/hyperlink" Target="https://yanxi.jd.com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hyperlink" Target="https://github.com/ashawkey/stable-dreamfusion" TargetMode="External"/><Relationship Id="rId8" Type="http://schemas.openxmlformats.org/officeDocument/2006/relationships/image" Target="../media/image378.png"/><Relationship Id="rId7" Type="http://schemas.openxmlformats.org/officeDocument/2006/relationships/image" Target="../media/image377.png"/><Relationship Id="rId6" Type="http://schemas.openxmlformats.org/officeDocument/2006/relationships/image" Target="../media/image376.png"/><Relationship Id="rId57" Type="http://schemas.openxmlformats.org/officeDocument/2006/relationships/image" Target="../media/image415.jpeg"/><Relationship Id="rId56" Type="http://schemas.openxmlformats.org/officeDocument/2006/relationships/image" Target="../media/image414.jpeg"/><Relationship Id="rId55" Type="http://schemas.openxmlformats.org/officeDocument/2006/relationships/image" Target="../media/image413.jpeg"/><Relationship Id="rId54" Type="http://schemas.openxmlformats.org/officeDocument/2006/relationships/image" Target="../media/image412.jpeg"/><Relationship Id="rId53" Type="http://schemas.openxmlformats.org/officeDocument/2006/relationships/image" Target="../media/image411.jpeg"/><Relationship Id="rId52" Type="http://schemas.openxmlformats.org/officeDocument/2006/relationships/image" Target="../media/image29.jpeg"/><Relationship Id="rId51" Type="http://schemas.openxmlformats.org/officeDocument/2006/relationships/image" Target="../media/image410.png"/><Relationship Id="rId50" Type="http://schemas.openxmlformats.org/officeDocument/2006/relationships/image" Target="../media/image409.png"/><Relationship Id="rId5" Type="http://schemas.openxmlformats.org/officeDocument/2006/relationships/image" Target="../media/image375.png"/><Relationship Id="rId49" Type="http://schemas.openxmlformats.org/officeDocument/2006/relationships/image" Target="../media/image408.png"/><Relationship Id="rId48" Type="http://schemas.openxmlformats.org/officeDocument/2006/relationships/hyperlink" Target="https://www.meshy.ai/" TargetMode="External"/><Relationship Id="rId47" Type="http://schemas.openxmlformats.org/officeDocument/2006/relationships/image" Target="../media/image407.png"/><Relationship Id="rId46" Type="http://schemas.openxmlformats.org/officeDocument/2006/relationships/image" Target="../media/image406.png"/><Relationship Id="rId45" Type="http://schemas.openxmlformats.org/officeDocument/2006/relationships/image" Target="../media/image405.png"/><Relationship Id="rId44" Type="http://schemas.openxmlformats.org/officeDocument/2006/relationships/hyperlink" Target="https://pixcap.com" TargetMode="External"/><Relationship Id="rId43" Type="http://schemas.openxmlformats.org/officeDocument/2006/relationships/image" Target="../media/image404.png"/><Relationship Id="rId42" Type="http://schemas.openxmlformats.org/officeDocument/2006/relationships/image" Target="../media/image403.png"/><Relationship Id="rId41" Type="http://schemas.openxmlformats.org/officeDocument/2006/relationships/image" Target="../media/image402.png"/><Relationship Id="rId40" Type="http://schemas.openxmlformats.org/officeDocument/2006/relationships/hyperlink" Target="https://www.sketchupchina.com/" TargetMode="External"/><Relationship Id="rId4" Type="http://schemas.openxmlformats.org/officeDocument/2006/relationships/hyperlink" Target="https://www.get3d.in/" TargetMode="External"/><Relationship Id="rId39" Type="http://schemas.openxmlformats.org/officeDocument/2006/relationships/image" Target="../media/image401.png"/><Relationship Id="rId38" Type="http://schemas.openxmlformats.org/officeDocument/2006/relationships/image" Target="../media/image400.png"/><Relationship Id="rId37" Type="http://schemas.openxmlformats.org/officeDocument/2006/relationships/image" Target="../media/image399.png"/><Relationship Id="rId36" Type="http://schemas.openxmlformats.org/officeDocument/2006/relationships/image" Target="../media/image398.png"/><Relationship Id="rId35" Type="http://schemas.openxmlformats.org/officeDocument/2006/relationships/hyperlink" Target="https://www.csm.ai/" TargetMode="External"/><Relationship Id="rId34" Type="http://schemas.openxmlformats.org/officeDocument/2006/relationships/image" Target="../media/image397.png"/><Relationship Id="rId33" Type="http://schemas.openxmlformats.org/officeDocument/2006/relationships/image" Target="../media/image396.png"/><Relationship Id="rId32" Type="http://schemas.openxmlformats.org/officeDocument/2006/relationships/image" Target="../media/image395.png"/><Relationship Id="rId31" Type="http://schemas.openxmlformats.org/officeDocument/2006/relationships/hyperlink" Target="https://www.kaedim3d" TargetMode="External"/><Relationship Id="rId30" Type="http://schemas.openxmlformats.org/officeDocument/2006/relationships/hyperlink" Target="https://www.kaedim3d.com/" TargetMode="External"/><Relationship Id="rId3" Type="http://schemas.openxmlformats.org/officeDocument/2006/relationships/image" Target="../media/image374.png"/><Relationship Id="rId29" Type="http://schemas.openxmlformats.org/officeDocument/2006/relationships/image" Target="../media/image394.png"/><Relationship Id="rId28" Type="http://schemas.openxmlformats.org/officeDocument/2006/relationships/image" Target="../media/image393.png"/><Relationship Id="rId27" Type="http://schemas.openxmlformats.org/officeDocument/2006/relationships/image" Target="../media/image392.png"/><Relationship Id="rId26" Type="http://schemas.openxmlformats.org/officeDocument/2006/relationships/image" Target="../media/image391.png"/><Relationship Id="rId25" Type="http://schemas.openxmlformats.org/officeDocument/2006/relationships/hyperlink" Target="https://research.nvidia" TargetMode="External"/><Relationship Id="rId24" Type="http://schemas.openxmlformats.org/officeDocument/2006/relationships/hyperlink" Target="https://research.nvidia.com/labs/dir/magic3d/" TargetMode="External"/><Relationship Id="rId23" Type="http://schemas.openxmlformats.org/officeDocument/2006/relationships/image" Target="../media/image390.png"/><Relationship Id="rId22" Type="http://schemas.openxmlformats.org/officeDocument/2006/relationships/image" Target="../media/image389.png"/><Relationship Id="rId21" Type="http://schemas.openxmlformats.org/officeDocument/2006/relationships/image" Target="../media/image388.png"/><Relationship Id="rId20" Type="http://schemas.openxmlformats.org/officeDocument/2006/relationships/image" Target="../media/image387.png"/><Relationship Id="rId2" Type="http://schemas.openxmlformats.org/officeDocument/2006/relationships/image" Target="../media/image373.png"/><Relationship Id="rId19" Type="http://schemas.openxmlformats.org/officeDocument/2006/relationships/hyperlink" Target="https://www.alpha3d.io/" TargetMode="External"/><Relationship Id="rId18" Type="http://schemas.openxmlformats.org/officeDocument/2006/relationships/image" Target="../media/image386.png"/><Relationship Id="rId17" Type="http://schemas.openxmlformats.org/officeDocument/2006/relationships/image" Target="../media/image385.png"/><Relationship Id="rId16" Type="http://schemas.openxmlformats.org/officeDocument/2006/relationships/image" Target="../media/image384.png"/><Relationship Id="rId15" Type="http://schemas.openxmlformats.org/officeDocument/2006/relationships/image" Target="../media/image383.png"/><Relationship Id="rId14" Type="http://schemas.openxmlformats.org/officeDocument/2006/relationships/image" Target="../media/image382.png"/><Relationship Id="rId13" Type="http://schemas.openxmlformats.org/officeDocument/2006/relationships/image" Target="../media/image381.png"/><Relationship Id="rId12" Type="http://schemas.openxmlformats.org/officeDocument/2006/relationships/image" Target="../media/image380.png"/><Relationship Id="rId11" Type="http://schemas.openxmlformats.org/officeDocument/2006/relationships/image" Target="../media/image379.png"/><Relationship Id="rId10" Type="http://schemas.openxmlformats.org/officeDocument/2006/relationships/hyperlink" Target="https://www.tripo3d.ai/zh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1.png"/><Relationship Id="rId8" Type="http://schemas.openxmlformats.org/officeDocument/2006/relationships/image" Target="../media/image420.png"/><Relationship Id="rId7" Type="http://schemas.openxmlformats.org/officeDocument/2006/relationships/image" Target="../media/image419.png"/><Relationship Id="rId62" Type="http://schemas.openxmlformats.org/officeDocument/2006/relationships/image" Target="../media/image462.jpeg"/><Relationship Id="rId61" Type="http://schemas.openxmlformats.org/officeDocument/2006/relationships/image" Target="../media/image461.jpeg"/><Relationship Id="rId60" Type="http://schemas.openxmlformats.org/officeDocument/2006/relationships/image" Target="../media/image460.jpeg"/><Relationship Id="rId6" Type="http://schemas.openxmlformats.org/officeDocument/2006/relationships/hyperlink" Target="https://cursor.51component.com/" TargetMode="External"/><Relationship Id="rId59" Type="http://schemas.openxmlformats.org/officeDocument/2006/relationships/image" Target="../media/image459.jpeg"/><Relationship Id="rId58" Type="http://schemas.openxmlformats.org/officeDocument/2006/relationships/image" Target="../media/image458.jpeg"/><Relationship Id="rId57" Type="http://schemas.openxmlformats.org/officeDocument/2006/relationships/image" Target="../media/image457.png"/><Relationship Id="rId56" Type="http://schemas.openxmlformats.org/officeDocument/2006/relationships/image" Target="../media/image29.jpeg"/><Relationship Id="rId55" Type="http://schemas.openxmlformats.org/officeDocument/2006/relationships/image" Target="../media/image456.png"/><Relationship Id="rId54" Type="http://schemas.openxmlformats.org/officeDocument/2006/relationships/image" Target="../media/image455.png"/><Relationship Id="rId53" Type="http://schemas.openxmlformats.org/officeDocument/2006/relationships/image" Target="../media/image454.png"/><Relationship Id="rId52" Type="http://schemas.openxmlformats.org/officeDocument/2006/relationships/hyperlink" Target="https://codegeex.cn/" TargetMode="External"/><Relationship Id="rId51" Type="http://schemas.openxmlformats.org/officeDocument/2006/relationships/image" Target="../media/image453.png"/><Relationship Id="rId50" Type="http://schemas.openxmlformats.org/officeDocument/2006/relationships/image" Target="../media/image452.png"/><Relationship Id="rId5" Type="http://schemas.openxmlformats.org/officeDocument/2006/relationships/hyperlink" Target="https://github.com/features/copilot" TargetMode="External"/><Relationship Id="rId49" Type="http://schemas.openxmlformats.org/officeDocument/2006/relationships/image" Target="../media/image451.png"/><Relationship Id="rId48" Type="http://schemas.openxmlformats.org/officeDocument/2006/relationships/hyperlink" Target="https://aws.amazon.com/cn/smart-business/differentiate-with-generative-ai/amazon-q-for-small-businesses/" TargetMode="External"/><Relationship Id="rId47" Type="http://schemas.openxmlformats.org/officeDocument/2006/relationships/image" Target="../media/image450.png"/><Relationship Id="rId46" Type="http://schemas.openxmlformats.org/officeDocument/2006/relationships/image" Target="../media/image449.png"/><Relationship Id="rId45" Type="http://schemas.openxmlformats.org/officeDocument/2006/relationships/image" Target="../media/image448.png"/><Relationship Id="rId44" Type="http://schemas.openxmlformats.org/officeDocument/2006/relationships/hyperlink" Target="https://comate.baidu" TargetMode="External"/><Relationship Id="rId43" Type="http://schemas.openxmlformats.org/officeDocument/2006/relationships/hyperlink" Target="https://comate.baidu.com/" TargetMode="External"/><Relationship Id="rId42" Type="http://schemas.openxmlformats.org/officeDocument/2006/relationships/image" Target="../media/image447.png"/><Relationship Id="rId41" Type="http://schemas.openxmlformats.org/officeDocument/2006/relationships/image" Target="../media/image446.png"/><Relationship Id="rId40" Type="http://schemas.openxmlformats.org/officeDocument/2006/relationships/image" Target="../media/image445.png"/><Relationship Id="rId4" Type="http://schemas.openxmlformats.org/officeDocument/2006/relationships/image" Target="../media/image418.png"/><Relationship Id="rId39" Type="http://schemas.openxmlformats.org/officeDocument/2006/relationships/image" Target="../media/image444.png"/><Relationship Id="rId38" Type="http://schemas.openxmlformats.org/officeDocument/2006/relationships/image" Target="../media/image443.png"/><Relationship Id="rId37" Type="http://schemas.openxmlformats.org/officeDocument/2006/relationships/hyperlink" Target="https://www.trae.cn/" TargetMode="External"/><Relationship Id="rId36" Type="http://schemas.openxmlformats.org/officeDocument/2006/relationships/image" Target="../media/image442.png"/><Relationship Id="rId35" Type="http://schemas.openxmlformats.org/officeDocument/2006/relationships/image" Target="../media/image441.png"/><Relationship Id="rId34" Type="http://schemas.openxmlformats.org/officeDocument/2006/relationships/image" Target="../media/image440.png"/><Relationship Id="rId33" Type="http://schemas.openxmlformats.org/officeDocument/2006/relationships/hyperlink" Target="https://windsurf.com/" TargetMode="External"/><Relationship Id="rId32" Type="http://schemas.openxmlformats.org/officeDocument/2006/relationships/image" Target="../media/image439.png"/><Relationship Id="rId31" Type="http://schemas.openxmlformats.org/officeDocument/2006/relationships/image" Target="../media/image438.png"/><Relationship Id="rId30" Type="http://schemas.openxmlformats.org/officeDocument/2006/relationships/image" Target="../media/image437.png"/><Relationship Id="rId3" Type="http://schemas.openxmlformats.org/officeDocument/2006/relationships/image" Target="../media/image417.png"/><Relationship Id="rId29" Type="http://schemas.openxmlformats.org/officeDocument/2006/relationships/image" Target="../media/image436.png"/><Relationship Id="rId28" Type="http://schemas.openxmlformats.org/officeDocument/2006/relationships/image" Target="../media/image435.png"/><Relationship Id="rId27" Type="http://schemas.openxmlformats.org/officeDocument/2006/relationships/image" Target="../media/image434.png"/><Relationship Id="rId26" Type="http://schemas.openxmlformats.org/officeDocument/2006/relationships/image" Target="../media/image433.png"/><Relationship Id="rId25" Type="http://schemas.openxmlformats.org/officeDocument/2006/relationships/image" Target="../media/image432.png"/><Relationship Id="rId24" Type="http://schemas.openxmlformats.org/officeDocument/2006/relationships/image" Target="../media/image431.png"/><Relationship Id="rId23" Type="http://schemas.openxmlformats.org/officeDocument/2006/relationships/hyperlink" Target="https://lingma.aliyun" TargetMode="External"/><Relationship Id="rId22" Type="http://schemas.openxmlformats.org/officeDocument/2006/relationships/hyperlink" Target="https://lingma.aliyun.com/" TargetMode="External"/><Relationship Id="rId21" Type="http://schemas.openxmlformats.org/officeDocument/2006/relationships/image" Target="../media/image430.png"/><Relationship Id="rId20" Type="http://schemas.openxmlformats.org/officeDocument/2006/relationships/image" Target="../media/image429.png"/><Relationship Id="rId2" Type="http://schemas.openxmlformats.org/officeDocument/2006/relationships/image" Target="../media/image416.png"/><Relationship Id="rId19" Type="http://schemas.openxmlformats.org/officeDocument/2006/relationships/image" Target="../media/image428.png"/><Relationship Id="rId18" Type="http://schemas.openxmlformats.org/officeDocument/2006/relationships/image" Target="../media/image427.png"/><Relationship Id="rId17" Type="http://schemas.openxmlformats.org/officeDocument/2006/relationships/hyperlink" Target="https://copilot.tencent.com/" TargetMode="External"/><Relationship Id="rId16" Type="http://schemas.openxmlformats.org/officeDocument/2006/relationships/image" Target="../media/image426.png"/><Relationship Id="rId15" Type="http://schemas.openxmlformats.org/officeDocument/2006/relationships/image" Target="../media/image425.png"/><Relationship Id="rId14" Type="http://schemas.openxmlformats.org/officeDocument/2006/relationships/image" Target="../media/image424.png"/><Relationship Id="rId13" Type="http://schemas.openxmlformats.org/officeDocument/2006/relationships/image" Target="../media/image423.png"/><Relationship Id="rId12" Type="http://schemas.openxmlformats.org/officeDocument/2006/relationships/hyperlink" Target="https://www.verdent" TargetMode="External"/><Relationship Id="rId11" Type="http://schemas.openxmlformats.org/officeDocument/2006/relationships/hyperlink" Target=" https://www.verdent.ai" TargetMode="External"/><Relationship Id="rId10" Type="http://schemas.openxmlformats.org/officeDocument/2006/relationships/image" Target="../media/image4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hyperlink" Target="https://bocha.cn/" TargetMode="External"/><Relationship Id="rId8" Type="http://schemas.openxmlformats.org/officeDocument/2006/relationships/hyperlink" Target="https://www.n.cn/" TargetMode="External"/><Relationship Id="rId7" Type="http://schemas.openxmlformats.org/officeDocument/2006/relationships/hyperlink" Target="https://metaso.cn/" TargetMode="External"/><Relationship Id="rId6" Type="http://schemas.openxmlformats.org/officeDocument/2006/relationships/hyperlink" Target="http://www.kexiang.net.cn/" TargetMode="External"/><Relationship Id="rId5" Type="http://schemas.openxmlformats.org/officeDocument/2006/relationships/hyperlink" Target="https://exa.ai/" TargetMode="External"/><Relationship Id="rId43" Type="http://schemas.openxmlformats.org/officeDocument/2006/relationships/image" Target="../media/image495.jpeg"/><Relationship Id="rId42" Type="http://schemas.openxmlformats.org/officeDocument/2006/relationships/image" Target="../media/image494.jpeg"/><Relationship Id="rId41" Type="http://schemas.openxmlformats.org/officeDocument/2006/relationships/image" Target="../media/image493.jpeg"/><Relationship Id="rId40" Type="http://schemas.openxmlformats.org/officeDocument/2006/relationships/image" Target="../media/image492.png"/><Relationship Id="rId4" Type="http://schemas.openxmlformats.org/officeDocument/2006/relationships/hyperlink" Target="https://www.algolia.com/" TargetMode="External"/><Relationship Id="rId39" Type="http://schemas.openxmlformats.org/officeDocument/2006/relationships/image" Target="../media/image491.png"/><Relationship Id="rId38" Type="http://schemas.openxmlformats.org/officeDocument/2006/relationships/image" Target="../media/image490.png"/><Relationship Id="rId37" Type="http://schemas.openxmlformats.org/officeDocument/2006/relationships/image" Target="../media/image29.jpeg"/><Relationship Id="rId36" Type="http://schemas.openxmlformats.org/officeDocument/2006/relationships/image" Target="../media/image489.jpeg"/><Relationship Id="rId35" Type="http://schemas.openxmlformats.org/officeDocument/2006/relationships/image" Target="../media/image488.png"/><Relationship Id="rId34" Type="http://schemas.openxmlformats.org/officeDocument/2006/relationships/image" Target="../media/image487.png"/><Relationship Id="rId33" Type="http://schemas.openxmlformats.org/officeDocument/2006/relationships/image" Target="../media/image486.png"/><Relationship Id="rId32" Type="http://schemas.openxmlformats.org/officeDocument/2006/relationships/image" Target="../media/image485.png"/><Relationship Id="rId31" Type="http://schemas.openxmlformats.org/officeDocument/2006/relationships/image" Target="../media/image484.png"/><Relationship Id="rId30" Type="http://schemas.openxmlformats.org/officeDocument/2006/relationships/image" Target="../media/image483.png"/><Relationship Id="rId3" Type="http://schemas.openxmlformats.org/officeDocument/2006/relationships/hyperlink" Target="https://komo.ai/" TargetMode="External"/><Relationship Id="rId29" Type="http://schemas.openxmlformats.org/officeDocument/2006/relationships/image" Target="../media/image482.png"/><Relationship Id="rId28" Type="http://schemas.openxmlformats.org/officeDocument/2006/relationships/image" Target="../media/image481.png"/><Relationship Id="rId27" Type="http://schemas.openxmlformats.org/officeDocument/2006/relationships/image" Target="../media/image480.png"/><Relationship Id="rId26" Type="http://schemas.openxmlformats.org/officeDocument/2006/relationships/image" Target="../media/image479.png"/><Relationship Id="rId25" Type="http://schemas.openxmlformats.org/officeDocument/2006/relationships/image" Target="../media/image478.png"/><Relationship Id="rId24" Type="http://schemas.openxmlformats.org/officeDocument/2006/relationships/image" Target="../media/image477.png"/><Relationship Id="rId23" Type="http://schemas.openxmlformats.org/officeDocument/2006/relationships/image" Target="../media/image476.png"/><Relationship Id="rId22" Type="http://schemas.openxmlformats.org/officeDocument/2006/relationships/image" Target="../media/image475.png"/><Relationship Id="rId21" Type="http://schemas.openxmlformats.org/officeDocument/2006/relationships/image" Target="../media/image474.png"/><Relationship Id="rId20" Type="http://schemas.openxmlformats.org/officeDocument/2006/relationships/image" Target="../media/image473.png"/><Relationship Id="rId2" Type="http://schemas.openxmlformats.org/officeDocument/2006/relationships/hyperlink" Target="https://perplexitycn.com/" TargetMode="External"/><Relationship Id="rId19" Type="http://schemas.openxmlformats.org/officeDocument/2006/relationships/image" Target="../media/image472.png"/><Relationship Id="rId18" Type="http://schemas.openxmlformats.org/officeDocument/2006/relationships/image" Target="../media/image471.png"/><Relationship Id="rId17" Type="http://schemas.openxmlformats.org/officeDocument/2006/relationships/image" Target="../media/image470.png"/><Relationship Id="rId16" Type="http://schemas.openxmlformats.org/officeDocument/2006/relationships/image" Target="../media/image469.png"/><Relationship Id="rId15" Type="http://schemas.openxmlformats.org/officeDocument/2006/relationships/image" Target="../media/image468.png"/><Relationship Id="rId14" Type="http://schemas.openxmlformats.org/officeDocument/2006/relationships/image" Target="../media/image467.png"/><Relationship Id="rId13" Type="http://schemas.openxmlformats.org/officeDocument/2006/relationships/image" Target="../media/image466.png"/><Relationship Id="rId12" Type="http://schemas.openxmlformats.org/officeDocument/2006/relationships/image" Target="../media/image465.png"/><Relationship Id="rId11" Type="http://schemas.openxmlformats.org/officeDocument/2006/relationships/image" Target="../media/image464.png"/><Relationship Id="rId10" Type="http://schemas.openxmlformats.org/officeDocument/2006/relationships/image" Target="../media/image46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hyperlink" Target="https://ai.cnki.net/" TargetMode="External"/><Relationship Id="rId8" Type="http://schemas.openxmlformats.org/officeDocument/2006/relationships/hyperlink" Target="https://academic.ai4cas.cn/" TargetMode="External"/><Relationship Id="rId7" Type="http://schemas.openxmlformats.org/officeDocument/2006/relationships/hyperlink" Target="https://pan.baidu.com/s/1kPrF" TargetMode="External"/><Relationship Id="rId6" Type="http://schemas.openxmlformats.org/officeDocument/2006/relationships/hyperlink" Target="https://scispace.com/" TargetMode="External"/><Relationship Id="rId5" Type="http://schemas.openxmlformats.org/officeDocument/2006/relationships/hyperlink" Target="https://www.semanticscholar" TargetMode="External"/><Relationship Id="rId44" Type="http://schemas.openxmlformats.org/officeDocument/2006/relationships/image" Target="../media/image529.png"/><Relationship Id="rId43" Type="http://schemas.openxmlformats.org/officeDocument/2006/relationships/image" Target="../media/image528.jpeg"/><Relationship Id="rId42" Type="http://schemas.openxmlformats.org/officeDocument/2006/relationships/image" Target="../media/image527.jpeg"/><Relationship Id="rId41" Type="http://schemas.openxmlformats.org/officeDocument/2006/relationships/image" Target="../media/image526.jpeg"/><Relationship Id="rId40" Type="http://schemas.openxmlformats.org/officeDocument/2006/relationships/image" Target="../media/image525.jpeg"/><Relationship Id="rId4" Type="http://schemas.openxmlformats.org/officeDocument/2006/relationships/hyperlink" Target="https://scite.ai" TargetMode="External"/><Relationship Id="rId39" Type="http://schemas.openxmlformats.org/officeDocument/2006/relationships/image" Target="../media/image524.jpeg"/><Relationship Id="rId38" Type="http://schemas.openxmlformats.org/officeDocument/2006/relationships/image" Target="../media/image523.jpeg"/><Relationship Id="rId37" Type="http://schemas.openxmlformats.org/officeDocument/2006/relationships/image" Target="../media/image522.jpeg"/><Relationship Id="rId36" Type="http://schemas.openxmlformats.org/officeDocument/2006/relationships/image" Target="../media/image521.png"/><Relationship Id="rId35" Type="http://schemas.openxmlformats.org/officeDocument/2006/relationships/image" Target="../media/image520.png"/><Relationship Id="rId34" Type="http://schemas.openxmlformats.org/officeDocument/2006/relationships/image" Target="../media/image519.png"/><Relationship Id="rId33" Type="http://schemas.openxmlformats.org/officeDocument/2006/relationships/image" Target="../media/image518.png"/><Relationship Id="rId32" Type="http://schemas.openxmlformats.org/officeDocument/2006/relationships/image" Target="../media/image517.png"/><Relationship Id="rId31" Type="http://schemas.openxmlformats.org/officeDocument/2006/relationships/image" Target="../media/image516.png"/><Relationship Id="rId30" Type="http://schemas.openxmlformats.org/officeDocument/2006/relationships/image" Target="../media/image515.png"/><Relationship Id="rId3" Type="http://schemas.openxmlformats.org/officeDocument/2006/relationships/hyperlink" Target="https://elicit.com/" TargetMode="External"/><Relationship Id="rId29" Type="http://schemas.openxmlformats.org/officeDocument/2006/relationships/image" Target="../media/image514.png"/><Relationship Id="rId28" Type="http://schemas.openxmlformats.org/officeDocument/2006/relationships/image" Target="../media/image513.png"/><Relationship Id="rId27" Type="http://schemas.openxmlformats.org/officeDocument/2006/relationships/image" Target="../media/image512.png"/><Relationship Id="rId26" Type="http://schemas.openxmlformats.org/officeDocument/2006/relationships/image" Target="../media/image511.png"/><Relationship Id="rId25" Type="http://schemas.openxmlformats.org/officeDocument/2006/relationships/image" Target="../media/image510.png"/><Relationship Id="rId24" Type="http://schemas.openxmlformats.org/officeDocument/2006/relationships/image" Target="../media/image509.png"/><Relationship Id="rId23" Type="http://schemas.openxmlformats.org/officeDocument/2006/relationships/image" Target="../media/image508.png"/><Relationship Id="rId22" Type="http://schemas.openxmlformats.org/officeDocument/2006/relationships/image" Target="../media/image507.png"/><Relationship Id="rId21" Type="http://schemas.openxmlformats.org/officeDocument/2006/relationships/image" Target="../media/image506.png"/><Relationship Id="rId20" Type="http://schemas.openxmlformats.org/officeDocument/2006/relationships/image" Target="../media/image505.png"/><Relationship Id="rId2" Type="http://schemas.openxmlformats.org/officeDocument/2006/relationships/image" Target="../media/image29.jpeg"/><Relationship Id="rId19" Type="http://schemas.openxmlformats.org/officeDocument/2006/relationships/image" Target="../media/image504.png"/><Relationship Id="rId18" Type="http://schemas.openxmlformats.org/officeDocument/2006/relationships/image" Target="../media/image503.png"/><Relationship Id="rId17" Type="http://schemas.openxmlformats.org/officeDocument/2006/relationships/image" Target="../media/image502.png"/><Relationship Id="rId16" Type="http://schemas.openxmlformats.org/officeDocument/2006/relationships/image" Target="../media/image501.png"/><Relationship Id="rId15" Type="http://schemas.openxmlformats.org/officeDocument/2006/relationships/image" Target="../media/image500.png"/><Relationship Id="rId14" Type="http://schemas.openxmlformats.org/officeDocument/2006/relationships/image" Target="../media/image499.png"/><Relationship Id="rId13" Type="http://schemas.openxmlformats.org/officeDocument/2006/relationships/image" Target="../media/image498.png"/><Relationship Id="rId12" Type="http://schemas.openxmlformats.org/officeDocument/2006/relationships/image" Target="../media/image497.png"/><Relationship Id="rId11" Type="http://schemas.openxmlformats.org/officeDocument/2006/relationships/image" Target="../media/image496.png"/><Relationship Id="rId10" Type="http://schemas.openxmlformats.org/officeDocument/2006/relationships/hyperlink" Target="https://www.scienceone.cn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5.png"/><Relationship Id="rId8" Type="http://schemas.openxmlformats.org/officeDocument/2006/relationships/image" Target="../media/image534.png"/><Relationship Id="rId7" Type="http://schemas.openxmlformats.org/officeDocument/2006/relationships/image" Target="../media/image533.png"/><Relationship Id="rId6" Type="http://schemas.openxmlformats.org/officeDocument/2006/relationships/image" Target="../media/image532.png"/><Relationship Id="rId56" Type="http://schemas.openxmlformats.org/officeDocument/2006/relationships/image" Target="../media/image571.jpeg"/><Relationship Id="rId55" Type="http://schemas.openxmlformats.org/officeDocument/2006/relationships/image" Target="../media/image570.jpeg"/><Relationship Id="rId54" Type="http://schemas.openxmlformats.org/officeDocument/2006/relationships/image" Target="../media/image569.jpeg"/><Relationship Id="rId53" Type="http://schemas.openxmlformats.org/officeDocument/2006/relationships/image" Target="../media/image29.jpeg"/><Relationship Id="rId52" Type="http://schemas.openxmlformats.org/officeDocument/2006/relationships/image" Target="../media/image568.png"/><Relationship Id="rId51" Type="http://schemas.openxmlformats.org/officeDocument/2006/relationships/image" Target="../media/image567.png"/><Relationship Id="rId50" Type="http://schemas.openxmlformats.org/officeDocument/2006/relationships/hyperlink" Target="https://www.slidesai.io/zh" TargetMode="External"/><Relationship Id="rId5" Type="http://schemas.openxmlformats.org/officeDocument/2006/relationships/image" Target="../media/image531.png"/><Relationship Id="rId49" Type="http://schemas.openxmlformats.org/officeDocument/2006/relationships/image" Target="../media/image566.png"/><Relationship Id="rId48" Type="http://schemas.openxmlformats.org/officeDocument/2006/relationships/image" Target="../media/image565.jpeg"/><Relationship Id="rId47" Type="http://schemas.openxmlformats.org/officeDocument/2006/relationships/image" Target="../media/image564.png"/><Relationship Id="rId46" Type="http://schemas.openxmlformats.org/officeDocument/2006/relationships/image" Target="../media/image563.png"/><Relationship Id="rId45" Type="http://schemas.openxmlformats.org/officeDocument/2006/relationships/image" Target="../media/image562.png"/><Relationship Id="rId44" Type="http://schemas.openxmlformats.org/officeDocument/2006/relationships/image" Target="../media/image561.png"/><Relationship Id="rId43" Type="http://schemas.openxmlformats.org/officeDocument/2006/relationships/hyperlink" Target="https://wenku.baidu.com/" TargetMode="External"/><Relationship Id="rId42" Type="http://schemas.openxmlformats.org/officeDocument/2006/relationships/image" Target="../media/image560.png"/><Relationship Id="rId41" Type="http://schemas.openxmlformats.org/officeDocument/2006/relationships/image" Target="../media/image559.png"/><Relationship Id="rId40" Type="http://schemas.openxmlformats.org/officeDocument/2006/relationships/image" Target="../media/image558.png"/><Relationship Id="rId4" Type="http://schemas.openxmlformats.org/officeDocument/2006/relationships/hyperlink" Target="https://pptgo.cn/" TargetMode="External"/><Relationship Id="rId39" Type="http://schemas.openxmlformats.org/officeDocument/2006/relationships/image" Target="../media/image557.png"/><Relationship Id="rId38" Type="http://schemas.openxmlformats.org/officeDocument/2006/relationships/hyperlink" Target="http://www.tiangong.cn" TargetMode="External"/><Relationship Id="rId37" Type="http://schemas.openxmlformats.org/officeDocument/2006/relationships/image" Target="../media/image556.png"/><Relationship Id="rId36" Type="http://schemas.openxmlformats.org/officeDocument/2006/relationships/image" Target="../media/image555.png"/><Relationship Id="rId35" Type="http://schemas.openxmlformats.org/officeDocument/2006/relationships/image" Target="../media/image554.png"/><Relationship Id="rId34" Type="http://schemas.openxmlformats.org/officeDocument/2006/relationships/hyperlink" Target="https://www.qzoffice.com/" TargetMode="External"/><Relationship Id="rId33" Type="http://schemas.openxmlformats.org/officeDocument/2006/relationships/image" Target="../media/image553.png"/><Relationship Id="rId32" Type="http://schemas.openxmlformats.org/officeDocument/2006/relationships/image" Target="../media/image552.png"/><Relationship Id="rId31" Type="http://schemas.openxmlformats.org/officeDocument/2006/relationships/image" Target="../media/image551.png"/><Relationship Id="rId30" Type="http://schemas.openxmlformats.org/officeDocument/2006/relationships/image" Target="../media/image550.png"/><Relationship Id="rId3" Type="http://schemas.openxmlformats.org/officeDocument/2006/relationships/hyperlink" Target="https://mindshow.ai/" TargetMode="External"/><Relationship Id="rId29" Type="http://schemas.openxmlformats.org/officeDocument/2006/relationships/hyperlink" Target="https://www.beautiful" TargetMode="External"/><Relationship Id="rId28" Type="http://schemas.openxmlformats.org/officeDocument/2006/relationships/hyperlink" Target="https://www.beautiful.ai/" TargetMode="External"/><Relationship Id="rId27" Type="http://schemas.openxmlformats.org/officeDocument/2006/relationships/image" Target="../media/image549.png"/><Relationship Id="rId26" Type="http://schemas.openxmlformats.org/officeDocument/2006/relationships/image" Target="../media/image548.png"/><Relationship Id="rId25" Type="http://schemas.openxmlformats.org/officeDocument/2006/relationships/image" Target="../media/image547.png"/><Relationship Id="rId24" Type="http://schemas.openxmlformats.org/officeDocument/2006/relationships/image" Target="../media/image546.png"/><Relationship Id="rId23" Type="http://schemas.openxmlformats.org/officeDocument/2006/relationships/hyperlink" Target="https://gamma.app/zh" TargetMode="External"/><Relationship Id="rId22" Type="http://schemas.openxmlformats.org/officeDocument/2006/relationships/hyperlink" Target="https://gamma.app/zh-cn" TargetMode="External"/><Relationship Id="rId21" Type="http://schemas.openxmlformats.org/officeDocument/2006/relationships/image" Target="../media/image545.png"/><Relationship Id="rId20" Type="http://schemas.openxmlformats.org/officeDocument/2006/relationships/image" Target="../media/image544.png"/><Relationship Id="rId2" Type="http://schemas.openxmlformats.org/officeDocument/2006/relationships/image" Target="../media/image530.png"/><Relationship Id="rId19" Type="http://schemas.openxmlformats.org/officeDocument/2006/relationships/image" Target="../media/image543.png"/><Relationship Id="rId18" Type="http://schemas.openxmlformats.org/officeDocument/2006/relationships/image" Target="../media/image542.png"/><Relationship Id="rId17" Type="http://schemas.openxmlformats.org/officeDocument/2006/relationships/image" Target="../media/image541.png"/><Relationship Id="rId16" Type="http://schemas.openxmlformats.org/officeDocument/2006/relationships/hyperlink" Target="https://www.xfyun.cn/services/aippt" TargetMode="External"/><Relationship Id="rId15" Type="http://schemas.openxmlformats.org/officeDocument/2006/relationships/image" Target="../media/image540.png"/><Relationship Id="rId14" Type="http://schemas.openxmlformats.org/officeDocument/2006/relationships/image" Target="../media/image539.png"/><Relationship Id="rId13" Type="http://schemas.openxmlformats.org/officeDocument/2006/relationships/image" Target="../media/image538.png"/><Relationship Id="rId12" Type="http://schemas.openxmlformats.org/officeDocument/2006/relationships/image" Target="../media/image537.png"/><Relationship Id="rId11" Type="http://schemas.openxmlformats.org/officeDocument/2006/relationships/hyperlink" Target="https://www.aippt.cn/" TargetMode="External"/><Relationship Id="rId10" Type="http://schemas.openxmlformats.org/officeDocument/2006/relationships/image" Target="../media/image53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paperyy.com/" TargetMode="External"/><Relationship Id="rId8" Type="http://schemas.openxmlformats.org/officeDocument/2006/relationships/hyperlink" Target="https://app.aigcx.com/" TargetMode="External"/><Relationship Id="rId7" Type="http://schemas.openxmlformats.org/officeDocument/2006/relationships/hyperlink" Target="https://www.mitataai.com/" TargetMode="External"/><Relationship Id="rId6" Type="http://schemas.openxmlformats.org/officeDocument/2006/relationships/hyperlink" Target="https://www.scribbr.com/" TargetMode="External"/><Relationship Id="rId5" Type="http://schemas.openxmlformats.org/officeDocument/2006/relationships/hyperlink" Target="https://gptzero.me/" TargetMode="External"/><Relationship Id="rId48" Type="http://schemas.openxmlformats.org/officeDocument/2006/relationships/image" Target="../media/image609.jpeg"/><Relationship Id="rId47" Type="http://schemas.openxmlformats.org/officeDocument/2006/relationships/image" Target="../media/image608.jpeg"/><Relationship Id="rId46" Type="http://schemas.openxmlformats.org/officeDocument/2006/relationships/image" Target="../media/image607.jpeg"/><Relationship Id="rId45" Type="http://schemas.openxmlformats.org/officeDocument/2006/relationships/image" Target="../media/image606.jpeg"/><Relationship Id="rId44" Type="http://schemas.openxmlformats.org/officeDocument/2006/relationships/image" Target="../media/image605.jpeg"/><Relationship Id="rId43" Type="http://schemas.openxmlformats.org/officeDocument/2006/relationships/image" Target="../media/image604.jpeg"/><Relationship Id="rId42" Type="http://schemas.openxmlformats.org/officeDocument/2006/relationships/image" Target="../media/image603.jpeg"/><Relationship Id="rId41" Type="http://schemas.openxmlformats.org/officeDocument/2006/relationships/image" Target="../media/image602.jpeg"/><Relationship Id="rId40" Type="http://schemas.openxmlformats.org/officeDocument/2006/relationships/image" Target="../media/image601.png"/><Relationship Id="rId4" Type="http://schemas.openxmlformats.org/officeDocument/2006/relationships/hyperlink" Target="https://pangram.ai/" TargetMode="External"/><Relationship Id="rId39" Type="http://schemas.openxmlformats.org/officeDocument/2006/relationships/image" Target="../media/image600.png"/><Relationship Id="rId38" Type="http://schemas.openxmlformats.org/officeDocument/2006/relationships/image" Target="../media/image599.png"/><Relationship Id="rId37" Type="http://schemas.openxmlformats.org/officeDocument/2006/relationships/image" Target="../media/image598.png"/><Relationship Id="rId36" Type="http://schemas.openxmlformats.org/officeDocument/2006/relationships/image" Target="../media/image597.png"/><Relationship Id="rId35" Type="http://schemas.openxmlformats.org/officeDocument/2006/relationships/image" Target="../media/image596.png"/><Relationship Id="rId34" Type="http://schemas.openxmlformats.org/officeDocument/2006/relationships/image" Target="../media/image595.png"/><Relationship Id="rId33" Type="http://schemas.openxmlformats.org/officeDocument/2006/relationships/image" Target="../media/image594.png"/><Relationship Id="rId32" Type="http://schemas.openxmlformats.org/officeDocument/2006/relationships/image" Target="../media/image593.png"/><Relationship Id="rId31" Type="http://schemas.openxmlformats.org/officeDocument/2006/relationships/image" Target="../media/image592.png"/><Relationship Id="rId30" Type="http://schemas.openxmlformats.org/officeDocument/2006/relationships/image" Target="../media/image591.png"/><Relationship Id="rId3" Type="http://schemas.openxmlformats.org/officeDocument/2006/relationships/hyperlink" Target="https://copyleaks.com/zh" TargetMode="External"/><Relationship Id="rId29" Type="http://schemas.openxmlformats.org/officeDocument/2006/relationships/image" Target="../media/image590.png"/><Relationship Id="rId28" Type="http://schemas.openxmlformats.org/officeDocument/2006/relationships/image" Target="../media/image589.png"/><Relationship Id="rId27" Type="http://schemas.openxmlformats.org/officeDocument/2006/relationships/image" Target="../media/image588.png"/><Relationship Id="rId26" Type="http://schemas.openxmlformats.org/officeDocument/2006/relationships/image" Target="../media/image587.png"/><Relationship Id="rId25" Type="http://schemas.openxmlformats.org/officeDocument/2006/relationships/image" Target="../media/image586.png"/><Relationship Id="rId24" Type="http://schemas.openxmlformats.org/officeDocument/2006/relationships/image" Target="../media/image585.png"/><Relationship Id="rId23" Type="http://schemas.openxmlformats.org/officeDocument/2006/relationships/image" Target="../media/image584.png"/><Relationship Id="rId22" Type="http://schemas.openxmlformats.org/officeDocument/2006/relationships/image" Target="../media/image583.png"/><Relationship Id="rId21" Type="http://schemas.openxmlformats.org/officeDocument/2006/relationships/image" Target="../media/image582.png"/><Relationship Id="rId20" Type="http://schemas.openxmlformats.org/officeDocument/2006/relationships/image" Target="../media/image581.png"/><Relationship Id="rId2" Type="http://schemas.openxmlformats.org/officeDocument/2006/relationships/image" Target="../media/image29.jpeg"/><Relationship Id="rId19" Type="http://schemas.openxmlformats.org/officeDocument/2006/relationships/image" Target="../media/image580.png"/><Relationship Id="rId18" Type="http://schemas.openxmlformats.org/officeDocument/2006/relationships/image" Target="../media/image579.png"/><Relationship Id="rId17" Type="http://schemas.openxmlformats.org/officeDocument/2006/relationships/image" Target="../media/image578.png"/><Relationship Id="rId16" Type="http://schemas.openxmlformats.org/officeDocument/2006/relationships/image" Target="../media/image577.png"/><Relationship Id="rId15" Type="http://schemas.openxmlformats.org/officeDocument/2006/relationships/image" Target="../media/image576.png"/><Relationship Id="rId14" Type="http://schemas.openxmlformats.org/officeDocument/2006/relationships/image" Target="../media/image575.png"/><Relationship Id="rId13" Type="http://schemas.openxmlformats.org/officeDocument/2006/relationships/image" Target="../media/image574.png"/><Relationship Id="rId12" Type="http://schemas.openxmlformats.org/officeDocument/2006/relationships/image" Target="../media/image573.png"/><Relationship Id="rId11" Type="http://schemas.openxmlformats.org/officeDocument/2006/relationships/image" Target="../media/image572.png"/><Relationship Id="rId10" Type="http://schemas.openxmlformats.org/officeDocument/2006/relationships/hyperlink" Target="https://cx.cnki.net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hyperlink" Target="https://cloud.tencent.com/product" TargetMode="External"/><Relationship Id="rId8" Type="http://schemas.openxmlformats.org/officeDocument/2006/relationships/hyperlink" Target="https://www.asiainfo-sec.com/" TargetMode="External"/><Relationship Id="rId7" Type="http://schemas.openxmlformats.org/officeDocument/2006/relationships/hyperlink" Target="HTTP/HTTPS" TargetMode="External"/><Relationship Id="rId6" Type="http://schemas.openxmlformats.org/officeDocument/2006/relationships/hyperlink" Target="https://www.aliyun.com/product/security-center" TargetMode="External"/><Relationship Id="rId5" Type="http://schemas.openxmlformats.org/officeDocument/2006/relationships/hyperlink" Target="https://www.knownsec.com/#/" TargetMode="External"/><Relationship Id="rId41" Type="http://schemas.openxmlformats.org/officeDocument/2006/relationships/image" Target="../media/image639.jpeg"/><Relationship Id="rId40" Type="http://schemas.openxmlformats.org/officeDocument/2006/relationships/image" Target="../media/image638.jpeg"/><Relationship Id="rId4" Type="http://schemas.openxmlformats.org/officeDocument/2006/relationships/hyperlink" Target="https://www.ishumei.com/" TargetMode="External"/><Relationship Id="rId39" Type="http://schemas.openxmlformats.org/officeDocument/2006/relationships/image" Target="../media/image637.jpeg"/><Relationship Id="rId38" Type="http://schemas.openxmlformats.org/officeDocument/2006/relationships/image" Target="../media/image636.jpeg"/><Relationship Id="rId37" Type="http://schemas.openxmlformats.org/officeDocument/2006/relationships/image" Target="../media/image635.jpeg"/><Relationship Id="rId36" Type="http://schemas.openxmlformats.org/officeDocument/2006/relationships/image" Target="../media/image634.jpeg"/><Relationship Id="rId35" Type="http://schemas.openxmlformats.org/officeDocument/2006/relationships/image" Target="../media/image633.png"/><Relationship Id="rId34" Type="http://schemas.openxmlformats.org/officeDocument/2006/relationships/image" Target="../media/image632.png"/><Relationship Id="rId33" Type="http://schemas.openxmlformats.org/officeDocument/2006/relationships/image" Target="../media/image631.png"/><Relationship Id="rId32" Type="http://schemas.openxmlformats.org/officeDocument/2006/relationships/image" Target="../media/image630.png"/><Relationship Id="rId31" Type="http://schemas.openxmlformats.org/officeDocument/2006/relationships/image" Target="../media/image629.png"/><Relationship Id="rId30" Type="http://schemas.openxmlformats.org/officeDocument/2006/relationships/image" Target="../media/image628.png"/><Relationship Id="rId3" Type="http://schemas.openxmlformats.org/officeDocument/2006/relationships/hyperlink" Target="https://dun.163.com/" TargetMode="External"/><Relationship Id="rId29" Type="http://schemas.openxmlformats.org/officeDocument/2006/relationships/image" Target="../media/image627.png"/><Relationship Id="rId28" Type="http://schemas.openxmlformats.org/officeDocument/2006/relationships/image" Target="../media/image626.png"/><Relationship Id="rId27" Type="http://schemas.openxmlformats.org/officeDocument/2006/relationships/image" Target="../media/image625.png"/><Relationship Id="rId26" Type="http://schemas.openxmlformats.org/officeDocument/2006/relationships/image" Target="../media/image624.png"/><Relationship Id="rId25" Type="http://schemas.openxmlformats.org/officeDocument/2006/relationships/image" Target="../media/image623.png"/><Relationship Id="rId24" Type="http://schemas.openxmlformats.org/officeDocument/2006/relationships/image" Target="../media/image622.png"/><Relationship Id="rId23" Type="http://schemas.openxmlformats.org/officeDocument/2006/relationships/image" Target="../media/image621.png"/><Relationship Id="rId22" Type="http://schemas.openxmlformats.org/officeDocument/2006/relationships/image" Target="../media/image620.png"/><Relationship Id="rId21" Type="http://schemas.openxmlformats.org/officeDocument/2006/relationships/image" Target="../media/image619.png"/><Relationship Id="rId20" Type="http://schemas.openxmlformats.org/officeDocument/2006/relationships/image" Target="../media/image618.png"/><Relationship Id="rId2" Type="http://schemas.openxmlformats.org/officeDocument/2006/relationships/image" Target="../media/image29.jpeg"/><Relationship Id="rId19" Type="http://schemas.openxmlformats.org/officeDocument/2006/relationships/image" Target="../media/image617.png"/><Relationship Id="rId18" Type="http://schemas.openxmlformats.org/officeDocument/2006/relationships/image" Target="../media/image616.png"/><Relationship Id="rId17" Type="http://schemas.openxmlformats.org/officeDocument/2006/relationships/image" Target="../media/image615.png"/><Relationship Id="rId16" Type="http://schemas.openxmlformats.org/officeDocument/2006/relationships/image" Target="../media/image614.png"/><Relationship Id="rId15" Type="http://schemas.openxmlformats.org/officeDocument/2006/relationships/image" Target="../media/image613.png"/><Relationship Id="rId14" Type="http://schemas.openxmlformats.org/officeDocument/2006/relationships/image" Target="../media/image612.png"/><Relationship Id="rId13" Type="http://schemas.openxmlformats.org/officeDocument/2006/relationships/image" Target="../media/image611.png"/><Relationship Id="rId12" Type="http://schemas.openxmlformats.org/officeDocument/2006/relationships/image" Target="../media/image610.png"/><Relationship Id="rId11" Type="http://schemas.openxmlformats.org/officeDocument/2006/relationships/hyperlink" Target="https://hivemoderation.com/" TargetMode="External"/><Relationship Id="rId10" Type="http://schemas.openxmlformats.org/officeDocument/2006/relationships/hyperlink" Target="https://zj.xfyun.cn/exam/text/?life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paloaltonetworks.cn/" TargetMode="External"/><Relationship Id="rId8" Type="http://schemas.openxmlformats.org/officeDocument/2006/relationships/hyperlink" Target="https://www.cyera.com/" TargetMode="External"/><Relationship Id="rId7" Type="http://schemas.openxmlformats.org/officeDocument/2006/relationships/hyperlink" Target="https://www.sentinelone.com/" TargetMode="External"/><Relationship Id="rId6" Type="http://schemas.openxmlformats.org/officeDocument/2006/relationships/hyperlink" Target="https://www.zscaler.com" TargetMode="External"/><Relationship Id="rId5" Type="http://schemas.openxmlformats.org/officeDocument/2006/relationships/hyperlink" Target="https://github.com/chaitin/SafeLi" TargetMode="External"/><Relationship Id="rId4" Type="http://schemas.openxmlformats.org/officeDocument/2006/relationships/hyperlink" Target="https://www.securitygpt.com.cn/" TargetMode="External"/><Relationship Id="rId39" Type="http://schemas.openxmlformats.org/officeDocument/2006/relationships/image" Target="../media/image668.jpeg"/><Relationship Id="rId38" Type="http://schemas.openxmlformats.org/officeDocument/2006/relationships/image" Target="../media/image667.jpeg"/><Relationship Id="rId37" Type="http://schemas.openxmlformats.org/officeDocument/2006/relationships/image" Target="../media/image666.jpeg"/><Relationship Id="rId36" Type="http://schemas.openxmlformats.org/officeDocument/2006/relationships/image" Target="../media/image665.jpeg"/><Relationship Id="rId35" Type="http://schemas.openxmlformats.org/officeDocument/2006/relationships/image" Target="../media/image664.jpeg"/><Relationship Id="rId34" Type="http://schemas.openxmlformats.org/officeDocument/2006/relationships/image" Target="../media/image663.png"/><Relationship Id="rId33" Type="http://schemas.openxmlformats.org/officeDocument/2006/relationships/image" Target="../media/image662.png"/><Relationship Id="rId32" Type="http://schemas.openxmlformats.org/officeDocument/2006/relationships/image" Target="../media/image661.png"/><Relationship Id="rId31" Type="http://schemas.openxmlformats.org/officeDocument/2006/relationships/image" Target="../media/image660.png"/><Relationship Id="rId30" Type="http://schemas.openxmlformats.org/officeDocument/2006/relationships/image" Target="../media/image659.png"/><Relationship Id="rId3" Type="http://schemas.openxmlformats.org/officeDocument/2006/relationships/hyperlink" Target="https://qingteng.cn/" TargetMode="External"/><Relationship Id="rId29" Type="http://schemas.openxmlformats.org/officeDocument/2006/relationships/image" Target="../media/image658.png"/><Relationship Id="rId28" Type="http://schemas.openxmlformats.org/officeDocument/2006/relationships/image" Target="../media/image657.png"/><Relationship Id="rId27" Type="http://schemas.openxmlformats.org/officeDocument/2006/relationships/image" Target="../media/image656.png"/><Relationship Id="rId26" Type="http://schemas.openxmlformats.org/officeDocument/2006/relationships/image" Target="../media/image655.png"/><Relationship Id="rId25" Type="http://schemas.openxmlformats.org/officeDocument/2006/relationships/image" Target="../media/image654.png"/><Relationship Id="rId24" Type="http://schemas.openxmlformats.org/officeDocument/2006/relationships/image" Target="../media/image653.png"/><Relationship Id="rId23" Type="http://schemas.openxmlformats.org/officeDocument/2006/relationships/image" Target="../media/image652.png"/><Relationship Id="rId22" Type="http://schemas.openxmlformats.org/officeDocument/2006/relationships/image" Target="../media/image651.png"/><Relationship Id="rId21" Type="http://schemas.openxmlformats.org/officeDocument/2006/relationships/image" Target="../media/image650.png"/><Relationship Id="rId20" Type="http://schemas.openxmlformats.org/officeDocument/2006/relationships/image" Target="../media/image649.png"/><Relationship Id="rId2" Type="http://schemas.openxmlformats.org/officeDocument/2006/relationships/image" Target="../media/image29.jpeg"/><Relationship Id="rId19" Type="http://schemas.openxmlformats.org/officeDocument/2006/relationships/image" Target="../media/image648.png"/><Relationship Id="rId18" Type="http://schemas.openxmlformats.org/officeDocument/2006/relationships/image" Target="../media/image647.png"/><Relationship Id="rId17" Type="http://schemas.openxmlformats.org/officeDocument/2006/relationships/image" Target="../media/image646.png"/><Relationship Id="rId16" Type="http://schemas.openxmlformats.org/officeDocument/2006/relationships/image" Target="../media/image645.png"/><Relationship Id="rId15" Type="http://schemas.openxmlformats.org/officeDocument/2006/relationships/image" Target="../media/image644.png"/><Relationship Id="rId14" Type="http://schemas.openxmlformats.org/officeDocument/2006/relationships/image" Target="../media/image643.png"/><Relationship Id="rId13" Type="http://schemas.openxmlformats.org/officeDocument/2006/relationships/image" Target="../media/image642.png"/><Relationship Id="rId12" Type="http://schemas.openxmlformats.org/officeDocument/2006/relationships/image" Target="../media/image641.png"/><Relationship Id="rId11" Type="http://schemas.openxmlformats.org/officeDocument/2006/relationships/image" Target="../media/image640.png"/><Relationship Id="rId10" Type="http://schemas.openxmlformats.org/officeDocument/2006/relationships/hyperlink" Target="https://www.crowdstrike.com/en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5.png"/><Relationship Id="rId8" Type="http://schemas.openxmlformats.org/officeDocument/2006/relationships/image" Target="../media/image674.png"/><Relationship Id="rId7" Type="http://schemas.openxmlformats.org/officeDocument/2006/relationships/image" Target="../media/image673.png"/><Relationship Id="rId6" Type="http://schemas.openxmlformats.org/officeDocument/2006/relationships/image" Target="../media/image672.png"/><Relationship Id="rId5" Type="http://schemas.openxmlformats.org/officeDocument/2006/relationships/image" Target="../media/image671.png"/><Relationship Id="rId45" Type="http://schemas.openxmlformats.org/officeDocument/2006/relationships/image" Target="../media/image29.jpeg"/><Relationship Id="rId44" Type="http://schemas.openxmlformats.org/officeDocument/2006/relationships/image" Target="../media/image703.png"/><Relationship Id="rId43" Type="http://schemas.openxmlformats.org/officeDocument/2006/relationships/image" Target="../media/image702.png"/><Relationship Id="rId42" Type="http://schemas.openxmlformats.org/officeDocument/2006/relationships/image" Target="../media/image701.png"/><Relationship Id="rId41" Type="http://schemas.openxmlformats.org/officeDocument/2006/relationships/image" Target="../media/image700.png"/><Relationship Id="rId40" Type="http://schemas.openxmlformats.org/officeDocument/2006/relationships/image" Target="../media/image699.png"/><Relationship Id="rId4" Type="http://schemas.openxmlformats.org/officeDocument/2006/relationships/hyperlink" Target="https://www.coze.cn/" TargetMode="External"/><Relationship Id="rId39" Type="http://schemas.openxmlformats.org/officeDocument/2006/relationships/image" Target="../media/image698.png"/><Relationship Id="rId38" Type="http://schemas.openxmlformats.org/officeDocument/2006/relationships/image" Target="../media/image697.png"/><Relationship Id="rId37" Type="http://schemas.openxmlformats.org/officeDocument/2006/relationships/hyperlink" Target="https://github.com/dzhng/deep-research" TargetMode="External"/><Relationship Id="rId36" Type="http://schemas.openxmlformats.org/officeDocument/2006/relationships/hyperlink" Target="http://visionmedia.github.io/superagent/" TargetMode="External"/><Relationship Id="rId35" Type="http://schemas.openxmlformats.org/officeDocument/2006/relationships/image" Target="../media/image696.png"/><Relationship Id="rId34" Type="http://schemas.openxmlformats.org/officeDocument/2006/relationships/image" Target="../media/image695.png"/><Relationship Id="rId33" Type="http://schemas.openxmlformats.org/officeDocument/2006/relationships/image" Target="../media/image694.png"/><Relationship Id="rId32" Type="http://schemas.openxmlformats.org/officeDocument/2006/relationships/image" Target="../media/image693.png"/><Relationship Id="rId31" Type="http://schemas.openxmlformats.org/officeDocument/2006/relationships/hyperlink" Target="https://flowithcn.com/" TargetMode="External"/><Relationship Id="rId30" Type="http://schemas.openxmlformats.org/officeDocument/2006/relationships/image" Target="../media/image692.png"/><Relationship Id="rId3" Type="http://schemas.openxmlformats.org/officeDocument/2006/relationships/image" Target="../media/image670.png"/><Relationship Id="rId29" Type="http://schemas.openxmlformats.org/officeDocument/2006/relationships/image" Target="../media/image691.png"/><Relationship Id="rId28" Type="http://schemas.openxmlformats.org/officeDocument/2006/relationships/image" Target="../media/image690.png"/><Relationship Id="rId27" Type="http://schemas.openxmlformats.org/officeDocument/2006/relationships/image" Target="../media/image689.png"/><Relationship Id="rId26" Type="http://schemas.openxmlformats.org/officeDocument/2006/relationships/hyperlink" Target="https://dify.ai/zh" TargetMode="External"/><Relationship Id="rId25" Type="http://schemas.openxmlformats.org/officeDocument/2006/relationships/image" Target="../media/image688.png"/><Relationship Id="rId24" Type="http://schemas.openxmlformats.org/officeDocument/2006/relationships/image" Target="../media/image687.png"/><Relationship Id="rId23" Type="http://schemas.openxmlformats.org/officeDocument/2006/relationships/image" Target="../media/image686.png"/><Relationship Id="rId22" Type="http://schemas.openxmlformats.org/officeDocument/2006/relationships/image" Target="../media/image685.png"/><Relationship Id="rId21" Type="http://schemas.openxmlformats.org/officeDocument/2006/relationships/hyperlink" Target="https://manus.im/" TargetMode="External"/><Relationship Id="rId20" Type="http://schemas.openxmlformats.org/officeDocument/2006/relationships/image" Target="../media/image684.png"/><Relationship Id="rId2" Type="http://schemas.openxmlformats.org/officeDocument/2006/relationships/image" Target="../media/image669.png"/><Relationship Id="rId19" Type="http://schemas.openxmlformats.org/officeDocument/2006/relationships/image" Target="../media/image683.png"/><Relationship Id="rId18" Type="http://schemas.openxmlformats.org/officeDocument/2006/relationships/image" Target="../media/image682.png"/><Relationship Id="rId17" Type="http://schemas.openxmlformats.org/officeDocument/2006/relationships/image" Target="../media/image681.png"/><Relationship Id="rId16" Type="http://schemas.openxmlformats.org/officeDocument/2006/relationships/image" Target="../media/image680.png"/><Relationship Id="rId15" Type="http://schemas.openxmlformats.org/officeDocument/2006/relationships/hyperlink" Target="https://n8ncn.io/" TargetMode="External"/><Relationship Id="rId14" Type="http://schemas.openxmlformats.org/officeDocument/2006/relationships/image" Target="../media/image679.png"/><Relationship Id="rId13" Type="http://schemas.openxmlformats.org/officeDocument/2006/relationships/image" Target="../media/image678.png"/><Relationship Id="rId12" Type="http://schemas.openxmlformats.org/officeDocument/2006/relationships/image" Target="../media/image677.png"/><Relationship Id="rId11" Type="http://schemas.openxmlformats.org/officeDocument/2006/relationships/image" Target="../media/image676.png"/><Relationship Id="rId10" Type="http://schemas.openxmlformats.org/officeDocument/2006/relationships/hyperlink" Target="https://www.zhipuai.cn/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9.png"/><Relationship Id="rId8" Type="http://schemas.openxmlformats.org/officeDocument/2006/relationships/image" Target="../media/image708.png"/><Relationship Id="rId7" Type="http://schemas.openxmlformats.org/officeDocument/2006/relationships/image" Target="../media/image707.png"/><Relationship Id="rId6" Type="http://schemas.openxmlformats.org/officeDocument/2006/relationships/hyperlink" Target="https://aiedu.ubtrobot.com/index.html" TargetMode="External"/><Relationship Id="rId52" Type="http://schemas.openxmlformats.org/officeDocument/2006/relationships/image" Target="../media/image745.jpeg"/><Relationship Id="rId51" Type="http://schemas.openxmlformats.org/officeDocument/2006/relationships/image" Target="../media/image744.png"/><Relationship Id="rId50" Type="http://schemas.openxmlformats.org/officeDocument/2006/relationships/image" Target="../media/image743.jpeg"/><Relationship Id="rId5" Type="http://schemas.openxmlformats.org/officeDocument/2006/relationships/image" Target="../media/image706.png"/><Relationship Id="rId49" Type="http://schemas.openxmlformats.org/officeDocument/2006/relationships/image" Target="../media/image742.jpeg"/><Relationship Id="rId48" Type="http://schemas.openxmlformats.org/officeDocument/2006/relationships/image" Target="../media/image741.jpeg"/><Relationship Id="rId47" Type="http://schemas.openxmlformats.org/officeDocument/2006/relationships/image" Target="../media/image29.jpeg"/><Relationship Id="rId46" Type="http://schemas.openxmlformats.org/officeDocument/2006/relationships/image" Target="../media/image740.png"/><Relationship Id="rId45" Type="http://schemas.openxmlformats.org/officeDocument/2006/relationships/image" Target="../media/image739.png"/><Relationship Id="rId44" Type="http://schemas.openxmlformats.org/officeDocument/2006/relationships/image" Target="../media/image738.png"/><Relationship Id="rId43" Type="http://schemas.openxmlformats.org/officeDocument/2006/relationships/hyperlink" Target="https://zh.khanacademy.org/" TargetMode="External"/><Relationship Id="rId42" Type="http://schemas.openxmlformats.org/officeDocument/2006/relationships/image" Target="../media/image737.png"/><Relationship Id="rId41" Type="http://schemas.openxmlformats.org/officeDocument/2006/relationships/image" Target="../media/image736.png"/><Relationship Id="rId40" Type="http://schemas.openxmlformats.org/officeDocument/2006/relationships/image" Target="../media/image735.png"/><Relationship Id="rId4" Type="http://schemas.openxmlformats.org/officeDocument/2006/relationships/hyperlink" Target="https://www.magicschool.ai/" TargetMode="External"/><Relationship Id="rId39" Type="http://schemas.openxmlformats.org/officeDocument/2006/relationships/image" Target="../media/image734.png"/><Relationship Id="rId38" Type="http://schemas.openxmlformats.org/officeDocument/2006/relationships/hyperlink" Target="https://banmaapp.com/index.html?ref=openi.cn" TargetMode="External"/><Relationship Id="rId37" Type="http://schemas.openxmlformats.org/officeDocument/2006/relationships/image" Target="../media/image733.png"/><Relationship Id="rId36" Type="http://schemas.openxmlformats.org/officeDocument/2006/relationships/image" Target="../media/image732.png"/><Relationship Id="rId35" Type="http://schemas.openxmlformats.org/officeDocument/2006/relationships/image" Target="../media/image731.png"/><Relationship Id="rId34" Type="http://schemas.openxmlformats.org/officeDocument/2006/relationships/image" Target="../media/image730.png"/><Relationship Id="rId33" Type="http://schemas.openxmlformats.org/officeDocument/2006/relationships/hyperlink" Target="http://www.feixianglaoshi.com" TargetMode="External"/><Relationship Id="rId32" Type="http://schemas.openxmlformats.org/officeDocument/2006/relationships/image" Target="../media/image729.png"/><Relationship Id="rId31" Type="http://schemas.openxmlformats.org/officeDocument/2006/relationships/image" Target="../media/image728.png"/><Relationship Id="rId30" Type="http://schemas.openxmlformats.org/officeDocument/2006/relationships/image" Target="../media/image727.png"/><Relationship Id="rId3" Type="http://schemas.openxmlformats.org/officeDocument/2006/relationships/image" Target="../media/image705.png"/><Relationship Id="rId29" Type="http://schemas.openxmlformats.org/officeDocument/2006/relationships/image" Target="../media/image726.jpeg"/><Relationship Id="rId28" Type="http://schemas.openxmlformats.org/officeDocument/2006/relationships/image" Target="../media/image725.png"/><Relationship Id="rId27" Type="http://schemas.openxmlformats.org/officeDocument/2006/relationships/image" Target="../media/image724.png"/><Relationship Id="rId26" Type="http://schemas.openxmlformats.org/officeDocument/2006/relationships/image" Target="../media/image723.png"/><Relationship Id="rId25" Type="http://schemas.openxmlformats.org/officeDocument/2006/relationships/hyperlink" Target="https://www.yuketang.cn/" TargetMode="External"/><Relationship Id="rId24" Type="http://schemas.openxmlformats.org/officeDocument/2006/relationships/image" Target="../media/image722.png"/><Relationship Id="rId23" Type="http://schemas.openxmlformats.org/officeDocument/2006/relationships/image" Target="../media/image721.png"/><Relationship Id="rId22" Type="http://schemas.openxmlformats.org/officeDocument/2006/relationships/image" Target="../media/image720.png"/><Relationship Id="rId21" Type="http://schemas.openxmlformats.org/officeDocument/2006/relationships/image" Target="../media/image719.png"/><Relationship Id="rId20" Type="http://schemas.openxmlformats.org/officeDocument/2006/relationships/image" Target="../media/image718.png"/><Relationship Id="rId2" Type="http://schemas.openxmlformats.org/officeDocument/2006/relationships/image" Target="../media/image704.png"/><Relationship Id="rId19" Type="http://schemas.openxmlformats.org/officeDocument/2006/relationships/image" Target="../media/image717.png"/><Relationship Id="rId18" Type="http://schemas.openxmlformats.org/officeDocument/2006/relationships/image" Target="../media/image716.png"/><Relationship Id="rId17" Type="http://schemas.openxmlformats.org/officeDocument/2006/relationships/hyperlink" Target="https://www.briskteaching.com/zh" TargetMode="External"/><Relationship Id="rId16" Type="http://schemas.openxmlformats.org/officeDocument/2006/relationships/image" Target="../media/image715.png"/><Relationship Id="rId15" Type="http://schemas.openxmlformats.org/officeDocument/2006/relationships/hyperlink" Target="https://www.fifedu.com/iplat/html/index.html" TargetMode="External"/><Relationship Id="rId14" Type="http://schemas.openxmlformats.org/officeDocument/2006/relationships/image" Target="../media/image714.png"/><Relationship Id="rId13" Type="http://schemas.openxmlformats.org/officeDocument/2006/relationships/image" Target="../media/image713.png"/><Relationship Id="rId12" Type="http://schemas.openxmlformats.org/officeDocument/2006/relationships/image" Target="../media/image712.png"/><Relationship Id="rId11" Type="http://schemas.openxmlformats.org/officeDocument/2006/relationships/image" Target="../media/image711.png"/><Relationship Id="rId10" Type="http://schemas.openxmlformats.org/officeDocument/2006/relationships/image" Target="../media/image7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1.png"/><Relationship Id="rId8" Type="http://schemas.openxmlformats.org/officeDocument/2006/relationships/image" Target="../media/image750.png"/><Relationship Id="rId7" Type="http://schemas.openxmlformats.org/officeDocument/2006/relationships/image" Target="../media/image749.png"/><Relationship Id="rId6" Type="http://schemas.openxmlformats.org/officeDocument/2006/relationships/image" Target="../media/image748.png"/><Relationship Id="rId58" Type="http://schemas.openxmlformats.org/officeDocument/2006/relationships/image" Target="../media/image793.jpeg"/><Relationship Id="rId57" Type="http://schemas.openxmlformats.org/officeDocument/2006/relationships/image" Target="../media/image792.jpeg"/><Relationship Id="rId56" Type="http://schemas.openxmlformats.org/officeDocument/2006/relationships/image" Target="../media/image791.jpeg"/><Relationship Id="rId55" Type="http://schemas.openxmlformats.org/officeDocument/2006/relationships/image" Target="../media/image790.jpeg"/><Relationship Id="rId54" Type="http://schemas.openxmlformats.org/officeDocument/2006/relationships/image" Target="../media/image789.jpeg"/><Relationship Id="rId53" Type="http://schemas.openxmlformats.org/officeDocument/2006/relationships/image" Target="../media/image788.jpeg"/><Relationship Id="rId52" Type="http://schemas.openxmlformats.org/officeDocument/2006/relationships/image" Target="../media/image787.png"/><Relationship Id="rId51" Type="http://schemas.openxmlformats.org/officeDocument/2006/relationships/image" Target="../media/image786.png"/><Relationship Id="rId50" Type="http://schemas.openxmlformats.org/officeDocument/2006/relationships/image" Target="../media/image785.png"/><Relationship Id="rId5" Type="http://schemas.openxmlformats.org/officeDocument/2006/relationships/hyperlink" Target="https://www.songshuai.com/" TargetMode="External"/><Relationship Id="rId49" Type="http://schemas.openxmlformats.org/officeDocument/2006/relationships/hyperlink" Target="https://www.zhixueyun.com/" TargetMode="External"/><Relationship Id="rId48" Type="http://schemas.openxmlformats.org/officeDocument/2006/relationships/image" Target="../media/image784.png"/><Relationship Id="rId47" Type="http://schemas.openxmlformats.org/officeDocument/2006/relationships/image" Target="../media/image783.png"/><Relationship Id="rId46" Type="http://schemas.openxmlformats.org/officeDocument/2006/relationships/image" Target="../media/image782.png"/><Relationship Id="rId45" Type="http://schemas.openxmlformats.org/officeDocument/2006/relationships/image" Target="../media/image781.png"/><Relationship Id="rId44" Type="http://schemas.openxmlformats.org/officeDocument/2006/relationships/hyperlink" Target="https://www.xiaoyuankousuan.com/" TargetMode="External"/><Relationship Id="rId43" Type="http://schemas.openxmlformats.org/officeDocument/2006/relationships/image" Target="../media/image780.png"/><Relationship Id="rId42" Type="http://schemas.openxmlformats.org/officeDocument/2006/relationships/image" Target="../media/image779.png"/><Relationship Id="rId41" Type="http://schemas.openxmlformats.org/officeDocument/2006/relationships/image" Target="../media/image778.png"/><Relationship Id="rId40" Type="http://schemas.openxmlformats.org/officeDocument/2006/relationships/image" Target="../media/image777.png"/><Relationship Id="rId4" Type="http://schemas.openxmlformats.org/officeDocument/2006/relationships/hyperlink" Target="https://www.kuaiduizuoye.com/" TargetMode="External"/><Relationship Id="rId39" Type="http://schemas.openxmlformats.org/officeDocument/2006/relationships/hyperlink" Target="https://www.studyfetch.com/" TargetMode="External"/><Relationship Id="rId38" Type="http://schemas.openxmlformats.org/officeDocument/2006/relationships/image" Target="../media/image776.png"/><Relationship Id="rId37" Type="http://schemas.openxmlformats.org/officeDocument/2006/relationships/image" Target="../media/image775.png"/><Relationship Id="rId36" Type="http://schemas.openxmlformats.org/officeDocument/2006/relationships/image" Target="../media/image774.png"/><Relationship Id="rId35" Type="http://schemas.openxmlformats.org/officeDocument/2006/relationships/image" Target="../media/image773.png"/><Relationship Id="rId34" Type="http://schemas.openxmlformats.org/officeDocument/2006/relationships/image" Target="../media/image772.png"/><Relationship Id="rId33" Type="http://schemas.openxmlformats.org/officeDocument/2006/relationships/image" Target="../media/image771.png"/><Relationship Id="rId32" Type="http://schemas.openxmlformats.org/officeDocument/2006/relationships/image" Target="../media/image770.png"/><Relationship Id="rId31" Type="http://schemas.openxmlformats.org/officeDocument/2006/relationships/image" Target="../media/image769.png"/><Relationship Id="rId30" Type="http://schemas.openxmlformats.org/officeDocument/2006/relationships/image" Target="../media/image768.png"/><Relationship Id="rId3" Type="http://schemas.openxmlformats.org/officeDocument/2006/relationships/image" Target="../media/image747.png"/><Relationship Id="rId29" Type="http://schemas.openxmlformats.org/officeDocument/2006/relationships/image" Target="../media/image767.png"/><Relationship Id="rId28" Type="http://schemas.openxmlformats.org/officeDocument/2006/relationships/image" Target="../media/image766.png"/><Relationship Id="rId27" Type="http://schemas.openxmlformats.org/officeDocument/2006/relationships/hyperlink" Target="https://www.youlearn.ai/" TargetMode="External"/><Relationship Id="rId26" Type="http://schemas.openxmlformats.org/officeDocument/2006/relationships/image" Target="../media/image765.png"/><Relationship Id="rId25" Type="http://schemas.openxmlformats.org/officeDocument/2006/relationships/image" Target="../media/image764.png"/><Relationship Id="rId24" Type="http://schemas.openxmlformats.org/officeDocument/2006/relationships/image" Target="../media/image763.png"/><Relationship Id="rId23" Type="http://schemas.openxmlformats.org/officeDocument/2006/relationships/image" Target="../media/image762.png"/><Relationship Id="rId22" Type="http://schemas.openxmlformats.org/officeDocument/2006/relationships/image" Target="../media/image761.png"/><Relationship Id="rId21" Type="http://schemas.openxmlformats.org/officeDocument/2006/relationships/image" Target="../media/image760.png"/><Relationship Id="rId20" Type="http://schemas.openxmlformats.org/officeDocument/2006/relationships/hyperlink" Target="https://www.conbrie.com/" TargetMode="External"/><Relationship Id="rId2" Type="http://schemas.openxmlformats.org/officeDocument/2006/relationships/image" Target="../media/image746.png"/><Relationship Id="rId19" Type="http://schemas.openxmlformats.org/officeDocument/2006/relationships/image" Target="../media/image759.png"/><Relationship Id="rId18" Type="http://schemas.openxmlformats.org/officeDocument/2006/relationships/image" Target="../media/image758.png"/><Relationship Id="rId17" Type="http://schemas.openxmlformats.org/officeDocument/2006/relationships/image" Target="../media/image757.png"/><Relationship Id="rId16" Type="http://schemas.openxmlformats.org/officeDocument/2006/relationships/image" Target="../media/image756.png"/><Relationship Id="rId15" Type="http://schemas.openxmlformats.org/officeDocument/2006/relationships/image" Target="../media/image755.png"/><Relationship Id="rId14" Type="http://schemas.openxmlformats.org/officeDocument/2006/relationships/hyperlink" Target="https://www.mindgrasp.ai/" TargetMode="External"/><Relationship Id="rId13" Type="http://schemas.openxmlformats.org/officeDocument/2006/relationships/image" Target="../media/image754.png"/><Relationship Id="rId12" Type="http://schemas.openxmlformats.org/officeDocument/2006/relationships/image" Target="../media/image753.png"/><Relationship Id="rId11" Type="http://schemas.openxmlformats.org/officeDocument/2006/relationships/image" Target="../media/image752.png"/><Relationship Id="rId10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0.png"/><Relationship Id="rId8" Type="http://schemas.openxmlformats.org/officeDocument/2006/relationships/image" Target="../media/image799.png"/><Relationship Id="rId7" Type="http://schemas.openxmlformats.org/officeDocument/2006/relationships/image" Target="../media/image798.png"/><Relationship Id="rId6" Type="http://schemas.openxmlformats.org/officeDocument/2006/relationships/image" Target="../media/image797.png"/><Relationship Id="rId53" Type="http://schemas.openxmlformats.org/officeDocument/2006/relationships/image" Target="../media/image835.jpeg"/><Relationship Id="rId52" Type="http://schemas.openxmlformats.org/officeDocument/2006/relationships/image" Target="../media/image834.jpeg"/><Relationship Id="rId51" Type="http://schemas.openxmlformats.org/officeDocument/2006/relationships/image" Target="../media/image833.jpeg"/><Relationship Id="rId50" Type="http://schemas.openxmlformats.org/officeDocument/2006/relationships/image" Target="../media/image832.jpeg"/><Relationship Id="rId5" Type="http://schemas.openxmlformats.org/officeDocument/2006/relationships/image" Target="../media/image796.png"/><Relationship Id="rId49" Type="http://schemas.openxmlformats.org/officeDocument/2006/relationships/image" Target="../media/image831.jpeg"/><Relationship Id="rId48" Type="http://schemas.openxmlformats.org/officeDocument/2006/relationships/image" Target="../media/image830.jpeg"/><Relationship Id="rId47" Type="http://schemas.openxmlformats.org/officeDocument/2006/relationships/image" Target="../media/image29.jpeg"/><Relationship Id="rId46" Type="http://schemas.openxmlformats.org/officeDocument/2006/relationships/image" Target="../media/image829.png"/><Relationship Id="rId45" Type="http://schemas.openxmlformats.org/officeDocument/2006/relationships/image" Target="../media/image828.png"/><Relationship Id="rId44" Type="http://schemas.openxmlformats.org/officeDocument/2006/relationships/image" Target="../media/image827.png"/><Relationship Id="rId43" Type="http://schemas.openxmlformats.org/officeDocument/2006/relationships/hyperlink" Target="https://www.chatexcel.com/" TargetMode="External"/><Relationship Id="rId42" Type="http://schemas.openxmlformats.org/officeDocument/2006/relationships/image" Target="../media/image826.png"/><Relationship Id="rId41" Type="http://schemas.openxmlformats.org/officeDocument/2006/relationships/image" Target="../media/image825.png"/><Relationship Id="rId40" Type="http://schemas.openxmlformats.org/officeDocument/2006/relationships/image" Target="../media/image824.png"/><Relationship Id="rId4" Type="http://schemas.openxmlformats.org/officeDocument/2006/relationships/image" Target="../media/image795.png"/><Relationship Id="rId39" Type="http://schemas.openxmlformats.org/officeDocument/2006/relationships/image" Target="../media/image823.png"/><Relationship Id="rId38" Type="http://schemas.openxmlformats.org/officeDocument/2006/relationships/hyperlink" Target="https://office.xiaohuanxiong" TargetMode="External"/><Relationship Id="rId37" Type="http://schemas.openxmlformats.org/officeDocument/2006/relationships/hyperlink" Target="https://office.xiaohuanxiong.com/" TargetMode="External"/><Relationship Id="rId36" Type="http://schemas.openxmlformats.org/officeDocument/2006/relationships/image" Target="../media/image822.png"/><Relationship Id="rId35" Type="http://schemas.openxmlformats.org/officeDocument/2006/relationships/image" Target="../media/image821.png"/><Relationship Id="rId34" Type="http://schemas.openxmlformats.org/officeDocument/2006/relationships/image" Target="../media/image820.png"/><Relationship Id="rId33" Type="http://schemas.openxmlformats.org/officeDocument/2006/relationships/image" Target="../media/image819.png"/><Relationship Id="rId32" Type="http://schemas.openxmlformats.org/officeDocument/2006/relationships/image" Target="../media/image818.png"/><Relationship Id="rId31" Type="http://schemas.openxmlformats.org/officeDocument/2006/relationships/image" Target="../media/image817.png"/><Relationship Id="rId30" Type="http://schemas.openxmlformats.org/officeDocument/2006/relationships/image" Target="../media/image816.png"/><Relationship Id="rId3" Type="http://schemas.openxmlformats.org/officeDocument/2006/relationships/hyperlink" Target="https://datarc.cn/" TargetMode="External"/><Relationship Id="rId29" Type="http://schemas.openxmlformats.org/officeDocument/2006/relationships/image" Target="../media/image815.png"/><Relationship Id="rId28" Type="http://schemas.openxmlformats.org/officeDocument/2006/relationships/hyperlink" Target="https://beacon.qq.com/tomoro/" TargetMode="External"/><Relationship Id="rId27" Type="http://schemas.openxmlformats.org/officeDocument/2006/relationships/hyperlink" Target="https://www.tryshortcut.ai/?utm_source=web-note.cn" TargetMode="External"/><Relationship Id="rId26" Type="http://schemas.openxmlformats.org/officeDocument/2006/relationships/image" Target="../media/image814.png"/><Relationship Id="rId25" Type="http://schemas.openxmlformats.org/officeDocument/2006/relationships/image" Target="../media/image813.png"/><Relationship Id="rId24" Type="http://schemas.openxmlformats.org/officeDocument/2006/relationships/image" Target="../media/image812.png"/><Relationship Id="rId23" Type="http://schemas.openxmlformats.org/officeDocument/2006/relationships/image" Target="../media/image811.png"/><Relationship Id="rId22" Type="http://schemas.openxmlformats.org/officeDocument/2006/relationships/hyperlink" Target="https://www.asktable.com/" TargetMode="External"/><Relationship Id="rId21" Type="http://schemas.openxmlformats.org/officeDocument/2006/relationships/image" Target="../media/image810.png"/><Relationship Id="rId20" Type="http://schemas.openxmlformats.org/officeDocument/2006/relationships/image" Target="../media/image809.png"/><Relationship Id="rId2" Type="http://schemas.openxmlformats.org/officeDocument/2006/relationships/image" Target="../media/image794.png"/><Relationship Id="rId19" Type="http://schemas.openxmlformats.org/officeDocument/2006/relationships/image" Target="../media/image808.png"/><Relationship Id="rId18" Type="http://schemas.openxmlformats.org/officeDocument/2006/relationships/image" Target="../media/image807.png"/><Relationship Id="rId17" Type="http://schemas.openxmlformats.org/officeDocument/2006/relationships/image" Target="../media/image806.png"/><Relationship Id="rId16" Type="http://schemas.openxmlformats.org/officeDocument/2006/relationships/hyperlink" Target="https://ajelix.com/" TargetMode="External"/><Relationship Id="rId15" Type="http://schemas.openxmlformats.org/officeDocument/2006/relationships/image" Target="../media/image805.png"/><Relationship Id="rId14" Type="http://schemas.openxmlformats.org/officeDocument/2006/relationships/image" Target="../media/image804.png"/><Relationship Id="rId13" Type="http://schemas.openxmlformats.org/officeDocument/2006/relationships/image" Target="../media/image803.png"/><Relationship Id="rId12" Type="http://schemas.openxmlformats.org/officeDocument/2006/relationships/image" Target="../media/image802.png"/><Relationship Id="rId11" Type="http://schemas.openxmlformats.org/officeDocument/2006/relationships/hyperlink" Target="https://www.formx.ai/" TargetMode="External"/><Relationship Id="rId10" Type="http://schemas.openxmlformats.org/officeDocument/2006/relationships/image" Target="../media/image80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hyperlink" Target="https://aitubiao.com/" TargetMode="External"/><Relationship Id="rId8" Type="http://schemas.openxmlformats.org/officeDocument/2006/relationships/image" Target="../media/image841.png"/><Relationship Id="rId7" Type="http://schemas.openxmlformats.org/officeDocument/2006/relationships/image" Target="../media/image840.png"/><Relationship Id="rId6" Type="http://schemas.openxmlformats.org/officeDocument/2006/relationships/image" Target="../media/image839.png"/><Relationship Id="rId5" Type="http://schemas.openxmlformats.org/officeDocument/2006/relationships/image" Target="../media/image838.png"/><Relationship Id="rId48" Type="http://schemas.openxmlformats.org/officeDocument/2006/relationships/image" Target="../media/image873.jpeg"/><Relationship Id="rId47" Type="http://schemas.openxmlformats.org/officeDocument/2006/relationships/image" Target="../media/image872.jpeg"/><Relationship Id="rId46" Type="http://schemas.openxmlformats.org/officeDocument/2006/relationships/image" Target="../media/image871.jpeg"/><Relationship Id="rId45" Type="http://schemas.openxmlformats.org/officeDocument/2006/relationships/image" Target="../media/image870.jpeg"/><Relationship Id="rId44" Type="http://schemas.openxmlformats.org/officeDocument/2006/relationships/image" Target="../media/image29.jpeg"/><Relationship Id="rId43" Type="http://schemas.openxmlformats.org/officeDocument/2006/relationships/image" Target="../media/image869.png"/><Relationship Id="rId42" Type="http://schemas.openxmlformats.org/officeDocument/2006/relationships/image" Target="../media/image868.png"/><Relationship Id="rId41" Type="http://schemas.openxmlformats.org/officeDocument/2006/relationships/image" Target="../media/image867.png"/><Relationship Id="rId40" Type="http://schemas.openxmlformats.org/officeDocument/2006/relationships/hyperlink" Target="https://www.animstats.com/" TargetMode="External"/><Relationship Id="rId4" Type="http://schemas.openxmlformats.org/officeDocument/2006/relationships/image" Target="../media/image837.png"/><Relationship Id="rId39" Type="http://schemas.openxmlformats.org/officeDocument/2006/relationships/image" Target="../media/image866.png"/><Relationship Id="rId38" Type="http://schemas.openxmlformats.org/officeDocument/2006/relationships/image" Target="../media/image865.png"/><Relationship Id="rId37" Type="http://schemas.openxmlformats.org/officeDocument/2006/relationships/image" Target="../media/image864.png"/><Relationship Id="rId36" Type="http://schemas.openxmlformats.org/officeDocument/2006/relationships/image" Target="../media/image863.png"/><Relationship Id="rId35" Type="http://schemas.openxmlformats.org/officeDocument/2006/relationships/hyperlink" Target="https://www.videezy.com/" TargetMode="External"/><Relationship Id="rId34" Type="http://schemas.openxmlformats.org/officeDocument/2006/relationships/image" Target="../media/image862.png"/><Relationship Id="rId33" Type="http://schemas.openxmlformats.org/officeDocument/2006/relationships/image" Target="../media/image861.png"/><Relationship Id="rId32" Type="http://schemas.openxmlformats.org/officeDocument/2006/relationships/image" Target="../media/image860.png"/><Relationship Id="rId31" Type="http://schemas.openxmlformats.org/officeDocument/2006/relationships/image" Target="../media/image859.png"/><Relationship Id="rId30" Type="http://schemas.openxmlformats.org/officeDocument/2006/relationships/image" Target="../media/image858.png"/><Relationship Id="rId3" Type="http://schemas.openxmlformats.org/officeDocument/2006/relationships/hyperlink" Target="https://aibiao.cn/" TargetMode="External"/><Relationship Id="rId29" Type="http://schemas.openxmlformats.org/officeDocument/2006/relationships/hyperlink" Target="https://www.breadcrumb.ai/" TargetMode="External"/><Relationship Id="rId28" Type="http://schemas.openxmlformats.org/officeDocument/2006/relationships/image" Target="../media/image857.png"/><Relationship Id="rId27" Type="http://schemas.openxmlformats.org/officeDocument/2006/relationships/image" Target="../media/image856.png"/><Relationship Id="rId26" Type="http://schemas.openxmlformats.org/officeDocument/2006/relationships/image" Target="../media/image855.png"/><Relationship Id="rId25" Type="http://schemas.openxmlformats.org/officeDocument/2006/relationships/image" Target="../media/image854.png"/><Relationship Id="rId24" Type="http://schemas.openxmlformats.org/officeDocument/2006/relationships/hyperlink" Target="https://www.fluig.cn/" TargetMode="External"/><Relationship Id="rId23" Type="http://schemas.openxmlformats.org/officeDocument/2006/relationships/image" Target="../media/image853.png"/><Relationship Id="rId22" Type="http://schemas.openxmlformats.org/officeDocument/2006/relationships/image" Target="../media/image852.png"/><Relationship Id="rId21" Type="http://schemas.openxmlformats.org/officeDocument/2006/relationships/image" Target="../media/image851.png"/><Relationship Id="rId20" Type="http://schemas.openxmlformats.org/officeDocument/2006/relationships/image" Target="../media/image850.png"/><Relationship Id="rId2" Type="http://schemas.openxmlformats.org/officeDocument/2006/relationships/image" Target="../media/image836.png"/><Relationship Id="rId19" Type="http://schemas.openxmlformats.org/officeDocument/2006/relationships/hyperlink" Target="https://vika.cn/" TargetMode="External"/><Relationship Id="rId18" Type="http://schemas.openxmlformats.org/officeDocument/2006/relationships/image" Target="../media/image849.png"/><Relationship Id="rId17" Type="http://schemas.openxmlformats.org/officeDocument/2006/relationships/image" Target="../media/image848.png"/><Relationship Id="rId16" Type="http://schemas.openxmlformats.org/officeDocument/2006/relationships/image" Target="../media/image847.png"/><Relationship Id="rId15" Type="http://schemas.openxmlformats.org/officeDocument/2006/relationships/image" Target="../media/image846.png"/><Relationship Id="rId14" Type="http://schemas.openxmlformats.org/officeDocument/2006/relationships/hyperlink" Target="https://graphy.app/" TargetMode="External"/><Relationship Id="rId13" Type="http://schemas.openxmlformats.org/officeDocument/2006/relationships/image" Target="../media/image845.png"/><Relationship Id="rId12" Type="http://schemas.openxmlformats.org/officeDocument/2006/relationships/image" Target="../media/image844.png"/><Relationship Id="rId11" Type="http://schemas.openxmlformats.org/officeDocument/2006/relationships/image" Target="../media/image843.png"/><Relationship Id="rId10" Type="http://schemas.openxmlformats.org/officeDocument/2006/relationships/image" Target="../media/image84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hyperlink" Target="https://xmind.cn/" TargetMode="External"/><Relationship Id="rId8" Type="http://schemas.openxmlformats.org/officeDocument/2006/relationships/image" Target="../media/image879.png"/><Relationship Id="rId7" Type="http://schemas.openxmlformats.org/officeDocument/2006/relationships/image" Target="../media/image878.png"/><Relationship Id="rId6" Type="http://schemas.openxmlformats.org/officeDocument/2006/relationships/image" Target="../media/image877.png"/><Relationship Id="rId5" Type="http://schemas.openxmlformats.org/officeDocument/2006/relationships/image" Target="../media/image876.png"/><Relationship Id="rId49" Type="http://schemas.openxmlformats.org/officeDocument/2006/relationships/image" Target="../media/image911.jpeg"/><Relationship Id="rId48" Type="http://schemas.openxmlformats.org/officeDocument/2006/relationships/image" Target="../media/image910.jpeg"/><Relationship Id="rId47" Type="http://schemas.openxmlformats.org/officeDocument/2006/relationships/image" Target="../media/image29.jpeg"/><Relationship Id="rId46" Type="http://schemas.openxmlformats.org/officeDocument/2006/relationships/image" Target="../media/image909.png"/><Relationship Id="rId45" Type="http://schemas.openxmlformats.org/officeDocument/2006/relationships/image" Target="../media/image908.png"/><Relationship Id="rId44" Type="http://schemas.openxmlformats.org/officeDocument/2006/relationships/image" Target="../media/image907.png"/><Relationship Id="rId43" Type="http://schemas.openxmlformats.org/officeDocument/2006/relationships/hyperlink" Target="https://www.liuchengtu.com/" TargetMode="External"/><Relationship Id="rId42" Type="http://schemas.openxmlformats.org/officeDocument/2006/relationships/image" Target="../media/image906.png"/><Relationship Id="rId41" Type="http://schemas.openxmlformats.org/officeDocument/2006/relationships/image" Target="../media/image905.png"/><Relationship Id="rId40" Type="http://schemas.openxmlformats.org/officeDocument/2006/relationships/image" Target="../media/image904.png"/><Relationship Id="rId4" Type="http://schemas.openxmlformats.org/officeDocument/2006/relationships/hyperlink" Target="https://boardmix.cn/" TargetMode="External"/><Relationship Id="rId39" Type="http://schemas.openxmlformats.org/officeDocument/2006/relationships/image" Target="../media/image903.png"/><Relationship Id="rId38" Type="http://schemas.openxmlformats.org/officeDocument/2006/relationships/hyperlink" Target="https://edraw.wondershare" TargetMode="External"/><Relationship Id="rId37" Type="http://schemas.openxmlformats.org/officeDocument/2006/relationships/hyperlink" Target="https://edraw.wondershare.cn/mindmaster/ai/" TargetMode="External"/><Relationship Id="rId36" Type="http://schemas.openxmlformats.org/officeDocument/2006/relationships/image" Target="../media/image902.png"/><Relationship Id="rId35" Type="http://schemas.openxmlformats.org/officeDocument/2006/relationships/image" Target="../media/image901.png"/><Relationship Id="rId34" Type="http://schemas.openxmlformats.org/officeDocument/2006/relationships/image" Target="../media/image900.png"/><Relationship Id="rId33" Type="http://schemas.openxmlformats.org/officeDocument/2006/relationships/image" Target="../media/image899.png"/><Relationship Id="rId32" Type="http://schemas.openxmlformats.org/officeDocument/2006/relationships/hyperlink" Target="http://www.thebrain.com.cn/" TargetMode="External"/><Relationship Id="rId31" Type="http://schemas.openxmlformats.org/officeDocument/2006/relationships/image" Target="../media/image898.png"/><Relationship Id="rId30" Type="http://schemas.openxmlformats.org/officeDocument/2006/relationships/image" Target="../media/image897.png"/><Relationship Id="rId3" Type="http://schemas.openxmlformats.org/officeDocument/2006/relationships/image" Target="../media/image875.png"/><Relationship Id="rId29" Type="http://schemas.openxmlformats.org/officeDocument/2006/relationships/image" Target="../media/image896.png"/><Relationship Id="rId28" Type="http://schemas.openxmlformats.org/officeDocument/2006/relationships/image" Target="../media/image895.png"/><Relationship Id="rId27" Type="http://schemas.openxmlformats.org/officeDocument/2006/relationships/hyperlink" Target="https://gitmind.cn/" TargetMode="External"/><Relationship Id="rId26" Type="http://schemas.openxmlformats.org/officeDocument/2006/relationships/image" Target="../media/image894.png"/><Relationship Id="rId25" Type="http://schemas.openxmlformats.org/officeDocument/2006/relationships/image" Target="../media/image893.png"/><Relationship Id="rId24" Type="http://schemas.openxmlformats.org/officeDocument/2006/relationships/image" Target="../media/image892.png"/><Relationship Id="rId23" Type="http://schemas.openxmlformats.org/officeDocument/2006/relationships/image" Target="../media/image891.png"/><Relationship Id="rId22" Type="http://schemas.openxmlformats.org/officeDocument/2006/relationships/image" Target="../media/image890.png"/><Relationship Id="rId21" Type="http://schemas.openxmlformats.org/officeDocument/2006/relationships/hyperlink" Target="https://www.zhixi.com/" TargetMode="External"/><Relationship Id="rId20" Type="http://schemas.openxmlformats.org/officeDocument/2006/relationships/image" Target="../media/image889.png"/><Relationship Id="rId2" Type="http://schemas.openxmlformats.org/officeDocument/2006/relationships/image" Target="../media/image874.png"/><Relationship Id="rId19" Type="http://schemas.openxmlformats.org/officeDocument/2006/relationships/image" Target="../media/image888.png"/><Relationship Id="rId18" Type="http://schemas.openxmlformats.org/officeDocument/2006/relationships/image" Target="../media/image887.png"/><Relationship Id="rId17" Type="http://schemas.openxmlformats.org/officeDocument/2006/relationships/image" Target="../media/image886.png"/><Relationship Id="rId16" Type="http://schemas.openxmlformats.org/officeDocument/2006/relationships/hyperlink" Target="https://www.taskade.com/" TargetMode="External"/><Relationship Id="rId15" Type="http://schemas.openxmlformats.org/officeDocument/2006/relationships/image" Target="../media/image885.png"/><Relationship Id="rId14" Type="http://schemas.openxmlformats.org/officeDocument/2006/relationships/image" Target="../media/image884.png"/><Relationship Id="rId13" Type="http://schemas.openxmlformats.org/officeDocument/2006/relationships/image" Target="../media/image883.png"/><Relationship Id="rId12" Type="http://schemas.openxmlformats.org/officeDocument/2006/relationships/image" Target="../media/image882.png"/><Relationship Id="rId11" Type="http://schemas.openxmlformats.org/officeDocument/2006/relationships/image" Target="../media/image881.png"/><Relationship Id="rId10" Type="http://schemas.openxmlformats.org/officeDocument/2006/relationships/image" Target="../media/image88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hyperlink" Target="https://laolai.com/" TargetMode="External"/><Relationship Id="rId8" Type="http://schemas.openxmlformats.org/officeDocument/2006/relationships/image" Target="../media/image917.png"/><Relationship Id="rId7" Type="http://schemas.openxmlformats.org/officeDocument/2006/relationships/image" Target="../media/image916.png"/><Relationship Id="rId6" Type="http://schemas.openxmlformats.org/officeDocument/2006/relationships/image" Target="../media/image915.png"/><Relationship Id="rId55" Type="http://schemas.openxmlformats.org/officeDocument/2006/relationships/image" Target="../media/image956.png"/><Relationship Id="rId54" Type="http://schemas.openxmlformats.org/officeDocument/2006/relationships/image" Target="../media/image29.jpeg"/><Relationship Id="rId53" Type="http://schemas.openxmlformats.org/officeDocument/2006/relationships/image" Target="../media/image955.png"/><Relationship Id="rId52" Type="http://schemas.openxmlformats.org/officeDocument/2006/relationships/image" Target="../media/image954.png"/><Relationship Id="rId51" Type="http://schemas.openxmlformats.org/officeDocument/2006/relationships/image" Target="../media/image953.png"/><Relationship Id="rId50" Type="http://schemas.openxmlformats.org/officeDocument/2006/relationships/hyperlink" Target="http://www.xiaoxinfuwu.com/" TargetMode="External"/><Relationship Id="rId5" Type="http://schemas.openxmlformats.org/officeDocument/2006/relationships/image" Target="../media/image914.png"/><Relationship Id="rId49" Type="http://schemas.openxmlformats.org/officeDocument/2006/relationships/image" Target="../media/image952.png"/><Relationship Id="rId48" Type="http://schemas.openxmlformats.org/officeDocument/2006/relationships/image" Target="../media/image951.png"/><Relationship Id="rId47" Type="http://schemas.openxmlformats.org/officeDocument/2006/relationships/image" Target="../media/image950.png"/><Relationship Id="rId46" Type="http://schemas.openxmlformats.org/officeDocument/2006/relationships/image" Target="../media/image949.png"/><Relationship Id="rId45" Type="http://schemas.openxmlformats.org/officeDocument/2006/relationships/hyperlink" Target="https://www.junctrl.cn/list_8/" TargetMode="External"/><Relationship Id="rId44" Type="http://schemas.openxmlformats.org/officeDocument/2006/relationships/image" Target="../media/image948.png"/><Relationship Id="rId43" Type="http://schemas.openxmlformats.org/officeDocument/2006/relationships/image" Target="../media/image947.png"/><Relationship Id="rId42" Type="http://schemas.openxmlformats.org/officeDocument/2006/relationships/image" Target="../media/image946.png"/><Relationship Id="rId41" Type="http://schemas.openxmlformats.org/officeDocument/2006/relationships/image" Target="../media/image945.png"/><Relationship Id="rId40" Type="http://schemas.openxmlformats.org/officeDocument/2006/relationships/image" Target="../media/image944.png"/><Relationship Id="rId4" Type="http://schemas.openxmlformats.org/officeDocument/2006/relationships/image" Target="../media/image913.png"/><Relationship Id="rId39" Type="http://schemas.openxmlformats.org/officeDocument/2006/relationships/hyperlink" Target="https://chatdr.iflyhealth.com/" TargetMode="External"/><Relationship Id="rId38" Type="http://schemas.openxmlformats.org/officeDocument/2006/relationships/image" Target="../media/image943.png"/><Relationship Id="rId37" Type="http://schemas.openxmlformats.org/officeDocument/2006/relationships/image" Target="../media/image942.png"/><Relationship Id="rId36" Type="http://schemas.openxmlformats.org/officeDocument/2006/relationships/image" Target="../media/image941.png"/><Relationship Id="rId35" Type="http://schemas.openxmlformats.org/officeDocument/2006/relationships/image" Target="../media/image940.png"/><Relationship Id="rId34" Type="http://schemas.openxmlformats.org/officeDocument/2006/relationships/image" Target="../media/image939.png"/><Relationship Id="rId33" Type="http://schemas.openxmlformats.org/officeDocument/2006/relationships/image" Target="../media/image938.png"/><Relationship Id="rId32" Type="http://schemas.openxmlformats.org/officeDocument/2006/relationships/image" Target="../media/image937.png"/><Relationship Id="rId31" Type="http://schemas.openxmlformats.org/officeDocument/2006/relationships/image" Target="../media/image936.png"/><Relationship Id="rId30" Type="http://schemas.openxmlformats.org/officeDocument/2006/relationships/image" Target="../media/image935.png"/><Relationship Id="rId3" Type="http://schemas.openxmlformats.org/officeDocument/2006/relationships/hyperlink" Target="https://www.tuixiu.com/" TargetMode="External"/><Relationship Id="rId29" Type="http://schemas.openxmlformats.org/officeDocument/2006/relationships/hyperlink" Target="https://www.dnurse.com/v2/" TargetMode="External"/><Relationship Id="rId28" Type="http://schemas.openxmlformats.org/officeDocument/2006/relationships/image" Target="../media/image934.png"/><Relationship Id="rId27" Type="http://schemas.openxmlformats.org/officeDocument/2006/relationships/image" Target="../media/image933.png"/><Relationship Id="rId26" Type="http://schemas.openxmlformats.org/officeDocument/2006/relationships/image" Target="../media/image932.png"/><Relationship Id="rId25" Type="http://schemas.openxmlformats.org/officeDocument/2006/relationships/image" Target="../media/image931.png"/><Relationship Id="rId24" Type="http://schemas.openxmlformats.org/officeDocument/2006/relationships/image" Target="../media/image930.png"/><Relationship Id="rId23" Type="http://schemas.openxmlformats.org/officeDocument/2006/relationships/image" Target="../media/image929.png"/><Relationship Id="rId22" Type="http://schemas.openxmlformats.org/officeDocument/2006/relationships/image" Target="../media/image928.png"/><Relationship Id="rId21" Type="http://schemas.openxmlformats.org/officeDocument/2006/relationships/hyperlink" Target="http://www.xiaoxinhuan.com/index.html" TargetMode="External"/><Relationship Id="rId20" Type="http://schemas.openxmlformats.org/officeDocument/2006/relationships/hyperlink" Target="https://sj.qq.com/appdetail/com.antgroup.aijk.android?ref=pidoutv.com" TargetMode="External"/><Relationship Id="rId2" Type="http://schemas.openxmlformats.org/officeDocument/2006/relationships/image" Target="../media/image912.png"/><Relationship Id="rId19" Type="http://schemas.openxmlformats.org/officeDocument/2006/relationships/image" Target="../media/image927.png"/><Relationship Id="rId18" Type="http://schemas.openxmlformats.org/officeDocument/2006/relationships/image" Target="../media/image926.png"/><Relationship Id="rId17" Type="http://schemas.openxmlformats.org/officeDocument/2006/relationships/image" Target="../media/image925.png"/><Relationship Id="rId16" Type="http://schemas.openxmlformats.org/officeDocument/2006/relationships/image" Target="../media/image924.png"/><Relationship Id="rId15" Type="http://schemas.openxmlformats.org/officeDocument/2006/relationships/image" Target="../media/image923.png"/><Relationship Id="rId14" Type="http://schemas.openxmlformats.org/officeDocument/2006/relationships/image" Target="../media/image922.png"/><Relationship Id="rId13" Type="http://schemas.openxmlformats.org/officeDocument/2006/relationships/image" Target="../media/image921.png"/><Relationship Id="rId12" Type="http://schemas.openxmlformats.org/officeDocument/2006/relationships/image" Target="../media/image920.png"/><Relationship Id="rId11" Type="http://schemas.openxmlformats.org/officeDocument/2006/relationships/image" Target="../media/image919.png"/><Relationship Id="rId10" Type="http://schemas.openxmlformats.org/officeDocument/2006/relationships/image" Target="../media/image9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2.png"/><Relationship Id="rId8" Type="http://schemas.openxmlformats.org/officeDocument/2006/relationships/hyperlink" Target="https://www.kittl.com/" TargetMode="External"/><Relationship Id="rId7" Type="http://schemas.openxmlformats.org/officeDocument/2006/relationships/image" Target="../media/image961.png"/><Relationship Id="rId6" Type="http://schemas.openxmlformats.org/officeDocument/2006/relationships/image" Target="../media/image960.png"/><Relationship Id="rId5" Type="http://schemas.openxmlformats.org/officeDocument/2006/relationships/image" Target="../media/image959.png"/><Relationship Id="rId47" Type="http://schemas.openxmlformats.org/officeDocument/2006/relationships/image" Target="../media/image993.jpeg"/><Relationship Id="rId46" Type="http://schemas.openxmlformats.org/officeDocument/2006/relationships/image" Target="../media/image992.jpeg"/><Relationship Id="rId45" Type="http://schemas.openxmlformats.org/officeDocument/2006/relationships/image" Target="../media/image991.jpeg"/><Relationship Id="rId44" Type="http://schemas.openxmlformats.org/officeDocument/2006/relationships/image" Target="../media/image990.jpeg"/><Relationship Id="rId43" Type="http://schemas.openxmlformats.org/officeDocument/2006/relationships/image" Target="../media/image29.jpeg"/><Relationship Id="rId42" Type="http://schemas.openxmlformats.org/officeDocument/2006/relationships/image" Target="../media/image989.png"/><Relationship Id="rId41" Type="http://schemas.openxmlformats.org/officeDocument/2006/relationships/image" Target="../media/image988.png"/><Relationship Id="rId40" Type="http://schemas.openxmlformats.org/officeDocument/2006/relationships/image" Target="../media/image987.png"/><Relationship Id="rId4" Type="http://schemas.openxmlformats.org/officeDocument/2006/relationships/image" Target="../media/image958.png"/><Relationship Id="rId39" Type="http://schemas.openxmlformats.org/officeDocument/2006/relationships/hyperlink" Target="https://aiart.chuangkit.com/" TargetMode="External"/><Relationship Id="rId38" Type="http://schemas.openxmlformats.org/officeDocument/2006/relationships/image" Target="../media/image986.png"/><Relationship Id="rId37" Type="http://schemas.openxmlformats.org/officeDocument/2006/relationships/image" Target="../media/image985.png"/><Relationship Id="rId36" Type="http://schemas.openxmlformats.org/officeDocument/2006/relationships/image" Target="../media/image984.png"/><Relationship Id="rId35" Type="http://schemas.openxmlformats.org/officeDocument/2006/relationships/image" Target="../media/image983.png"/><Relationship Id="rId34" Type="http://schemas.openxmlformats.org/officeDocument/2006/relationships/hyperlink" Target="https://pixso.cn/" TargetMode="External"/><Relationship Id="rId33" Type="http://schemas.openxmlformats.org/officeDocument/2006/relationships/image" Target="../media/image982.png"/><Relationship Id="rId32" Type="http://schemas.openxmlformats.org/officeDocument/2006/relationships/image" Target="../media/image981.png"/><Relationship Id="rId31" Type="http://schemas.openxmlformats.org/officeDocument/2006/relationships/image" Target="../media/image980.png"/><Relationship Id="rId30" Type="http://schemas.openxmlformats.org/officeDocument/2006/relationships/image" Target="../media/image979.png"/><Relationship Id="rId3" Type="http://schemas.openxmlformats.org/officeDocument/2006/relationships/hyperlink" Target="https://www.recraft.ai/" TargetMode="External"/><Relationship Id="rId29" Type="http://schemas.openxmlformats.org/officeDocument/2006/relationships/hyperlink" Target="https://www.gaoding.com/" TargetMode="External"/><Relationship Id="rId28" Type="http://schemas.openxmlformats.org/officeDocument/2006/relationships/image" Target="../media/image978.png"/><Relationship Id="rId27" Type="http://schemas.openxmlformats.org/officeDocument/2006/relationships/image" Target="../media/image977.png"/><Relationship Id="rId26" Type="http://schemas.openxmlformats.org/officeDocument/2006/relationships/image" Target="../media/image976.png"/><Relationship Id="rId25" Type="http://schemas.openxmlformats.org/officeDocument/2006/relationships/image" Target="../media/image975.png"/><Relationship Id="rId24" Type="http://schemas.openxmlformats.org/officeDocument/2006/relationships/hyperlink" Target="https://picsart.com/" TargetMode="External"/><Relationship Id="rId23" Type="http://schemas.openxmlformats.org/officeDocument/2006/relationships/image" Target="../media/image974.png"/><Relationship Id="rId22" Type="http://schemas.openxmlformats.org/officeDocument/2006/relationships/image" Target="../media/image973.png"/><Relationship Id="rId21" Type="http://schemas.openxmlformats.org/officeDocument/2006/relationships/image" Target="../media/image972.png"/><Relationship Id="rId20" Type="http://schemas.openxmlformats.org/officeDocument/2006/relationships/image" Target="../media/image971.png"/><Relationship Id="rId2" Type="http://schemas.openxmlformats.org/officeDocument/2006/relationships/image" Target="../media/image957.png"/><Relationship Id="rId19" Type="http://schemas.openxmlformats.org/officeDocument/2006/relationships/image" Target="../media/image970.png"/><Relationship Id="rId18" Type="http://schemas.openxmlformats.org/officeDocument/2006/relationships/hyperlink" Target="https://www.canva.cn/" TargetMode="External"/><Relationship Id="rId17" Type="http://schemas.openxmlformats.org/officeDocument/2006/relationships/image" Target="../media/image969.png"/><Relationship Id="rId16" Type="http://schemas.openxmlformats.org/officeDocument/2006/relationships/image" Target="../media/image968.png"/><Relationship Id="rId15" Type="http://schemas.openxmlformats.org/officeDocument/2006/relationships/image" Target="../media/image967.png"/><Relationship Id="rId14" Type="http://schemas.openxmlformats.org/officeDocument/2006/relationships/image" Target="../media/image966.png"/><Relationship Id="rId13" Type="http://schemas.openxmlformats.org/officeDocument/2006/relationships/hyperlink" Target="https://www.visme.co/" TargetMode="External"/><Relationship Id="rId12" Type="http://schemas.openxmlformats.org/officeDocument/2006/relationships/image" Target="../media/image965.png"/><Relationship Id="rId11" Type="http://schemas.openxmlformats.org/officeDocument/2006/relationships/image" Target="../media/image964.png"/><Relationship Id="rId10" Type="http://schemas.openxmlformats.org/officeDocument/2006/relationships/image" Target="../media/image96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9.png"/><Relationship Id="rId8" Type="http://schemas.openxmlformats.org/officeDocument/2006/relationships/hyperlink" Target="http://www.soonjy.com/" TargetMode="External"/><Relationship Id="rId7" Type="http://schemas.openxmlformats.org/officeDocument/2006/relationships/image" Target="../media/image998.png"/><Relationship Id="rId6" Type="http://schemas.openxmlformats.org/officeDocument/2006/relationships/image" Target="../media/image997.png"/><Relationship Id="rId51" Type="http://schemas.openxmlformats.org/officeDocument/2006/relationships/image" Target="../media/image1033.jpeg"/><Relationship Id="rId50" Type="http://schemas.openxmlformats.org/officeDocument/2006/relationships/image" Target="../media/image1032.jpeg"/><Relationship Id="rId5" Type="http://schemas.openxmlformats.org/officeDocument/2006/relationships/image" Target="../media/image996.png"/><Relationship Id="rId49" Type="http://schemas.openxmlformats.org/officeDocument/2006/relationships/image" Target="../media/image1031.jpeg"/><Relationship Id="rId48" Type="http://schemas.openxmlformats.org/officeDocument/2006/relationships/image" Target="../media/image1030.jpeg"/><Relationship Id="rId47" Type="http://schemas.openxmlformats.org/officeDocument/2006/relationships/image" Target="../media/image29.jpeg"/><Relationship Id="rId46" Type="http://schemas.openxmlformats.org/officeDocument/2006/relationships/image" Target="../media/image1029.png"/><Relationship Id="rId45" Type="http://schemas.openxmlformats.org/officeDocument/2006/relationships/image" Target="../media/image1028.png"/><Relationship Id="rId44" Type="http://schemas.openxmlformats.org/officeDocument/2006/relationships/image" Target="../media/image1027.png"/><Relationship Id="rId43" Type="http://schemas.openxmlformats.org/officeDocument/2006/relationships/image" Target="../media/image1026.png"/><Relationship Id="rId42" Type="http://schemas.openxmlformats.org/officeDocument/2006/relationships/hyperlink" Target="https://www.1001nightsshow.com/" TargetMode="External"/><Relationship Id="rId41" Type="http://schemas.openxmlformats.org/officeDocument/2006/relationships/image" Target="../media/image1025.png"/><Relationship Id="rId40" Type="http://schemas.openxmlformats.org/officeDocument/2006/relationships/image" Target="../media/image1024.png"/><Relationship Id="rId4" Type="http://schemas.openxmlformats.org/officeDocument/2006/relationships/image" Target="../media/image995.png"/><Relationship Id="rId39" Type="http://schemas.openxmlformats.org/officeDocument/2006/relationships/image" Target="../media/image1023.png"/><Relationship Id="rId38" Type="http://schemas.openxmlformats.org/officeDocument/2006/relationships/image" Target="../media/image1022.png"/><Relationship Id="rId37" Type="http://schemas.openxmlformats.org/officeDocument/2006/relationships/image" Target="../media/image1021.png"/><Relationship Id="rId36" Type="http://schemas.openxmlformats.org/officeDocument/2006/relationships/image" Target="../media/image1020.png"/><Relationship Id="rId35" Type="http://schemas.openxmlformats.org/officeDocument/2006/relationships/hyperlink" Target="https://iconary.allenai.org/" TargetMode="External"/><Relationship Id="rId34" Type="http://schemas.openxmlformats.org/officeDocument/2006/relationships/image" Target="../media/image1019.png"/><Relationship Id="rId33" Type="http://schemas.openxmlformats.org/officeDocument/2006/relationships/image" Target="../media/image1018.png"/><Relationship Id="rId32" Type="http://schemas.openxmlformats.org/officeDocument/2006/relationships/image" Target="../media/image1017.png"/><Relationship Id="rId31" Type="http://schemas.openxmlformats.org/officeDocument/2006/relationships/image" Target="../media/image1016.png"/><Relationship Id="rId30" Type="http://schemas.openxmlformats.org/officeDocument/2006/relationships/hyperlink" Target="https://lab.rosebud.ai/" TargetMode="External"/><Relationship Id="rId3" Type="http://schemas.openxmlformats.org/officeDocument/2006/relationships/hyperlink" Target="https://ludo.ai/" TargetMode="External"/><Relationship Id="rId29" Type="http://schemas.openxmlformats.org/officeDocument/2006/relationships/image" Target="../media/image1015.png"/><Relationship Id="rId28" Type="http://schemas.openxmlformats.org/officeDocument/2006/relationships/image" Target="../media/image1014.png"/><Relationship Id="rId27" Type="http://schemas.openxmlformats.org/officeDocument/2006/relationships/image" Target="../media/image1013.png"/><Relationship Id="rId26" Type="http://schemas.openxmlformats.org/officeDocument/2006/relationships/image" Target="../media/image1012.png"/><Relationship Id="rId25" Type="http://schemas.openxmlformats.org/officeDocument/2006/relationships/hyperlink" Target="https://www.layer.ai/" TargetMode="External"/><Relationship Id="rId24" Type="http://schemas.openxmlformats.org/officeDocument/2006/relationships/image" Target="../media/image1011.png"/><Relationship Id="rId23" Type="http://schemas.openxmlformats.org/officeDocument/2006/relationships/image" Target="../media/image1010.png"/><Relationship Id="rId22" Type="http://schemas.openxmlformats.org/officeDocument/2006/relationships/image" Target="../media/image1009.png"/><Relationship Id="rId21" Type="http://schemas.openxmlformats.org/officeDocument/2006/relationships/image" Target="../media/image1008.png"/><Relationship Id="rId20" Type="http://schemas.openxmlformats.org/officeDocument/2006/relationships/hyperlink" Target="https://aidungeon.com/" TargetMode="External"/><Relationship Id="rId2" Type="http://schemas.openxmlformats.org/officeDocument/2006/relationships/image" Target="../media/image994.png"/><Relationship Id="rId19" Type="http://schemas.openxmlformats.org/officeDocument/2006/relationships/image" Target="../media/image1007.png"/><Relationship Id="rId18" Type="http://schemas.openxmlformats.org/officeDocument/2006/relationships/image" Target="../media/image1006.png"/><Relationship Id="rId17" Type="http://schemas.openxmlformats.org/officeDocument/2006/relationships/image" Target="../media/image1005.png"/><Relationship Id="rId16" Type="http://schemas.openxmlformats.org/officeDocument/2006/relationships/image" Target="../media/image1004.png"/><Relationship Id="rId15" Type="http://schemas.openxmlformats.org/officeDocument/2006/relationships/hyperlink" Target="https://www.microsoft.com/en" TargetMode="External"/><Relationship Id="rId14" Type="http://schemas.openxmlformats.org/officeDocument/2006/relationships/hyperlink" Target="https://www.microsoft.com/en-us/research/blog/introducing-muse" TargetMode="External"/><Relationship Id="rId13" Type="http://schemas.openxmlformats.org/officeDocument/2006/relationships/image" Target="../media/image1003.png"/><Relationship Id="rId12" Type="http://schemas.openxmlformats.org/officeDocument/2006/relationships/image" Target="../media/image1002.png"/><Relationship Id="rId11" Type="http://schemas.openxmlformats.org/officeDocument/2006/relationships/image" Target="../media/image1001.png"/><Relationship Id="rId10" Type="http://schemas.openxmlformats.org/officeDocument/2006/relationships/image" Target="../media/image100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9.png"/><Relationship Id="rId8" Type="http://schemas.openxmlformats.org/officeDocument/2006/relationships/hyperlink" Target="https://maoxiangai.com/" TargetMode="External"/><Relationship Id="rId7" Type="http://schemas.openxmlformats.org/officeDocument/2006/relationships/image" Target="../media/image1038.png"/><Relationship Id="rId6" Type="http://schemas.openxmlformats.org/officeDocument/2006/relationships/image" Target="../media/image1037.png"/><Relationship Id="rId5" Type="http://schemas.openxmlformats.org/officeDocument/2006/relationships/image" Target="../media/image1036.png"/><Relationship Id="rId47" Type="http://schemas.openxmlformats.org/officeDocument/2006/relationships/image" Target="../media/image1070.jpeg"/><Relationship Id="rId46" Type="http://schemas.openxmlformats.org/officeDocument/2006/relationships/image" Target="../media/image1069.jpeg"/><Relationship Id="rId45" Type="http://schemas.openxmlformats.org/officeDocument/2006/relationships/image" Target="../media/image1068.png"/><Relationship Id="rId44" Type="http://schemas.openxmlformats.org/officeDocument/2006/relationships/image" Target="../media/image29.jpeg"/><Relationship Id="rId43" Type="http://schemas.openxmlformats.org/officeDocument/2006/relationships/image" Target="../media/image1067.png"/><Relationship Id="rId42" Type="http://schemas.openxmlformats.org/officeDocument/2006/relationships/image" Target="../media/image1066.png"/><Relationship Id="rId41" Type="http://schemas.openxmlformats.org/officeDocument/2006/relationships/image" Target="../media/image1065.png"/><Relationship Id="rId40" Type="http://schemas.openxmlformats.org/officeDocument/2006/relationships/image" Target="../media/image1064.png"/><Relationship Id="rId4" Type="http://schemas.openxmlformats.org/officeDocument/2006/relationships/image" Target="../media/image1035.png"/><Relationship Id="rId39" Type="http://schemas.openxmlformats.org/officeDocument/2006/relationships/hyperlink" Target="https://yanatalk.com/" TargetMode="External"/><Relationship Id="rId38" Type="http://schemas.openxmlformats.org/officeDocument/2006/relationships/image" Target="../media/image1063.png"/><Relationship Id="rId37" Type="http://schemas.openxmlformats.org/officeDocument/2006/relationships/image" Target="../media/image1062.png"/><Relationship Id="rId36" Type="http://schemas.openxmlformats.org/officeDocument/2006/relationships/image" Target="../media/image1061.png"/><Relationship Id="rId35" Type="http://schemas.openxmlformats.org/officeDocument/2006/relationships/image" Target="../media/image1060.png"/><Relationship Id="rId34" Type="http://schemas.openxmlformats.org/officeDocument/2006/relationships/image" Target="../media/image1059.png"/><Relationship Id="rId33" Type="http://schemas.openxmlformats.org/officeDocument/2006/relationships/hyperlink" Target="https://mykin.ai/" TargetMode="External"/><Relationship Id="rId32" Type="http://schemas.openxmlformats.org/officeDocument/2006/relationships/image" Target="../media/image1058.png"/><Relationship Id="rId31" Type="http://schemas.openxmlformats.org/officeDocument/2006/relationships/image" Target="../media/image1057.png"/><Relationship Id="rId30" Type="http://schemas.openxmlformats.org/officeDocument/2006/relationships/image" Target="../media/image1056.png"/><Relationship Id="rId3" Type="http://schemas.openxmlformats.org/officeDocument/2006/relationships/hyperlink" Target="https://replika.ai/" TargetMode="External"/><Relationship Id="rId29" Type="http://schemas.openxmlformats.org/officeDocument/2006/relationships/image" Target="../media/image1055.png"/><Relationship Id="rId28" Type="http://schemas.openxmlformats.org/officeDocument/2006/relationships/hyperlink" Target="https://paradot.ai/" TargetMode="External"/><Relationship Id="rId27" Type="http://schemas.openxmlformats.org/officeDocument/2006/relationships/image" Target="../media/image1054.png"/><Relationship Id="rId26" Type="http://schemas.openxmlformats.org/officeDocument/2006/relationships/image" Target="../media/image1053.png"/><Relationship Id="rId25" Type="http://schemas.openxmlformats.org/officeDocument/2006/relationships/image" Target="../media/image1052.png"/><Relationship Id="rId24" Type="http://schemas.openxmlformats.org/officeDocument/2006/relationships/image" Target="../media/image1051.png"/><Relationship Id="rId23" Type="http://schemas.openxmlformats.org/officeDocument/2006/relationships/hyperlink" Target="https://character.ai/" TargetMode="External"/><Relationship Id="rId22" Type="http://schemas.openxmlformats.org/officeDocument/2006/relationships/image" Target="../media/image1050.png"/><Relationship Id="rId21" Type="http://schemas.openxmlformats.org/officeDocument/2006/relationships/image" Target="../media/image1049.png"/><Relationship Id="rId20" Type="http://schemas.openxmlformats.org/officeDocument/2006/relationships/image" Target="../media/image1048.png"/><Relationship Id="rId2" Type="http://schemas.openxmlformats.org/officeDocument/2006/relationships/image" Target="../media/image1034.png"/><Relationship Id="rId19" Type="http://schemas.openxmlformats.org/officeDocument/2006/relationships/image" Target="../media/image1047.png"/><Relationship Id="rId18" Type="http://schemas.openxmlformats.org/officeDocument/2006/relationships/hyperlink" Target="https://elomia.com/" TargetMode="External"/><Relationship Id="rId17" Type="http://schemas.openxmlformats.org/officeDocument/2006/relationships/image" Target="../media/image1046.png"/><Relationship Id="rId16" Type="http://schemas.openxmlformats.org/officeDocument/2006/relationships/image" Target="../media/image1045.png"/><Relationship Id="rId15" Type="http://schemas.openxmlformats.org/officeDocument/2006/relationships/image" Target="../media/image1044.png"/><Relationship Id="rId14" Type="http://schemas.openxmlformats.org/officeDocument/2006/relationships/image" Target="../media/image1043.png"/><Relationship Id="rId13" Type="http://schemas.openxmlformats.org/officeDocument/2006/relationships/hyperlink" Target="https://www.xingyeai.com/" TargetMode="External"/><Relationship Id="rId12" Type="http://schemas.openxmlformats.org/officeDocument/2006/relationships/image" Target="../media/image1042.png"/><Relationship Id="rId11" Type="http://schemas.openxmlformats.org/officeDocument/2006/relationships/image" Target="../media/image1041.png"/><Relationship Id="rId10" Type="http://schemas.openxmlformats.org/officeDocument/2006/relationships/image" Target="../media/image10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hyperlink" Target=" &#8204;https://www.perfects.ai/" TargetMode="External"/><Relationship Id="rId8" Type="http://schemas.openxmlformats.org/officeDocument/2006/relationships/image" Target="../media/image1076.png"/><Relationship Id="rId7" Type="http://schemas.openxmlformats.org/officeDocument/2006/relationships/image" Target="../media/image1075.png"/><Relationship Id="rId6" Type="http://schemas.openxmlformats.org/officeDocument/2006/relationships/image" Target="../media/image1074.png"/><Relationship Id="rId5" Type="http://schemas.openxmlformats.org/officeDocument/2006/relationships/image" Target="../media/image1073.png"/><Relationship Id="rId49" Type="http://schemas.openxmlformats.org/officeDocument/2006/relationships/image" Target="../media/image1109.jpeg"/><Relationship Id="rId48" Type="http://schemas.openxmlformats.org/officeDocument/2006/relationships/image" Target="../media/image1108.png"/><Relationship Id="rId47" Type="http://schemas.openxmlformats.org/officeDocument/2006/relationships/image" Target="../media/image1107.png"/><Relationship Id="rId46" Type="http://schemas.openxmlformats.org/officeDocument/2006/relationships/image" Target="../media/image29.jpeg"/><Relationship Id="rId45" Type="http://schemas.openxmlformats.org/officeDocument/2006/relationships/image" Target="../media/image1106.png"/><Relationship Id="rId44" Type="http://schemas.openxmlformats.org/officeDocument/2006/relationships/image" Target="../media/image1105.png"/><Relationship Id="rId43" Type="http://schemas.openxmlformats.org/officeDocument/2006/relationships/image" Target="../media/image1104.png"/><Relationship Id="rId42" Type="http://schemas.openxmlformats.org/officeDocument/2006/relationships/hyperlink" Target="https://www.offergoose.cn/" TargetMode="External"/><Relationship Id="rId41" Type="http://schemas.openxmlformats.org/officeDocument/2006/relationships/image" Target="../media/image1103.png"/><Relationship Id="rId40" Type="http://schemas.openxmlformats.org/officeDocument/2006/relationships/image" Target="../media/image1102.png"/><Relationship Id="rId4" Type="http://schemas.openxmlformats.org/officeDocument/2006/relationships/image" Target="../media/image1072.png"/><Relationship Id="rId39" Type="http://schemas.openxmlformats.org/officeDocument/2006/relationships/image" Target="../media/image1101.png"/><Relationship Id="rId38" Type="http://schemas.openxmlformats.org/officeDocument/2006/relationships/image" Target="../media/image1100.png"/><Relationship Id="rId37" Type="http://schemas.openxmlformats.org/officeDocument/2006/relationships/hyperlink" Target="https://futurecv.cn/" TargetMode="External"/><Relationship Id="rId36" Type="http://schemas.openxmlformats.org/officeDocument/2006/relationships/image" Target="../media/image1099.png"/><Relationship Id="rId35" Type="http://schemas.openxmlformats.org/officeDocument/2006/relationships/image" Target="../media/image1098.png"/><Relationship Id="rId34" Type="http://schemas.openxmlformats.org/officeDocument/2006/relationships/image" Target="../media/image1097.png"/><Relationship Id="rId33" Type="http://schemas.openxmlformats.org/officeDocument/2006/relationships/image" Target="../media/image1096.png"/><Relationship Id="rId32" Type="http://schemas.openxmlformats.org/officeDocument/2006/relationships/image" Target="../media/image1095.png"/><Relationship Id="rId31" Type="http://schemas.openxmlformats.org/officeDocument/2006/relationships/hyperlink" Target="https://www.fetcher.ai/" TargetMode="External"/><Relationship Id="rId30" Type="http://schemas.openxmlformats.org/officeDocument/2006/relationships/image" Target="../media/image1094.png"/><Relationship Id="rId3" Type="http://schemas.openxmlformats.org/officeDocument/2006/relationships/hyperlink" Target="https://www.hireez.com/" TargetMode="External"/><Relationship Id="rId29" Type="http://schemas.openxmlformats.org/officeDocument/2006/relationships/image" Target="../media/image1093.png"/><Relationship Id="rId28" Type="http://schemas.openxmlformats.org/officeDocument/2006/relationships/image" Target="../media/image1092.png"/><Relationship Id="rId27" Type="http://schemas.openxmlformats.org/officeDocument/2006/relationships/image" Target="../media/image1091.png"/><Relationship Id="rId26" Type="http://schemas.openxmlformats.org/officeDocument/2006/relationships/image" Target="../media/image1090.png"/><Relationship Id="rId25" Type="http://schemas.openxmlformats.org/officeDocument/2006/relationships/hyperlink" Target="https://www.ivvajob.com/" TargetMode="External"/><Relationship Id="rId24" Type="http://schemas.openxmlformats.org/officeDocument/2006/relationships/image" Target="../media/image1089.png"/><Relationship Id="rId23" Type="http://schemas.openxmlformats.org/officeDocument/2006/relationships/image" Target="../media/image1088.png"/><Relationship Id="rId22" Type="http://schemas.openxmlformats.org/officeDocument/2006/relationships/image" Target="../media/image1087.png"/><Relationship Id="rId21" Type="http://schemas.openxmlformats.org/officeDocument/2006/relationships/image" Target="../media/image1086.png"/><Relationship Id="rId20" Type="http://schemas.openxmlformats.org/officeDocument/2006/relationships/hyperlink" Target="https://www.mokahr.com/" TargetMode="External"/><Relationship Id="rId2" Type="http://schemas.openxmlformats.org/officeDocument/2006/relationships/image" Target="../media/image1071.png"/><Relationship Id="rId19" Type="http://schemas.openxmlformats.org/officeDocument/2006/relationships/image" Target="../media/image1085.png"/><Relationship Id="rId18" Type="http://schemas.openxmlformats.org/officeDocument/2006/relationships/image" Target="../media/image1084.png"/><Relationship Id="rId17" Type="http://schemas.openxmlformats.org/officeDocument/2006/relationships/image" Target="../media/image1083.png"/><Relationship Id="rId16" Type="http://schemas.openxmlformats.org/officeDocument/2006/relationships/image" Target="../media/image1082.png"/><Relationship Id="rId15" Type="http://schemas.openxmlformats.org/officeDocument/2006/relationships/hyperlink" Target="https://www.gem.com/" TargetMode="External"/><Relationship Id="rId14" Type="http://schemas.openxmlformats.org/officeDocument/2006/relationships/image" Target="../media/image1081.png"/><Relationship Id="rId13" Type="http://schemas.openxmlformats.org/officeDocument/2006/relationships/image" Target="../media/image1080.png"/><Relationship Id="rId12" Type="http://schemas.openxmlformats.org/officeDocument/2006/relationships/image" Target="../media/image1079.png"/><Relationship Id="rId11" Type="http://schemas.openxmlformats.org/officeDocument/2006/relationships/image" Target="../media/image1078.png"/><Relationship Id="rId10" Type="http://schemas.openxmlformats.org/officeDocument/2006/relationships/image" Target="../media/image107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5.png"/><Relationship Id="rId8" Type="http://schemas.openxmlformats.org/officeDocument/2006/relationships/hyperlink" Target="https://tingwu.aliyun.com/" TargetMode="External"/><Relationship Id="rId7" Type="http://schemas.openxmlformats.org/officeDocument/2006/relationships/image" Target="../media/image1114.png"/><Relationship Id="rId6" Type="http://schemas.openxmlformats.org/officeDocument/2006/relationships/image" Target="../media/image1113.png"/><Relationship Id="rId5" Type="http://schemas.openxmlformats.org/officeDocument/2006/relationships/image" Target="../media/image1112.png"/><Relationship Id="rId48" Type="http://schemas.openxmlformats.org/officeDocument/2006/relationships/image" Target="../media/image29.jpeg"/><Relationship Id="rId47" Type="http://schemas.openxmlformats.org/officeDocument/2006/relationships/image" Target="../media/image1147.png"/><Relationship Id="rId46" Type="http://schemas.openxmlformats.org/officeDocument/2006/relationships/image" Target="../media/image1146.png"/><Relationship Id="rId45" Type="http://schemas.openxmlformats.org/officeDocument/2006/relationships/image" Target="../media/image1145.png"/><Relationship Id="rId44" Type="http://schemas.openxmlformats.org/officeDocument/2006/relationships/image" Target="../media/image1144.png"/><Relationship Id="rId43" Type="http://schemas.openxmlformats.org/officeDocument/2006/relationships/image" Target="../media/image1143.png"/><Relationship Id="rId42" Type="http://schemas.openxmlformats.org/officeDocument/2006/relationships/image" Target="../media/image1142.png"/><Relationship Id="rId41" Type="http://schemas.openxmlformats.org/officeDocument/2006/relationships/hyperlink" Target="https://tingji.baidu.com/embed/listennote" TargetMode="External"/><Relationship Id="rId40" Type="http://schemas.openxmlformats.org/officeDocument/2006/relationships/image" Target="../media/image1141.png"/><Relationship Id="rId4" Type="http://schemas.openxmlformats.org/officeDocument/2006/relationships/image" Target="../media/image1111.png"/><Relationship Id="rId39" Type="http://schemas.openxmlformats.org/officeDocument/2006/relationships/image" Target="../media/image1140.png"/><Relationship Id="rId38" Type="http://schemas.openxmlformats.org/officeDocument/2006/relationships/image" Target="../media/image1139.png"/><Relationship Id="rId37" Type="http://schemas.openxmlformats.org/officeDocument/2006/relationships/image" Target="../media/image1138.png"/><Relationship Id="rId36" Type="http://schemas.openxmlformats.org/officeDocument/2006/relationships/hyperlink" Target="https://www.feishu.cn/product/minutes?ref=www.faxianai.com" TargetMode="External"/><Relationship Id="rId35" Type="http://schemas.openxmlformats.org/officeDocument/2006/relationships/image" Target="../media/image1137.png"/><Relationship Id="rId34" Type="http://schemas.openxmlformats.org/officeDocument/2006/relationships/image" Target="../media/image1136.png"/><Relationship Id="rId33" Type="http://schemas.openxmlformats.org/officeDocument/2006/relationships/image" Target="../media/image1135.png"/><Relationship Id="rId32" Type="http://schemas.openxmlformats.org/officeDocument/2006/relationships/image" Target="../media/image1134.png"/><Relationship Id="rId31" Type="http://schemas.openxmlformats.org/officeDocument/2006/relationships/hyperlink" Target="https://otter.ai/author/otter" TargetMode="External"/><Relationship Id="rId30" Type="http://schemas.openxmlformats.org/officeDocument/2006/relationships/image" Target="../media/image1133.png"/><Relationship Id="rId3" Type="http://schemas.openxmlformats.org/officeDocument/2006/relationships/hyperlink" Target="https://www.iflyrec.com/" TargetMode="External"/><Relationship Id="rId29" Type="http://schemas.openxmlformats.org/officeDocument/2006/relationships/image" Target="../media/image1132.png"/><Relationship Id="rId28" Type="http://schemas.openxmlformats.org/officeDocument/2006/relationships/image" Target="../media/image1131.png"/><Relationship Id="rId27" Type="http://schemas.openxmlformats.org/officeDocument/2006/relationships/image" Target="../media/image1130.png"/><Relationship Id="rId26" Type="http://schemas.openxmlformats.org/officeDocument/2006/relationships/hyperlink" Target="https://work.duiopen.com/" TargetMode="External"/><Relationship Id="rId25" Type="http://schemas.openxmlformats.org/officeDocument/2006/relationships/image" Target="../media/image1129.png"/><Relationship Id="rId24" Type="http://schemas.openxmlformats.org/officeDocument/2006/relationships/image" Target="../media/image1128.png"/><Relationship Id="rId23" Type="http://schemas.openxmlformats.org/officeDocument/2006/relationships/image" Target="../media/image1127.png"/><Relationship Id="rId22" Type="http://schemas.openxmlformats.org/officeDocument/2006/relationships/image" Target="../media/image1126.jpeg"/><Relationship Id="rId21" Type="http://schemas.openxmlformats.org/officeDocument/2006/relationships/image" Target="../media/image1125.png"/><Relationship Id="rId20" Type="http://schemas.openxmlformats.org/officeDocument/2006/relationships/image" Target="../media/image1124.png"/><Relationship Id="rId2" Type="http://schemas.openxmlformats.org/officeDocument/2006/relationships/image" Target="../media/image1110.png"/><Relationship Id="rId19" Type="http://schemas.openxmlformats.org/officeDocument/2006/relationships/image" Target="../media/image1123.png"/><Relationship Id="rId18" Type="http://schemas.openxmlformats.org/officeDocument/2006/relationships/hyperlink" Target="https://fireflies.ai/" TargetMode="External"/><Relationship Id="rId17" Type="http://schemas.openxmlformats.org/officeDocument/2006/relationships/image" Target="../media/image1122.png"/><Relationship Id="rId16" Type="http://schemas.openxmlformats.org/officeDocument/2006/relationships/image" Target="../media/image1121.png"/><Relationship Id="rId15" Type="http://schemas.openxmlformats.org/officeDocument/2006/relationships/image" Target="../media/image1120.png"/><Relationship Id="rId14" Type="http://schemas.openxmlformats.org/officeDocument/2006/relationships/image" Target="../media/image1119.png"/><Relationship Id="rId13" Type="http://schemas.openxmlformats.org/officeDocument/2006/relationships/hyperlink" Target="https://ihuadai.cn/" TargetMode="External"/><Relationship Id="rId12" Type="http://schemas.openxmlformats.org/officeDocument/2006/relationships/image" Target="../media/image1118.png"/><Relationship Id="rId11" Type="http://schemas.openxmlformats.org/officeDocument/2006/relationships/image" Target="../media/image1117.png"/><Relationship Id="rId10" Type="http://schemas.openxmlformats.org/officeDocument/2006/relationships/image" Target="../media/image11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4.png"/><Relationship Id="rId8" Type="http://schemas.openxmlformats.org/officeDocument/2006/relationships/image" Target="../media/image1153.png"/><Relationship Id="rId7" Type="http://schemas.openxmlformats.org/officeDocument/2006/relationships/image" Target="../media/image1152.png"/><Relationship Id="rId6" Type="http://schemas.openxmlformats.org/officeDocument/2006/relationships/image" Target="../media/image1151.png"/><Relationship Id="rId50" Type="http://schemas.openxmlformats.org/officeDocument/2006/relationships/image" Target="../media/image1188.jpeg"/><Relationship Id="rId5" Type="http://schemas.openxmlformats.org/officeDocument/2006/relationships/hyperlink" Target="https://ailegal.baidu.com/" TargetMode="External"/><Relationship Id="rId49" Type="http://schemas.openxmlformats.org/officeDocument/2006/relationships/image" Target="../media/image1187.jpeg"/><Relationship Id="rId48" Type="http://schemas.openxmlformats.org/officeDocument/2006/relationships/image" Target="../media/image1186.jpeg"/><Relationship Id="rId47" Type="http://schemas.openxmlformats.org/officeDocument/2006/relationships/image" Target="../media/image1185.png"/><Relationship Id="rId46" Type="http://schemas.openxmlformats.org/officeDocument/2006/relationships/image" Target="../media/image1184.png"/><Relationship Id="rId45" Type="http://schemas.openxmlformats.org/officeDocument/2006/relationships/image" Target="../media/image1183.png"/><Relationship Id="rId44" Type="http://schemas.openxmlformats.org/officeDocument/2006/relationships/image" Target="../media/image1182.png"/><Relationship Id="rId43" Type="http://schemas.openxmlformats.org/officeDocument/2006/relationships/image" Target="../media/image1181.png"/><Relationship Id="rId42" Type="http://schemas.openxmlformats.org/officeDocument/2006/relationships/image" Target="../media/image1180.png"/><Relationship Id="rId41" Type="http://schemas.openxmlformats.org/officeDocument/2006/relationships/image" Target="../media/image1179.png"/><Relationship Id="rId40" Type="http://schemas.openxmlformats.org/officeDocument/2006/relationships/image" Target="../media/image1178.png"/><Relationship Id="rId4" Type="http://schemas.openxmlformats.org/officeDocument/2006/relationships/image" Target="../media/image1150.png"/><Relationship Id="rId39" Type="http://schemas.openxmlformats.org/officeDocument/2006/relationships/hyperlink" Target="https://tongyi.aliyun.com/farui/" TargetMode="External"/><Relationship Id="rId38" Type="http://schemas.openxmlformats.org/officeDocument/2006/relationships/image" Target="../media/image1177.png"/><Relationship Id="rId37" Type="http://schemas.openxmlformats.org/officeDocument/2006/relationships/image" Target="../media/image1176.png"/><Relationship Id="rId36" Type="http://schemas.openxmlformats.org/officeDocument/2006/relationships/image" Target="../media/image1175.png"/><Relationship Id="rId35" Type="http://schemas.openxmlformats.org/officeDocument/2006/relationships/image" Target="../media/image1174.png"/><Relationship Id="rId34" Type="http://schemas.openxmlformats.org/officeDocument/2006/relationships/hyperlink" Target="https://www.thomsonreuters.com/en-us/westlaw" TargetMode="External"/><Relationship Id="rId33" Type="http://schemas.openxmlformats.org/officeDocument/2006/relationships/image" Target="../media/image1173.png"/><Relationship Id="rId32" Type="http://schemas.openxmlformats.org/officeDocument/2006/relationships/image" Target="../media/image1172.png"/><Relationship Id="rId31" Type="http://schemas.openxmlformats.org/officeDocument/2006/relationships/image" Target="../media/image1171.png"/><Relationship Id="rId30" Type="http://schemas.openxmlformats.org/officeDocument/2006/relationships/image" Target="../media/image1170.png"/><Relationship Id="rId3" Type="http://schemas.openxmlformats.org/officeDocument/2006/relationships/image" Target="../media/image1149.png"/><Relationship Id="rId29" Type="http://schemas.openxmlformats.org/officeDocument/2006/relationships/hyperlink" Target="https://us.vlex.com/products/vincent-ai" TargetMode="External"/><Relationship Id="rId28" Type="http://schemas.openxmlformats.org/officeDocument/2006/relationships/image" Target="../media/image1169.png"/><Relationship Id="rId27" Type="http://schemas.openxmlformats.org/officeDocument/2006/relationships/image" Target="../media/image1168.png"/><Relationship Id="rId26" Type="http://schemas.openxmlformats.org/officeDocument/2006/relationships/image" Target="../media/image1167.png"/><Relationship Id="rId25" Type="http://schemas.openxmlformats.org/officeDocument/2006/relationships/image" Target="../media/image1166.png"/><Relationship Id="rId24" Type="http://schemas.openxmlformats.org/officeDocument/2006/relationships/hyperlink" Target="https://www.grower.net.cn/laws/" TargetMode="External"/><Relationship Id="rId23" Type="http://schemas.openxmlformats.org/officeDocument/2006/relationships/hyperlink" Target="https://www.thomsonreuters.com/en/cocounsel" TargetMode="External"/><Relationship Id="rId22" Type="http://schemas.openxmlformats.org/officeDocument/2006/relationships/image" Target="../media/image1165.png"/><Relationship Id="rId21" Type="http://schemas.openxmlformats.org/officeDocument/2006/relationships/image" Target="../media/image1164.png"/><Relationship Id="rId20" Type="http://schemas.openxmlformats.org/officeDocument/2006/relationships/image" Target="../media/image1163.png"/><Relationship Id="rId2" Type="http://schemas.openxmlformats.org/officeDocument/2006/relationships/image" Target="../media/image1148.png"/><Relationship Id="rId19" Type="http://schemas.openxmlformats.org/officeDocument/2006/relationships/image" Target="../media/image1162.png"/><Relationship Id="rId18" Type="http://schemas.openxmlformats.org/officeDocument/2006/relationships/image" Target="../media/image1161.png"/><Relationship Id="rId17" Type="http://schemas.openxmlformats.org/officeDocument/2006/relationships/image" Target="../media/image1160.png"/><Relationship Id="rId16" Type="http://schemas.openxmlformats.org/officeDocument/2006/relationships/hyperlink" Target="https://www.lexisnexis.com/" TargetMode="External"/><Relationship Id="rId15" Type="http://schemas.openxmlformats.org/officeDocument/2006/relationships/image" Target="../media/image1159.png"/><Relationship Id="rId14" Type="http://schemas.openxmlformats.org/officeDocument/2006/relationships/image" Target="../media/image1158.png"/><Relationship Id="rId13" Type="http://schemas.openxmlformats.org/officeDocument/2006/relationships/image" Target="../media/image1157.png"/><Relationship Id="rId12" Type="http://schemas.openxmlformats.org/officeDocument/2006/relationships/image" Target="../media/image1156.png"/><Relationship Id="rId11" Type="http://schemas.openxmlformats.org/officeDocument/2006/relationships/image" Target="../media/image1155.png"/><Relationship Id="rId10" Type="http://schemas.openxmlformats.org/officeDocument/2006/relationships/hyperlink" Target="https://www.pkulaw.com/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94.png"/><Relationship Id="rId8" Type="http://schemas.openxmlformats.org/officeDocument/2006/relationships/hyperlink" Target="https://waymo.com/" TargetMode="External"/><Relationship Id="rId7" Type="http://schemas.openxmlformats.org/officeDocument/2006/relationships/image" Target="../media/image1193.png"/><Relationship Id="rId6" Type="http://schemas.openxmlformats.org/officeDocument/2006/relationships/image" Target="../media/image1192.png"/><Relationship Id="rId5" Type="http://schemas.openxmlformats.org/officeDocument/2006/relationships/image" Target="../media/image1191.png"/><Relationship Id="rId47" Type="http://schemas.openxmlformats.org/officeDocument/2006/relationships/image" Target="../media/image1225.jpeg"/><Relationship Id="rId46" Type="http://schemas.openxmlformats.org/officeDocument/2006/relationships/image" Target="../media/image29.jpeg"/><Relationship Id="rId45" Type="http://schemas.openxmlformats.org/officeDocument/2006/relationships/image" Target="../media/image1224.png"/><Relationship Id="rId44" Type="http://schemas.openxmlformats.org/officeDocument/2006/relationships/image" Target="../media/image1223.png"/><Relationship Id="rId43" Type="http://schemas.openxmlformats.org/officeDocument/2006/relationships/image" Target="../media/image1222.png"/><Relationship Id="rId42" Type="http://schemas.openxmlformats.org/officeDocument/2006/relationships/hyperlink" Target="https://auto.huawei.com/cn/ads/" TargetMode="External"/><Relationship Id="rId41" Type="http://schemas.openxmlformats.org/officeDocument/2006/relationships/image" Target="../media/image1221.png"/><Relationship Id="rId40" Type="http://schemas.openxmlformats.org/officeDocument/2006/relationships/image" Target="../media/image1220.png"/><Relationship Id="rId4" Type="http://schemas.openxmlformats.org/officeDocument/2006/relationships/image" Target="../media/image1190.png"/><Relationship Id="rId39" Type="http://schemas.openxmlformats.org/officeDocument/2006/relationships/image" Target="../media/image1219.png"/><Relationship Id="rId38" Type="http://schemas.openxmlformats.org/officeDocument/2006/relationships/image" Target="../media/image1218.png"/><Relationship Id="rId37" Type="http://schemas.openxmlformats.org/officeDocument/2006/relationships/image" Target="../media/image1217.png"/><Relationship Id="rId36" Type="http://schemas.openxmlformats.org/officeDocument/2006/relationships/hyperlink" Target="https://www.comma.ai/vehicles" TargetMode="External"/><Relationship Id="rId35" Type="http://schemas.openxmlformats.org/officeDocument/2006/relationships/image" Target="../media/image1216.png"/><Relationship Id="rId34" Type="http://schemas.openxmlformats.org/officeDocument/2006/relationships/image" Target="../media/image1215.png"/><Relationship Id="rId33" Type="http://schemas.openxmlformats.org/officeDocument/2006/relationships/image" Target="../media/image1214.png"/><Relationship Id="rId32" Type="http://schemas.openxmlformats.org/officeDocument/2006/relationships/image" Target="../media/image1213.png"/><Relationship Id="rId31" Type="http://schemas.openxmlformats.org/officeDocument/2006/relationships/hyperlink" Target="https://www.apollogo.com/ch/" TargetMode="External"/><Relationship Id="rId30" Type="http://schemas.openxmlformats.org/officeDocument/2006/relationships/image" Target="../media/image1212.png"/><Relationship Id="rId3" Type="http://schemas.openxmlformats.org/officeDocument/2006/relationships/hyperlink" Target="https://www.mobileye.com/" TargetMode="External"/><Relationship Id="rId29" Type="http://schemas.openxmlformats.org/officeDocument/2006/relationships/image" Target="../media/image1211.png"/><Relationship Id="rId28" Type="http://schemas.openxmlformats.org/officeDocument/2006/relationships/image" Target="../media/image1210.png"/><Relationship Id="rId27" Type="http://schemas.openxmlformats.org/officeDocument/2006/relationships/image" Target="../media/image1209.png"/><Relationship Id="rId26" Type="http://schemas.openxmlformats.org/officeDocument/2006/relationships/image" Target="../media/image1208.png"/><Relationship Id="rId25" Type="http://schemas.openxmlformats.org/officeDocument/2006/relationships/image" Target="../media/image1207.png"/><Relationship Id="rId24" Type="http://schemas.openxmlformats.org/officeDocument/2006/relationships/hyperlink" Target="https://www.pnuri.cn/" TargetMode="External"/><Relationship Id="rId23" Type="http://schemas.openxmlformats.org/officeDocument/2006/relationships/image" Target="../media/image1206.png"/><Relationship Id="rId22" Type="http://schemas.openxmlformats.org/officeDocument/2006/relationships/image" Target="../media/image1205.png"/><Relationship Id="rId21" Type="http://schemas.openxmlformats.org/officeDocument/2006/relationships/image" Target="../media/image1204.png"/><Relationship Id="rId20" Type="http://schemas.openxmlformats.org/officeDocument/2006/relationships/image" Target="../media/image1203.png"/><Relationship Id="rId2" Type="http://schemas.openxmlformats.org/officeDocument/2006/relationships/image" Target="../media/image1189.png"/><Relationship Id="rId19" Type="http://schemas.openxmlformats.org/officeDocument/2006/relationships/hyperlink" Target="https://www.horizon.auto/" TargetMode="External"/><Relationship Id="rId18" Type="http://schemas.openxmlformats.org/officeDocument/2006/relationships/image" Target="../media/image1202.png"/><Relationship Id="rId17" Type="http://schemas.openxmlformats.org/officeDocument/2006/relationships/image" Target="../media/image1201.png"/><Relationship Id="rId16" Type="http://schemas.openxmlformats.org/officeDocument/2006/relationships/image" Target="../media/image1200.png"/><Relationship Id="rId15" Type="http://schemas.openxmlformats.org/officeDocument/2006/relationships/image" Target="../media/image1199.png"/><Relationship Id="rId14" Type="http://schemas.openxmlformats.org/officeDocument/2006/relationships/hyperlink" Target="https://www.nauto.com/" TargetMode="External"/><Relationship Id="rId13" Type="http://schemas.openxmlformats.org/officeDocument/2006/relationships/image" Target="../media/image1198.png"/><Relationship Id="rId12" Type="http://schemas.openxmlformats.org/officeDocument/2006/relationships/image" Target="../media/image1197.png"/><Relationship Id="rId11" Type="http://schemas.openxmlformats.org/officeDocument/2006/relationships/image" Target="../media/image1196.png"/><Relationship Id="rId10" Type="http://schemas.openxmlformats.org/officeDocument/2006/relationships/image" Target="../media/image119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1.png"/><Relationship Id="rId8" Type="http://schemas.openxmlformats.org/officeDocument/2006/relationships/hyperlink" Target="https://amlwatcher.com/" TargetMode="External"/><Relationship Id="rId7" Type="http://schemas.openxmlformats.org/officeDocument/2006/relationships/image" Target="../media/image1230.png"/><Relationship Id="rId6" Type="http://schemas.openxmlformats.org/officeDocument/2006/relationships/image" Target="../media/image1229.png"/><Relationship Id="rId5" Type="http://schemas.openxmlformats.org/officeDocument/2006/relationships/image" Target="../media/image1228.png"/><Relationship Id="rId42" Type="http://schemas.openxmlformats.org/officeDocument/2006/relationships/image" Target="../media/image29.jpeg"/><Relationship Id="rId41" Type="http://schemas.openxmlformats.org/officeDocument/2006/relationships/image" Target="../media/image1257.png"/><Relationship Id="rId40" Type="http://schemas.openxmlformats.org/officeDocument/2006/relationships/image" Target="../media/image1256.png"/><Relationship Id="rId4" Type="http://schemas.openxmlformats.org/officeDocument/2006/relationships/image" Target="../media/image1227.png"/><Relationship Id="rId39" Type="http://schemas.openxmlformats.org/officeDocument/2006/relationships/image" Target="../media/image1255.png"/><Relationship Id="rId38" Type="http://schemas.openxmlformats.org/officeDocument/2006/relationships/hyperlink" Target="https://gorillaterminal.com/" TargetMode="External"/><Relationship Id="rId37" Type="http://schemas.openxmlformats.org/officeDocument/2006/relationships/image" Target="../media/image1254.png"/><Relationship Id="rId36" Type="http://schemas.openxmlformats.org/officeDocument/2006/relationships/image" Target="../media/image1253.png"/><Relationship Id="rId35" Type="http://schemas.openxmlformats.org/officeDocument/2006/relationships/image" Target="../media/image1252.png"/><Relationship Id="rId34" Type="http://schemas.openxmlformats.org/officeDocument/2006/relationships/image" Target="../media/image1251.png"/><Relationship Id="rId33" Type="http://schemas.openxmlformats.org/officeDocument/2006/relationships/hyperlink" Target="https://trytelescope.ai/" TargetMode="External"/><Relationship Id="rId32" Type="http://schemas.openxmlformats.org/officeDocument/2006/relationships/image" Target="../media/image1250.png"/><Relationship Id="rId31" Type="http://schemas.openxmlformats.org/officeDocument/2006/relationships/image" Target="../media/image1249.png"/><Relationship Id="rId30" Type="http://schemas.openxmlformats.org/officeDocument/2006/relationships/image" Target="../media/image1248.png"/><Relationship Id="rId3" Type="http://schemas.openxmlformats.org/officeDocument/2006/relationships/hyperlink" Target="https://fdo.ai/" TargetMode="External"/><Relationship Id="rId29" Type="http://schemas.openxmlformats.org/officeDocument/2006/relationships/image" Target="../media/image1247.png"/><Relationship Id="rId28" Type="http://schemas.openxmlformats.org/officeDocument/2006/relationships/hyperlink" Target="https://www.fortune.app/" TargetMode="External"/><Relationship Id="rId27" Type="http://schemas.openxmlformats.org/officeDocument/2006/relationships/image" Target="../media/image1246.png"/><Relationship Id="rId26" Type="http://schemas.openxmlformats.org/officeDocument/2006/relationships/image" Target="../media/image1245.png"/><Relationship Id="rId25" Type="http://schemas.openxmlformats.org/officeDocument/2006/relationships/image" Target="../media/image1244.png"/><Relationship Id="rId24" Type="http://schemas.openxmlformats.org/officeDocument/2006/relationships/image" Target="../media/image1243.png"/><Relationship Id="rId23" Type="http://schemas.openxmlformats.org/officeDocument/2006/relationships/hyperlink" Target="https://sparktrade.io/" TargetMode="External"/><Relationship Id="rId22" Type="http://schemas.openxmlformats.org/officeDocument/2006/relationships/image" Target="../media/image1242.png"/><Relationship Id="rId21" Type="http://schemas.openxmlformats.org/officeDocument/2006/relationships/image" Target="../media/image1241.png"/><Relationship Id="rId20" Type="http://schemas.openxmlformats.org/officeDocument/2006/relationships/image" Target="../media/image1240.png"/><Relationship Id="rId2" Type="http://schemas.openxmlformats.org/officeDocument/2006/relationships/image" Target="../media/image1226.png"/><Relationship Id="rId19" Type="http://schemas.openxmlformats.org/officeDocument/2006/relationships/image" Target="../media/image1239.png"/><Relationship Id="rId18" Type="http://schemas.openxmlformats.org/officeDocument/2006/relationships/hyperlink" Target="https://getpenny.com/" TargetMode="External"/><Relationship Id="rId17" Type="http://schemas.openxmlformats.org/officeDocument/2006/relationships/image" Target="../media/image1238.png"/><Relationship Id="rId16" Type="http://schemas.openxmlformats.org/officeDocument/2006/relationships/image" Target="../media/image1237.png"/><Relationship Id="rId15" Type="http://schemas.openxmlformats.org/officeDocument/2006/relationships/image" Target="../media/image1236.png"/><Relationship Id="rId14" Type="http://schemas.openxmlformats.org/officeDocument/2006/relationships/image" Target="../media/image1235.png"/><Relationship Id="rId13" Type="http://schemas.openxmlformats.org/officeDocument/2006/relationships/hyperlink" Target="https://alphanso.ai/" TargetMode="External"/><Relationship Id="rId12" Type="http://schemas.openxmlformats.org/officeDocument/2006/relationships/image" Target="../media/image1234.png"/><Relationship Id="rId11" Type="http://schemas.openxmlformats.org/officeDocument/2006/relationships/image" Target="../media/image1233.png"/><Relationship Id="rId10" Type="http://schemas.openxmlformats.org/officeDocument/2006/relationships/image" Target="../media/image12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3.png"/><Relationship Id="rId8" Type="http://schemas.openxmlformats.org/officeDocument/2006/relationships/hyperlink" Target="https://traini.app/&#13;" TargetMode="External"/><Relationship Id="rId7" Type="http://schemas.openxmlformats.org/officeDocument/2006/relationships/image" Target="../media/image1262.png"/><Relationship Id="rId6" Type="http://schemas.openxmlformats.org/officeDocument/2006/relationships/image" Target="../media/image1261.png"/><Relationship Id="rId5" Type="http://schemas.openxmlformats.org/officeDocument/2006/relationships/image" Target="../media/image1260.png"/><Relationship Id="rId49" Type="http://schemas.openxmlformats.org/officeDocument/2006/relationships/image" Target="../media/image1295.png"/><Relationship Id="rId48" Type="http://schemas.openxmlformats.org/officeDocument/2006/relationships/image" Target="../media/image1294.png"/><Relationship Id="rId47" Type="http://schemas.openxmlformats.org/officeDocument/2006/relationships/image" Target="../media/image1293.png"/><Relationship Id="rId46" Type="http://schemas.openxmlformats.org/officeDocument/2006/relationships/hyperlink" Target="https://aofi-pet.com/" TargetMode="External"/><Relationship Id="rId45" Type="http://schemas.openxmlformats.org/officeDocument/2006/relationships/image" Target="../media/image29.jpeg"/><Relationship Id="rId44" Type="http://schemas.openxmlformats.org/officeDocument/2006/relationships/image" Target="../media/image1292.png"/><Relationship Id="rId43" Type="http://schemas.openxmlformats.org/officeDocument/2006/relationships/image" Target="../media/image1291.png"/><Relationship Id="rId42" Type="http://schemas.openxmlformats.org/officeDocument/2006/relationships/image" Target="../media/image1290.png"/><Relationship Id="rId41" Type="http://schemas.openxmlformats.org/officeDocument/2006/relationships/image" Target="../media/image1289.png"/><Relationship Id="rId40" Type="http://schemas.openxmlformats.org/officeDocument/2006/relationships/image" Target="../media/image1288.png"/><Relationship Id="rId4" Type="http://schemas.openxmlformats.org/officeDocument/2006/relationships/image" Target="../media/image1259.png"/><Relationship Id="rId39" Type="http://schemas.openxmlformats.org/officeDocument/2006/relationships/image" Target="../media/image1287.png"/><Relationship Id="rId38" Type="http://schemas.openxmlformats.org/officeDocument/2006/relationships/image" Target="../media/image1286.png"/><Relationship Id="rId37" Type="http://schemas.openxmlformats.org/officeDocument/2006/relationships/image" Target="../media/image1285.png"/><Relationship Id="rId36" Type="http://schemas.openxmlformats.org/officeDocument/2006/relationships/image" Target="../media/image1284.png"/><Relationship Id="rId35" Type="http://schemas.openxmlformats.org/officeDocument/2006/relationships/image" Target="../media/image1283.png"/><Relationship Id="rId34" Type="http://schemas.openxmlformats.org/officeDocument/2006/relationships/hyperlink" Target="https://www.foresightx.com" TargetMode="External"/><Relationship Id="rId33" Type="http://schemas.openxmlformats.org/officeDocument/2006/relationships/hyperlink" Target="https://www.foresightx.com.cn/" TargetMode="External"/><Relationship Id="rId32" Type="http://schemas.openxmlformats.org/officeDocument/2006/relationships/image" Target="../media/image1282.png"/><Relationship Id="rId31" Type="http://schemas.openxmlformats.org/officeDocument/2006/relationships/image" Target="../media/image1281.png"/><Relationship Id="rId30" Type="http://schemas.openxmlformats.org/officeDocument/2006/relationships/image" Target="../media/image1280.png"/><Relationship Id="rId3" Type="http://schemas.openxmlformats.org/officeDocument/2006/relationships/hyperlink" Target="https://www.vetmew.com/" TargetMode="External"/><Relationship Id="rId29" Type="http://schemas.openxmlformats.org/officeDocument/2006/relationships/image" Target="../media/image1279.png"/><Relationship Id="rId28" Type="http://schemas.openxmlformats.org/officeDocument/2006/relationships/hyperlink" Target="http://www.shenzhenjuhe.cn/" TargetMode="External"/><Relationship Id="rId27" Type="http://schemas.openxmlformats.org/officeDocument/2006/relationships/hyperlink" Target="https://www.hncj.com/sjrj/159160.html" TargetMode="External"/><Relationship Id="rId26" Type="http://schemas.openxmlformats.org/officeDocument/2006/relationships/image" Target="../media/image1278.png"/><Relationship Id="rId25" Type="http://schemas.openxmlformats.org/officeDocument/2006/relationships/image" Target="../media/image1277.png"/><Relationship Id="rId24" Type="http://schemas.openxmlformats.org/officeDocument/2006/relationships/image" Target="../media/image1276.png"/><Relationship Id="rId23" Type="http://schemas.openxmlformats.org/officeDocument/2006/relationships/image" Target="../media/image1275.png"/><Relationship Id="rId22" Type="http://schemas.openxmlformats.org/officeDocument/2006/relationships/image" Target="../media/image1274.png"/><Relationship Id="rId21" Type="http://schemas.openxmlformats.org/officeDocument/2006/relationships/hyperlink" Target="https://www.sylvester.ai/" TargetMode="External"/><Relationship Id="rId20" Type="http://schemas.openxmlformats.org/officeDocument/2006/relationships/image" Target="../media/image1273.png"/><Relationship Id="rId2" Type="http://schemas.openxmlformats.org/officeDocument/2006/relationships/image" Target="../media/image1258.png"/><Relationship Id="rId19" Type="http://schemas.openxmlformats.org/officeDocument/2006/relationships/image" Target="../media/image1272.png"/><Relationship Id="rId18" Type="http://schemas.openxmlformats.org/officeDocument/2006/relationships/image" Target="../media/image1271.png"/><Relationship Id="rId17" Type="http://schemas.openxmlformats.org/officeDocument/2006/relationships/image" Target="../media/image1270.png"/><Relationship Id="rId16" Type="http://schemas.openxmlformats.org/officeDocument/2006/relationships/image" Target="../media/image1269.png"/><Relationship Id="rId15" Type="http://schemas.openxmlformats.org/officeDocument/2006/relationships/image" Target="../media/image1268.png"/><Relationship Id="rId14" Type="http://schemas.openxmlformats.org/officeDocument/2006/relationships/image" Target="../media/image1267.png"/><Relationship Id="rId13" Type="http://schemas.openxmlformats.org/officeDocument/2006/relationships/hyperlink" Target="https://www.gjpet.com/" TargetMode="External"/><Relationship Id="rId12" Type="http://schemas.openxmlformats.org/officeDocument/2006/relationships/image" Target="../media/image1266.png"/><Relationship Id="rId11" Type="http://schemas.openxmlformats.org/officeDocument/2006/relationships/image" Target="../media/image1265.png"/><Relationship Id="rId10" Type="http://schemas.openxmlformats.org/officeDocument/2006/relationships/image" Target="../media/image126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2.png"/><Relationship Id="rId8" Type="http://schemas.openxmlformats.org/officeDocument/2006/relationships/image" Target="../media/image1301.png"/><Relationship Id="rId7" Type="http://schemas.openxmlformats.org/officeDocument/2006/relationships/image" Target="../media/image1300.png"/><Relationship Id="rId6" Type="http://schemas.openxmlformats.org/officeDocument/2006/relationships/image" Target="../media/image1299.png"/><Relationship Id="rId50" Type="http://schemas.openxmlformats.org/officeDocument/2006/relationships/image" Target="../media/image1335.jpeg"/><Relationship Id="rId5" Type="http://schemas.openxmlformats.org/officeDocument/2006/relationships/image" Target="../media/image1298.png"/><Relationship Id="rId49" Type="http://schemas.openxmlformats.org/officeDocument/2006/relationships/image" Target="../media/image29.jpeg"/><Relationship Id="rId48" Type="http://schemas.openxmlformats.org/officeDocument/2006/relationships/image" Target="../media/image1334.png"/><Relationship Id="rId47" Type="http://schemas.openxmlformats.org/officeDocument/2006/relationships/image" Target="../media/image1333.png"/><Relationship Id="rId46" Type="http://schemas.openxmlformats.org/officeDocument/2006/relationships/image" Target="../media/image1332.png"/><Relationship Id="rId45" Type="http://schemas.openxmlformats.org/officeDocument/2006/relationships/hyperlink" Target="https://www.mynetdiary.com/" TargetMode="External"/><Relationship Id="rId44" Type="http://schemas.openxmlformats.org/officeDocument/2006/relationships/image" Target="../media/image1331.png"/><Relationship Id="rId43" Type="http://schemas.openxmlformats.org/officeDocument/2006/relationships/image" Target="../media/image1330.png"/><Relationship Id="rId42" Type="http://schemas.openxmlformats.org/officeDocument/2006/relationships/image" Target="../media/image1329.png"/><Relationship Id="rId41" Type="http://schemas.openxmlformats.org/officeDocument/2006/relationships/image" Target="../media/image1328.png"/><Relationship Id="rId40" Type="http://schemas.openxmlformats.org/officeDocument/2006/relationships/hyperlink" Target="https://www.calorietech.com/" TargetMode="External"/><Relationship Id="rId4" Type="http://schemas.openxmlformats.org/officeDocument/2006/relationships/image" Target="../media/image1297.png"/><Relationship Id="rId39" Type="http://schemas.openxmlformats.org/officeDocument/2006/relationships/image" Target="../media/image1327.png"/><Relationship Id="rId38" Type="http://schemas.openxmlformats.org/officeDocument/2006/relationships/image" Target="../media/image1326.png"/><Relationship Id="rId37" Type="http://schemas.openxmlformats.org/officeDocument/2006/relationships/image" Target="../media/image1325.png"/><Relationship Id="rId36" Type="http://schemas.openxmlformats.org/officeDocument/2006/relationships/image" Target="../media/image1324.png"/><Relationship Id="rId35" Type="http://schemas.openxmlformats.org/officeDocument/2006/relationships/hyperlink" Target="https://www.boohee.com/" TargetMode="External"/><Relationship Id="rId34" Type="http://schemas.openxmlformats.org/officeDocument/2006/relationships/image" Target="../media/image1323.png"/><Relationship Id="rId33" Type="http://schemas.openxmlformats.org/officeDocument/2006/relationships/image" Target="../media/image1322.png"/><Relationship Id="rId32" Type="http://schemas.openxmlformats.org/officeDocument/2006/relationships/image" Target="../media/image1321.png"/><Relationship Id="rId31" Type="http://schemas.openxmlformats.org/officeDocument/2006/relationships/image" Target="../media/image1320.png"/><Relationship Id="rId30" Type="http://schemas.openxmlformats.org/officeDocument/2006/relationships/hyperlink" Target="https://www.kinestex.com/" TargetMode="External"/><Relationship Id="rId3" Type="http://schemas.openxmlformats.org/officeDocument/2006/relationships/hyperlink" Target="https://cronometer.com/" TargetMode="External"/><Relationship Id="rId29" Type="http://schemas.openxmlformats.org/officeDocument/2006/relationships/image" Target="../media/image1319.png"/><Relationship Id="rId28" Type="http://schemas.openxmlformats.org/officeDocument/2006/relationships/image" Target="../media/image1318.png"/><Relationship Id="rId27" Type="http://schemas.openxmlformats.org/officeDocument/2006/relationships/image" Target="../media/image1317.png"/><Relationship Id="rId26" Type="http://schemas.openxmlformats.org/officeDocument/2006/relationships/image" Target="../media/image1316.png"/><Relationship Id="rId25" Type="http://schemas.openxmlformats.org/officeDocument/2006/relationships/hyperlink" Target="https://www.myfitnesspal.com/zh-CN" TargetMode="External"/><Relationship Id="rId24" Type="http://schemas.openxmlformats.org/officeDocument/2006/relationships/image" Target="../media/image1315.png"/><Relationship Id="rId23" Type="http://schemas.openxmlformats.org/officeDocument/2006/relationships/image" Target="../media/image1314.png"/><Relationship Id="rId22" Type="http://schemas.openxmlformats.org/officeDocument/2006/relationships/image" Target="../media/image1313.png"/><Relationship Id="rId21" Type="http://schemas.openxmlformats.org/officeDocument/2006/relationships/image" Target="../media/image1312.png"/><Relationship Id="rId20" Type="http://schemas.openxmlformats.org/officeDocument/2006/relationships/image" Target="../media/image1311.png"/><Relationship Id="rId2" Type="http://schemas.openxmlformats.org/officeDocument/2006/relationships/image" Target="../media/image1296.png"/><Relationship Id="rId19" Type="http://schemas.openxmlformats.org/officeDocument/2006/relationships/image" Target="../media/image1310.png"/><Relationship Id="rId18" Type="http://schemas.openxmlformats.org/officeDocument/2006/relationships/image" Target="../media/image1309.png"/><Relationship Id="rId17" Type="http://schemas.openxmlformats.org/officeDocument/2006/relationships/hyperlink" Target="http://bodypark.com.cn/" TargetMode="External"/><Relationship Id="rId16" Type="http://schemas.openxmlformats.org/officeDocument/2006/relationships/image" Target="../media/image1308.png"/><Relationship Id="rId15" Type="http://schemas.openxmlformats.org/officeDocument/2006/relationships/image" Target="../media/image1307.png"/><Relationship Id="rId14" Type="http://schemas.openxmlformats.org/officeDocument/2006/relationships/image" Target="../media/image1306.png"/><Relationship Id="rId13" Type="http://schemas.openxmlformats.org/officeDocument/2006/relationships/image" Target="../media/image1305.png"/><Relationship Id="rId12" Type="http://schemas.openxmlformats.org/officeDocument/2006/relationships/hyperlink" Target="https://www.zepp.com/" TargetMode="External"/><Relationship Id="rId11" Type="http://schemas.openxmlformats.org/officeDocument/2006/relationships/image" Target="../media/image1304.png"/><Relationship Id="rId10" Type="http://schemas.openxmlformats.org/officeDocument/2006/relationships/image" Target="../media/image130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1.png"/><Relationship Id="rId8" Type="http://schemas.openxmlformats.org/officeDocument/2006/relationships/hyperlink" Target="https://eleos.health/" TargetMode="External"/><Relationship Id="rId7" Type="http://schemas.openxmlformats.org/officeDocument/2006/relationships/image" Target="../media/image1340.png"/><Relationship Id="rId6" Type="http://schemas.openxmlformats.org/officeDocument/2006/relationships/image" Target="../media/image1339.png"/><Relationship Id="rId54" Type="http://schemas.openxmlformats.org/officeDocument/2006/relationships/image" Target="../media/image1378.jpeg"/><Relationship Id="rId53" Type="http://schemas.openxmlformats.org/officeDocument/2006/relationships/image" Target="../media/image1377.jpeg"/><Relationship Id="rId52" Type="http://schemas.openxmlformats.org/officeDocument/2006/relationships/image" Target="../media/image29.jpeg"/><Relationship Id="rId51" Type="http://schemas.openxmlformats.org/officeDocument/2006/relationships/image" Target="../media/image1376.png"/><Relationship Id="rId50" Type="http://schemas.openxmlformats.org/officeDocument/2006/relationships/image" Target="../media/image1375.png"/><Relationship Id="rId5" Type="http://schemas.openxmlformats.org/officeDocument/2006/relationships/image" Target="../media/image1338.png"/><Relationship Id="rId49" Type="http://schemas.openxmlformats.org/officeDocument/2006/relationships/image" Target="../media/image1374.png"/><Relationship Id="rId48" Type="http://schemas.openxmlformats.org/officeDocument/2006/relationships/image" Target="../media/image1373.png"/><Relationship Id="rId47" Type="http://schemas.openxmlformats.org/officeDocument/2006/relationships/hyperlink" Target="https://cloud.tencent.com/product/medicalplatform" TargetMode="External"/><Relationship Id="rId46" Type="http://schemas.openxmlformats.org/officeDocument/2006/relationships/image" Target="../media/image1372.png"/><Relationship Id="rId45" Type="http://schemas.openxmlformats.org/officeDocument/2006/relationships/image" Target="../media/image1371.png"/><Relationship Id="rId44" Type="http://schemas.openxmlformats.org/officeDocument/2006/relationships/image" Target="../media/image1370.png"/><Relationship Id="rId43" Type="http://schemas.openxmlformats.org/officeDocument/2006/relationships/image" Target="../media/image1369.png"/><Relationship Id="rId42" Type="http://schemas.openxmlformats.org/officeDocument/2006/relationships/image" Target="../media/image1368.png"/><Relationship Id="rId41" Type="http://schemas.openxmlformats.org/officeDocument/2006/relationships/image" Target="../media/image1367.png"/><Relationship Id="rId40" Type="http://schemas.openxmlformats.org/officeDocument/2006/relationships/image" Target="../media/image1366.png"/><Relationship Id="rId4" Type="http://schemas.openxmlformats.org/officeDocument/2006/relationships/image" Target="../media/image1337.png"/><Relationship Id="rId39" Type="http://schemas.openxmlformats.org/officeDocument/2006/relationships/image" Target="../media/image1365.png"/><Relationship Id="rId38" Type="http://schemas.openxmlformats.org/officeDocument/2006/relationships/hyperlink" Target="https://www.xunfeihealthcare.com/" TargetMode="External"/><Relationship Id="rId37" Type="http://schemas.openxmlformats.org/officeDocument/2006/relationships/hyperlink" Target="https://www.myweimai.net/technology.html" TargetMode="External"/><Relationship Id="rId36" Type="http://schemas.openxmlformats.org/officeDocument/2006/relationships/image" Target="../media/image1364.png"/><Relationship Id="rId35" Type="http://schemas.openxmlformats.org/officeDocument/2006/relationships/image" Target="../media/image1363.png"/><Relationship Id="rId34" Type="http://schemas.openxmlformats.org/officeDocument/2006/relationships/image" Target="../media/image1362.png"/><Relationship Id="rId33" Type="http://schemas.openxmlformats.org/officeDocument/2006/relationships/image" Target="../media/image1361.png"/><Relationship Id="rId32" Type="http://schemas.openxmlformats.org/officeDocument/2006/relationships/image" Target="../media/image1360.png"/><Relationship Id="rId31" Type="http://schemas.openxmlformats.org/officeDocument/2006/relationships/hyperlink" Target="https://www.viz.ai/life" TargetMode="External"/><Relationship Id="rId30" Type="http://schemas.openxmlformats.org/officeDocument/2006/relationships/hyperlink" Target="https://www.viz.ai/life-sciences" TargetMode="External"/><Relationship Id="rId3" Type="http://schemas.openxmlformats.org/officeDocument/2006/relationships/hyperlink" Target="https://www.aidoc.me/" TargetMode="External"/><Relationship Id="rId29" Type="http://schemas.openxmlformats.org/officeDocument/2006/relationships/image" Target="../media/image1359.png"/><Relationship Id="rId28" Type="http://schemas.openxmlformats.org/officeDocument/2006/relationships/image" Target="../media/image1358.png"/><Relationship Id="rId27" Type="http://schemas.openxmlformats.org/officeDocument/2006/relationships/image" Target="../media/image1357.png"/><Relationship Id="rId26" Type="http://schemas.openxmlformats.org/officeDocument/2006/relationships/image" Target="../media/image1356.png"/><Relationship Id="rId25" Type="http://schemas.openxmlformats.org/officeDocument/2006/relationships/image" Target="../media/image1355.png"/><Relationship Id="rId24" Type="http://schemas.openxmlformats.org/officeDocument/2006/relationships/image" Target="../media/image1354.png"/><Relationship Id="rId23" Type="http://schemas.openxmlformats.org/officeDocument/2006/relationships/hyperlink" Target="https://www.corti.ai/" TargetMode="External"/><Relationship Id="rId22" Type="http://schemas.openxmlformats.org/officeDocument/2006/relationships/image" Target="../media/image1353.png"/><Relationship Id="rId21" Type="http://schemas.openxmlformats.org/officeDocument/2006/relationships/image" Target="../media/image1352.png"/><Relationship Id="rId20" Type="http://schemas.openxmlformats.org/officeDocument/2006/relationships/image" Target="../media/image1351.png"/><Relationship Id="rId2" Type="http://schemas.openxmlformats.org/officeDocument/2006/relationships/image" Target="../media/image1336.png"/><Relationship Id="rId19" Type="http://schemas.openxmlformats.org/officeDocument/2006/relationships/image" Target="../media/image1350.png"/><Relationship Id="rId18" Type="http://schemas.openxmlformats.org/officeDocument/2006/relationships/image" Target="../media/image1349.png"/><Relationship Id="rId17" Type="http://schemas.openxmlformats.org/officeDocument/2006/relationships/hyperlink" Target="https://damomed.com/" TargetMode="External"/><Relationship Id="rId16" Type="http://schemas.openxmlformats.org/officeDocument/2006/relationships/image" Target="../media/image1348.png"/><Relationship Id="rId15" Type="http://schemas.openxmlformats.org/officeDocument/2006/relationships/image" Target="../media/image1347.png"/><Relationship Id="rId14" Type="http://schemas.openxmlformats.org/officeDocument/2006/relationships/image" Target="../media/image1346.png"/><Relationship Id="rId13" Type="http://schemas.openxmlformats.org/officeDocument/2006/relationships/image" Target="../media/image1345.png"/><Relationship Id="rId12" Type="http://schemas.openxmlformats.org/officeDocument/2006/relationships/image" Target="../media/image1344.png"/><Relationship Id="rId11" Type="http://schemas.openxmlformats.org/officeDocument/2006/relationships/image" Target="../media/image1343.png"/><Relationship Id="rId10" Type="http://schemas.openxmlformats.org/officeDocument/2006/relationships/image" Target="../media/image134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llai.cc/#/" TargetMode="External"/><Relationship Id="rId8" Type="http://schemas.openxmlformats.org/officeDocument/2006/relationships/image" Target="../media/image1384.png"/><Relationship Id="rId7" Type="http://schemas.openxmlformats.org/officeDocument/2006/relationships/image" Target="../media/image1383.jpeg"/><Relationship Id="rId6" Type="http://schemas.openxmlformats.org/officeDocument/2006/relationships/image" Target="../media/image1382.png"/><Relationship Id="rId53" Type="http://schemas.openxmlformats.org/officeDocument/2006/relationships/image" Target="../media/image1420.jpeg"/><Relationship Id="rId52" Type="http://schemas.openxmlformats.org/officeDocument/2006/relationships/image" Target="../media/image1419.jpeg"/><Relationship Id="rId51" Type="http://schemas.openxmlformats.org/officeDocument/2006/relationships/image" Target="../media/image1418.jpeg"/><Relationship Id="rId50" Type="http://schemas.openxmlformats.org/officeDocument/2006/relationships/image" Target="../media/image1417.jpeg"/><Relationship Id="rId5" Type="http://schemas.openxmlformats.org/officeDocument/2006/relationships/image" Target="../media/image1381.png"/><Relationship Id="rId49" Type="http://schemas.openxmlformats.org/officeDocument/2006/relationships/image" Target="../media/image29.jpeg"/><Relationship Id="rId48" Type="http://schemas.openxmlformats.org/officeDocument/2006/relationships/image" Target="../media/image1416.png"/><Relationship Id="rId47" Type="http://schemas.openxmlformats.org/officeDocument/2006/relationships/image" Target="../media/image1415.png"/><Relationship Id="rId46" Type="http://schemas.openxmlformats.org/officeDocument/2006/relationships/image" Target="../media/image1414.png"/><Relationship Id="rId45" Type="http://schemas.openxmlformats.org/officeDocument/2006/relationships/hyperlink" Target="https://www.photonaiclub.com/" TargetMode="External"/><Relationship Id="rId44" Type="http://schemas.openxmlformats.org/officeDocument/2006/relationships/image" Target="../media/image1413.png"/><Relationship Id="rId43" Type="http://schemas.openxmlformats.org/officeDocument/2006/relationships/image" Target="../media/image1412.png"/><Relationship Id="rId42" Type="http://schemas.openxmlformats.org/officeDocument/2006/relationships/image" Target="../media/image1411.png"/><Relationship Id="rId41" Type="http://schemas.openxmlformats.org/officeDocument/2006/relationships/image" Target="../media/image1410.png"/><Relationship Id="rId40" Type="http://schemas.openxmlformats.org/officeDocument/2006/relationships/image" Target="../media/image1409.png"/><Relationship Id="rId4" Type="http://schemas.openxmlformats.org/officeDocument/2006/relationships/image" Target="../media/image1380.png"/><Relationship Id="rId39" Type="http://schemas.openxmlformats.org/officeDocument/2006/relationships/image" Target="../media/image1408.png"/><Relationship Id="rId38" Type="http://schemas.openxmlformats.org/officeDocument/2006/relationships/image" Target="../media/image1407.png"/><Relationship Id="rId37" Type="http://schemas.openxmlformats.org/officeDocument/2006/relationships/image" Target="../media/image1406.png"/><Relationship Id="rId36" Type="http://schemas.openxmlformats.org/officeDocument/2006/relationships/hyperlink" Target="https://www.ihuiwa.com/?catId=1" TargetMode="External"/><Relationship Id="rId35" Type="http://schemas.openxmlformats.org/officeDocument/2006/relationships/hyperlink" Target="https://www.piccopilot.com/zh" TargetMode="External"/><Relationship Id="rId34" Type="http://schemas.openxmlformats.org/officeDocument/2006/relationships/image" Target="../media/image1405.png"/><Relationship Id="rId33" Type="http://schemas.openxmlformats.org/officeDocument/2006/relationships/image" Target="../media/image1404.png"/><Relationship Id="rId32" Type="http://schemas.openxmlformats.org/officeDocument/2006/relationships/image" Target="../media/image1403.png"/><Relationship Id="rId31" Type="http://schemas.openxmlformats.org/officeDocument/2006/relationships/image" Target="../media/image1402.png"/><Relationship Id="rId30" Type="http://schemas.openxmlformats.org/officeDocument/2006/relationships/hyperlink" Target="https://www.yiketu.com/" TargetMode="External"/><Relationship Id="rId3" Type="http://schemas.openxmlformats.org/officeDocument/2006/relationships/hyperlink" Target="https://idesign.alipay.com/" TargetMode="External"/><Relationship Id="rId29" Type="http://schemas.openxmlformats.org/officeDocument/2006/relationships/image" Target="../media/image1323.png"/><Relationship Id="rId28" Type="http://schemas.openxmlformats.org/officeDocument/2006/relationships/image" Target="../media/image1401.png"/><Relationship Id="rId27" Type="http://schemas.openxmlformats.org/officeDocument/2006/relationships/image" Target="../media/image1400.png"/><Relationship Id="rId26" Type="http://schemas.openxmlformats.org/officeDocument/2006/relationships/image" Target="../media/image1399.png"/><Relationship Id="rId25" Type="http://schemas.openxmlformats.org/officeDocument/2006/relationships/image" Target="../media/image1398.png"/><Relationship Id="rId24" Type="http://schemas.openxmlformats.org/officeDocument/2006/relationships/image" Target="../media/image1397.png"/><Relationship Id="rId23" Type="http://schemas.openxmlformats.org/officeDocument/2006/relationships/hyperlink" Target="https://www.jasper.ai/" TargetMode="External"/><Relationship Id="rId22" Type="http://schemas.openxmlformats.org/officeDocument/2006/relationships/image" Target="../media/image1396.png"/><Relationship Id="rId21" Type="http://schemas.openxmlformats.org/officeDocument/2006/relationships/image" Target="../media/image1395.jpeg"/><Relationship Id="rId20" Type="http://schemas.openxmlformats.org/officeDocument/2006/relationships/image" Target="../media/image1394.png"/><Relationship Id="rId2" Type="http://schemas.openxmlformats.org/officeDocument/2006/relationships/image" Target="../media/image1379.png"/><Relationship Id="rId19" Type="http://schemas.openxmlformats.org/officeDocument/2006/relationships/image" Target="../media/image1393.png"/><Relationship Id="rId18" Type="http://schemas.openxmlformats.org/officeDocument/2006/relationships/image" Target="../media/image1392.png"/><Relationship Id="rId17" Type="http://schemas.openxmlformats.org/officeDocument/2006/relationships/hyperlink" Target="https://wime-ai.com/" TargetMode="External"/><Relationship Id="rId16" Type="http://schemas.openxmlformats.org/officeDocument/2006/relationships/image" Target="../media/image1391.png"/><Relationship Id="rId15" Type="http://schemas.openxmlformats.org/officeDocument/2006/relationships/image" Target="../media/image1390.png"/><Relationship Id="rId14" Type="http://schemas.openxmlformats.org/officeDocument/2006/relationships/image" Target="../media/image1389.jpeg"/><Relationship Id="rId13" Type="http://schemas.openxmlformats.org/officeDocument/2006/relationships/image" Target="../media/image1388.png"/><Relationship Id="rId12" Type="http://schemas.openxmlformats.org/officeDocument/2006/relationships/image" Target="../media/image1387.png"/><Relationship Id="rId11" Type="http://schemas.openxmlformats.org/officeDocument/2006/relationships/image" Target="../media/image1386.png"/><Relationship Id="rId10" Type="http://schemas.openxmlformats.org/officeDocument/2006/relationships/image" Target="../media/image138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26.png"/><Relationship Id="rId8" Type="http://schemas.openxmlformats.org/officeDocument/2006/relationships/hyperlink" Target="https://www.youzan.com/" TargetMode="External"/><Relationship Id="rId7" Type="http://schemas.openxmlformats.org/officeDocument/2006/relationships/image" Target="../media/image1425.png"/><Relationship Id="rId6" Type="http://schemas.openxmlformats.org/officeDocument/2006/relationships/image" Target="../media/image1424.png"/><Relationship Id="rId5" Type="http://schemas.openxmlformats.org/officeDocument/2006/relationships/image" Target="../media/image1423.png"/><Relationship Id="rId49" Type="http://schemas.openxmlformats.org/officeDocument/2006/relationships/image" Target="../media/image29.jpeg"/><Relationship Id="rId48" Type="http://schemas.openxmlformats.org/officeDocument/2006/relationships/image" Target="../media/image1458.png"/><Relationship Id="rId47" Type="http://schemas.openxmlformats.org/officeDocument/2006/relationships/image" Target="../media/image1457.png"/><Relationship Id="rId46" Type="http://schemas.openxmlformats.org/officeDocument/2006/relationships/image" Target="../media/image1456.png"/><Relationship Id="rId45" Type="http://schemas.openxmlformats.org/officeDocument/2006/relationships/hyperlink" Target="https://www.meikayun.com/" TargetMode="External"/><Relationship Id="rId44" Type="http://schemas.openxmlformats.org/officeDocument/2006/relationships/image" Target="../media/image1455.png"/><Relationship Id="rId43" Type="http://schemas.openxmlformats.org/officeDocument/2006/relationships/image" Target="../media/image1454.png"/><Relationship Id="rId42" Type="http://schemas.openxmlformats.org/officeDocument/2006/relationships/image" Target="../media/image1453.png"/><Relationship Id="rId41" Type="http://schemas.openxmlformats.org/officeDocument/2006/relationships/image" Target="../media/image1452.png"/><Relationship Id="rId40" Type="http://schemas.openxmlformats.org/officeDocument/2006/relationships/hyperlink" Target="https://www.xiaoe" TargetMode="External"/><Relationship Id="rId4" Type="http://schemas.openxmlformats.org/officeDocument/2006/relationships/image" Target="../media/image1422.png"/><Relationship Id="rId39" Type="http://schemas.openxmlformats.org/officeDocument/2006/relationships/hyperlink" Target="https://www.xiaoe-tech.com/" TargetMode="External"/><Relationship Id="rId38" Type="http://schemas.openxmlformats.org/officeDocument/2006/relationships/image" Target="../media/image1451.png"/><Relationship Id="rId37" Type="http://schemas.openxmlformats.org/officeDocument/2006/relationships/image" Target="../media/image1450.png"/><Relationship Id="rId36" Type="http://schemas.openxmlformats.org/officeDocument/2006/relationships/image" Target="../media/image1449.png"/><Relationship Id="rId35" Type="http://schemas.openxmlformats.org/officeDocument/2006/relationships/image" Target="../media/image1448.png"/><Relationship Id="rId34" Type="http://schemas.openxmlformats.org/officeDocument/2006/relationships/hyperlink" Target="https://qidian.qq.com/" TargetMode="External"/><Relationship Id="rId33" Type="http://schemas.openxmlformats.org/officeDocument/2006/relationships/image" Target="../media/image1447.png"/><Relationship Id="rId32" Type="http://schemas.openxmlformats.org/officeDocument/2006/relationships/image" Target="../media/image1446.png"/><Relationship Id="rId31" Type="http://schemas.openxmlformats.org/officeDocument/2006/relationships/image" Target="../media/image1445.png"/><Relationship Id="rId30" Type="http://schemas.openxmlformats.org/officeDocument/2006/relationships/image" Target="../media/image1444.png"/><Relationship Id="rId3" Type="http://schemas.openxmlformats.org/officeDocument/2006/relationships/hyperlink" Target="http://www.dkduo.cn/" TargetMode="External"/><Relationship Id="rId29" Type="http://schemas.openxmlformats.org/officeDocument/2006/relationships/hyperlink" Target="http://www.takewind.cn/" TargetMode="External"/><Relationship Id="rId28" Type="http://schemas.openxmlformats.org/officeDocument/2006/relationships/image" Target="../media/image1443.png"/><Relationship Id="rId27" Type="http://schemas.openxmlformats.org/officeDocument/2006/relationships/image" Target="../media/image1442.png"/><Relationship Id="rId26" Type="http://schemas.openxmlformats.org/officeDocument/2006/relationships/image" Target="../media/image1441.png"/><Relationship Id="rId25" Type="http://schemas.openxmlformats.org/officeDocument/2006/relationships/image" Target="../media/image1440.png"/><Relationship Id="rId24" Type="http://schemas.openxmlformats.org/officeDocument/2006/relationships/hyperlink" Target="https://www.siyubot.com/" TargetMode="External"/><Relationship Id="rId23" Type="http://schemas.openxmlformats.org/officeDocument/2006/relationships/image" Target="../media/image1439.png"/><Relationship Id="rId22" Type="http://schemas.openxmlformats.org/officeDocument/2006/relationships/image" Target="../media/image1438.png"/><Relationship Id="rId21" Type="http://schemas.openxmlformats.org/officeDocument/2006/relationships/image" Target="../media/image1437.png"/><Relationship Id="rId20" Type="http://schemas.openxmlformats.org/officeDocument/2006/relationships/image" Target="../media/image1436.png"/><Relationship Id="rId2" Type="http://schemas.openxmlformats.org/officeDocument/2006/relationships/image" Target="../media/image1421.png"/><Relationship Id="rId19" Type="http://schemas.openxmlformats.org/officeDocument/2006/relationships/image" Target="../media/image1435.png"/><Relationship Id="rId18" Type="http://schemas.openxmlformats.org/officeDocument/2006/relationships/image" Target="../media/image1434.png"/><Relationship Id="rId17" Type="http://schemas.openxmlformats.org/officeDocument/2006/relationships/image" Target="../media/image1433.png"/><Relationship Id="rId16" Type="http://schemas.openxmlformats.org/officeDocument/2006/relationships/image" Target="../media/image1432.png"/><Relationship Id="rId15" Type="http://schemas.openxmlformats.org/officeDocument/2006/relationships/image" Target="../media/image1431.png"/><Relationship Id="rId14" Type="http://schemas.openxmlformats.org/officeDocument/2006/relationships/image" Target="../media/image1430.png"/><Relationship Id="rId13" Type="http://schemas.openxmlformats.org/officeDocument/2006/relationships/hyperlink" Target="https://www.12times.com/" TargetMode="External"/><Relationship Id="rId12" Type="http://schemas.openxmlformats.org/officeDocument/2006/relationships/image" Target="../media/image1429.png"/><Relationship Id="rId11" Type="http://schemas.openxmlformats.org/officeDocument/2006/relationships/image" Target="../media/image1428.png"/><Relationship Id="rId10" Type="http://schemas.openxmlformats.org/officeDocument/2006/relationships/image" Target="../media/image142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64.png"/><Relationship Id="rId8" Type="http://schemas.openxmlformats.org/officeDocument/2006/relationships/hyperlink" Target="https://www.zendesk.com/" TargetMode="External"/><Relationship Id="rId7" Type="http://schemas.openxmlformats.org/officeDocument/2006/relationships/image" Target="../media/image1463.png"/><Relationship Id="rId6" Type="http://schemas.openxmlformats.org/officeDocument/2006/relationships/image" Target="../media/image1462.png"/><Relationship Id="rId5" Type="http://schemas.openxmlformats.org/officeDocument/2006/relationships/image" Target="../media/image1461.png"/><Relationship Id="rId49" Type="http://schemas.openxmlformats.org/officeDocument/2006/relationships/image" Target="../media/image1497.png"/><Relationship Id="rId48" Type="http://schemas.openxmlformats.org/officeDocument/2006/relationships/image" Target="../media/image1496.png"/><Relationship Id="rId47" Type="http://schemas.openxmlformats.org/officeDocument/2006/relationships/image" Target="../media/image1495.jpeg"/><Relationship Id="rId46" Type="http://schemas.openxmlformats.org/officeDocument/2006/relationships/image" Target="../media/image29.jpeg"/><Relationship Id="rId45" Type="http://schemas.openxmlformats.org/officeDocument/2006/relationships/image" Target="../media/image1494.png"/><Relationship Id="rId44" Type="http://schemas.openxmlformats.org/officeDocument/2006/relationships/image" Target="../media/image1493.png"/><Relationship Id="rId43" Type="http://schemas.openxmlformats.org/officeDocument/2006/relationships/image" Target="../media/image1492.png"/><Relationship Id="rId42" Type="http://schemas.openxmlformats.org/officeDocument/2006/relationships/hyperlink" Target="https://www.hollycrm.com/" TargetMode="External"/><Relationship Id="rId41" Type="http://schemas.openxmlformats.org/officeDocument/2006/relationships/image" Target="../media/image1491.png"/><Relationship Id="rId40" Type="http://schemas.openxmlformats.org/officeDocument/2006/relationships/image" Target="../media/image1490.png"/><Relationship Id="rId4" Type="http://schemas.openxmlformats.org/officeDocument/2006/relationships/image" Target="../media/image1460.png"/><Relationship Id="rId39" Type="http://schemas.openxmlformats.org/officeDocument/2006/relationships/image" Target="../media/image1489.png"/><Relationship Id="rId38" Type="http://schemas.openxmlformats.org/officeDocument/2006/relationships/image" Target="../media/image1488.png"/><Relationship Id="rId37" Type="http://schemas.openxmlformats.org/officeDocument/2006/relationships/hyperlink" Target="https://www.tidio.com/" TargetMode="External"/><Relationship Id="rId36" Type="http://schemas.openxmlformats.org/officeDocument/2006/relationships/image" Target="../media/image1487.png"/><Relationship Id="rId35" Type="http://schemas.openxmlformats.org/officeDocument/2006/relationships/image" Target="../media/image1486.png"/><Relationship Id="rId34" Type="http://schemas.openxmlformats.org/officeDocument/2006/relationships/image" Target="../media/image1485.png"/><Relationship Id="rId33" Type="http://schemas.openxmlformats.org/officeDocument/2006/relationships/image" Target="../media/image1484.png"/><Relationship Id="rId32" Type="http://schemas.openxmlformats.org/officeDocument/2006/relationships/image" Target="../media/image1483.png"/><Relationship Id="rId31" Type="http://schemas.openxmlformats.org/officeDocument/2006/relationships/image" Target="../media/image1482.png"/><Relationship Id="rId30" Type="http://schemas.openxmlformats.org/officeDocument/2006/relationships/hyperlink" Target="https://www.ss-chat.com/" TargetMode="External"/><Relationship Id="rId3" Type="http://schemas.openxmlformats.org/officeDocument/2006/relationships/hyperlink" Target="https://lydaas.com/" TargetMode="External"/><Relationship Id="rId29" Type="http://schemas.openxmlformats.org/officeDocument/2006/relationships/image" Target="../media/image1481.png"/><Relationship Id="rId28" Type="http://schemas.openxmlformats.org/officeDocument/2006/relationships/image" Target="../media/image1480.png"/><Relationship Id="rId27" Type="http://schemas.openxmlformats.org/officeDocument/2006/relationships/image" Target="../media/image1479.png"/><Relationship Id="rId26" Type="http://schemas.openxmlformats.org/officeDocument/2006/relationships/image" Target="../media/image1478.png"/><Relationship Id="rId25" Type="http://schemas.openxmlformats.org/officeDocument/2006/relationships/hyperlink" Target="https://cloud.baidu.com/" TargetMode="External"/><Relationship Id="rId24" Type="http://schemas.openxmlformats.org/officeDocument/2006/relationships/image" Target="../media/image1477.png"/><Relationship Id="rId23" Type="http://schemas.openxmlformats.org/officeDocument/2006/relationships/image" Target="../media/image1476.jpeg"/><Relationship Id="rId22" Type="http://schemas.openxmlformats.org/officeDocument/2006/relationships/image" Target="../media/image1475.png"/><Relationship Id="rId21" Type="http://schemas.openxmlformats.org/officeDocument/2006/relationships/image" Target="../media/image1474.png"/><Relationship Id="rId20" Type="http://schemas.openxmlformats.org/officeDocument/2006/relationships/image" Target="../media/image1473.png"/><Relationship Id="rId2" Type="http://schemas.openxmlformats.org/officeDocument/2006/relationships/image" Target="../media/image1459.png"/><Relationship Id="rId19" Type="http://schemas.openxmlformats.org/officeDocument/2006/relationships/hyperlink" Target="https://www.klaviyo.com/" TargetMode="External"/><Relationship Id="rId18" Type="http://schemas.openxmlformats.org/officeDocument/2006/relationships/image" Target="../media/image1472.png"/><Relationship Id="rId17" Type="http://schemas.openxmlformats.org/officeDocument/2006/relationships/image" Target="../media/image1471.jpeg"/><Relationship Id="rId16" Type="http://schemas.openxmlformats.org/officeDocument/2006/relationships/image" Target="../media/image1470.png"/><Relationship Id="rId15" Type="http://schemas.openxmlformats.org/officeDocument/2006/relationships/image" Target="../media/image1469.png"/><Relationship Id="rId14" Type="http://schemas.openxmlformats.org/officeDocument/2006/relationships/image" Target="../media/image1468.png"/><Relationship Id="rId13" Type="http://schemas.openxmlformats.org/officeDocument/2006/relationships/hyperlink" Target="https://www.udesk.cn/" TargetMode="External"/><Relationship Id="rId12" Type="http://schemas.openxmlformats.org/officeDocument/2006/relationships/image" Target="../media/image1467.png"/><Relationship Id="rId11" Type="http://schemas.openxmlformats.org/officeDocument/2006/relationships/image" Target="../media/image1466.png"/><Relationship Id="rId10" Type="http://schemas.openxmlformats.org/officeDocument/2006/relationships/image" Target="../media/image146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04.png"/><Relationship Id="rId8" Type="http://schemas.openxmlformats.org/officeDocument/2006/relationships/image" Target="../media/image1503.jpeg"/><Relationship Id="rId7" Type="http://schemas.openxmlformats.org/officeDocument/2006/relationships/image" Target="../media/image1502.png"/><Relationship Id="rId6" Type="http://schemas.openxmlformats.org/officeDocument/2006/relationships/image" Target="../media/image1501.png"/><Relationship Id="rId51" Type="http://schemas.openxmlformats.org/officeDocument/2006/relationships/image" Target="../media/image1538.png"/><Relationship Id="rId50" Type="http://schemas.openxmlformats.org/officeDocument/2006/relationships/image" Target="../media/image1537.png"/><Relationship Id="rId5" Type="http://schemas.openxmlformats.org/officeDocument/2006/relationships/image" Target="../media/image1500.png"/><Relationship Id="rId49" Type="http://schemas.openxmlformats.org/officeDocument/2006/relationships/image" Target="../media/image1536.png"/><Relationship Id="rId48" Type="http://schemas.openxmlformats.org/officeDocument/2006/relationships/hyperlink" Target="https://www.77ircloud.com/" TargetMode="External"/><Relationship Id="rId47" Type="http://schemas.openxmlformats.org/officeDocument/2006/relationships/image" Target="../media/image29.jpeg"/><Relationship Id="rId46" Type="http://schemas.openxmlformats.org/officeDocument/2006/relationships/image" Target="../media/image1535.png"/><Relationship Id="rId45" Type="http://schemas.openxmlformats.org/officeDocument/2006/relationships/image" Target="../media/image1534.png"/><Relationship Id="rId44" Type="http://schemas.openxmlformats.org/officeDocument/2006/relationships/image" Target="../media/image1533.png"/><Relationship Id="rId43" Type="http://schemas.openxmlformats.org/officeDocument/2006/relationships/image" Target="../media/image1532.png"/><Relationship Id="rId42" Type="http://schemas.openxmlformats.org/officeDocument/2006/relationships/image" Target="../media/image1531.png"/><Relationship Id="rId41" Type="http://schemas.openxmlformats.org/officeDocument/2006/relationships/image" Target="../media/image1530.png"/><Relationship Id="rId40" Type="http://schemas.openxmlformats.org/officeDocument/2006/relationships/image" Target="../media/image1529.png"/><Relationship Id="rId4" Type="http://schemas.openxmlformats.org/officeDocument/2006/relationships/hyperlink" Target="https://www.jdy.com/" TargetMode="External"/><Relationship Id="rId39" Type="http://schemas.openxmlformats.org/officeDocument/2006/relationships/image" Target="../media/image1528.png"/><Relationship Id="rId38" Type="http://schemas.openxmlformats.org/officeDocument/2006/relationships/image" Target="../media/image1527.png"/><Relationship Id="rId37" Type="http://schemas.openxmlformats.org/officeDocument/2006/relationships/image" Target="../media/image1526.png"/><Relationship Id="rId36" Type="http://schemas.openxmlformats.org/officeDocument/2006/relationships/hyperlink" Target="https://www.weaver.com.cn/" TargetMode="External"/><Relationship Id="rId35" Type="http://schemas.openxmlformats.org/officeDocument/2006/relationships/image" Target="../media/image1525.png"/><Relationship Id="rId34" Type="http://schemas.openxmlformats.org/officeDocument/2006/relationships/image" Target="../media/image1524.jpeg"/><Relationship Id="rId33" Type="http://schemas.openxmlformats.org/officeDocument/2006/relationships/image" Target="../media/image1523.png"/><Relationship Id="rId32" Type="http://schemas.openxmlformats.org/officeDocument/2006/relationships/image" Target="../media/image1522.png"/><Relationship Id="rId31" Type="http://schemas.openxmlformats.org/officeDocument/2006/relationships/image" Target="../media/image1521.png"/><Relationship Id="rId30" Type="http://schemas.openxmlformats.org/officeDocument/2006/relationships/hyperlink" Target="https://www.shushangyun.com/" TargetMode="External"/><Relationship Id="rId3" Type="http://schemas.openxmlformats.org/officeDocument/2006/relationships/image" Target="../media/image1499.png"/><Relationship Id="rId29" Type="http://schemas.openxmlformats.org/officeDocument/2006/relationships/hyperlink" Target="https://www.jusdaglobal.com/en/" TargetMode="External"/><Relationship Id="rId28" Type="http://schemas.openxmlformats.org/officeDocument/2006/relationships/image" Target="../media/image1520.png"/><Relationship Id="rId27" Type="http://schemas.openxmlformats.org/officeDocument/2006/relationships/image" Target="../media/image1519.png"/><Relationship Id="rId26" Type="http://schemas.openxmlformats.org/officeDocument/2006/relationships/image" Target="../media/image1518.png"/><Relationship Id="rId25" Type="http://schemas.openxmlformats.org/officeDocument/2006/relationships/image" Target="../media/image1517.png"/><Relationship Id="rId24" Type="http://schemas.openxmlformats.org/officeDocument/2006/relationships/image" Target="../media/image1516.png"/><Relationship Id="rId23" Type="http://schemas.openxmlformats.org/officeDocument/2006/relationships/hyperlink" Target="https://www.sunyur.com/" TargetMode="External"/><Relationship Id="rId22" Type="http://schemas.openxmlformats.org/officeDocument/2006/relationships/image" Target="../media/image1515.png"/><Relationship Id="rId21" Type="http://schemas.openxmlformats.org/officeDocument/2006/relationships/image" Target="../media/image1514.png"/><Relationship Id="rId20" Type="http://schemas.openxmlformats.org/officeDocument/2006/relationships/image" Target="../media/image1513.png"/><Relationship Id="rId2" Type="http://schemas.openxmlformats.org/officeDocument/2006/relationships/image" Target="../media/image1498.png"/><Relationship Id="rId19" Type="http://schemas.openxmlformats.org/officeDocument/2006/relationships/image" Target="../media/image1512.png"/><Relationship Id="rId18" Type="http://schemas.openxmlformats.org/officeDocument/2006/relationships/hyperlink" Target="https://www.51qqt.com/" TargetMode="External"/><Relationship Id="rId17" Type="http://schemas.openxmlformats.org/officeDocument/2006/relationships/image" Target="../media/image1511.png"/><Relationship Id="rId16" Type="http://schemas.openxmlformats.org/officeDocument/2006/relationships/image" Target="../media/image1510.png"/><Relationship Id="rId15" Type="http://schemas.openxmlformats.org/officeDocument/2006/relationships/image" Target="../media/image1509.png"/><Relationship Id="rId14" Type="http://schemas.openxmlformats.org/officeDocument/2006/relationships/image" Target="../media/image1508.jpeg"/><Relationship Id="rId13" Type="http://schemas.openxmlformats.org/officeDocument/2006/relationships/image" Target="../media/image1507.png"/><Relationship Id="rId12" Type="http://schemas.openxmlformats.org/officeDocument/2006/relationships/image" Target="../media/image1506.png"/><Relationship Id="rId11" Type="http://schemas.openxmlformats.org/officeDocument/2006/relationships/image" Target="../media/image1505.png"/><Relationship Id="rId10" Type="http://schemas.openxmlformats.org/officeDocument/2006/relationships/hyperlink" Target="https://www.oneaix.com/" TargetMode="Externa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45.png"/><Relationship Id="rId8" Type="http://schemas.openxmlformats.org/officeDocument/2006/relationships/image" Target="../media/image1544.png"/><Relationship Id="rId7" Type="http://schemas.openxmlformats.org/officeDocument/2006/relationships/image" Target="../media/image1543.png"/><Relationship Id="rId6" Type="http://schemas.openxmlformats.org/officeDocument/2006/relationships/image" Target="../media/image1542.png"/><Relationship Id="rId5" Type="http://schemas.openxmlformats.org/officeDocument/2006/relationships/image" Target="../media/image1541.png"/><Relationship Id="rId49" Type="http://schemas.openxmlformats.org/officeDocument/2006/relationships/image" Target="../media/image1577.png"/><Relationship Id="rId48" Type="http://schemas.openxmlformats.org/officeDocument/2006/relationships/image" Target="../media/image1576.png"/><Relationship Id="rId47" Type="http://schemas.openxmlformats.org/officeDocument/2006/relationships/image" Target="../media/image1575.png"/><Relationship Id="rId46" Type="http://schemas.openxmlformats.org/officeDocument/2006/relationships/image" Target="../media/image1574.png"/><Relationship Id="rId45" Type="http://schemas.openxmlformats.org/officeDocument/2006/relationships/image" Target="../media/image29.jpeg"/><Relationship Id="rId44" Type="http://schemas.openxmlformats.org/officeDocument/2006/relationships/image" Target="../media/image1573.png"/><Relationship Id="rId43" Type="http://schemas.openxmlformats.org/officeDocument/2006/relationships/image" Target="../media/image1572.png"/><Relationship Id="rId42" Type="http://schemas.openxmlformats.org/officeDocument/2006/relationships/image" Target="../media/image1571.png"/><Relationship Id="rId41" Type="http://schemas.openxmlformats.org/officeDocument/2006/relationships/image" Target="../media/image1570.png"/><Relationship Id="rId40" Type="http://schemas.openxmlformats.org/officeDocument/2006/relationships/image" Target="../media/image1569.png"/><Relationship Id="rId4" Type="http://schemas.openxmlformats.org/officeDocument/2006/relationships/hyperlink" Target="https://www.hr-soft.cn/" TargetMode="External"/><Relationship Id="rId39" Type="http://schemas.openxmlformats.org/officeDocument/2006/relationships/image" Target="../media/image1568.png"/><Relationship Id="rId38" Type="http://schemas.openxmlformats.org/officeDocument/2006/relationships/hyperlink" Target="https://www.xinrenxinshi.com/" TargetMode="External"/><Relationship Id="rId37" Type="http://schemas.openxmlformats.org/officeDocument/2006/relationships/image" Target="../media/image1567.png"/><Relationship Id="rId36" Type="http://schemas.openxmlformats.org/officeDocument/2006/relationships/image" Target="../media/image1566.png"/><Relationship Id="rId35" Type="http://schemas.openxmlformats.org/officeDocument/2006/relationships/image" Target="../media/image1565.png"/><Relationship Id="rId34" Type="http://schemas.openxmlformats.org/officeDocument/2006/relationships/image" Target="../media/image1564.png"/><Relationship Id="rId33" Type="http://schemas.openxmlformats.org/officeDocument/2006/relationships/hyperlink" Target="https://www.kingdee.com/products/cosmic_hr.html" TargetMode="External"/><Relationship Id="rId32" Type="http://schemas.openxmlformats.org/officeDocument/2006/relationships/image" Target="../media/image1563.png"/><Relationship Id="rId31" Type="http://schemas.openxmlformats.org/officeDocument/2006/relationships/image" Target="../media/image1562.png"/><Relationship Id="rId30" Type="http://schemas.openxmlformats.org/officeDocument/2006/relationships/image" Target="../media/image1561.png"/><Relationship Id="rId3" Type="http://schemas.openxmlformats.org/officeDocument/2006/relationships/image" Target="../media/image1540.png"/><Relationship Id="rId29" Type="http://schemas.openxmlformats.org/officeDocument/2006/relationships/image" Target="../media/image1560.png"/><Relationship Id="rId28" Type="http://schemas.openxmlformats.org/officeDocument/2006/relationships/hyperlink" Target="https://www.hcmcloud.com/" TargetMode="External"/><Relationship Id="rId27" Type="http://schemas.openxmlformats.org/officeDocument/2006/relationships/hyperlink" Target="https://www.workday.com.cn/" TargetMode="External"/><Relationship Id="rId26" Type="http://schemas.openxmlformats.org/officeDocument/2006/relationships/image" Target="../media/image1559.png"/><Relationship Id="rId25" Type="http://schemas.openxmlformats.org/officeDocument/2006/relationships/image" Target="../media/image1558.png"/><Relationship Id="rId24" Type="http://schemas.openxmlformats.org/officeDocument/2006/relationships/image" Target="../media/image1557.png"/><Relationship Id="rId23" Type="http://schemas.openxmlformats.org/officeDocument/2006/relationships/image" Target="../media/image1556.png"/><Relationship Id="rId22" Type="http://schemas.openxmlformats.org/officeDocument/2006/relationships/image" Target="../media/image1555.png"/><Relationship Id="rId21" Type="http://schemas.openxmlformats.org/officeDocument/2006/relationships/hyperlink" Target="https://www.beisen.com/" TargetMode="External"/><Relationship Id="rId20" Type="http://schemas.openxmlformats.org/officeDocument/2006/relationships/image" Target="../media/image1554.png"/><Relationship Id="rId2" Type="http://schemas.openxmlformats.org/officeDocument/2006/relationships/image" Target="../media/image1539.png"/><Relationship Id="rId19" Type="http://schemas.openxmlformats.org/officeDocument/2006/relationships/image" Target="../media/image1553.png"/><Relationship Id="rId18" Type="http://schemas.openxmlformats.org/officeDocument/2006/relationships/image" Target="../media/image1552.png"/><Relationship Id="rId17" Type="http://schemas.openxmlformats.org/officeDocument/2006/relationships/image" Target="../media/image1551.png"/><Relationship Id="rId16" Type="http://schemas.openxmlformats.org/officeDocument/2006/relationships/hyperlink" Target="https://www.mokahr.com/" TargetMode="External"/><Relationship Id="rId15" Type="http://schemas.openxmlformats.org/officeDocument/2006/relationships/image" Target="../media/image1550.png"/><Relationship Id="rId14" Type="http://schemas.openxmlformats.org/officeDocument/2006/relationships/image" Target="../media/image1549.png"/><Relationship Id="rId13" Type="http://schemas.openxmlformats.org/officeDocument/2006/relationships/image" Target="../media/image1548.png"/><Relationship Id="rId12" Type="http://schemas.openxmlformats.org/officeDocument/2006/relationships/image" Target="../media/image1547.png"/><Relationship Id="rId11" Type="http://schemas.openxmlformats.org/officeDocument/2006/relationships/image" Target="../media/image1546.png"/><Relationship Id="rId10" Type="http://schemas.openxmlformats.org/officeDocument/2006/relationships/hyperlink" Target="https://www.ihr360.com/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84.png"/><Relationship Id="rId8" Type="http://schemas.openxmlformats.org/officeDocument/2006/relationships/image" Target="../media/image1583.png"/><Relationship Id="rId7" Type="http://schemas.openxmlformats.org/officeDocument/2006/relationships/image" Target="../media/image1582.png"/><Relationship Id="rId6" Type="http://schemas.openxmlformats.org/officeDocument/2006/relationships/hyperlink" Target="https://ai.agriknow.cn/" TargetMode="External"/><Relationship Id="rId50" Type="http://schemas.openxmlformats.org/officeDocument/2006/relationships/image" Target="../media/image29.jpeg"/><Relationship Id="rId5" Type="http://schemas.openxmlformats.org/officeDocument/2006/relationships/image" Target="../media/image1581.png"/><Relationship Id="rId49" Type="http://schemas.openxmlformats.org/officeDocument/2006/relationships/image" Target="../media/image1616.png"/><Relationship Id="rId48" Type="http://schemas.openxmlformats.org/officeDocument/2006/relationships/image" Target="../media/image1615.png"/><Relationship Id="rId47" Type="http://schemas.openxmlformats.org/officeDocument/2006/relationships/image" Target="../media/image1614.png"/><Relationship Id="rId46" Type="http://schemas.openxmlformats.org/officeDocument/2006/relationships/image" Target="../media/image1613.png"/><Relationship Id="rId45" Type="http://schemas.openxmlformats.org/officeDocument/2006/relationships/image" Target="../media/image1612.png"/><Relationship Id="rId44" Type="http://schemas.openxmlformats.org/officeDocument/2006/relationships/image" Target="../media/image1611.png"/><Relationship Id="rId43" Type="http://schemas.openxmlformats.org/officeDocument/2006/relationships/hyperlink" Target="https://shennong.cau.edu.cn/" TargetMode="External"/><Relationship Id="rId42" Type="http://schemas.openxmlformats.org/officeDocument/2006/relationships/image" Target="../media/image1610.png"/><Relationship Id="rId41" Type="http://schemas.openxmlformats.org/officeDocument/2006/relationships/image" Target="../media/image1609.png"/><Relationship Id="rId40" Type="http://schemas.openxmlformats.org/officeDocument/2006/relationships/image" Target="../media/image1608.png"/><Relationship Id="rId4" Type="http://schemas.openxmlformats.org/officeDocument/2006/relationships/image" Target="../media/image1580.png"/><Relationship Id="rId39" Type="http://schemas.openxmlformats.org/officeDocument/2006/relationships/image" Target="../media/image1607.png"/><Relationship Id="rId38" Type="http://schemas.openxmlformats.org/officeDocument/2006/relationships/hyperlink" Target="https://agrioo.cn/" TargetMode="External"/><Relationship Id="rId37" Type="http://schemas.openxmlformats.org/officeDocument/2006/relationships/image" Target="../media/image1606.png"/><Relationship Id="rId36" Type="http://schemas.openxmlformats.org/officeDocument/2006/relationships/image" Target="../media/image1605.png"/><Relationship Id="rId35" Type="http://schemas.openxmlformats.org/officeDocument/2006/relationships/image" Target="../media/image1604.png"/><Relationship Id="rId34" Type="http://schemas.openxmlformats.org/officeDocument/2006/relationships/hyperlink" Target="https://farm-business" TargetMode="External"/><Relationship Id="rId33" Type="http://schemas.openxmlformats.org/officeDocument/2006/relationships/hyperlink" Target="https://farm-business-card.jjr.vip/#/pages/tudi/index" TargetMode="External"/><Relationship Id="rId32" Type="http://schemas.openxmlformats.org/officeDocument/2006/relationships/image" Target="../media/image1603.png"/><Relationship Id="rId31" Type="http://schemas.openxmlformats.org/officeDocument/2006/relationships/image" Target="../media/image1602.png"/><Relationship Id="rId30" Type="http://schemas.openxmlformats.org/officeDocument/2006/relationships/image" Target="../media/image1601.png"/><Relationship Id="rId3" Type="http://schemas.openxmlformats.org/officeDocument/2006/relationships/image" Target="../media/image1579.png"/><Relationship Id="rId29" Type="http://schemas.openxmlformats.org/officeDocument/2006/relationships/image" Target="../media/image1600.png"/><Relationship Id="rId28" Type="http://schemas.openxmlformats.org/officeDocument/2006/relationships/hyperlink" Target="https://www.tpyn.net/productshow_608.html" TargetMode="External"/><Relationship Id="rId27" Type="http://schemas.openxmlformats.org/officeDocument/2006/relationships/image" Target="../media/image1599.png"/><Relationship Id="rId26" Type="http://schemas.openxmlformats.org/officeDocument/2006/relationships/image" Target="../media/image1598.png"/><Relationship Id="rId25" Type="http://schemas.openxmlformats.org/officeDocument/2006/relationships/image" Target="../media/image1597.png"/><Relationship Id="rId24" Type="http://schemas.openxmlformats.org/officeDocument/2006/relationships/image" Target="../media/image1596.png"/><Relationship Id="rId23" Type="http://schemas.openxmlformats.org/officeDocument/2006/relationships/hyperlink" Target="https://www.datall.cn/congqing" TargetMode="External"/><Relationship Id="rId22" Type="http://schemas.openxmlformats.org/officeDocument/2006/relationships/image" Target="../media/image1595.png"/><Relationship Id="rId21" Type="http://schemas.openxmlformats.org/officeDocument/2006/relationships/image" Target="../media/image1594.png"/><Relationship Id="rId20" Type="http://schemas.openxmlformats.org/officeDocument/2006/relationships/image" Target="../media/image1593.png"/><Relationship Id="rId2" Type="http://schemas.openxmlformats.org/officeDocument/2006/relationships/image" Target="../media/image1578.png"/><Relationship Id="rId19" Type="http://schemas.openxmlformats.org/officeDocument/2006/relationships/image" Target="../media/image1592.png"/><Relationship Id="rId18" Type="http://schemas.openxmlformats.org/officeDocument/2006/relationships/image" Target="../media/image1591.png"/><Relationship Id="rId17" Type="http://schemas.openxmlformats.org/officeDocument/2006/relationships/image" Target="../media/image1590.png"/><Relationship Id="rId16" Type="http://schemas.openxmlformats.org/officeDocument/2006/relationships/hyperlink" Target="https://www.tgkwai.com/" TargetMode="External"/><Relationship Id="rId15" Type="http://schemas.openxmlformats.org/officeDocument/2006/relationships/image" Target="../media/image1589.png"/><Relationship Id="rId14" Type="http://schemas.openxmlformats.org/officeDocument/2006/relationships/image" Target="../media/image1588.png"/><Relationship Id="rId13" Type="http://schemas.openxmlformats.org/officeDocument/2006/relationships/image" Target="../media/image1587.png"/><Relationship Id="rId12" Type="http://schemas.openxmlformats.org/officeDocument/2006/relationships/image" Target="../media/image1586.png"/><Relationship Id="rId11" Type="http://schemas.openxmlformats.org/officeDocument/2006/relationships/hyperlink" Target="https://llm.bjzntd.com/" TargetMode="External"/><Relationship Id="rId10" Type="http://schemas.openxmlformats.org/officeDocument/2006/relationships/image" Target="../media/image158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24.png"/><Relationship Id="rId8" Type="http://schemas.openxmlformats.org/officeDocument/2006/relationships/image" Target="../media/image1623.png"/><Relationship Id="rId7" Type="http://schemas.openxmlformats.org/officeDocument/2006/relationships/image" Target="../media/image1622.png"/><Relationship Id="rId6" Type="http://schemas.openxmlformats.org/officeDocument/2006/relationships/image" Target="../media/image1621.png"/><Relationship Id="rId56" Type="http://schemas.openxmlformats.org/officeDocument/2006/relationships/image" Target="../media/image1661.jpeg"/><Relationship Id="rId55" Type="http://schemas.openxmlformats.org/officeDocument/2006/relationships/image" Target="../media/image1660.jpeg"/><Relationship Id="rId54" Type="http://schemas.openxmlformats.org/officeDocument/2006/relationships/image" Target="../media/image29.jpeg"/><Relationship Id="rId53" Type="http://schemas.openxmlformats.org/officeDocument/2006/relationships/image" Target="../media/image1659.png"/><Relationship Id="rId52" Type="http://schemas.openxmlformats.org/officeDocument/2006/relationships/image" Target="../media/image1658.png"/><Relationship Id="rId51" Type="http://schemas.openxmlformats.org/officeDocument/2006/relationships/image" Target="../media/image1657.png"/><Relationship Id="rId50" Type="http://schemas.openxmlformats.org/officeDocument/2006/relationships/hyperlink" Target="https://bridgely.tech/?ref=pidoutv.com" TargetMode="External"/><Relationship Id="rId5" Type="http://schemas.openxmlformats.org/officeDocument/2006/relationships/image" Target="../media/image1620.png"/><Relationship Id="rId49" Type="http://schemas.openxmlformats.org/officeDocument/2006/relationships/image" Target="../media/image1656.png"/><Relationship Id="rId48" Type="http://schemas.openxmlformats.org/officeDocument/2006/relationships/image" Target="../media/image1655.png"/><Relationship Id="rId47" Type="http://schemas.openxmlformats.org/officeDocument/2006/relationships/image" Target="../media/image1654.png"/><Relationship Id="rId46" Type="http://schemas.openxmlformats.org/officeDocument/2006/relationships/image" Target="../media/image1653.png"/><Relationship Id="rId45" Type="http://schemas.openxmlformats.org/officeDocument/2006/relationships/hyperlink" Target="https://sight.youdao.com/?ref=pidoutv.com" TargetMode="External"/><Relationship Id="rId44" Type="http://schemas.openxmlformats.org/officeDocument/2006/relationships/image" Target="../media/image1652.png"/><Relationship Id="rId43" Type="http://schemas.openxmlformats.org/officeDocument/2006/relationships/image" Target="../media/image1651.png"/><Relationship Id="rId42" Type="http://schemas.openxmlformats.org/officeDocument/2006/relationships/image" Target="../media/image1650.png"/><Relationship Id="rId41" Type="http://schemas.openxmlformats.org/officeDocument/2006/relationships/image" Target="../media/image1649.png"/><Relationship Id="rId40" Type="http://schemas.openxmlformats.org/officeDocument/2006/relationships/image" Target="../media/image1648.png"/><Relationship Id="rId4" Type="http://schemas.openxmlformats.org/officeDocument/2006/relationships/image" Target="../media/image1619.png"/><Relationship Id="rId39" Type="http://schemas.openxmlformats.org/officeDocument/2006/relationships/image" Target="../media/image1647.png"/><Relationship Id="rId38" Type="http://schemas.openxmlformats.org/officeDocument/2006/relationships/image" Target="../media/image1646.png"/><Relationship Id="rId37" Type="http://schemas.openxmlformats.org/officeDocument/2006/relationships/image" Target="../media/image1645.png"/><Relationship Id="rId36" Type="http://schemas.openxmlformats.org/officeDocument/2006/relationships/hyperlink" Target="https://translate.alibaba.com/?ref=pidoutv.com" TargetMode="External"/><Relationship Id="rId35" Type="http://schemas.openxmlformats.org/officeDocument/2006/relationships/image" Target="../media/image1644.png"/><Relationship Id="rId34" Type="http://schemas.openxmlformats.org/officeDocument/2006/relationships/image" Target="../media/image1643.png"/><Relationship Id="rId33" Type="http://schemas.openxmlformats.org/officeDocument/2006/relationships/image" Target="../media/image1642.png"/><Relationship Id="rId32" Type="http://schemas.openxmlformats.org/officeDocument/2006/relationships/image" Target="../media/image1641.png"/><Relationship Id="rId31" Type="http://schemas.openxmlformats.org/officeDocument/2006/relationships/hyperlink" Target="https://www.xljsci.com/?ref=pidoutv.com" TargetMode="External"/><Relationship Id="rId30" Type="http://schemas.openxmlformats.org/officeDocument/2006/relationships/image" Target="../media/image1640.png"/><Relationship Id="rId3" Type="http://schemas.openxmlformats.org/officeDocument/2006/relationships/image" Target="../media/image1618.png"/><Relationship Id="rId29" Type="http://schemas.openxmlformats.org/officeDocument/2006/relationships/image" Target="../media/image1639.png"/><Relationship Id="rId28" Type="http://schemas.openxmlformats.org/officeDocument/2006/relationships/image" Target="../media/image1638.png"/><Relationship Id="rId27" Type="http://schemas.openxmlformats.org/officeDocument/2006/relationships/image" Target="../media/image1637.png"/><Relationship Id="rId26" Type="http://schemas.openxmlformats.org/officeDocument/2006/relationships/image" Target="../media/image1636.png"/><Relationship Id="rId25" Type="http://schemas.openxmlformats.org/officeDocument/2006/relationships/image" Target="../media/image1635.png"/><Relationship Id="rId24" Type="http://schemas.openxmlformats.org/officeDocument/2006/relationships/image" Target="../media/image1634.png"/><Relationship Id="rId23" Type="http://schemas.openxmlformats.org/officeDocument/2006/relationships/image" Target="../media/image1633.png"/><Relationship Id="rId22" Type="http://schemas.openxmlformats.org/officeDocument/2006/relationships/hyperlink" Target="https://www.zimujiang.com/?ref=pidoutv.com" TargetMode="External"/><Relationship Id="rId21" Type="http://schemas.openxmlformats.org/officeDocument/2006/relationships/image" Target="../media/image1632.png"/><Relationship Id="rId20" Type="http://schemas.openxmlformats.org/officeDocument/2006/relationships/image" Target="../media/image1631.png"/><Relationship Id="rId2" Type="http://schemas.openxmlformats.org/officeDocument/2006/relationships/image" Target="../media/image1617.png"/><Relationship Id="rId19" Type="http://schemas.openxmlformats.org/officeDocument/2006/relationships/image" Target="../media/image1630.png"/><Relationship Id="rId18" Type="http://schemas.openxmlformats.org/officeDocument/2006/relationships/image" Target="../media/image1629.png"/><Relationship Id="rId17" Type="http://schemas.openxmlformats.org/officeDocument/2006/relationships/hyperlink" Target="https://translatepic.com/zh/?ref=pidoutv.com" TargetMode="External"/><Relationship Id="rId16" Type="http://schemas.openxmlformats.org/officeDocument/2006/relationships/hyperlink" Target="https://belindoc.com/zh?ref=pidoutv.com" TargetMode="External"/><Relationship Id="rId15" Type="http://schemas.openxmlformats.org/officeDocument/2006/relationships/image" Target="../media/image1628.png"/><Relationship Id="rId14" Type="http://schemas.openxmlformats.org/officeDocument/2006/relationships/image" Target="../media/image1627.png"/><Relationship Id="rId13" Type="http://schemas.openxmlformats.org/officeDocument/2006/relationships/image" Target="../media/image1626.png"/><Relationship Id="rId12" Type="http://schemas.openxmlformats.org/officeDocument/2006/relationships/image" Target="../media/image1625.png"/><Relationship Id="rId11" Type="http://schemas.openxmlformats.org/officeDocument/2006/relationships/hyperlink" Target="https://www.mangatranslat" TargetMode="External"/><Relationship Id="rId10" Type="http://schemas.openxmlformats.org/officeDocument/2006/relationships/hyperlink" Target="https://www.mangatranslator.cc/zh-cn?ref=pidoutv.com" TargetMode="Externa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hyperlink" Target="https://text-to-cad.zoo.dev/" TargetMode="External"/><Relationship Id="rId8" Type="http://schemas.openxmlformats.org/officeDocument/2006/relationships/image" Target="../media/image1667.png"/><Relationship Id="rId7" Type="http://schemas.openxmlformats.org/officeDocument/2006/relationships/image" Target="../media/image1666.png"/><Relationship Id="rId6" Type="http://schemas.openxmlformats.org/officeDocument/2006/relationships/image" Target="../media/image1665.png"/><Relationship Id="rId5" Type="http://schemas.openxmlformats.org/officeDocument/2006/relationships/image" Target="../media/image1664.png"/><Relationship Id="rId49" Type="http://schemas.openxmlformats.org/officeDocument/2006/relationships/image" Target="../media/image29.jpeg"/><Relationship Id="rId48" Type="http://schemas.openxmlformats.org/officeDocument/2006/relationships/image" Target="../media/image1700.png"/><Relationship Id="rId47" Type="http://schemas.openxmlformats.org/officeDocument/2006/relationships/image" Target="../media/image1699.png"/><Relationship Id="rId46" Type="http://schemas.openxmlformats.org/officeDocument/2006/relationships/image" Target="../media/image1698.png"/><Relationship Id="rId45" Type="http://schemas.openxmlformats.org/officeDocument/2006/relationships/hyperlink" Target="https://www.bricsys.com/en-us/bricscad/bim" TargetMode="External"/><Relationship Id="rId44" Type="http://schemas.openxmlformats.org/officeDocument/2006/relationships/image" Target="../media/image1697.png"/><Relationship Id="rId43" Type="http://schemas.openxmlformats.org/officeDocument/2006/relationships/image" Target="../media/image1696.png"/><Relationship Id="rId42" Type="http://schemas.openxmlformats.org/officeDocument/2006/relationships/image" Target="../media/image1695.png"/><Relationship Id="rId41" Type="http://schemas.openxmlformats.org/officeDocument/2006/relationships/image" Target="../media/image1694.png"/><Relationship Id="rId40" Type="http://schemas.openxmlformats.org/officeDocument/2006/relationships/image" Target="../media/image1693.png"/><Relationship Id="rId4" Type="http://schemas.openxmlformats.org/officeDocument/2006/relationships/image" Target="../media/image1663.png"/><Relationship Id="rId39" Type="http://schemas.openxmlformats.org/officeDocument/2006/relationships/image" Target="../media/image1692.png"/><Relationship Id="rId38" Type="http://schemas.openxmlformats.org/officeDocument/2006/relationships/image" Target="../media/image1691.png"/><Relationship Id="rId37" Type="http://schemas.openxmlformats.org/officeDocument/2006/relationships/image" Target="../media/image1690.png"/><Relationship Id="rId36" Type="http://schemas.openxmlformats.org/officeDocument/2006/relationships/hyperlink" Target="https://www.tsz.com.cn/DrawPlane.jsp" TargetMode="External"/><Relationship Id="rId35" Type="http://schemas.openxmlformats.org/officeDocument/2006/relationships/image" Target="../media/image1689.png"/><Relationship Id="rId34" Type="http://schemas.openxmlformats.org/officeDocument/2006/relationships/image" Target="../media/image1688.png"/><Relationship Id="rId33" Type="http://schemas.openxmlformats.org/officeDocument/2006/relationships/image" Target="../media/image1687.png"/><Relationship Id="rId32" Type="http://schemas.openxmlformats.org/officeDocument/2006/relationships/image" Target="../media/image1686.png"/><Relationship Id="rId31" Type="http://schemas.openxmlformats.org/officeDocument/2006/relationships/image" Target="../media/image1685.png"/><Relationship Id="rId30" Type="http://schemas.openxmlformats.org/officeDocument/2006/relationships/image" Target="../media/image1684.png"/><Relationship Id="rId3" Type="http://schemas.openxmlformats.org/officeDocument/2006/relationships/hyperlink" Target="https://swapp.ai/" TargetMode="External"/><Relationship Id="rId29" Type="http://schemas.openxmlformats.org/officeDocument/2006/relationships/image" Target="../media/image1683.png"/><Relationship Id="rId28" Type="http://schemas.openxmlformats.org/officeDocument/2006/relationships/hyperlink" Target="https://www.aidmaster.cn/#/poster" TargetMode="External"/><Relationship Id="rId27" Type="http://schemas.openxmlformats.org/officeDocument/2006/relationships/hyperlink" Target="https://product.pkpm.cn/downloadlist?pId=1" TargetMode="External"/><Relationship Id="rId26" Type="http://schemas.openxmlformats.org/officeDocument/2006/relationships/image" Target="../media/image1682.png"/><Relationship Id="rId25" Type="http://schemas.openxmlformats.org/officeDocument/2006/relationships/image" Target="../media/image1681.png"/><Relationship Id="rId24" Type="http://schemas.openxmlformats.org/officeDocument/2006/relationships/image" Target="../media/image1680.png"/><Relationship Id="rId23" Type="http://schemas.openxmlformats.org/officeDocument/2006/relationships/image" Target="../media/image1679.png"/><Relationship Id="rId22" Type="http://schemas.openxmlformats.org/officeDocument/2006/relationships/image" Target="../media/image1678.png"/><Relationship Id="rId21" Type="http://schemas.openxmlformats.org/officeDocument/2006/relationships/image" Target="../media/image1677.png"/><Relationship Id="rId20" Type="http://schemas.openxmlformats.org/officeDocument/2006/relationships/hyperlink" Target="https://www.bild.ai/" TargetMode="External"/><Relationship Id="rId2" Type="http://schemas.openxmlformats.org/officeDocument/2006/relationships/image" Target="../media/image1662.png"/><Relationship Id="rId19" Type="http://schemas.openxmlformats.org/officeDocument/2006/relationships/image" Target="../media/image1676.png"/><Relationship Id="rId18" Type="http://schemas.openxmlformats.org/officeDocument/2006/relationships/image" Target="../media/image1675.png"/><Relationship Id="rId17" Type="http://schemas.openxmlformats.org/officeDocument/2006/relationships/image" Target="../media/image1674.png"/><Relationship Id="rId16" Type="http://schemas.openxmlformats.org/officeDocument/2006/relationships/image" Target="../media/image1673.png"/><Relationship Id="rId15" Type="http://schemas.openxmlformats.org/officeDocument/2006/relationships/hyperlink" Target="https://cad.blue/" TargetMode="External"/><Relationship Id="rId14" Type="http://schemas.openxmlformats.org/officeDocument/2006/relationships/image" Target="../media/image1672.png"/><Relationship Id="rId13" Type="http://schemas.openxmlformats.org/officeDocument/2006/relationships/image" Target="../media/image1671.png"/><Relationship Id="rId12" Type="http://schemas.openxmlformats.org/officeDocument/2006/relationships/image" Target="../media/image1670.png"/><Relationship Id="rId11" Type="http://schemas.openxmlformats.org/officeDocument/2006/relationships/image" Target="../media/image1669.png"/><Relationship Id="rId10" Type="http://schemas.openxmlformats.org/officeDocument/2006/relationships/image" Target="../media/image166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07.png"/><Relationship Id="rId8" Type="http://schemas.openxmlformats.org/officeDocument/2006/relationships/image" Target="../media/image1706.png"/><Relationship Id="rId7" Type="http://schemas.openxmlformats.org/officeDocument/2006/relationships/image" Target="../media/image1705.jpeg"/><Relationship Id="rId6" Type="http://schemas.openxmlformats.org/officeDocument/2006/relationships/image" Target="../media/image1704.png"/><Relationship Id="rId52" Type="http://schemas.openxmlformats.org/officeDocument/2006/relationships/image" Target="../media/image29.jpeg"/><Relationship Id="rId51" Type="http://schemas.openxmlformats.org/officeDocument/2006/relationships/image" Target="../media/image1741.png"/><Relationship Id="rId50" Type="http://schemas.openxmlformats.org/officeDocument/2006/relationships/image" Target="../media/image1740.png"/><Relationship Id="rId5" Type="http://schemas.openxmlformats.org/officeDocument/2006/relationships/image" Target="../media/image1703.png"/><Relationship Id="rId49" Type="http://schemas.openxmlformats.org/officeDocument/2006/relationships/image" Target="../media/image1739.png"/><Relationship Id="rId48" Type="http://schemas.openxmlformats.org/officeDocument/2006/relationships/image" Target="../media/image1738.png"/><Relationship Id="rId47" Type="http://schemas.openxmlformats.org/officeDocument/2006/relationships/image" Target="../media/image1737.png"/><Relationship Id="rId46" Type="http://schemas.openxmlformats.org/officeDocument/2006/relationships/image" Target="../media/image1736.png"/><Relationship Id="rId45" Type="http://schemas.openxmlformats.org/officeDocument/2006/relationships/image" Target="../media/image1735.png"/><Relationship Id="rId44" Type="http://schemas.openxmlformats.org/officeDocument/2006/relationships/image" Target="../media/image1734.png"/><Relationship Id="rId43" Type="http://schemas.openxmlformats.org/officeDocument/2006/relationships/image" Target="../media/image1733.png"/><Relationship Id="rId42" Type="http://schemas.openxmlformats.org/officeDocument/2006/relationships/hyperlink" Target="https://www.qianbiaigc.com/" TargetMode="External"/><Relationship Id="rId41" Type="http://schemas.openxmlformats.org/officeDocument/2006/relationships/image" Target="../media/image1732.png"/><Relationship Id="rId40" Type="http://schemas.openxmlformats.org/officeDocument/2006/relationships/image" Target="../media/image1731.png"/><Relationship Id="rId4" Type="http://schemas.openxmlformats.org/officeDocument/2006/relationships/image" Target="../media/image1702.png"/><Relationship Id="rId39" Type="http://schemas.openxmlformats.org/officeDocument/2006/relationships/image" Target="../media/image1730.png"/><Relationship Id="rId38" Type="http://schemas.openxmlformats.org/officeDocument/2006/relationships/image" Target="../media/image1729.png"/><Relationship Id="rId37" Type="http://schemas.openxmlformats.org/officeDocument/2006/relationships/hyperlink" Target="https://ibiling.cn/paper" TargetMode="External"/><Relationship Id="rId36" Type="http://schemas.openxmlformats.org/officeDocument/2006/relationships/hyperlink" Target="https://ibiling.cn/paper-pass?from=zhjiangaigjhj910yy" TargetMode="External"/><Relationship Id="rId35" Type="http://schemas.openxmlformats.org/officeDocument/2006/relationships/image" Target="../media/image1728.png"/><Relationship Id="rId34" Type="http://schemas.openxmlformats.org/officeDocument/2006/relationships/image" Target="../media/image1727.png"/><Relationship Id="rId33" Type="http://schemas.openxmlformats.org/officeDocument/2006/relationships/image" Target="../media/image1726.png"/><Relationship Id="rId32" Type="http://schemas.openxmlformats.org/officeDocument/2006/relationships/image" Target="../media/image1725.png"/><Relationship Id="rId31" Type="http://schemas.openxmlformats.org/officeDocument/2006/relationships/hyperlink" Target="https://www.aigcleaner.com/?source=csdn&amp;keyword=0928" TargetMode="External"/><Relationship Id="rId30" Type="http://schemas.openxmlformats.org/officeDocument/2006/relationships/image" Target="../media/image1724.png"/><Relationship Id="rId3" Type="http://schemas.openxmlformats.org/officeDocument/2006/relationships/hyperlink" Target="https://www.mypitaya.com/" TargetMode="External"/><Relationship Id="rId29" Type="http://schemas.openxmlformats.org/officeDocument/2006/relationships/image" Target="../media/image1723.png"/><Relationship Id="rId28" Type="http://schemas.openxmlformats.org/officeDocument/2006/relationships/image" Target="../media/image1722.png"/><Relationship Id="rId27" Type="http://schemas.openxmlformats.org/officeDocument/2006/relationships/image" Target="../media/image1721.png"/><Relationship Id="rId26" Type="http://schemas.openxmlformats.org/officeDocument/2006/relationships/image" Target="../media/image1720.png"/><Relationship Id="rId25" Type="http://schemas.openxmlformats.org/officeDocument/2006/relationships/hyperlink" Target="https://quillbot.com/" TargetMode="External"/><Relationship Id="rId24" Type="http://schemas.openxmlformats.org/officeDocument/2006/relationships/image" Target="../media/image1719.png"/><Relationship Id="rId23" Type="http://schemas.openxmlformats.org/officeDocument/2006/relationships/image" Target="../media/image1718.png"/><Relationship Id="rId22" Type="http://schemas.openxmlformats.org/officeDocument/2006/relationships/image" Target="../media/image1717.png"/><Relationship Id="rId21" Type="http://schemas.openxmlformats.org/officeDocument/2006/relationships/image" Target="../media/image1716.png"/><Relationship Id="rId20" Type="http://schemas.openxmlformats.org/officeDocument/2006/relationships/image" Target="../media/image1715.png"/><Relationship Id="rId2" Type="http://schemas.openxmlformats.org/officeDocument/2006/relationships/image" Target="../media/image1701.png"/><Relationship Id="rId19" Type="http://schemas.openxmlformats.org/officeDocument/2006/relationships/hyperlink" Target="https://www.bigan.net/" TargetMode="External"/><Relationship Id="rId18" Type="http://schemas.openxmlformats.org/officeDocument/2006/relationships/image" Target="../media/image1714.png"/><Relationship Id="rId17" Type="http://schemas.openxmlformats.org/officeDocument/2006/relationships/image" Target="../media/image1713.png"/><Relationship Id="rId16" Type="http://schemas.openxmlformats.org/officeDocument/2006/relationships/image" Target="../media/image1712.jpeg"/><Relationship Id="rId15" Type="http://schemas.openxmlformats.org/officeDocument/2006/relationships/image" Target="../media/image1711.png"/><Relationship Id="rId14" Type="http://schemas.openxmlformats.org/officeDocument/2006/relationships/image" Target="../media/image1710.png"/><Relationship Id="rId13" Type="http://schemas.openxmlformats.org/officeDocument/2006/relationships/image" Target="../media/image1709.png"/><Relationship Id="rId12" Type="http://schemas.openxmlformats.org/officeDocument/2006/relationships/hyperlink" Target="https://www.paperdashi.com/" TargetMode="External"/><Relationship Id="rId11" Type="http://schemas.openxmlformats.org/officeDocument/2006/relationships/hyperlink" Target="https://www.aiwbds.com/?tjId=6225" TargetMode="External"/><Relationship Id="rId10" Type="http://schemas.openxmlformats.org/officeDocument/2006/relationships/image" Target="../media/image170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45.png"/><Relationship Id="rId4" Type="http://schemas.openxmlformats.org/officeDocument/2006/relationships/image" Target="../media/image1744.png"/><Relationship Id="rId3" Type="http://schemas.openxmlformats.org/officeDocument/2006/relationships/image" Target="../media/image1743.png"/><Relationship Id="rId2" Type="http://schemas.openxmlformats.org/officeDocument/2006/relationships/image" Target="../media/image1742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7.png"/><Relationship Id="rId2" Type="http://schemas.openxmlformats.org/officeDocument/2006/relationships/image" Target="../media/image174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4.png"/><Relationship Id="rId7" Type="http://schemas.openxmlformats.org/officeDocument/2006/relationships/image" Target="../media/image1753.png"/><Relationship Id="rId6" Type="http://schemas.openxmlformats.org/officeDocument/2006/relationships/image" Target="../media/image1752.png"/><Relationship Id="rId5" Type="http://schemas.openxmlformats.org/officeDocument/2006/relationships/image" Target="../media/image1751.png"/><Relationship Id="rId4" Type="http://schemas.openxmlformats.org/officeDocument/2006/relationships/image" Target="../media/image1750.png"/><Relationship Id="rId3" Type="http://schemas.openxmlformats.org/officeDocument/2006/relationships/image" Target="../media/image1749.jpeg"/><Relationship Id="rId2" Type="http://schemas.openxmlformats.org/officeDocument/2006/relationships/image" Target="../media/image174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62.png"/><Relationship Id="rId8" Type="http://schemas.openxmlformats.org/officeDocument/2006/relationships/image" Target="../media/image1761.png"/><Relationship Id="rId7" Type="http://schemas.openxmlformats.org/officeDocument/2006/relationships/image" Target="../media/image1760.png"/><Relationship Id="rId6" Type="http://schemas.openxmlformats.org/officeDocument/2006/relationships/image" Target="../media/image1759.png"/><Relationship Id="rId5" Type="http://schemas.openxmlformats.org/officeDocument/2006/relationships/image" Target="../media/image1758.png"/><Relationship Id="rId4" Type="http://schemas.openxmlformats.org/officeDocument/2006/relationships/image" Target="../media/image1757.png"/><Relationship Id="rId3" Type="http://schemas.openxmlformats.org/officeDocument/2006/relationships/image" Target="../media/image1756.png"/><Relationship Id="rId2" Type="http://schemas.openxmlformats.org/officeDocument/2006/relationships/image" Target="../media/image1755.png"/><Relationship Id="rId18" Type="http://schemas.openxmlformats.org/officeDocument/2006/relationships/image" Target="../media/image1770.png"/><Relationship Id="rId17" Type="http://schemas.openxmlformats.org/officeDocument/2006/relationships/image" Target="../media/image1769.png"/><Relationship Id="rId16" Type="http://schemas.openxmlformats.org/officeDocument/2006/relationships/image" Target="../media/image1768.png"/><Relationship Id="rId15" Type="http://schemas.openxmlformats.org/officeDocument/2006/relationships/image" Target="../media/image29.jpeg"/><Relationship Id="rId14" Type="http://schemas.openxmlformats.org/officeDocument/2006/relationships/image" Target="../media/image1767.png"/><Relationship Id="rId13" Type="http://schemas.openxmlformats.org/officeDocument/2006/relationships/image" Target="../media/image1766.png"/><Relationship Id="rId12" Type="http://schemas.openxmlformats.org/officeDocument/2006/relationships/image" Target="../media/image1765.png"/><Relationship Id="rId11" Type="http://schemas.openxmlformats.org/officeDocument/2006/relationships/image" Target="../media/image1764.png"/><Relationship Id="rId10" Type="http://schemas.openxmlformats.org/officeDocument/2006/relationships/image" Target="../media/image176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rect 4"/>
          <p:cNvSpPr/>
          <p:nvPr/>
        </p:nvSpPr>
        <p:spPr>
          <a:xfrm>
            <a:off x="0" y="3019044"/>
            <a:ext cx="12192000" cy="3838955"/>
          </a:xfrm>
          <a:prstGeom prst="rect">
            <a:avLst/>
          </a:prstGeom>
          <a:solidFill>
            <a:srgbClr val="B0CA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6"/>
          <p:cNvSpPr/>
          <p:nvPr/>
        </p:nvSpPr>
        <p:spPr>
          <a:xfrm>
            <a:off x="1120118" y="3627378"/>
            <a:ext cx="9943465" cy="2065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16660" algn="l" rtl="0" eaLnBrk="0">
              <a:lnSpc>
                <a:spcPct val="97000"/>
              </a:lnSpc>
              <a:tabLst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北京航空航天大学 </a:t>
            </a: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29系人文与社会科学高等研究院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790"/>
              </a:spcBef>
              <a:tabLst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清华大学新闻与传播学院</a:t>
            </a: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、人工智能学院双聘教授 @新媒沈阳</a:t>
            </a:r>
            <a:r>
              <a:rPr sz="2600" b="1" kern="0" spc="5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团队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60045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何静（副教授）</a:t>
            </a:r>
            <a:endParaRPr sz="3200" dirty="0">
              <a:latin typeface="STKaiti"/>
              <a:ea typeface="STKaiti"/>
              <a:cs typeface="STKait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34617" y="420362"/>
            <a:ext cx="9161144" cy="2120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96619" algn="l" rtl="0" eaLnBrk="0">
              <a:lnSpc>
                <a:spcPct val="97000"/>
              </a:lnSpc>
              <a:tabLst/>
            </a:pPr>
            <a:r>
              <a:rPr sz="7100" b="1" kern="0" spc="-3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《大模型工具大全》</a:t>
            </a:r>
            <a:endParaRPr sz="7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9000"/>
              </a:lnSpc>
              <a:spcBef>
                <a:spcPts val="1217"/>
              </a:spcBef>
              <a:tabLst/>
            </a:pPr>
            <a:r>
              <a:rPr sz="5900" b="1" kern="0" spc="50" dirty="0">
                <a:solidFill>
                  <a:srgbClr val="1331F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一次看遍各个领域的</a:t>
            </a:r>
            <a:r>
              <a:rPr sz="5900" b="1" kern="0" spc="0" dirty="0">
                <a:solidFill>
                  <a:srgbClr val="1331F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5900" b="1" kern="0" spc="50" dirty="0">
                <a:solidFill>
                  <a:srgbClr val="1331F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利器</a:t>
            </a:r>
            <a:endParaRPr sz="5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120139" y="6042169"/>
            <a:ext cx="9941559" cy="335915"/>
          </a:xfrm>
          <a:prstGeom prst="rect">
            <a:avLst/>
          </a:prstGeom>
          <a:solidFill>
            <a:srgbClr val="00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767" rIns="0" bIns="0"/>
          <a:lstStyle/>
          <a:p>
            <a:pPr algn="r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（一篇科普报告每多一个公式读者数量就减半 。该报告仅用于科普</a:t>
            </a: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，</a:t>
            </a:r>
            <a:r>
              <a:rPr sz="2000" b="1" kern="0" spc="-5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面向对象为小白 。）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69464" y="1642122"/>
            <a:ext cx="4727447" cy="2205977"/>
          </a:xfrm>
          <a:prstGeom prst="rect">
            <a:avLst/>
          </a:prstGeom>
        </p:spPr>
      </p:pic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2753995" y="1546479"/>
          <a:ext cx="4358004" cy="2287270"/>
        </p:xfrm>
        <a:graphic>
          <a:graphicData uri="http://schemas.openxmlformats.org/drawingml/2006/table">
            <a:tbl>
              <a:tblPr/>
              <a:tblGrid>
                <a:gridCol w="2194560"/>
                <a:gridCol w="2163445"/>
              </a:tblGrid>
              <a:tr h="22872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03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1465" indent="-278765" algn="l" rtl="0" eaLnBrk="0">
                        <a:lnSpc>
                          <a:spcPct val="107000"/>
                        </a:lnSpc>
                        <a:tabLst>
                          <a:tab pos="13525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助手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具备强大的通用对话能力，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广泛的知识面覆盖和庞大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用户基础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89559" indent="-276859" algn="l" rtl="0" eaLnBrk="0">
                        <a:lnSpc>
                          <a:spcPct val="107000"/>
                        </a:lnSpc>
                        <a:spcBef>
                          <a:spcPts val="547"/>
                        </a:spcBef>
                        <a:tabLst>
                          <a:tab pos="13525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定位为通用生产力工具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特色是作为“一体化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”AI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，能自动调度子模型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处理复杂任务，在编程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创意写作和健康咨询方面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表现突出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10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https://chat.openai.c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0" indent="-276859" algn="l" rtl="0" eaLnBrk="0">
                        <a:lnSpc>
                          <a:spcPct val="108000"/>
                        </a:lnSpc>
                        <a:spcBef>
                          <a:spcPts val="1"/>
                        </a:spcBef>
                        <a:tabLst>
                          <a:tab pos="3219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推出 ，依靠原生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全模态能力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，可以无缝理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和处理文本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、图像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频视频等多种信息，处于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第一梯队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75615" indent="-276225" algn="l" rtl="0" eaLnBrk="0">
                        <a:lnSpc>
                          <a:spcPct val="108000"/>
                        </a:lnSpc>
                        <a:spcBef>
                          <a:spcPts val="414"/>
                        </a:spcBef>
                        <a:tabLst>
                          <a:tab pos="3219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支持长文本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，推理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编码能力也是独一档的存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，能根据用户需求动态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生成交互式工具界面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https://gemini.google</a:t>
                      </a:r>
                      <a:r>
                        <a:rPr sz="12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48046" y="2696514"/>
            <a:ext cx="122946" cy="168859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48046" y="1655114"/>
            <a:ext cx="122946" cy="168859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766796" y="2405050"/>
            <a:ext cx="122986" cy="168859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766796" y="1564309"/>
            <a:ext cx="122986" cy="168859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569464" y="4706449"/>
            <a:ext cx="4727447" cy="1874182"/>
          </a:xfrm>
          <a:prstGeom prst="rect">
            <a:avLst/>
          </a:prstGeom>
        </p:spPr>
      </p:pic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2664460" y="4787912"/>
          <a:ext cx="4446905" cy="1729104"/>
        </p:xfrm>
        <a:graphic>
          <a:graphicData uri="http://schemas.openxmlformats.org/drawingml/2006/table">
            <a:tbl>
              <a:tblPr/>
              <a:tblGrid>
                <a:gridCol w="2240914"/>
                <a:gridCol w="2205989"/>
              </a:tblGrid>
              <a:tr h="1729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indent="-279400" algn="l" rtl="0" eaLnBrk="0">
                        <a:lnSpc>
                          <a:spcPct val="105000"/>
                        </a:lnSpc>
                        <a:tabLst>
                          <a:tab pos="13525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字节跳动推出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，产品调性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不那么严肃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，情绪表达更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，对刚接触AI产品的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用户非常友好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90195" indent="-277495" algn="l" rtl="0" eaLnBrk="0">
                        <a:lnSpc>
                          <a:spcPct val="104000"/>
                        </a:lnSpc>
                        <a:spcBef>
                          <a:spcPts val="544"/>
                        </a:spcBef>
                        <a:tabLst>
                          <a:tab pos="13525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集成超能创意生图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、视频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解析等场景化功能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，并深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度融入字节的软硬件生态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4" algn="l" rtl="0" eaLnBrk="0">
                        <a:lnSpc>
                          <a:spcPct val="11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https://www.do</a:t>
                      </a:r>
                      <a:r>
                        <a:rPr sz="9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ubao.com/chat/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0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9430" indent="-277495" algn="l" rtl="0" eaLnBrk="0">
                        <a:lnSpc>
                          <a:spcPct val="105000"/>
                        </a:lnSpc>
                        <a:tabLst>
                          <a:tab pos="365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擅长数学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、物理等理工科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相关领域以及数据分析类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的工作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，长文档解读也可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圈可点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15619" indent="-273684" algn="l" rtl="0" eaLnBrk="0">
                        <a:lnSpc>
                          <a:spcPct val="104000"/>
                        </a:lnSpc>
                        <a:spcBef>
                          <a:spcPts val="550"/>
                        </a:spcBef>
                        <a:tabLst>
                          <a:tab pos="365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沉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思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AutoGLM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更适合做专业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的研究报告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9395" algn="l" rtl="0" eaLnBrk="0">
                        <a:lnSpc>
                          <a:spcPct val="10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1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https://www.zhipuai.cn/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8" name="pictur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147881" y="5628652"/>
            <a:ext cx="122957" cy="168859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147881" y="4787912"/>
            <a:ext cx="122957" cy="16885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677261" y="5723559"/>
            <a:ext cx="122986" cy="168859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677261" y="4882819"/>
            <a:ext cx="122986" cy="16885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192024" y="4104132"/>
            <a:ext cx="2340864" cy="2471927"/>
            <a:chOff x="0" y="0"/>
            <a:chExt cx="2340864" cy="2471927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340864" cy="2471927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-12700" y="-12700"/>
              <a:ext cx="2366645" cy="2508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110614" algn="l" rtl="0" eaLnBrk="0">
                <a:lnSpc>
                  <a:spcPts val="2282"/>
                </a:lnSpc>
                <a:spcBef>
                  <a:spcPts val="1"/>
                </a:spcBef>
                <a:tabLst/>
              </a:pPr>
              <a:r>
                <a:rPr sz="1700" b="1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Grok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140" indent="-278765" algn="l" rtl="0" eaLnBrk="0">
                <a:lnSpc>
                  <a:spcPct val="107000"/>
                </a:lnSpc>
                <a:spcBef>
                  <a:spcPts val="36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由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xAI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公司开发，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对话有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一定的叛逆感，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回答时容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易放飞自我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0059" indent="-273684" algn="l" rtl="0" eaLnBrk="0">
                <a:lnSpc>
                  <a:spcPct val="108000"/>
                </a:lnSpc>
                <a:spcBef>
                  <a:spcPts val="53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免费但是有使用限额，伦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理限制比其他AI都低很多，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 时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访 问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X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Twitter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）信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息进行回答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3834" algn="l" rtl="0" eaLnBrk="0">
                <a:lnSpc>
                  <a:spcPct val="104000"/>
                </a:lnSpc>
                <a:spcBef>
                  <a:spcPts val="284"/>
                </a:spcBef>
                <a:tabLst/>
              </a:pP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https://grok.x.ai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4157" y="1418767"/>
              <a:ext cx="122986" cy="168859"/>
            </a:xfrm>
            <a:prstGeom prst="rect">
              <a:avLst/>
            </a:prstGeom>
          </p:spPr>
        </p:pic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4157" y="778687"/>
              <a:ext cx="122986" cy="16885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21600000">
            <a:off x="7335011" y="4104132"/>
            <a:ext cx="2339340" cy="2471927"/>
            <a:chOff x="0" y="0"/>
            <a:chExt cx="2339340" cy="2471927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2339340" cy="2471927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-12700" y="-12700"/>
              <a:ext cx="2365375" cy="2508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19480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腾讯元宝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2425" indent="-277495" algn="l" rtl="0" eaLnBrk="0">
                <a:lnSpc>
                  <a:spcPct val="105000"/>
                </a:lnSpc>
                <a:spcBef>
                  <a:spcPts val="370"/>
                </a:spcBef>
                <a:tabLst>
                  <a:tab pos="19812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双模态随意切换，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深度整合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腾讯自有内容池，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能直接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处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理来自微信聊天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、公众号的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351154" indent="-276225" algn="l" rtl="0" eaLnBrk="0">
                <a:lnSpc>
                  <a:spcPct val="105000"/>
                </a:lnSpc>
                <a:spcBef>
                  <a:spcPts val="271"/>
                </a:spcBef>
                <a:tabLst>
                  <a:tab pos="19812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能接续数据库搭建，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以完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成一站式工作流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，兼顾深度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思考与快速生成，擅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长编程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数学推理和长文本处理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72389" algn="l" rtl="0" eaLnBrk="0">
                <a:lnSpc>
                  <a:spcPct val="104000"/>
                </a:lnSpc>
                <a:spcBef>
                  <a:spcPts val="125"/>
                </a:spcBef>
                <a:tabLst/>
              </a:pP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https://yuanbao.tencent.c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62839" y="1470837"/>
              <a:ext cx="122987" cy="168859"/>
            </a:xfrm>
            <a:prstGeom prst="rect">
              <a:avLst/>
            </a:prstGeom>
          </p:spPr>
        </p:pic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62839" y="668197"/>
              <a:ext cx="122987" cy="168859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21600000">
            <a:off x="192024" y="1505711"/>
            <a:ext cx="2340864" cy="2339340"/>
            <a:chOff x="0" y="0"/>
            <a:chExt cx="2340864" cy="2339340"/>
          </a:xfrm>
        </p:grpSpPr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0" y="0"/>
              <a:ext cx="2340864" cy="2339340"/>
            </a:xfrm>
            <a:prstGeom prst="rect">
              <a:avLst/>
            </a:prstGeom>
          </p:spPr>
        </p:pic>
        <p:sp>
          <p:nvSpPr>
            <p:cNvPr id="54" name="textbox 54"/>
            <p:cNvSpPr/>
            <p:nvPr/>
          </p:nvSpPr>
          <p:spPr>
            <a:xfrm>
              <a:off x="-12700" y="-12700"/>
              <a:ext cx="2366645" cy="2376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4505" indent="-277495" algn="l" rtl="0" eaLnBrk="0">
                <a:lnSpc>
                  <a:spcPct val="113000"/>
                </a:lnSpc>
                <a:spcBef>
                  <a:spcPts val="6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以极低的训练和部署成本，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高效开源的训练方法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，打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破了中文大模型面临的数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据与算力困境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8129" algn="l" rtl="0" eaLnBrk="0">
                <a:lnSpc>
                  <a:spcPct val="114000"/>
                </a:lnSpc>
                <a:spcBef>
                  <a:spcPts val="850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推理模型R1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直接打破了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语料桎梏，堪称中小开发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者的福音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4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03834" algn="l" rtl="0" eaLnBrk="0">
                <a:lnSpc>
                  <a:spcPct val="105000"/>
                </a:lnSpc>
                <a:tabLst/>
              </a:pPr>
              <a:r>
                <a:rPr sz="11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https://www.deepseek.com/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56" name="picture 56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4627" y="1338135"/>
              <a:ext cx="122986" cy="168859"/>
            </a:xfrm>
            <a:prstGeom prst="rect">
              <a:avLst/>
            </a:prstGeom>
          </p:spPr>
        </p:pic>
        <p:pic>
          <p:nvPicPr>
            <p:cNvPr id="58" name="picture 58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4627" y="385635"/>
              <a:ext cx="122986" cy="168859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21600000">
            <a:off x="7335011" y="1505711"/>
            <a:ext cx="2339340" cy="2339340"/>
            <a:chOff x="0" y="0"/>
            <a:chExt cx="2339340" cy="2339340"/>
          </a:xfrm>
        </p:grpSpPr>
        <p:pic>
          <p:nvPicPr>
            <p:cNvPr id="60" name="picture 60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0" y="0"/>
              <a:ext cx="2339340" cy="2339340"/>
            </a:xfrm>
            <a:prstGeom prst="rect">
              <a:avLst/>
            </a:prstGeom>
          </p:spPr>
        </p:pic>
        <p:sp>
          <p:nvSpPr>
            <p:cNvPr id="62" name="textbox 62"/>
            <p:cNvSpPr/>
            <p:nvPr/>
          </p:nvSpPr>
          <p:spPr>
            <a:xfrm>
              <a:off x="-12700" y="-12700"/>
              <a:ext cx="2365375" cy="2376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1965" indent="-276859" algn="l" rtl="0" eaLnBrk="0">
                <a:lnSpc>
                  <a:spcPct val="115000"/>
                </a:lnSpc>
                <a:spcBef>
                  <a:spcPts val="6"/>
                </a:spcBef>
                <a:tabLst>
                  <a:tab pos="3282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阿里巴巴推出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API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QWEN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-2系列高性价比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很多蒸馏小模型也都是用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通义千问当底座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8765" algn="l" rtl="0" eaLnBrk="0">
                <a:lnSpc>
                  <a:spcPct val="113000"/>
                </a:lnSpc>
                <a:spcBef>
                  <a:spcPts val="993"/>
                </a:spcBef>
                <a:tabLst>
                  <a:tab pos="3282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可以听说读写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、绘画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指导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分析环境甚至导航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，而推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理模型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QWQ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则能解决大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部分场景的推理难题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2564" algn="l" rtl="0" eaLnBrk="0">
                <a:lnSpc>
                  <a:spcPct val="105000"/>
                </a:lnSpc>
                <a:spcBef>
                  <a:spcPts val="5"/>
                </a:spcBef>
                <a:tabLst/>
              </a:pP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qianwen.com/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2988" y="1117142"/>
              <a:ext cx="122987" cy="168859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2988" y="164642"/>
              <a:ext cx="122987" cy="16885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21600000">
            <a:off x="9710927" y="1642122"/>
            <a:ext cx="2346959" cy="2205977"/>
            <a:chOff x="0" y="0"/>
            <a:chExt cx="2346959" cy="2205977"/>
          </a:xfrm>
        </p:grpSpPr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0" y="0"/>
              <a:ext cx="2346959" cy="2205977"/>
            </a:xfrm>
            <a:prstGeom prst="rect">
              <a:avLst/>
            </a:prstGeom>
          </p:spPr>
        </p:pic>
        <p:sp>
          <p:nvSpPr>
            <p:cNvPr id="70" name="textbox 70"/>
            <p:cNvSpPr/>
            <p:nvPr/>
          </p:nvSpPr>
          <p:spPr>
            <a:xfrm>
              <a:off x="-12700" y="-12700"/>
              <a:ext cx="2372360" cy="2242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487680" indent="-277495" algn="l" rtl="0" eaLnBrk="0">
                <a:lnSpc>
                  <a:spcPct val="105000"/>
                </a:lnSpc>
                <a:spcBef>
                  <a:spcPts val="5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月之暗面开发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，主打针对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长文本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、代码库的上下文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处理能力以及探索版的信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息搜索整合能力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6859" algn="l" rtl="0" eaLnBrk="0">
                <a:lnSpc>
                  <a:spcPct val="108000"/>
                </a:lnSpc>
                <a:spcBef>
                  <a:spcPts val="428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16B轻量级开源多模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态模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型，在低成本前提下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持超高分辨率输入128K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上下文，还有不错的数学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推理能力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7645" algn="l" rtl="0" eaLnBrk="0">
                <a:lnSpc>
                  <a:spcPct val="105000"/>
                </a:lnSpc>
                <a:spcBef>
                  <a:spcPts val="2"/>
                </a:spcBef>
                <a:tabLst/>
              </a:pP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https://www.kimi.com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197714" y="964222"/>
              <a:ext cx="122987" cy="168859"/>
            </a:xfrm>
            <a:prstGeom prst="rect">
              <a:avLst/>
            </a:prstGeom>
          </p:spPr>
        </p:pic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197714" y="123481"/>
              <a:ext cx="122987" cy="168859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 rot="21600000">
            <a:off x="9710927" y="4706449"/>
            <a:ext cx="2345435" cy="1872658"/>
            <a:chOff x="0" y="0"/>
            <a:chExt cx="2345435" cy="1872658"/>
          </a:xfrm>
        </p:grpSpPr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0" y="0"/>
              <a:ext cx="2345435" cy="1872658"/>
            </a:xfrm>
            <a:prstGeom prst="rect">
              <a:avLst/>
            </a:prstGeom>
          </p:spPr>
        </p:pic>
        <p:sp>
          <p:nvSpPr>
            <p:cNvPr id="78" name="textbox 78"/>
            <p:cNvSpPr/>
            <p:nvPr/>
          </p:nvSpPr>
          <p:spPr>
            <a:xfrm>
              <a:off x="-12700" y="-12700"/>
              <a:ext cx="2371089" cy="19100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486409" indent="-276225" algn="l" rtl="0" eaLnBrk="0">
                <a:lnSpc>
                  <a:spcPct val="104000"/>
                </a:lnSpc>
                <a:spcBef>
                  <a:spcPts val="5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在长文本理解和生成复杂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推理方面表现出色，特别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是英文能力非常强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315" indent="-278129" algn="l" rtl="0" eaLnBrk="0">
                <a:lnSpc>
                  <a:spcPct val="105000"/>
                </a:lnSpc>
                <a:spcBef>
                  <a:spcPts val="563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在编码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、推理和长期记忆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方面能力突出，旗舰版本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可支持智能体长时间稳定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执行复杂任务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7645" algn="l" rtl="0" eaLnBrk="0">
                <a:lnSpc>
                  <a:spcPct val="105000"/>
                </a:lnSpc>
                <a:spcBef>
                  <a:spcPts val="3"/>
                </a:spcBef>
                <a:tabLst/>
              </a:pP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https://claude.co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 rot="21600000">
              <a:off x="197688" y="721835"/>
              <a:ext cx="122987" cy="168859"/>
            </a:xfrm>
            <a:prstGeom prst="rect">
              <a:avLst/>
            </a:prstGeom>
          </p:spPr>
        </p:pic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 rot="21600000">
              <a:off x="197688" y="81755"/>
              <a:ext cx="122987" cy="168859"/>
            </a:xfrm>
            <a:prstGeom prst="rect">
              <a:avLst/>
            </a:prstGeom>
          </p:spPr>
        </p:pic>
      </p:grpSp>
      <p:pic>
        <p:nvPicPr>
          <p:cNvPr id="84" name="picture 8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3100832" y="4091432"/>
            <a:ext cx="3683000" cy="577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7000"/>
              </a:lnSpc>
              <a:spcBef>
                <a:spcPts val="2"/>
              </a:spcBef>
              <a:tabLst>
                <a:tab pos="654684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豆包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智谱清言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227574" y="4104132"/>
            <a:ext cx="539496" cy="539496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3113532" y="4104132"/>
            <a:ext cx="539496" cy="539496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104615" y="60092"/>
            <a:ext cx="4067809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主流通用语言模型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359156" y="932179"/>
            <a:ext cx="1783714" cy="565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ts val="2282"/>
              </a:lnSpc>
              <a:spcBef>
                <a:spcPts val="4"/>
              </a:spcBef>
              <a:tabLst>
                <a:tab pos="66294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DeepSeek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371856" y="944879"/>
            <a:ext cx="539496" cy="539496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7659623" y="944879"/>
            <a:ext cx="1687067" cy="539496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2828036" y="932179"/>
            <a:ext cx="1635760" cy="565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56259" algn="l" rtl="0" eaLnBrk="0">
              <a:lnSpc>
                <a:spcPts val="2282"/>
              </a:lnSpc>
              <a:spcBef>
                <a:spcPts val="1"/>
              </a:spcBef>
              <a:tabLst>
                <a:tab pos="65976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ChatGPT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2840736" y="944879"/>
            <a:ext cx="544068" cy="539496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10057892" y="4091432"/>
            <a:ext cx="1426210" cy="565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ts val="2282"/>
              </a:lnSpc>
              <a:spcBef>
                <a:spcPts val="1"/>
              </a:spcBef>
              <a:tabLst>
                <a:tab pos="6604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Claude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10070592" y="4104132"/>
            <a:ext cx="539495" cy="539496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5544311" y="944879"/>
            <a:ext cx="1156716" cy="539496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10240771" y="932179"/>
            <a:ext cx="1126489" cy="565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ts val="2282"/>
              </a:lnSpc>
              <a:tabLst>
                <a:tab pos="66357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Kimi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10253471" y="944879"/>
            <a:ext cx="539495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21600000">
            <a:off x="9339071" y="3817620"/>
            <a:ext cx="2520695" cy="2982467"/>
            <a:chOff x="0" y="0"/>
            <a:chExt cx="2520695" cy="2982467"/>
          </a:xfrm>
        </p:grpSpPr>
        <p:pic>
          <p:nvPicPr>
            <p:cNvPr id="114" name="picture 1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559308"/>
              <a:ext cx="2520695" cy="2423159"/>
            </a:xfrm>
            <a:prstGeom prst="rect">
              <a:avLst/>
            </a:prstGeom>
          </p:spPr>
        </p:pic>
        <p:sp>
          <p:nvSpPr>
            <p:cNvPr id="116" name="textbox 116"/>
            <p:cNvSpPr/>
            <p:nvPr/>
          </p:nvSpPr>
          <p:spPr>
            <a:xfrm>
              <a:off x="181584" y="630224"/>
              <a:ext cx="2270125" cy="2117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12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0195" indent="-278129" algn="l" rtl="0" eaLnBrk="0">
                <a:lnSpc>
                  <a:spcPct val="113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专注于“提示词 +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智能体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生成与管理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，平台提供中文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界面，用户可以发现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、构建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分享提示词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1465" indent="-278765" algn="l" rtl="0" eaLnBrk="0">
                <a:lnSpc>
                  <a:spcPct val="113000"/>
                </a:lnSpc>
                <a:spcBef>
                  <a:spcPts val="983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聚焦于“提示词仓库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”式管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，帮助用户保存自己的中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文提示词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、按任务分类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享给他人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5000"/>
                </a:lnSpc>
                <a:spcBef>
                  <a:spcPts val="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aishort.top/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18" name="picture 1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4284" y="2547924"/>
              <a:ext cx="122987" cy="168859"/>
            </a:xfrm>
            <a:prstGeom prst="rect">
              <a:avLst/>
            </a:prstGeom>
          </p:spPr>
        </p:pic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4284" y="1595424"/>
              <a:ext cx="122987" cy="168859"/>
            </a:xfrm>
            <a:prstGeom prst="rect">
              <a:avLst/>
            </a:prstGeom>
          </p:spPr>
        </p:pic>
        <p:pic>
          <p:nvPicPr>
            <p:cNvPr id="122" name="picture 1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4284" y="642924"/>
              <a:ext cx="122987" cy="168859"/>
            </a:xfrm>
            <a:prstGeom prst="rect">
              <a:avLst/>
            </a:prstGeom>
          </p:spPr>
        </p:pic>
        <p:pic>
          <p:nvPicPr>
            <p:cNvPr id="124" name="picture 1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647700" y="0"/>
              <a:ext cx="1226819" cy="449579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 rot="21600000">
            <a:off x="530352" y="3817620"/>
            <a:ext cx="2520695" cy="2959608"/>
            <a:chOff x="0" y="0"/>
            <a:chExt cx="2520695" cy="2959608"/>
          </a:xfrm>
        </p:grpSpPr>
        <p:pic>
          <p:nvPicPr>
            <p:cNvPr id="126" name="picture 1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559308"/>
              <a:ext cx="2520695" cy="2400300"/>
            </a:xfrm>
            <a:prstGeom prst="rect">
              <a:avLst/>
            </a:prstGeom>
          </p:spPr>
        </p:pic>
        <p:pic>
          <p:nvPicPr>
            <p:cNvPr id="128" name="picture 128">
              <a:hlinkClick r:id="rId10" action="ppaction://hlinkfile"/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82117" y="2496184"/>
              <a:ext cx="2157095" cy="401319"/>
            </a:xfrm>
            <a:prstGeom prst="rect">
              <a:avLst/>
            </a:prstGeom>
          </p:spPr>
        </p:pic>
        <p:sp>
          <p:nvSpPr>
            <p:cNvPr id="130" name="textbox 130"/>
            <p:cNvSpPr/>
            <p:nvPr/>
          </p:nvSpPr>
          <p:spPr>
            <a:xfrm>
              <a:off x="182219" y="614984"/>
              <a:ext cx="2169795" cy="22942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72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8925" indent="-276859" algn="l" rtl="0" eaLnBrk="0">
                <a:lnSpc>
                  <a:spcPct val="106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不仅帮助生成提示词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，还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持调优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、评估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、版本管理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批量生成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，覆盖从「想法→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提示词→模型执行」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整个流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277495" algn="l" rtl="0" eaLnBrk="0">
                <a:lnSpc>
                  <a:spcPct val="105000"/>
                </a:lnSpc>
                <a:spcBef>
                  <a:spcPts val="574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用户可以建立评测数据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查看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bad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case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”、版本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迭代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，有助于提升提示词质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量和输出效果可控性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92100" indent="-280034" algn="l" rtl="0" eaLnBrk="0">
                <a:lnSpc>
                  <a:spcPct val="107000"/>
                </a:lnSpc>
                <a:spcBef>
                  <a:spcPts val="3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https://promptp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ilot.volcen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gine.com/home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4919" y="2509824"/>
              <a:ext cx="122986" cy="168859"/>
            </a:xfrm>
            <a:prstGeom prst="rect">
              <a:avLst/>
            </a:prstGeom>
          </p:spPr>
        </p:pic>
        <p:pic>
          <p:nvPicPr>
            <p:cNvPr id="134" name="picture 13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4919" y="1669084"/>
              <a:ext cx="122986" cy="168859"/>
            </a:xfrm>
            <a:prstGeom prst="rect">
              <a:avLst/>
            </a:prstGeom>
          </p:spPr>
        </p:pic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919" y="627684"/>
              <a:ext cx="122986" cy="168859"/>
            </a:xfrm>
            <a:prstGeom prst="rect">
              <a:avLst/>
            </a:prstGeom>
          </p:spPr>
        </p:pic>
        <p:pic>
          <p:nvPicPr>
            <p:cNvPr id="138" name="picture 13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612647" y="0"/>
              <a:ext cx="1295400" cy="449579"/>
            </a:xfrm>
            <a:prstGeom prst="rect">
              <a:avLst/>
            </a:prstGeom>
          </p:spPr>
        </p:pic>
      </p:grpSp>
      <p:pic>
        <p:nvPicPr>
          <p:cNvPr id="140" name="picture 1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30352" y="1261871"/>
            <a:ext cx="2520695" cy="2493264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9339071" y="1261871"/>
            <a:ext cx="2520695" cy="2493264"/>
            <a:chOff x="0" y="0"/>
            <a:chExt cx="2520695" cy="2493264"/>
          </a:xfrm>
        </p:grpSpPr>
        <p:pic>
          <p:nvPicPr>
            <p:cNvPr id="142" name="picture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520695" cy="2493264"/>
            </a:xfrm>
            <a:prstGeom prst="rect">
              <a:avLst/>
            </a:prstGeom>
          </p:spPr>
        </p:pic>
        <p:sp>
          <p:nvSpPr>
            <p:cNvPr id="144" name="textbox 144"/>
            <p:cNvSpPr/>
            <p:nvPr/>
          </p:nvSpPr>
          <p:spPr>
            <a:xfrm>
              <a:off x="-12700" y="-12700"/>
              <a:ext cx="2546350" cy="25304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206375" algn="l" rtl="0" eaLnBrk="0">
                <a:lnSpc>
                  <a:spcPct val="92000"/>
                </a:lnSpc>
                <a:spcBef>
                  <a:spcPts val="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免费的提示词生成工具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，无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5714" algn="l" rtl="0" eaLnBrk="0">
                <a:lnSpc>
                  <a:spcPct val="106000"/>
                </a:lnSpc>
                <a:spcBef>
                  <a:spcPts val="348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需登录 ，可用于生成或优化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</a:t>
              </a:r>
              <a:r>
                <a:rPr sz="1200" kern="0" spc="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于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个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型 （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 h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at G P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l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u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d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e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Gemini）提示词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7495" algn="l" rtl="0" eaLnBrk="0">
                <a:lnSpc>
                  <a:spcPct val="107000"/>
                </a:lnSpc>
                <a:spcBef>
                  <a:spcPts val="41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快速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、免费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、简单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，非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常适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合试用／快节奏场景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8129" algn="l" rtl="0" eaLnBrk="0">
                <a:lnSpc>
                  <a:spcPct val="108000"/>
                </a:lnSpc>
                <a:spcBef>
                  <a:spcPts val="37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适用场景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：你想马上得到可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用提示词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，用于实验／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临时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项目／快速迭代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24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http://seotabriz.com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46" name="picture 14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4284" y="2250617"/>
              <a:ext cx="122987" cy="168859"/>
            </a:xfrm>
            <a:prstGeom prst="rect">
              <a:avLst/>
            </a:prstGeom>
          </p:spPr>
        </p:pic>
        <p:pic>
          <p:nvPicPr>
            <p:cNvPr id="148" name="picture 14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4284" y="1610538"/>
              <a:ext cx="122987" cy="168859"/>
            </a:xfrm>
            <a:prstGeom prst="rect">
              <a:avLst/>
            </a:prstGeom>
          </p:spPr>
        </p:pic>
        <p:pic>
          <p:nvPicPr>
            <p:cNvPr id="150" name="picture 15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4284" y="1171118"/>
              <a:ext cx="122987" cy="168859"/>
            </a:xfrm>
            <a:prstGeom prst="rect">
              <a:avLst/>
            </a:prstGeom>
          </p:spPr>
        </p:pic>
        <p:pic>
          <p:nvPicPr>
            <p:cNvPr id="152" name="picture 15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4284" y="129718"/>
              <a:ext cx="122987" cy="168859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 rot="21600000">
            <a:off x="6400800" y="1388998"/>
            <a:ext cx="2525267" cy="2369184"/>
            <a:chOff x="0" y="0"/>
            <a:chExt cx="2525267" cy="2369184"/>
          </a:xfrm>
        </p:grpSpPr>
        <p:pic>
          <p:nvPicPr>
            <p:cNvPr id="154" name="picture 15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22070"/>
              <a:ext cx="2525267" cy="2347114"/>
            </a:xfrm>
            <a:prstGeom prst="rect">
              <a:avLst/>
            </a:prstGeom>
          </p:spPr>
        </p:pic>
        <p:sp>
          <p:nvSpPr>
            <p:cNvPr id="156" name="textbox 156"/>
            <p:cNvSpPr/>
            <p:nvPr/>
          </p:nvSpPr>
          <p:spPr>
            <a:xfrm>
              <a:off x="-12700" y="-12700"/>
              <a:ext cx="2550795" cy="24053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8950" indent="-279400" algn="l" rtl="0" eaLnBrk="0">
                <a:lnSpc>
                  <a:spcPct val="118000"/>
                </a:lnSpc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输入你要做的事情（如“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写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博客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”、“</a:t>
              </a:r>
              <a:r>
                <a:rPr sz="1200" kern="0" spc="-2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生成图像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工具自动生成适配提示词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支持多种 AI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11000"/>
                </a:lnSpc>
                <a:spcBef>
                  <a:spcPts val="809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入门门槛低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，适合刚开始使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  <a:r>
                <a:rPr sz="1200" kern="0" spc="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或提示词还不熟练的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https://www.junia.ai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58" name="picture 15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6951" y="1703755"/>
              <a:ext cx="122987" cy="168859"/>
            </a:xfrm>
            <a:prstGeom prst="rect">
              <a:avLst/>
            </a:prstGeom>
          </p:spPr>
        </p:pic>
        <p:pic>
          <p:nvPicPr>
            <p:cNvPr id="160" name="picture 16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6951" y="970330"/>
              <a:ext cx="122987" cy="168859"/>
            </a:xfrm>
            <a:prstGeom prst="rect">
              <a:avLst/>
            </a:prstGeom>
          </p:spPr>
        </p:pic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6951" y="17830"/>
              <a:ext cx="122987" cy="168859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 rot="21600000">
            <a:off x="3464052" y="1406829"/>
            <a:ext cx="2526791" cy="2351354"/>
            <a:chOff x="0" y="0"/>
            <a:chExt cx="2526791" cy="2351354"/>
          </a:xfrm>
        </p:grpSpPr>
        <p:pic>
          <p:nvPicPr>
            <p:cNvPr id="164" name="picture 164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0" y="4239"/>
              <a:ext cx="2526791" cy="2347114"/>
            </a:xfrm>
            <a:prstGeom prst="rect">
              <a:avLst/>
            </a:prstGeom>
          </p:spPr>
        </p:pic>
        <p:sp>
          <p:nvSpPr>
            <p:cNvPr id="166" name="textbox 166"/>
            <p:cNvSpPr/>
            <p:nvPr/>
          </p:nvSpPr>
          <p:spPr>
            <a:xfrm>
              <a:off x="-12700" y="-12700"/>
              <a:ext cx="2552700" cy="2388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6859" algn="l" rtl="0" eaLnBrk="0">
                <a:lnSpc>
                  <a:spcPct val="114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一个提示词管理＋库平台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社区用户可以上传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、分享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使用各种分类（如市场营销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SEO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、客服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、产品文案）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06000"/>
                </a:lnSpc>
                <a:spcBef>
                  <a:spcPts val="980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资源丰富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、可直接拿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来用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也可稍作修改适配你的需求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https://www.aiprm.com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8" name="picture 168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197459" y="1685925"/>
              <a:ext cx="122986" cy="168859"/>
            </a:xfrm>
            <a:prstGeom prst="rect">
              <a:avLst/>
            </a:prstGeom>
          </p:spPr>
        </p:pic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7459" y="1171575"/>
              <a:ext cx="122986" cy="168859"/>
            </a:xfrm>
            <a:prstGeom prst="rect">
              <a:avLst/>
            </a:prstGeom>
          </p:spPr>
        </p:pic>
        <p:pic>
          <p:nvPicPr>
            <p:cNvPr id="172" name="picture 172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7459" y="0"/>
              <a:ext cx="122986" cy="168859"/>
            </a:xfrm>
            <a:prstGeom prst="rect">
              <a:avLst/>
            </a:prstGeom>
          </p:spPr>
        </p:pic>
      </p:grpSp>
      <p:pic>
        <p:nvPicPr>
          <p:cNvPr id="174" name="picture 17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400800" y="4512643"/>
            <a:ext cx="2525267" cy="2270680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3464052" y="4513285"/>
            <a:ext cx="2526791" cy="2268514"/>
          </a:xfrm>
          <a:prstGeom prst="rect">
            <a:avLst/>
          </a:prstGeom>
        </p:spPr>
      </p:pic>
      <p:pic>
        <p:nvPicPr>
          <p:cNvPr id="178" name="picture 178">
            <a:hlinkClick r:id="rId35" action="ppaction://hlinkfile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712469" y="3059429"/>
            <a:ext cx="2176145" cy="401320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712571" y="1378889"/>
            <a:ext cx="2247264" cy="2130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4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专注于品牌视觉与印刷物料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00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设计平台，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用户可快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速生成海报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、T-恤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图案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、名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片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、社媒图片等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290" indent="-275590" algn="l" rtl="0" eaLnBrk="0">
              <a:lnSpc>
                <a:spcPct val="106000"/>
              </a:lnSpc>
              <a:spcBef>
                <a:spcPts val="51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内置大量字体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、矢量图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、风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格模板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功能支持生成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图形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、抽象背景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、样式迁移，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亦能快速去背景与处理细节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92100" indent="-280034" algn="l" rtl="0" eaLnBrk="0">
              <a:lnSpc>
                <a:spcPct val="11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https://promptperfect.jina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ai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725271" y="3073069"/>
            <a:ext cx="122986" cy="168859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725271" y="2232329"/>
            <a:ext cx="122986" cy="168859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725271" y="1391589"/>
            <a:ext cx="122986" cy="168859"/>
          </a:xfrm>
          <a:prstGeom prst="rect">
            <a:avLst/>
          </a:prstGeom>
        </p:spPr>
      </p:pic>
      <p:pic>
        <p:nvPicPr>
          <p:cNvPr id="188" name="picture 188">
            <a:hlinkClick r:id="rId41" action="ppaction://hlinkfile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6584950" y="6117590"/>
            <a:ext cx="2157094" cy="438150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6585051" y="4430014"/>
            <a:ext cx="2169795" cy="2153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indent="-279400" algn="l" rtl="0" eaLnBrk="0">
              <a:lnSpc>
                <a:spcPct val="114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专注于视觉生成</a:t>
            </a:r>
            <a:r>
              <a:rPr sz="1200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Text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to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Image)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提示构建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的优秀工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16000"/>
              </a:lnSpc>
              <a:spcBef>
                <a:spcPts val="83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适合使用</a:t>
            </a:r>
            <a:r>
              <a:rPr sz="12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Midjourney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户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，便于快速生成结构化提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示词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、降低门槛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、加速视觉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创作流程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92100" indent="-279400" algn="l" rtl="0" eaLnBrk="0">
              <a:lnSpc>
                <a:spcPct val="11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imiprompt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6597751" y="6146469"/>
            <a:ext cx="122987" cy="168859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6597751" y="5193969"/>
            <a:ext cx="122987" cy="168859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6597751" y="4460544"/>
            <a:ext cx="122987" cy="168859"/>
          </a:xfrm>
          <a:prstGeom prst="rect">
            <a:avLst/>
          </a:prstGeom>
        </p:spPr>
      </p:pic>
      <p:pic>
        <p:nvPicPr>
          <p:cNvPr id="198" name="picture 198">
            <a:hlinkClick r:id="rId46" action="ppaction://hlinkfile"/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3648709" y="6113145"/>
            <a:ext cx="2157095" cy="401319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3648811" y="4432604"/>
            <a:ext cx="2170429" cy="2113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5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用户可以同时输入多个不同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prompt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，快速看到哪一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种提示词结构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、措辞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、模型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选择效果更好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8000"/>
              </a:lnSpc>
              <a:spcBef>
                <a:spcPts val="56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支持切换模型版本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、模型提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供商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，从而进行“这个提示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词用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GPT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效果</a:t>
            </a:r>
            <a:r>
              <a:rPr sz="1200" kern="0" spc="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vs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Mistral 效果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”的对比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25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https://promptoctopus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2" name="picture 202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3661511" y="6126784"/>
            <a:ext cx="122986" cy="168859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3661511" y="5286044"/>
            <a:ext cx="122986" cy="168859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3661511" y="4445304"/>
            <a:ext cx="122986" cy="168859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80386" y="-36820"/>
            <a:ext cx="3280409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7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提示词工具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739140" y="784860"/>
            <a:ext cx="2103120" cy="449579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3703893" y="3801871"/>
            <a:ext cx="2031364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600"/>
              </a:lnSpc>
              <a:tabLst/>
            </a:pPr>
            <a:r>
              <a:rPr sz="2400" kern="0" spc="-190" dirty="0">
                <a:solidFill>
                  <a:srgbClr val="884B2C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⃞prompt</a:t>
            </a:r>
            <a:r>
              <a:rPr sz="2400" kern="0" spc="-430" dirty="0">
                <a:solidFill>
                  <a:srgbClr val="884B2C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400" kern="0" spc="-190" dirty="0">
                <a:solidFill>
                  <a:srgbClr val="884B2C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2400" kern="0" spc="-180" dirty="0">
                <a:solidFill>
                  <a:srgbClr val="884B2C">
                    <a:alpha val="100000"/>
                  </a:srgbClr>
                </a:solidFill>
                <a:latin typeface="Arial"/>
                <a:ea typeface="Arial"/>
                <a:cs typeface="Arial"/>
              </a:rPr>
              <a:t>ctopu</a:t>
            </a:r>
            <a:r>
              <a:rPr sz="2400" kern="0" spc="-100" dirty="0">
                <a:solidFill>
                  <a:srgbClr val="884B2C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pic>
        <p:nvPicPr>
          <p:cNvPr id="216" name="picture 21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6672071" y="3837432"/>
            <a:ext cx="1981200" cy="411479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9829800" y="774191"/>
            <a:ext cx="1539240" cy="469391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4076700" y="765048"/>
            <a:ext cx="1303020" cy="487679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7063740" y="763523"/>
            <a:ext cx="1200911" cy="4907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226" name="table 226"/>
          <p:cNvGraphicFramePr>
            <a:graphicFrameLocks noGrp="1"/>
          </p:cNvGraphicFramePr>
          <p:nvPr/>
        </p:nvGraphicFramePr>
        <p:xfrm>
          <a:off x="304038" y="732434"/>
          <a:ext cx="11598910" cy="5888354"/>
        </p:xfrm>
        <a:graphic>
          <a:graphicData uri="http://schemas.openxmlformats.org/drawingml/2006/table">
            <a:tbl>
              <a:tblPr/>
              <a:tblGrid>
                <a:gridCol w="622300"/>
                <a:gridCol w="2466975"/>
                <a:gridCol w="2760345"/>
                <a:gridCol w="2871470"/>
                <a:gridCol w="2877820"/>
              </a:tblGrid>
              <a:tr h="53340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经典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algn="l" rtl="0" eaLnBrk="0">
                        <a:lnSpc>
                          <a:spcPts val="2277"/>
                        </a:lnSpc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9430" algn="l" rtl="0" eaLnBrk="0">
                        <a:lnSpc>
                          <a:spcPts val="2022"/>
                        </a:lnSpc>
                        <a:tabLst>
                          <a:tab pos="772159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Midjourny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5465" algn="l" rtl="0" eaLnBrk="0">
                        <a:lnSpc>
                          <a:spcPts val="1971"/>
                        </a:lnSpc>
                        <a:spcBef>
                          <a:spcPts val="6"/>
                        </a:spcBef>
                        <a:tabLst>
                          <a:tab pos="636269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Stable</a:t>
                      </a:r>
                      <a:r>
                        <a:rPr sz="1500" b="1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Diffusion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6905" algn="l" rtl="0" eaLnBrk="0">
                        <a:lnSpc>
                          <a:spcPts val="1973"/>
                        </a:lnSpc>
                        <a:spcBef>
                          <a:spcPts val="3"/>
                        </a:spcBef>
                        <a:tabLst>
                          <a:tab pos="869950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Leonardo.Ai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7675" algn="l" rtl="0" eaLnBrk="0">
                        <a:lnSpc>
                          <a:spcPts val="2022"/>
                        </a:lnSpc>
                        <a:tabLst>
                          <a:tab pos="505459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Bing</a:t>
                      </a:r>
                      <a:r>
                        <a:rPr sz="1500" b="1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Image</a:t>
                      </a:r>
                      <a:r>
                        <a:rPr sz="15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Creator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9997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634" indent="-277495" algn="l" rtl="0" eaLnBrk="0">
                        <a:lnSpc>
                          <a:spcPct val="106000"/>
                        </a:lnSpc>
                        <a:spcBef>
                          <a:spcPts val="2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用户友好的图像处理工具，结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合了人工智能与美学，提供了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一系列全新的创意性工具；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270" algn="l" rtl="0" eaLnBrk="0">
                        <a:lnSpc>
                          <a:spcPct val="99000"/>
                        </a:lnSpc>
                        <a:spcBef>
                          <a:spcPts val="248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zoom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out功能，可无限扩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原始图像，原画生成3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D场景，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无限缩放无垠宇宙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7190" indent="-273050" algn="l" rtl="0" eaLnBrk="0">
                        <a:lnSpc>
                          <a:spcPct val="97000"/>
                        </a:lnSpc>
                        <a:spcBef>
                          <a:spcPts val="374"/>
                        </a:spcBef>
                        <a:tabLst>
                          <a:tab pos="2254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输出画面更清晰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、对比度更高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饱和度更高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ct val="104000"/>
                        </a:lnSpc>
                        <a:spcBef>
                          <a:spcPts val="234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www.midjourn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ey.com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0365" indent="-276225" algn="l" rtl="0" eaLnBrk="0">
                        <a:lnSpc>
                          <a:spcPct val="107000"/>
                        </a:lnSpc>
                        <a:spcBef>
                          <a:spcPts val="7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开源的底层AI图像生成模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，为开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发者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、研究者和高级用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户提供了极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高的自由度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000" indent="-276859" algn="l" rtl="0" eaLnBrk="0">
                        <a:lnSpc>
                          <a:spcPct val="104000"/>
                        </a:lnSpc>
                        <a:spcBef>
                          <a:spcPts val="245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可以生成非常逼真的图像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。支持多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种图像样式和特效，用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户可以根据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需要进行选择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3540" indent="-279400" algn="l" rtl="0" eaLnBrk="0">
                        <a:lnSpc>
                          <a:spcPct val="104000"/>
                        </a:lnSpc>
                        <a:spcBef>
                          <a:spcPts val="254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作为核心算法，可被集成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到各类工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具中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，实现文生图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、图生图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、视频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生成等功能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ct val="105000"/>
                        </a:lnSpc>
                        <a:spcBef>
                          <a:spcPts val="106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https://stablediffusionweb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indent="-277495" algn="l" rtl="0" eaLnBrk="0">
                        <a:lnSpc>
                          <a:spcPct val="106000"/>
                        </a:lnSpc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面向专业创意工作者的高质量AI艺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术生成平台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algn="l" rtl="0" eaLnBrk="0">
                        <a:lnSpc>
                          <a:spcPct val="92000"/>
                        </a:lnSpc>
                        <a:spcBef>
                          <a:spcPts val="262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基于文本生成高质量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图像与视频；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634" algn="l" rtl="0" eaLnBrk="0">
                        <a:lnSpc>
                          <a:spcPct val="106000"/>
                        </a:lnSpc>
                        <a:spcBef>
                          <a:spcPts val="116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提供AI画布编辑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、3D纹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理生成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、一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键抠图等专业工具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634" indent="-276859" algn="l" rtl="0" eaLnBrk="0">
                        <a:lnSpc>
                          <a:spcPct val="104000"/>
                        </a:lnSpc>
                        <a:spcBef>
                          <a:spcPts val="260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以超写实输出和精细控制著称，支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持用户训练自己的定制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模型，在特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定风格上表现优异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algn="l" rtl="0" eaLnBrk="0">
                        <a:lnSpc>
                          <a:spcPct val="105000"/>
                        </a:lnSpc>
                        <a:spcBef>
                          <a:spcPts val="89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https://leonardo</a:t>
                      </a:r>
                      <a:r>
                        <a:rPr sz="12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.ai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indent="-278129" algn="l" rtl="0" eaLnBrk="0">
                        <a:lnSpc>
                          <a:spcPct val="107000"/>
                        </a:lnSpc>
                        <a:spcBef>
                          <a:spcPts val="1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微软推出的大众化免费AI绘图工具，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集成在Bing搜索和Edge浏览器中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旨在降低使用门槛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270" indent="-277495" algn="l" rtl="0" eaLnBrk="0">
                        <a:lnSpc>
                          <a:spcPct val="108000"/>
                        </a:lnSpc>
                        <a:spcBef>
                          <a:spcPts val="128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DALL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3/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-4o模型，适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合日常快速创意和初学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者输入文字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描述（支持中文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快速生成图像；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可基于上传的图片进行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修改或二次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algn="l" rtl="0" eaLnBrk="0">
                        <a:lnSpc>
                          <a:spcPct val="104000"/>
                        </a:lnSpc>
                        <a:spcBef>
                          <a:spcPts val="113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ww.bing.com/create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269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3504" algn="l" rtl="0" eaLnBrk="0">
                        <a:lnSpc>
                          <a:spcPts val="2311"/>
                        </a:lnSpc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创新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0409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>
                          <a:tab pos="814705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DALL</a:t>
                      </a:r>
                      <a:r>
                        <a:rPr sz="15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</a:t>
                      </a:r>
                      <a:r>
                        <a:rPr sz="1500" b="1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7705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>
                          <a:tab pos="774700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NanoBanana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800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Krea AI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0919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Emu</a:t>
                      </a:r>
                      <a:r>
                        <a:rPr sz="15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Edit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54571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184" indent="-278765" algn="l" rtl="0" eaLnBrk="0">
                        <a:lnSpc>
                          <a:spcPct val="105000"/>
                        </a:lnSpc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DALL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E更强大的用户语言推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，不需要用户自己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掌握复杂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编写知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识，使用起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来门槛更低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820" indent="-279400" algn="l" rtl="0" eaLnBrk="0">
                        <a:lnSpc>
                          <a:spcPct val="106000"/>
                        </a:lnSpc>
                        <a:spcBef>
                          <a:spcPts val="103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Plus 和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terprise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用户都可一键使用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5279" indent="-276859" algn="l" rtl="0" eaLnBrk="0">
                        <a:lnSpc>
                          <a:spcPct val="97000"/>
                        </a:lnSpc>
                        <a:spcBef>
                          <a:spcPts val="241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绘画质量大幅提升，可根据细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微语义区别进行调整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8419" algn="l" rtl="0" eaLnBrk="0">
                        <a:lnSpc>
                          <a:spcPct val="105000"/>
                        </a:lnSpc>
                        <a:spcBef>
                          <a:spcPts val="234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https://openai.com/dall-e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-3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279" indent="-276859" algn="l" rtl="0" eaLnBrk="0">
                        <a:lnSpc>
                          <a:spcPct val="108000"/>
                        </a:lnSpc>
                        <a:spcBef>
                          <a:spcPts val="1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该模型能在不同场景／不同提示下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保持同一「人物／物体」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的外观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致性，包括面部特征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、姿态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、风格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5279" indent="-276859" algn="l" rtl="0" eaLnBrk="0">
                        <a:lnSpc>
                          <a:spcPct val="104000"/>
                        </a:lnSpc>
                        <a:spcBef>
                          <a:spcPts val="252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用户可以上传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多张图片，模型将其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融合成一个新的场景或画面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。比如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将人物 +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+物品合成一张图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8765" algn="l" rtl="0" eaLnBrk="0">
                        <a:lnSpc>
                          <a:spcPct val="107000"/>
                        </a:lnSpc>
                        <a:spcBef>
                          <a:spcPts val="124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支持把一个图像的“风格／纹理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应用到另一个对象风格迁移＋生成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一体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8419" algn="l" rtl="0" eaLnBrk="0">
                        <a:lnSpc>
                          <a:spcPct val="105000"/>
                        </a:lnSpc>
                        <a:spcBef>
                          <a:spcPts val="106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https://nanobanana.io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6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804" indent="-285750" algn="l" rtl="0" eaLnBrk="0">
                        <a:lnSpc>
                          <a:spcPct val="112000"/>
                        </a:lnSpc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功能有文生图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、AI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pattern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、Logo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Illustration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AI 模型训练等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5279" indent="-276225" algn="l" rtl="0" eaLnBrk="0">
                        <a:lnSpc>
                          <a:spcPct val="105000"/>
                        </a:lnSpc>
                        <a:spcBef>
                          <a:spcPts val="89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具备实时生成功能，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根据画板内容变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化，AI 会快速生成对应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的新图像，形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成接近实时的画面涂鸦重绘体验，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前在内部测试中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8129" algn="l" rtl="0" eaLnBrk="0">
                        <a:lnSpc>
                          <a:spcPct val="104000"/>
                        </a:lnSpc>
                        <a:spcBef>
                          <a:spcPts val="261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绘画工具操作非常方便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，可一键切换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风格，满足用户设计需求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055" algn="l" rtl="0" eaLnBrk="0">
                        <a:lnSpc>
                          <a:spcPct val="105000"/>
                        </a:lnSpc>
                        <a:spcBef>
                          <a:spcPts val="21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https://krea-ai.com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4" indent="-279400" algn="l" rtl="0" eaLnBrk="0">
                        <a:lnSpc>
                          <a:spcPct val="106000"/>
                        </a:lnSpc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Meta即将推出文字生成图片大模型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Emu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，可精确遵循指令，确保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图片中与指令无关的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其他元素不受影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，大模型应当仅仅专注于精确修改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与要求有关的像素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5915" indent="-276859" algn="l" rtl="0" eaLnBrk="0">
                        <a:lnSpc>
                          <a:spcPct val="104000"/>
                        </a:lnSpc>
                        <a:spcBef>
                          <a:spcPts val="247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可通过文本指令来实现对图像局部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全局的精细化控制，包括添加背景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移除背景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、替换主体等功能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055" algn="l" rtl="0" eaLnBrk="0">
                        <a:lnSpc>
                          <a:spcPct val="105000"/>
                        </a:lnSpc>
                        <a:spcBef>
                          <a:spcPts val="113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https://emu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8454" algn="l" rtl="0" eaLnBrk="0">
                        <a:lnSpc>
                          <a:spcPct val="125000"/>
                        </a:lnSpc>
                        <a:spcBef>
                          <a:spcPts val="63"/>
                        </a:spcBef>
                        <a:tabLst/>
                      </a:pP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edit.metademolab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</a:tbl>
          </a:graphicData>
        </a:graphic>
      </p:graphicFrame>
      <p:pic>
        <p:nvPicPr>
          <p:cNvPr id="228" name="picture 2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084285" y="5960059"/>
            <a:ext cx="122987" cy="168859"/>
          </a:xfrm>
          <a:prstGeom prst="rect">
            <a:avLst/>
          </a:prstGeom>
        </p:spPr>
      </p:pic>
      <p:pic>
        <p:nvPicPr>
          <p:cNvPr id="230" name="picture 2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084285" y="5358079"/>
            <a:ext cx="122987" cy="168859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084285" y="4354779"/>
            <a:ext cx="122987" cy="168859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212814" y="6060389"/>
            <a:ext cx="122986" cy="168859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212814" y="5659069"/>
            <a:ext cx="122986" cy="168859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212814" y="4856429"/>
            <a:ext cx="122986" cy="168859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212814" y="4455109"/>
            <a:ext cx="122986" cy="168859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451834" y="6160719"/>
            <a:ext cx="122986" cy="168859"/>
          </a:xfrm>
          <a:prstGeom prst="rect">
            <a:avLst/>
          </a:prstGeom>
        </p:spPr>
      </p:pic>
      <p:pic>
        <p:nvPicPr>
          <p:cNvPr id="244" name="picture 24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451834" y="5558739"/>
            <a:ext cx="122986" cy="168859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451834" y="4956759"/>
            <a:ext cx="122986" cy="168859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451834" y="4154119"/>
            <a:ext cx="122986" cy="168859"/>
          </a:xfrm>
          <a:prstGeom prst="rect">
            <a:avLst/>
          </a:prstGeom>
        </p:spPr>
      </p:pic>
      <p:pic>
        <p:nvPicPr>
          <p:cNvPr id="250" name="picture 25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84859" y="6060389"/>
            <a:ext cx="122986" cy="168859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84859" y="5659069"/>
            <a:ext cx="122986" cy="168859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84859" y="5257749"/>
            <a:ext cx="122986" cy="168859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84859" y="4455109"/>
            <a:ext cx="122986" cy="168859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3563111" y="3633215"/>
            <a:ext cx="518159" cy="388620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011936" y="3633216"/>
            <a:ext cx="655319" cy="387095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9130004" y="3131769"/>
            <a:ext cx="122987" cy="168859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130004" y="2128469"/>
            <a:ext cx="122987" cy="168859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130004" y="1526488"/>
            <a:ext cx="122987" cy="168859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6258534" y="3131769"/>
            <a:ext cx="122986" cy="168859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258534" y="2529788"/>
            <a:ext cx="122986" cy="168859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258534" y="1927809"/>
            <a:ext cx="122986" cy="168859"/>
          </a:xfrm>
          <a:prstGeom prst="rect">
            <a:avLst/>
          </a:prstGeom>
        </p:spPr>
      </p:pic>
      <p:pic>
        <p:nvPicPr>
          <p:cNvPr id="274" name="picture 27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6258534" y="1526488"/>
            <a:ext cx="122986" cy="168859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3497554" y="3232099"/>
            <a:ext cx="122986" cy="168859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3497554" y="2630119"/>
            <a:ext cx="122986" cy="168859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497554" y="2028138"/>
            <a:ext cx="122986" cy="168859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497554" y="1426159"/>
            <a:ext cx="122986" cy="168859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1030579" y="3131769"/>
            <a:ext cx="122986" cy="168859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1030579" y="2730449"/>
            <a:ext cx="121253" cy="168859"/>
          </a:xfrm>
          <a:prstGeom prst="rect">
            <a:avLst/>
          </a:prstGeom>
        </p:spPr>
      </p:pic>
      <p:pic>
        <p:nvPicPr>
          <p:cNvPr id="288" name="picture 28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1030579" y="1526488"/>
            <a:ext cx="122986" cy="168859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9044940" y="755903"/>
            <a:ext cx="428244" cy="428244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6251448" y="733044"/>
            <a:ext cx="539496" cy="526440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3393313" y="755904"/>
            <a:ext cx="545657" cy="503580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969263" y="740664"/>
            <a:ext cx="477012" cy="516635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AI绘图工具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6288023" y="3579876"/>
            <a:ext cx="495300" cy="492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picture 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304" name="table 304"/>
          <p:cNvGraphicFramePr>
            <a:graphicFrameLocks noGrp="1"/>
          </p:cNvGraphicFramePr>
          <p:nvPr/>
        </p:nvGraphicFramePr>
        <p:xfrm>
          <a:off x="357504" y="706120"/>
          <a:ext cx="11525886" cy="6101080"/>
        </p:xfrm>
        <a:graphic>
          <a:graphicData uri="http://schemas.openxmlformats.org/drawingml/2006/table">
            <a:tbl>
              <a:tblPr/>
              <a:tblGrid>
                <a:gridCol w="360045"/>
                <a:gridCol w="2519679"/>
                <a:gridCol w="377190"/>
                <a:gridCol w="116205"/>
                <a:gridCol w="377189"/>
                <a:gridCol w="569594"/>
                <a:gridCol w="1440180"/>
                <a:gridCol w="295275"/>
                <a:gridCol w="1275080"/>
                <a:gridCol w="295909"/>
                <a:gridCol w="1012825"/>
                <a:gridCol w="377189"/>
                <a:gridCol w="2509520"/>
              </a:tblGrid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DE4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55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50" dirty="0">
                          <a:solidFill>
                            <a:srgbClr val="1E386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综合绘图</a:t>
                      </a:r>
                      <a:r>
                        <a:rPr sz="1700" b="1" kern="0" spc="50" dirty="0">
                          <a:solidFill>
                            <a:srgbClr val="1E386B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eaVert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E4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2000"/>
                        </a:lnSpc>
                        <a:spcBef>
                          <a:spcPts val="4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多模态一体化创意生产力工具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270" indent="-278129" algn="l" rtl="0" eaLnBrk="0">
                        <a:lnSpc>
                          <a:spcPct val="109000"/>
                        </a:lnSpc>
                        <a:spcBef>
                          <a:spcPts val="399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集成视频内容编辑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、风格重绘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、镜头延展等多种任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务，可一次性生成带语音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、音效的视频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ct val="113000"/>
                        </a:lnSpc>
                        <a:spcBef>
                          <a:spcPts val="258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200" u="sng" kern="0" spc="-2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https://app.kli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ngai.com/cn/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3540" indent="-279400" algn="l" rtl="0" eaLnBrk="0">
                        <a:lnSpc>
                          <a:spcPct val="111000"/>
                        </a:lnSpc>
                        <a:spcBef>
                          <a:spcPts val="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剪映旗下产品，支持通过自然语言及图片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，生成高质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量的图像及视频，可应用于短视频内容制作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电影制作等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多种场景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ct val="92000"/>
                        </a:lnSpc>
                        <a:spcBef>
                          <a:spcPts val="402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提供故事创作模式，支持一站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式生成故事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ts val="1594"/>
                        </a:lnSpc>
                        <a:spcBef>
                          <a:spcPts val="342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https://jimeng.j</a:t>
                      </a:r>
                      <a:r>
                        <a:rPr sz="1200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ianying.com/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indent="9525" algn="l" rtl="0" eaLnBrk="0">
                        <a:lnSpc>
                          <a:spcPct val="11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MiniMax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公司开发，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目前是全球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增速最快的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视频工具之一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。支持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复杂物理运动（爆炸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、流体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置运镜模组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160" algn="l" rtl="0" eaLnBrk="0">
                        <a:lnSpc>
                          <a:spcPts val="1594"/>
                        </a:lnSpc>
                        <a:spcBef>
                          <a:spcPts val="340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https://ha</a:t>
                      </a:r>
                      <a:r>
                        <a:rPr sz="1200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iluoai.com/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700" b="1" kern="0" spc="80" dirty="0">
                          <a:solidFill>
                            <a:srgbClr val="1E386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eaVert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E4F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54431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2800" kern="0" spc="350" dirty="0">
                          <a:solidFill>
                            <a:srgbClr val="4D9BE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"元镜</a:t>
                      </a:r>
                      <a:endParaRPr sz="2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59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5689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500" kern="0" spc="-110" dirty="0">
                          <a:solidFill>
                            <a:srgbClr val="1F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D.</a:t>
                      </a:r>
                      <a:r>
                        <a:rPr sz="2500" kern="0" spc="-110" dirty="0">
                          <a:solidFill>
                            <a:srgbClr val="1F1F1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DESIGN堆友</a:t>
                      </a:r>
                      <a:endParaRPr sz="2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394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-70" dirty="0">
                          <a:solidFill>
                            <a:srgbClr val="1E386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频生成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eaVert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gridSpan="5"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indent="-278765" algn="l" rtl="0" eaLnBrk="0">
                        <a:lnSpc>
                          <a:spcPct val="117000"/>
                        </a:lnSpc>
                        <a:spcBef>
                          <a:spcPts val="2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元镜由ZeeLin推出，支持图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、文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、音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、视频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等多模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态输入，结合AI智能体协作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，生成高质量成片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00050" indent="-295909" algn="l" rtl="0" eaLnBrk="0">
                        <a:lnSpc>
                          <a:spcPct val="109000"/>
                        </a:lnSpc>
                        <a:spcBef>
                          <a:spcPts val="224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一句话生成可编辑视频，支持剧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本驱动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、画面风格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自选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、旁白自动生成，几分钟生成高质量内容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ct val="104000"/>
                        </a:lnSpc>
                        <a:spcBef>
                          <a:spcPts val="177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https://yuan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jing.zeelin.cn/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gridSpan="5" row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634" indent="-277495" algn="l" rtl="0" eaLnBrk="0">
                        <a:lnSpc>
                          <a:spcPct val="116000"/>
                        </a:lnSpc>
                        <a:spcBef>
                          <a:spcPts val="2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支持多种风格（如怀旧日漫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、厚涂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、赛博朋克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、写实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、卡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通等）和图生图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、局部重绘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、人脸修复等二次创作功能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270" indent="-278129" algn="l" rtl="0" eaLnBrk="0">
                        <a:lnSpc>
                          <a:spcPct val="114000"/>
                        </a:lnSpc>
                        <a:spcBef>
                          <a:spcPts val="122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平台支持AI绘画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，还支持将绘画或文字提示扩展为视频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容，适合制作动态视觉资产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ct val="104000"/>
                        </a:lnSpc>
                        <a:spcBef>
                          <a:spcPts val="17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https://d.desig</a:t>
                      </a:r>
                      <a:r>
                        <a:rPr sz="12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DE4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4" indent="-1270" algn="l" rtl="0" eaLnBrk="0">
                        <a:lnSpc>
                          <a:spcPct val="120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具备更真实的物理运动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、连贯的镜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头语言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、同步的语音与音效，效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果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DE4FB"/>
                    </a:solidFill>
                  </a:tcPr>
                </a:tc>
              </a:tr>
              <a:tr h="699769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eaVert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更快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、更真实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、更具导演感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795" algn="l" rtl="0" eaLnBrk="0">
                        <a:lnSpc>
                          <a:spcPct val="105000"/>
                        </a:lnSpc>
                        <a:spcBef>
                          <a:spcPts val="268"/>
                        </a:spcBef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https://openai.com/es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-419/sora/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4FB"/>
                    </a:solidFill>
                  </a:tcPr>
                </a:tc>
              </a:tr>
              <a:tr h="3683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264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100" dirty="0">
                          <a:solidFill>
                            <a:srgbClr val="0F0F0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氏</a:t>
                      </a:r>
                      <a:r>
                        <a:rPr sz="1500" kern="0" spc="100" dirty="0">
                          <a:solidFill>
                            <a:srgbClr val="0F0F0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runway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12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能够精准调控视频元素，具备电影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支持视频元素修改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、风格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转换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、添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80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能够从简单的文字描述中生成高清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ts val="152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DeepMind 推出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的“文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</a:tr>
              <a:tr h="21462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036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镜头质感；保真度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、一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致性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、运动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加音效与口型同步等深度编辑；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558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ts val="1521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视频和动画，可生成高清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、16:9电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58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ts val="1521"/>
                        </a:lnSpc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本／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图像提示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高保真视频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</a:tr>
              <a:tr h="2095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性显著提升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供镜头控制和关键帧过渡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等创意工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影质量的视频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，能选择超现实主义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50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1497"/>
                        </a:lnSpc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生音频</a:t>
                      </a: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(对话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、音效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环境声)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</a:tr>
              <a:tr h="48958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104000"/>
                        </a:lnSpc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https://run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wayml.com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160" algn="l" rtl="0" eaLnBrk="0">
                        <a:lnSpc>
                          <a:spcPts val="1521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https://www.pika.fr/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动漫等不同风格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92075" algn="l" rtl="0" eaLnBrk="0">
                        <a:lnSpc>
                          <a:spcPts val="1521"/>
                        </a:lnSpc>
                        <a:spcBef>
                          <a:spcPts val="254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1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https://moonvalley.me/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795" algn="l" rtl="0" eaLnBrk="0">
                        <a:lnSpc>
                          <a:spcPts val="1521"/>
                        </a:lnSpc>
                        <a:spcBef>
                          <a:spcPts val="260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https://aistudio.google.c</a:t>
                      </a:r>
                      <a:r>
                        <a:rPr sz="1200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</a:tr>
              <a:tr h="36131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78129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2000"/>
                        </a:lnSpc>
                        <a:spcBef>
                          <a:spcPts val="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由生数科技联合清华大学研发，是中国首个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基于扩散模型，采用“文生图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图生视频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ts val="152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侧重社交娱乐应用，侧重趣味性和个性化表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达；利用AI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</a:tr>
              <a:tr h="420369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634" indent="2540" algn="l" rtl="0" eaLnBrk="0">
                        <a:lnSpc>
                          <a:spcPct val="10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长时长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、高一致性的视频大模型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。多主体一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致性技术领先，成本低至1秒4分钱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5714" indent="1270" algn="l" rtl="0" eaLnBrk="0">
                        <a:lnSpc>
                          <a:spcPct val="11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两步法，通过分解步骤提升生成质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量；在对文本的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忠实度方面表现突出，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技术路线清晰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75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207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111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将文字或表情符号转化为场景，对照片进行风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格化重塑；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提供海量头像和风格模板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DD6"/>
                    </a:solidFill>
                  </a:tcPr>
                </a:tc>
              </a:tr>
              <a:tr h="27940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ts val="1521"/>
                        </a:lnSpc>
                        <a:spcBef>
                          <a:spcPts val="1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https://vidu-china</a:t>
                      </a:r>
                      <a:r>
                        <a:rPr sz="1200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52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https://emu-video.metademola</a:t>
                      </a:r>
                      <a:r>
                        <a:rPr sz="1200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b.com/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ts val="152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https://pla</a:t>
                      </a:r>
                      <a:r>
                        <a:rPr sz="1200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iday.io/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D6"/>
                    </a:solidFill>
                  </a:tcPr>
                </a:tc>
              </a:tr>
            </a:tbl>
          </a:graphicData>
        </a:graphic>
      </p:graphicFrame>
      <p:pic>
        <p:nvPicPr>
          <p:cNvPr id="306" name="picture 30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792821" y="6565569"/>
            <a:ext cx="122987" cy="168859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834866" y="6565569"/>
            <a:ext cx="122986" cy="168859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61746" y="6565569"/>
            <a:ext cx="122986" cy="168859"/>
          </a:xfrm>
          <a:prstGeom prst="rect">
            <a:avLst/>
          </a:prstGeom>
        </p:spPr>
      </p:pic>
      <p:pic>
        <p:nvPicPr>
          <p:cNvPr id="312" name="picture 31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834866" y="6127419"/>
            <a:ext cx="122986" cy="168859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7792821" y="5908344"/>
            <a:ext cx="122987" cy="168859"/>
          </a:xfrm>
          <a:prstGeom prst="rect">
            <a:avLst/>
          </a:prstGeom>
        </p:spPr>
      </p:pic>
      <p:pic>
        <p:nvPicPr>
          <p:cNvPr id="316" name="picture 31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834866" y="5908344"/>
            <a:ext cx="122986" cy="168859"/>
          </a:xfrm>
          <a:prstGeom prst="rect">
            <a:avLst/>
          </a:prstGeom>
        </p:spPr>
      </p:pic>
      <p:pic>
        <p:nvPicPr>
          <p:cNvPr id="318" name="picture 31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461746" y="5908344"/>
            <a:ext cx="122986" cy="168859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101556" y="5237784"/>
            <a:ext cx="122987" cy="168859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221831" y="5237784"/>
            <a:ext cx="122986" cy="168859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3341471" y="5237784"/>
            <a:ext cx="122986" cy="168859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461746" y="5018709"/>
            <a:ext cx="122986" cy="168859"/>
          </a:xfrm>
          <a:prstGeom prst="rect">
            <a:avLst/>
          </a:prstGeom>
        </p:spPr>
      </p:pic>
      <p:pic>
        <p:nvPicPr>
          <p:cNvPr id="328" name="picture 32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9101556" y="4361484"/>
            <a:ext cx="122987" cy="168859"/>
          </a:xfrm>
          <a:prstGeom prst="rect">
            <a:avLst/>
          </a:prstGeom>
        </p:spPr>
      </p:pic>
      <p:pic>
        <p:nvPicPr>
          <p:cNvPr id="330" name="picture 33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221831" y="4361484"/>
            <a:ext cx="122986" cy="168859"/>
          </a:xfrm>
          <a:prstGeom prst="rect">
            <a:avLst/>
          </a:prstGeom>
        </p:spPr>
      </p:pic>
      <p:pic>
        <p:nvPicPr>
          <p:cNvPr id="332" name="picture 3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3341471" y="4361484"/>
            <a:ext cx="122986" cy="168859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461746" y="4361484"/>
            <a:ext cx="122986" cy="168859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9101556" y="3439464"/>
            <a:ext cx="122987" cy="168859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101556" y="2782239"/>
            <a:ext cx="122987" cy="168859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4781651" y="3658539"/>
            <a:ext cx="122986" cy="168859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4781651" y="3220389"/>
            <a:ext cx="122986" cy="168859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4781651" y="2782239"/>
            <a:ext cx="122986" cy="168859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821791" y="3658539"/>
            <a:ext cx="122986" cy="168859"/>
          </a:xfrm>
          <a:prstGeom prst="rect">
            <a:avLst/>
          </a:prstGeom>
        </p:spPr>
      </p:pic>
      <p:pic>
        <p:nvPicPr>
          <p:cNvPr id="348" name="picture 34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821791" y="3220389"/>
            <a:ext cx="122986" cy="168859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821791" y="2782239"/>
            <a:ext cx="122986" cy="168859"/>
          </a:xfrm>
          <a:prstGeom prst="rect">
            <a:avLst/>
          </a:prstGeom>
        </p:spPr>
      </p:pic>
      <p:pic>
        <p:nvPicPr>
          <p:cNvPr id="352" name="picture 35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9101556" y="2076754"/>
            <a:ext cx="122987" cy="168859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101556" y="1190929"/>
            <a:ext cx="122987" cy="168859"/>
          </a:xfrm>
          <a:prstGeom prst="rect">
            <a:avLst/>
          </a:prstGeom>
        </p:spPr>
      </p:pic>
      <p:pic>
        <p:nvPicPr>
          <p:cNvPr id="356" name="picture 35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4781651" y="2076754"/>
            <a:ext cx="122986" cy="168859"/>
          </a:xfrm>
          <a:prstGeom prst="rect">
            <a:avLst/>
          </a:prstGeom>
        </p:spPr>
      </p:pic>
      <p:pic>
        <p:nvPicPr>
          <p:cNvPr id="358" name="picture 35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4781651" y="1848154"/>
            <a:ext cx="122986" cy="168859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4781651" y="1190929"/>
            <a:ext cx="122986" cy="168859"/>
          </a:xfrm>
          <a:prstGeom prst="rect">
            <a:avLst/>
          </a:prstGeom>
        </p:spPr>
      </p:pic>
      <p:pic>
        <p:nvPicPr>
          <p:cNvPr id="362" name="picture 36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821791" y="1966900"/>
            <a:ext cx="122986" cy="168859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821791" y="1519224"/>
            <a:ext cx="122986" cy="168859"/>
          </a:xfrm>
          <a:prstGeom prst="rect">
            <a:avLst/>
          </a:prstGeom>
        </p:spPr>
      </p:pic>
      <p:pic>
        <p:nvPicPr>
          <p:cNvPr id="366" name="picture 36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821791" y="1300149"/>
            <a:ext cx="122986" cy="168859"/>
          </a:xfrm>
          <a:prstGeom prst="rect">
            <a:avLst/>
          </a:prstGeom>
        </p:spPr>
      </p:pic>
      <p:sp>
        <p:nvSpPr>
          <p:cNvPr id="368" name="textbox 368"/>
          <p:cNvSpPr/>
          <p:nvPr/>
        </p:nvSpPr>
        <p:spPr>
          <a:xfrm>
            <a:off x="82291" y="-31740"/>
            <a:ext cx="356044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综合视觉工具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0" name="picture 37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872471" y="3945635"/>
            <a:ext cx="1580388" cy="359664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9796271" y="713232"/>
            <a:ext cx="1568195" cy="359664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3963923" y="3945635"/>
            <a:ext cx="1528571" cy="359664"/>
          </a:xfrm>
          <a:prstGeom prst="rect">
            <a:avLst/>
          </a:prstGeom>
        </p:spPr>
      </p:pic>
      <p:pic>
        <p:nvPicPr>
          <p:cNvPr id="376" name="picture 376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1284731" y="5487923"/>
            <a:ext cx="1513331" cy="359663"/>
          </a:xfrm>
          <a:prstGeom prst="rect">
            <a:avLst/>
          </a:prstGeom>
        </p:spPr>
      </p:pic>
      <p:pic>
        <p:nvPicPr>
          <p:cNvPr id="378" name="picture 37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6797040" y="3945635"/>
            <a:ext cx="1455419" cy="359664"/>
          </a:xfrm>
          <a:prstGeom prst="rect">
            <a:avLst/>
          </a:prstGeom>
        </p:spPr>
      </p:pic>
      <p:pic>
        <p:nvPicPr>
          <p:cNvPr id="380" name="picture 380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9107423" y="5487923"/>
            <a:ext cx="1403604" cy="359663"/>
          </a:xfrm>
          <a:prstGeom prst="rect">
            <a:avLst/>
          </a:prstGeom>
        </p:spPr>
      </p:pic>
      <p:pic>
        <p:nvPicPr>
          <p:cNvPr id="382" name="picture 382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5213603" y="5487923"/>
            <a:ext cx="1228344" cy="359663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6100571" y="713232"/>
            <a:ext cx="1214628" cy="359664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2257044" y="713232"/>
            <a:ext cx="1030223" cy="359664"/>
          </a:xfrm>
          <a:prstGeom prst="rect">
            <a:avLst/>
          </a:prstGeom>
        </p:spPr>
      </p:pic>
      <p:pic>
        <p:nvPicPr>
          <p:cNvPr id="388" name="picture 388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10175747" y="2366771"/>
            <a:ext cx="86105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picture 3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392" name="table 392"/>
          <p:cNvGraphicFramePr>
            <a:graphicFrameLocks noGrp="1"/>
          </p:cNvGraphicFramePr>
          <p:nvPr/>
        </p:nvGraphicFramePr>
        <p:xfrm>
          <a:off x="304038" y="732434"/>
          <a:ext cx="11618594" cy="5857874"/>
        </p:xfrm>
        <a:graphic>
          <a:graphicData uri="http://schemas.openxmlformats.org/drawingml/2006/table">
            <a:tbl>
              <a:tblPr/>
              <a:tblGrid>
                <a:gridCol w="2886075"/>
                <a:gridCol w="331470"/>
                <a:gridCol w="2548889"/>
                <a:gridCol w="278129"/>
                <a:gridCol w="2601595"/>
                <a:gridCol w="278129"/>
                <a:gridCol w="2694304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694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8620" indent="-277495" algn="l" rtl="0" eaLnBrk="0">
                        <a:lnSpc>
                          <a:spcPct val="117000"/>
                        </a:lnSpc>
                        <a:spcBef>
                          <a:spcPts val="1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专业级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人像精修软件,专为商业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摄影行业设计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。软件用美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图自研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的先进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提供一键式全自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动修图功能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8620" indent="-277495" algn="l" rtl="0" eaLnBrk="0">
                        <a:lnSpc>
                          <a:spcPct val="114000"/>
                        </a:lnSpc>
                        <a:spcBef>
                          <a:spcPts val="282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格式转换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、批量处理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智能精修和丰富预设，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能够快速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实现人像美化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、背景替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换和风格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化处理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9890" indent="-278765" algn="l" rtl="0" eaLnBrk="0">
                        <a:lnSpc>
                          <a:spcPct val="117000"/>
                        </a:lnSpc>
                        <a:spcBef>
                          <a:spcPts val="146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https://yunxiu.meitu.com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/hom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u="sng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indent="635" algn="l" rtl="0" eaLnBrk="0">
                        <a:lnSpc>
                          <a:spcPct val="122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依托多项独家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技术,帮助商业摄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影从业者高质高效完成色彩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像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、图像等后期精修工作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2705" algn="l" rtl="0" eaLnBrk="0">
                        <a:lnSpc>
                          <a:spcPct val="118000"/>
                        </a:lnSpc>
                        <a:spcBef>
                          <a:spcPts val="72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可进行中性灰磨皮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全身美型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骨骼点精细化美型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背景修复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支持自定义预设效果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并批量应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用到全部图片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6514" algn="l" rtl="0" eaLnBrk="0">
                        <a:lnSpc>
                          <a:spcPct val="113000"/>
                        </a:lnSpc>
                        <a:spcBef>
                          <a:spcPts val="142"/>
                        </a:spcBef>
                        <a:tabLst/>
                      </a:pP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https://www.pixcakeai.co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indent="3175" algn="l" rtl="0" eaLnBrk="0">
                        <a:lnSpc>
                          <a:spcPct val="11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</a:t>
                      </a:r>
                      <a:r>
                        <a:rPr sz="1200" kern="0" spc="8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处理软件，</a:t>
                      </a:r>
                      <a:r>
                        <a:rPr sz="1200" kern="0" spc="-10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旨在为</a:t>
                      </a:r>
                      <a:r>
                        <a:rPr sz="1200" kern="0" spc="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9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摄影师和摄影爱好者提供高</a:t>
                      </a:r>
                      <a:r>
                        <a:rPr sz="1200" kern="0" spc="8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</a:t>
                      </a:r>
                      <a:r>
                        <a:rPr sz="1200" kern="0" spc="-11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</a:t>
                      </a:r>
                      <a:r>
                        <a:rPr sz="1200" kern="0" spc="-10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、便捷的照片处理</a:t>
                      </a:r>
                      <a:r>
                        <a:rPr sz="1200" kern="0" spc="70" dirty="0">
                          <a:solidFill>
                            <a:srgbClr val="3E425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2870" algn="l" rtl="0" eaLnBrk="0">
                        <a:lnSpc>
                          <a:spcPct val="119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美颜功能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，保证美肤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保留自然肌理，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可精准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液化脸部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轮廓，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并支持性别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、年龄识别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优化脸部比例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3504" indent="6350" algn="l" rtl="0" eaLnBrk="0">
                        <a:lnSpc>
                          <a:spcPct val="116000"/>
                        </a:lnSpc>
                        <a:spcBef>
                          <a:spcPts val="133"/>
                        </a:spcBef>
                        <a:tabLst/>
                      </a:pP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https://www.aixtsy.com/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black</a:t>
                      </a:r>
                      <a:r>
                        <a:rPr sz="1200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_light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indent="1270" algn="l" rtl="0" eaLnBrk="0">
                        <a:lnSpc>
                          <a:spcPct val="11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人像板块提供美颜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、美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妆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、面部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重塑等功能，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支持自动与手动调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节参数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3504" indent="5080" algn="l" rtl="0" eaLnBrk="0">
                        <a:lnSpc>
                          <a:spcPct val="117000"/>
                        </a:lnSpc>
                        <a:spcBef>
                          <a:spcPts val="155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能一键美白磨皮，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能对五官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脸型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、妆容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、发丝进行精细化调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。保留皮肤质感，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告别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“假面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感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，在电脑上轻松实现专业级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的人像精修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9854" algn="l" rtl="0" eaLnBrk="0">
                        <a:lnSpc>
                          <a:spcPct val="113000"/>
                        </a:lnSpc>
                        <a:spcBef>
                          <a:spcPts val="148"/>
                        </a:spcBef>
                        <a:tabLst/>
                      </a:pP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https://www.retouchpi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cs.com/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98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5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ON1</a:t>
                      </a:r>
                      <a:r>
                        <a:rPr sz="15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Portrait Al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5457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725" indent="-274320" algn="l" rtl="0" eaLnBrk="0">
                        <a:lnSpc>
                          <a:spcPct val="114000"/>
                        </a:lnSpc>
                        <a:spcBef>
                          <a:spcPts val="4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商业级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精修软件，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广泛应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用于人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像摄影和图像处理领域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1779" algn="l" rtl="0" eaLnBrk="0">
                        <a:lnSpc>
                          <a:spcPct val="116000"/>
                        </a:lnSpc>
                        <a:spcBef>
                          <a:spcPts val="268"/>
                        </a:spcBef>
                        <a:tabLst>
                          <a:tab pos="19557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提供从皮肤修饰到全身智能液化的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全方位修图功能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。其特点包括皮肤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美化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、脸部重塑与妆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容调整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、全身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美型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、幕布处理以及自动换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天空等，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能够满足专业摄影师和修图师对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品质图片的需求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5405" algn="l" rtl="0" eaLnBrk="0">
                        <a:lnSpc>
                          <a:spcPct val="113000"/>
                        </a:lnSpc>
                        <a:spcBef>
                          <a:spcPts val="136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w.chging.com/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indent="3810" algn="l" rtl="0" eaLnBrk="0">
                        <a:lnSpc>
                          <a:spcPct val="116000"/>
                        </a:lnSpc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专业人像修图工具，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动识别和分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析照片中的人脸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，精准调整肤色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光影和细节，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处理效果细腻自然,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适合打造精致人像作品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0" indent="3175" algn="l" rtl="0" eaLnBrk="0">
                        <a:lnSpc>
                          <a:spcPct val="11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Lightroom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Photoshop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缝集成：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方便在已有工作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流中直接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</a:t>
                      </a:r>
                      <a:r>
                        <a:rPr sz="12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Portrait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的强大功能，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升工作效率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0" indent="6350" algn="l" rtl="0" eaLnBrk="0">
                        <a:lnSpc>
                          <a:spcPct val="116000"/>
                        </a:lnSpc>
                        <a:spcBef>
                          <a:spcPts val="142"/>
                        </a:spcBef>
                        <a:tabLst/>
                      </a:pP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https://www.on1.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com/products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portrait</a:t>
                      </a:r>
                      <a:r>
                        <a:rPr sz="1200" u="sng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-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ai</a:t>
                      </a:r>
                      <a:r>
                        <a:rPr sz="1200" u="sng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" indent="8889" algn="l" rtl="0" eaLnBrk="0">
                        <a:lnSpc>
                          <a:spcPct val="120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Luminar</a:t>
                      </a:r>
                      <a:r>
                        <a:rPr sz="12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Neo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专为摄影师设计，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提供直观的工作流程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055" indent="635" algn="l" rtl="0" eaLnBrk="0">
                        <a:lnSpc>
                          <a:spcPct val="114000"/>
                        </a:lnSpc>
                        <a:spcBef>
                          <a:spcPts val="358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其核心亮点是将复杂的后期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处理简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化为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“滑块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”，提供如天空替换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人像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工具包（皮肤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、眼睛增强）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等强大的一键式功能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，无需深厚后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期功底也能快速获得专业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级效果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4135" algn="l" rtl="0" eaLnBrk="0">
                        <a:lnSpc>
                          <a:spcPct val="121000"/>
                        </a:lnSpc>
                        <a:spcBef>
                          <a:spcPts val="144"/>
                        </a:spcBef>
                        <a:tabLst/>
                      </a:pP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https://luminarneo.mairuan.co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75" indent="12700" algn="l" rtl="0" eaLnBrk="0">
                        <a:lnSpc>
                          <a:spcPct val="111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以老照片修复和画质增强而闻名的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工具同时也提供流行的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特效滤镜，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是修复珍贵旧影象的得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力助手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785" algn="l" rtl="0" eaLnBrk="0">
                        <a:lnSpc>
                          <a:spcPts val="1642"/>
                        </a:lnSpc>
                        <a:spcBef>
                          <a:spcPts val="132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提供多种基于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的图像处理功能，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8419" algn="l" rtl="0" eaLnBrk="0">
                        <a:lnSpc>
                          <a:spcPct val="87000"/>
                        </a:lnSpc>
                        <a:spcBef>
                          <a:spcPts val="308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“黏土滤镜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”“瓷器滤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689" indent="-3175" algn="l" rtl="0" eaLnBrk="0">
                        <a:lnSpc>
                          <a:spcPct val="119000"/>
                        </a:lnSpc>
                        <a:spcBef>
                          <a:spcPts val="188"/>
                        </a:spcBef>
                        <a:tabLst/>
                      </a:pP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镜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”“游戏滤镜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”及“生成婴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儿照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，支持用户对照片进行风格化转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296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换与画质增强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4135" algn="l" rtl="0" eaLnBrk="0">
                        <a:lnSpc>
                          <a:spcPct val="113000"/>
                        </a:lnSpc>
                        <a:spcBef>
                          <a:spcPts val="214"/>
                        </a:spcBef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remini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ai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</a:tbl>
          </a:graphicData>
        </a:graphic>
      </p:graphicFrame>
      <p:pic>
        <p:nvPicPr>
          <p:cNvPr id="394" name="picture 3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009733" y="6092099"/>
            <a:ext cx="132722" cy="182227"/>
          </a:xfrm>
          <a:prstGeom prst="rect">
            <a:avLst/>
          </a:prstGeom>
        </p:spPr>
      </p:pic>
      <p:pic>
        <p:nvPicPr>
          <p:cNvPr id="396" name="picture 3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009733" y="5003075"/>
            <a:ext cx="132722" cy="182227"/>
          </a:xfrm>
          <a:prstGeom prst="rect">
            <a:avLst/>
          </a:prstGeom>
        </p:spPr>
      </p:pic>
      <p:pic>
        <p:nvPicPr>
          <p:cNvPr id="398" name="picture 39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009733" y="4349660"/>
            <a:ext cx="132722" cy="182227"/>
          </a:xfrm>
          <a:prstGeom prst="rect">
            <a:avLst/>
          </a:prstGeom>
        </p:spPr>
      </p:pic>
      <p:pic>
        <p:nvPicPr>
          <p:cNvPr id="400" name="picture 4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130008" y="5874295"/>
            <a:ext cx="132723" cy="182227"/>
          </a:xfrm>
          <a:prstGeom prst="rect">
            <a:avLst/>
          </a:prstGeom>
        </p:spPr>
      </p:pic>
      <p:pic>
        <p:nvPicPr>
          <p:cNvPr id="402" name="picture 40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130008" y="4785269"/>
            <a:ext cx="132723" cy="182227"/>
          </a:xfrm>
          <a:prstGeom prst="rect">
            <a:avLst/>
          </a:prstGeom>
        </p:spPr>
      </p:pic>
      <p:pic>
        <p:nvPicPr>
          <p:cNvPr id="404" name="picture 40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130008" y="4349660"/>
            <a:ext cx="132723" cy="182227"/>
          </a:xfrm>
          <a:prstGeom prst="rect">
            <a:avLst/>
          </a:prstGeom>
        </p:spPr>
      </p:pic>
      <p:pic>
        <p:nvPicPr>
          <p:cNvPr id="406" name="picture 40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249647" y="5982880"/>
            <a:ext cx="132723" cy="182227"/>
          </a:xfrm>
          <a:prstGeom prst="rect">
            <a:avLst/>
          </a:prstGeom>
        </p:spPr>
      </p:pic>
      <p:pic>
        <p:nvPicPr>
          <p:cNvPr id="408" name="picture 40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249647" y="5111660"/>
            <a:ext cx="132723" cy="182227"/>
          </a:xfrm>
          <a:prstGeom prst="rect">
            <a:avLst/>
          </a:prstGeom>
        </p:spPr>
      </p:pic>
      <p:pic>
        <p:nvPicPr>
          <p:cNvPr id="410" name="picture 41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249647" y="4240439"/>
            <a:ext cx="132723" cy="182227"/>
          </a:xfrm>
          <a:prstGeom prst="rect">
            <a:avLst/>
          </a:prstGeom>
        </p:spPr>
      </p:pic>
      <p:pic>
        <p:nvPicPr>
          <p:cNvPr id="412" name="picture 4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69923" y="6092099"/>
            <a:ext cx="132723" cy="182227"/>
          </a:xfrm>
          <a:prstGeom prst="rect">
            <a:avLst/>
          </a:prstGeom>
        </p:spPr>
      </p:pic>
      <p:pic>
        <p:nvPicPr>
          <p:cNvPr id="414" name="picture 41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69923" y="4785269"/>
            <a:ext cx="130036" cy="182227"/>
          </a:xfrm>
          <a:prstGeom prst="rect">
            <a:avLst/>
          </a:prstGeom>
        </p:spPr>
      </p:pic>
      <p:pic>
        <p:nvPicPr>
          <p:cNvPr id="416" name="picture 41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69923" y="4349660"/>
            <a:ext cx="132723" cy="182227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9055453" y="3178085"/>
            <a:ext cx="132722" cy="182227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055453" y="2089060"/>
            <a:ext cx="132722" cy="182227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055453" y="1435644"/>
            <a:ext cx="132722" cy="182227"/>
          </a:xfrm>
          <a:prstGeom prst="rect">
            <a:avLst/>
          </a:prstGeom>
        </p:spPr>
      </p:pic>
      <p:pic>
        <p:nvPicPr>
          <p:cNvPr id="424" name="picture 4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175728" y="2960279"/>
            <a:ext cx="132723" cy="182227"/>
          </a:xfrm>
          <a:prstGeom prst="rect">
            <a:avLst/>
          </a:prstGeom>
        </p:spPr>
      </p:pic>
      <p:pic>
        <p:nvPicPr>
          <p:cNvPr id="426" name="picture 4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175728" y="2089060"/>
            <a:ext cx="132723" cy="182227"/>
          </a:xfrm>
          <a:prstGeom prst="rect">
            <a:avLst/>
          </a:prstGeom>
        </p:spPr>
      </p:pic>
      <p:pic>
        <p:nvPicPr>
          <p:cNvPr id="428" name="picture 4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175728" y="1435644"/>
            <a:ext cx="132723" cy="182227"/>
          </a:xfrm>
          <a:prstGeom prst="rect">
            <a:avLst/>
          </a:prstGeom>
        </p:spPr>
      </p:pic>
      <p:pic>
        <p:nvPicPr>
          <p:cNvPr id="430" name="picture 4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3295367" y="3069500"/>
            <a:ext cx="132723" cy="182227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295367" y="2198279"/>
            <a:ext cx="132723" cy="182227"/>
          </a:xfrm>
          <a:prstGeom prst="rect">
            <a:avLst/>
          </a:prstGeom>
        </p:spPr>
      </p:pic>
      <p:pic>
        <p:nvPicPr>
          <p:cNvPr id="434" name="picture 43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3295367" y="1544865"/>
            <a:ext cx="132723" cy="182227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415643" y="3069500"/>
            <a:ext cx="132723" cy="182227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415643" y="2198279"/>
            <a:ext cx="132723" cy="182227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415643" y="1327060"/>
            <a:ext cx="132723" cy="182227"/>
          </a:xfrm>
          <a:prstGeom prst="rect">
            <a:avLst/>
          </a:prstGeom>
        </p:spPr>
      </p:pic>
      <p:sp>
        <p:nvSpPr>
          <p:cNvPr id="442" name="textbox 442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AI变美工具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44" name="picture 44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509004" y="3572256"/>
            <a:ext cx="2093976" cy="431291"/>
          </a:xfrm>
          <a:prstGeom prst="rect">
            <a:avLst/>
          </a:prstGeom>
        </p:spPr>
      </p:pic>
      <p:pic>
        <p:nvPicPr>
          <p:cNvPr id="446" name="picture 44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1121663" y="787908"/>
            <a:ext cx="1459991" cy="431291"/>
          </a:xfrm>
          <a:prstGeom prst="rect">
            <a:avLst/>
          </a:prstGeom>
        </p:spPr>
      </p:pic>
      <p:pic>
        <p:nvPicPr>
          <p:cNvPr id="448" name="picture 44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3995928" y="787908"/>
            <a:ext cx="1386840" cy="431291"/>
          </a:xfrm>
          <a:prstGeom prst="rect">
            <a:avLst/>
          </a:prstGeom>
        </p:spPr>
      </p:pic>
      <p:pic>
        <p:nvPicPr>
          <p:cNvPr id="450" name="picture 45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9808464" y="787908"/>
            <a:ext cx="1176528" cy="431291"/>
          </a:xfrm>
          <a:prstGeom prst="rect">
            <a:avLst/>
          </a:prstGeom>
        </p:spPr>
      </p:pic>
      <p:pic>
        <p:nvPicPr>
          <p:cNvPr id="452" name="picture 45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9831323" y="3572256"/>
            <a:ext cx="1130807" cy="431291"/>
          </a:xfrm>
          <a:prstGeom prst="rect">
            <a:avLst/>
          </a:prstGeom>
        </p:spPr>
      </p:pic>
      <p:pic>
        <p:nvPicPr>
          <p:cNvPr id="454" name="picture 45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6993635" y="787908"/>
            <a:ext cx="1123188" cy="431291"/>
          </a:xfrm>
          <a:prstGeom prst="rect">
            <a:avLst/>
          </a:prstGeom>
        </p:spPr>
      </p:pic>
      <p:pic>
        <p:nvPicPr>
          <p:cNvPr id="456" name="picture 45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1347216" y="3572256"/>
            <a:ext cx="1010411" cy="431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460" name="table 460"/>
          <p:cNvGraphicFramePr>
            <a:graphicFrameLocks noGrp="1"/>
          </p:cNvGraphicFramePr>
          <p:nvPr/>
        </p:nvGraphicFramePr>
        <p:xfrm>
          <a:off x="305434" y="732154"/>
          <a:ext cx="11711940" cy="5652770"/>
        </p:xfrm>
        <a:graphic>
          <a:graphicData uri="http://schemas.openxmlformats.org/drawingml/2006/table">
            <a:tbl>
              <a:tblPr/>
              <a:tblGrid>
                <a:gridCol w="2346325"/>
                <a:gridCol w="2339339"/>
                <a:gridCol w="2339975"/>
                <a:gridCol w="2339975"/>
                <a:gridCol w="2346325"/>
              </a:tblGrid>
              <a:tr h="447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4864" algn="l" rtl="0" eaLnBrk="0">
                        <a:lnSpc>
                          <a:spcPts val="2022"/>
                        </a:lnSpc>
                        <a:spcBef>
                          <a:spcPts val="1"/>
                        </a:spcBef>
                        <a:tabLst>
                          <a:tab pos="937260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Suno</a:t>
                      </a:r>
                      <a:r>
                        <a:rPr sz="15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9664" algn="l" rtl="0" eaLnBrk="0">
                        <a:lnSpc>
                          <a:spcPts val="202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Udio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5989" algn="l" rtl="0" eaLnBrk="0">
                        <a:lnSpc>
                          <a:spcPts val="202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AIVA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3760" algn="l" rtl="0" eaLnBrk="0">
                        <a:lnSpc>
                          <a:spcPts val="2022"/>
                        </a:lnSpc>
                        <a:spcBef>
                          <a:spcPts val="1"/>
                        </a:spcBef>
                        <a:tabLst>
                          <a:tab pos="970280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Noiz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1355" algn="l" rtl="0" eaLnBrk="0">
                        <a:lnSpc>
                          <a:spcPts val="2022"/>
                        </a:lnSpc>
                        <a:spcBef>
                          <a:spcPts val="1"/>
                        </a:spcBef>
                        <a:tabLst>
                          <a:tab pos="774065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Sound</a:t>
                      </a:r>
                      <a:r>
                        <a:rPr sz="1500" b="1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raw.io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250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indent="-27749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>
                          <a:tab pos="256540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支持文本直接生成完整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歌曲，含旋律</a:t>
                      </a:r>
                      <a:r>
                        <a:rPr sz="14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、伴奏与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人声。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9890" indent="-277495" algn="l" rtl="0" eaLnBrk="0">
                        <a:lnSpc>
                          <a:spcPct val="92000"/>
                        </a:lnSpc>
                        <a:spcBef>
                          <a:spcPts val="258"/>
                        </a:spcBef>
                        <a:tabLst>
                          <a:tab pos="256540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歌词语义理解强，可自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然控制情绪和节奏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7984" indent="-275590" algn="l" rtl="0" eaLnBrk="0">
                        <a:lnSpc>
                          <a:spcPct val="94000"/>
                        </a:lnSpc>
                        <a:spcBef>
                          <a:spcPts val="278"/>
                        </a:spcBef>
                        <a:tabLst>
                          <a:tab pos="256540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输出音质高，广泛用于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社交媒体创作与音乐发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2395" algn="l" rtl="0" eaLnBrk="0">
                        <a:lnSpc>
                          <a:spcPct val="105000"/>
                        </a:lnSpc>
                        <a:spcBef>
                          <a:spcPts val="130"/>
                        </a:spcBef>
                        <a:tabLst>
                          <a:tab pos="256540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</a:t>
                      </a:r>
                      <a:r>
                        <a:rPr sz="14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.suno.cn/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3540" indent="-27749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>
                          <a:tab pos="250190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新兴文本→歌曲平台</a:t>
                      </a:r>
                      <a:r>
                        <a:rPr sz="14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声音拟真度高，演唱自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然流畅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4175" indent="-278129" algn="l" rtl="0" eaLnBrk="0">
                        <a:lnSpc>
                          <a:spcPct val="95000"/>
                        </a:lnSpc>
                        <a:spcBef>
                          <a:spcPts val="265"/>
                        </a:spcBef>
                        <a:tabLst>
                          <a:tab pos="250190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支持歌词</a:t>
                      </a:r>
                      <a:r>
                        <a:rPr sz="14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、旋律</a:t>
                      </a:r>
                      <a:r>
                        <a:rPr sz="14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、人</a:t>
                      </a: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一体生成，风格覆盖广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3540" indent="-277495" algn="l" rtl="0" eaLnBrk="0">
                        <a:lnSpc>
                          <a:spcPct val="95000"/>
                        </a:lnSpc>
                        <a:spcBef>
                          <a:spcPts val="136"/>
                        </a:spcBef>
                        <a:tabLst>
                          <a:tab pos="250190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强调作品的节奏与情感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连贯性，适合品牌及广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告音乐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8620" indent="-282575" algn="l" rtl="0" eaLnBrk="0">
                        <a:lnSpc>
                          <a:spcPct val="108000"/>
                        </a:lnSpc>
                        <a:spcBef>
                          <a:spcPts val="104"/>
                        </a:spcBef>
                        <a:tabLst>
                          <a:tab pos="250190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https://www.u</a:t>
                      </a:r>
                      <a:r>
                        <a:rPr sz="14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dio.co</a:t>
                      </a: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0" indent="-27432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专业级作曲AI，擅长古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</a:t>
                      </a:r>
                      <a:r>
                        <a:rPr sz="14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、交响</a:t>
                      </a:r>
                      <a:r>
                        <a:rPr sz="14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、电影配乐风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8620" indent="-281940" algn="l" rtl="0" eaLnBrk="0">
                        <a:lnSpc>
                          <a:spcPct val="97000"/>
                        </a:lnSpc>
                        <a:spcBef>
                          <a:spcPts val="117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可导出MIDI供音乐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人二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次编曲与混音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904" indent="-276225" algn="l" rtl="0" eaLnBrk="0">
                        <a:lnSpc>
                          <a:spcPct val="92000"/>
                        </a:lnSpc>
                        <a:spcBef>
                          <a:spcPts val="286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作曲逻辑严谨，可控制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和声复杂度与乐器布局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6679" algn="l" rtl="0" eaLnBrk="0">
                        <a:lnSpc>
                          <a:spcPct val="105000"/>
                        </a:lnSpc>
                        <a:spcBef>
                          <a:spcPts val="94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</a:t>
                      </a:r>
                      <a:r>
                        <a:rPr sz="14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.aiva.ai/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0" indent="-27432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完全免费的AI配音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神器，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网页即可使用，只需要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截取3~10秒的纯人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</a:t>
                      </a:r>
                      <a:r>
                        <a:rPr sz="14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就能实现效果逼真的声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音克隆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6679" algn="l" rtl="0" eaLnBrk="0">
                        <a:lnSpc>
                          <a:spcPct val="105000"/>
                        </a:lnSpc>
                        <a:spcBef>
                          <a:spcPts val="99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https://noiz.c</a:t>
                      </a:r>
                      <a:r>
                        <a:rPr sz="14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indent="-276225" algn="l" rtl="0" eaLnBrk="0">
                        <a:lnSpc>
                          <a:spcPct val="92000"/>
                        </a:lnSpc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文本提示生成音乐，结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构可自由编辑与延展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4175" indent="-277495" algn="l" rtl="0" eaLnBrk="0">
                        <a:lnSpc>
                          <a:spcPct val="95000"/>
                        </a:lnSpc>
                        <a:spcBef>
                          <a:spcPts val="250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支持段落替换</a:t>
                      </a:r>
                      <a:r>
                        <a:rPr sz="14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、节奏调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</a:t>
                      </a:r>
                      <a:r>
                        <a:rPr sz="14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、乐器变换等细节修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904" indent="-276225" algn="l" rtl="0" eaLnBrk="0">
                        <a:lnSpc>
                          <a:spcPct val="92000"/>
                        </a:lnSpc>
                        <a:spcBef>
                          <a:spcPts val="279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适合内容创作者快速获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得可商用音乐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6679" algn="l" rtl="0" eaLnBrk="0">
                        <a:lnSpc>
                          <a:spcPct val="105000"/>
                        </a:lnSpc>
                        <a:spcBef>
                          <a:spcPts val="102"/>
                        </a:spcBef>
                        <a:tabLst>
                          <a:tab pos="250825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https://soundraw.</a:t>
                      </a:r>
                      <a:r>
                        <a:rPr sz="14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io/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9305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网易天音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440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TME Studio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771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魔音工坊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089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>
                          <a:tab pos="869950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海绵音乐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526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170" indent="-27749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>
                          <a:tab pos="210820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自动生成旋律</a:t>
                      </a:r>
                      <a:r>
                        <a:rPr sz="14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、配器与和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声，风格多样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2740" indent="-266065" algn="l" rtl="0" eaLnBrk="0">
                        <a:lnSpc>
                          <a:spcPct val="92000"/>
                        </a:lnSpc>
                        <a:spcBef>
                          <a:spcPts val="167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支持歌词输入与旋律延</a:t>
                      </a: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展，</a:t>
                      </a: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适合短视频与歌曲创作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6709" indent="-280034" algn="l" rtl="0" eaLnBrk="0">
                        <a:lnSpc>
                          <a:spcPct val="97000"/>
                        </a:lnSpc>
                        <a:spcBef>
                          <a:spcPts val="93"/>
                        </a:spcBef>
                        <a:tabLst>
                          <a:tab pos="210820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输出可编辑MIDI，方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音乐人二次加工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8615" indent="-281940" algn="l" rtl="0" eaLnBrk="0">
                        <a:lnSpc>
                          <a:spcPct val="108000"/>
                        </a:lnSpc>
                        <a:spcBef>
                          <a:spcPts val="98"/>
                        </a:spcBef>
                        <a:tabLst>
                          <a:tab pos="210820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https://tianyin.music.1</a:t>
                      </a: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63.com/#/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4645" indent="-275590" algn="l" rtl="0" eaLnBrk="0">
                        <a:lnSpc>
                          <a:spcPct val="110000"/>
                        </a:lnSpc>
                        <a:spcBef>
                          <a:spcPts val="1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TME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Studio</a:t>
                      </a: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是腾讯音乐推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音乐生成工具，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备多项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包括音乐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分离（分离人声与乐器） 、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MIR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计算（分析音乐的节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奏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、调性等信息） 、辅助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写词（提供押韵建议激发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灵感）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和智能曲谱（生成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吉他曲谱）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1629" indent="-282575" algn="l" rtl="0" eaLnBrk="0">
                        <a:lnSpc>
                          <a:spcPct val="116000"/>
                        </a:lnSpc>
                        <a:spcBef>
                          <a:spcPts val="135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://y.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qq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com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tme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_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st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udio</a:t>
                      </a:r>
                      <a:r>
                        <a:rPr sz="1200" u="sng" kern="0" spc="10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index</a:t>
                      </a:r>
                      <a:r>
                        <a:rPr sz="1200" u="sng" kern="0" spc="10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html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0" indent="-275590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一站式播客生产， 集脚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本生成</a:t>
                      </a:r>
                      <a:r>
                        <a:rPr sz="14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、文字转语音</a:t>
                      </a:r>
                      <a:r>
                        <a:rPr sz="14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、音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色克隆</a:t>
                      </a:r>
                      <a:r>
                        <a:rPr sz="14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、配乐于一体，覆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盖从创意到成片的完整流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8454" indent="-277495" algn="l" rtl="0" eaLnBrk="0">
                        <a:lnSpc>
                          <a:spcPct val="95000"/>
                        </a:lnSpc>
                        <a:spcBef>
                          <a:spcPts val="268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合成音支持语气</a:t>
                      </a:r>
                      <a:r>
                        <a:rPr sz="14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、语速</a:t>
                      </a:r>
                      <a:r>
                        <a:rPr sz="14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风格等参数调节，可做解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</a:t>
                      </a:r>
                      <a:r>
                        <a:rPr sz="14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、角色配音与播客主持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2900" indent="-281940" algn="l" rtl="0" eaLnBrk="0">
                        <a:lnSpc>
                          <a:spcPct val="108000"/>
                        </a:lnSpc>
                        <a:spcBef>
                          <a:spcPts val="91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https://aud</a:t>
                      </a:r>
                      <a:r>
                        <a:rPr sz="14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iomyst.baid</a:t>
                      </a: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u.com/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4" indent="-2774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提供AI配音</a:t>
                      </a:r>
                      <a:r>
                        <a:rPr sz="14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、AI歌唱</a:t>
                      </a:r>
                      <a:r>
                        <a:rPr sz="14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、音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色克隆一站式服务。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0995" indent="-280034" algn="l" rtl="0" eaLnBrk="0">
                        <a:lnSpc>
                          <a:spcPct val="92000"/>
                        </a:lnSpc>
                        <a:spcBef>
                          <a:spcPts val="261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音色数量丰富，可精确控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制语速</a:t>
                      </a:r>
                      <a:r>
                        <a:rPr sz="14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、情绪与节奏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8454" indent="-277495" algn="l" rtl="0" eaLnBrk="0">
                        <a:lnSpc>
                          <a:spcPct val="92000"/>
                        </a:lnSpc>
                        <a:spcBef>
                          <a:spcPts val="273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适合广告</a:t>
                      </a:r>
                      <a:r>
                        <a:rPr sz="14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、动画</a:t>
                      </a:r>
                      <a:r>
                        <a:rPr sz="14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、企业培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训及各类内容创作场景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3534" indent="-282575" algn="l" rtl="0" eaLnBrk="0">
                        <a:lnSpc>
                          <a:spcPct val="108000"/>
                        </a:lnSpc>
                        <a:spcBef>
                          <a:spcPts val="89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https://www.moyin.</a:t>
                      </a:r>
                      <a:r>
                        <a:rPr sz="14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</a:t>
                      </a: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820" indent="-276859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支持“灵感成曲 /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写词成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曲 /</a:t>
                      </a:r>
                      <a:r>
                        <a:rPr sz="1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图片成曲</a:t>
                      </a:r>
                      <a:r>
                        <a:rPr sz="14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”，可直</a:t>
                      </a: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生成含人声＋伴奏的完整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中文歌曲，风格与情绪可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6550" indent="-275590" algn="l" rtl="0" eaLnBrk="0">
                        <a:lnSpc>
                          <a:spcPct val="96000"/>
                        </a:lnSpc>
                        <a:spcBef>
                          <a:spcPts val="296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人声自然</a:t>
                      </a:r>
                      <a:r>
                        <a:rPr sz="14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、吐字清晰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，适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合流行/说唱等中文曲风，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内容在抖音生态中便于传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播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9090" indent="-278129" algn="l" rtl="0" eaLnBrk="0">
                        <a:lnSpc>
                          <a:spcPct val="108000"/>
                        </a:lnSpc>
                        <a:spcBef>
                          <a:spcPts val="105"/>
                        </a:spcBef>
                        <a:tabLst>
                          <a:tab pos="205104" algn="l"/>
                        </a:tabLst>
                      </a:pP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400" kern="0" spc="1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u="sng" kern="0" spc="-3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https://www.haimian.c</a:t>
                      </a:r>
                      <a:r>
                        <a:rPr sz="14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u="sng" kern="0" spc="-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om/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</a:tbl>
          </a:graphicData>
        </a:graphic>
      </p:graphicFrame>
      <p:pic>
        <p:nvPicPr>
          <p:cNvPr id="462" name="picture 4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732392" y="5863375"/>
            <a:ext cx="143997" cy="197705"/>
          </a:xfrm>
          <a:prstGeom prst="rect">
            <a:avLst/>
          </a:prstGeom>
        </p:spPr>
      </p:pic>
      <p:pic>
        <p:nvPicPr>
          <p:cNvPr id="464" name="picture 4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732392" y="5009935"/>
            <a:ext cx="143997" cy="197705"/>
          </a:xfrm>
          <a:prstGeom prst="rect">
            <a:avLst/>
          </a:prstGeom>
        </p:spPr>
      </p:pic>
      <p:pic>
        <p:nvPicPr>
          <p:cNvPr id="466" name="picture 46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732392" y="3943135"/>
            <a:ext cx="143997" cy="197705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392418" y="5543335"/>
            <a:ext cx="143997" cy="197705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392418" y="5116615"/>
            <a:ext cx="143997" cy="197705"/>
          </a:xfrm>
          <a:prstGeom prst="rect">
            <a:avLst/>
          </a:prstGeom>
        </p:spPr>
      </p:pic>
      <p:pic>
        <p:nvPicPr>
          <p:cNvPr id="472" name="picture 47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392418" y="4689895"/>
            <a:ext cx="143997" cy="197705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392418" y="4263175"/>
            <a:ext cx="143997" cy="197705"/>
          </a:xfrm>
          <a:prstGeom prst="rect">
            <a:avLst/>
          </a:prstGeom>
        </p:spPr>
      </p:pic>
      <p:pic>
        <p:nvPicPr>
          <p:cNvPr id="476" name="picture 47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052443" y="5756695"/>
            <a:ext cx="143997" cy="197705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052443" y="5116615"/>
            <a:ext cx="143997" cy="197705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052443" y="4049815"/>
            <a:ext cx="143997" cy="197705"/>
          </a:xfrm>
          <a:prstGeom prst="rect">
            <a:avLst/>
          </a:prstGeom>
        </p:spPr>
      </p:pic>
      <p:pic>
        <p:nvPicPr>
          <p:cNvPr id="482" name="picture 48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711294" y="5830200"/>
            <a:ext cx="132723" cy="182227"/>
          </a:xfrm>
          <a:prstGeom prst="rect">
            <a:avLst/>
          </a:prstGeom>
        </p:spPr>
      </p:pic>
      <p:pic>
        <p:nvPicPr>
          <p:cNvPr id="484" name="picture 48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711294" y="4009020"/>
            <a:ext cx="132723" cy="182227"/>
          </a:xfrm>
          <a:prstGeom prst="rect">
            <a:avLst/>
          </a:prstGeom>
        </p:spPr>
      </p:pic>
      <p:pic>
        <p:nvPicPr>
          <p:cNvPr id="486" name="picture 48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72493" y="5543335"/>
            <a:ext cx="143997" cy="197705"/>
          </a:xfrm>
          <a:prstGeom prst="rect">
            <a:avLst/>
          </a:prstGeom>
        </p:spPr>
      </p:pic>
      <p:pic>
        <p:nvPicPr>
          <p:cNvPr id="488" name="picture 48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72493" y="5116615"/>
            <a:ext cx="143997" cy="197705"/>
          </a:xfrm>
          <a:prstGeom prst="rect">
            <a:avLst/>
          </a:prstGeom>
        </p:spPr>
      </p:pic>
      <p:pic>
        <p:nvPicPr>
          <p:cNvPr id="490" name="picture 49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72493" y="4689895"/>
            <a:ext cx="138459" cy="197705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72493" y="4263175"/>
            <a:ext cx="143997" cy="197705"/>
          </a:xfrm>
          <a:prstGeom prst="rect">
            <a:avLst/>
          </a:prstGeom>
        </p:spPr>
      </p:pic>
      <p:pic>
        <p:nvPicPr>
          <p:cNvPr id="494" name="picture 49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0040111" y="3413760"/>
            <a:ext cx="441959" cy="438784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7674864" y="3457955"/>
            <a:ext cx="373380" cy="359664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2793491" y="3429000"/>
            <a:ext cx="800100" cy="423544"/>
          </a:xfrm>
          <a:prstGeom prst="rect">
            <a:avLst/>
          </a:prstGeom>
        </p:spPr>
      </p:pic>
      <p:pic>
        <p:nvPicPr>
          <p:cNvPr id="500" name="picture 50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716280" y="3429000"/>
            <a:ext cx="326136" cy="381000"/>
          </a:xfrm>
          <a:prstGeom prst="rect">
            <a:avLst/>
          </a:prstGeom>
        </p:spPr>
      </p:pic>
      <p:pic>
        <p:nvPicPr>
          <p:cNvPr id="502" name="picture 50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9778113" y="2929675"/>
            <a:ext cx="143997" cy="197706"/>
          </a:xfrm>
          <a:prstGeom prst="rect">
            <a:avLst/>
          </a:prstGeom>
        </p:spPr>
      </p:pic>
      <p:pic>
        <p:nvPicPr>
          <p:cNvPr id="504" name="picture 50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778113" y="2502955"/>
            <a:ext cx="143997" cy="197706"/>
          </a:xfrm>
          <a:prstGeom prst="rect">
            <a:avLst/>
          </a:prstGeom>
        </p:spPr>
      </p:pic>
      <p:pic>
        <p:nvPicPr>
          <p:cNvPr id="506" name="picture 50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778113" y="1862875"/>
            <a:ext cx="143997" cy="197706"/>
          </a:xfrm>
          <a:prstGeom prst="rect">
            <a:avLst/>
          </a:prstGeom>
        </p:spPr>
      </p:pic>
      <p:pic>
        <p:nvPicPr>
          <p:cNvPr id="508" name="picture 50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9778113" y="1436155"/>
            <a:ext cx="143997" cy="197706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7438138" y="2609635"/>
            <a:ext cx="143997" cy="197706"/>
          </a:xfrm>
          <a:prstGeom prst="rect">
            <a:avLst/>
          </a:prstGeom>
        </p:spPr>
      </p:pic>
      <p:pic>
        <p:nvPicPr>
          <p:cNvPr id="512" name="picture 51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7438138" y="1542835"/>
            <a:ext cx="143997" cy="197706"/>
          </a:xfrm>
          <a:prstGeom prst="rect">
            <a:avLst/>
          </a:prstGeom>
        </p:spPr>
      </p:pic>
      <p:pic>
        <p:nvPicPr>
          <p:cNvPr id="514" name="picture 51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5098163" y="2822995"/>
            <a:ext cx="143997" cy="197706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5098163" y="2396275"/>
            <a:ext cx="143997" cy="197706"/>
          </a:xfrm>
          <a:prstGeom prst="rect">
            <a:avLst/>
          </a:prstGeom>
        </p:spPr>
      </p:pic>
      <p:pic>
        <p:nvPicPr>
          <p:cNvPr id="518" name="picture 51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5098163" y="1969555"/>
            <a:ext cx="143997" cy="197706"/>
          </a:xfrm>
          <a:prstGeom prst="rect">
            <a:avLst/>
          </a:prstGeom>
        </p:spPr>
      </p:pic>
      <p:pic>
        <p:nvPicPr>
          <p:cNvPr id="520" name="picture 52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5098163" y="1329475"/>
            <a:ext cx="143997" cy="197706"/>
          </a:xfrm>
          <a:prstGeom prst="rect">
            <a:avLst/>
          </a:prstGeom>
        </p:spPr>
      </p:pic>
      <p:pic>
        <p:nvPicPr>
          <p:cNvPr id="522" name="picture 52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2758188" y="2929675"/>
            <a:ext cx="143997" cy="197706"/>
          </a:xfrm>
          <a:prstGeom prst="rect">
            <a:avLst/>
          </a:prstGeom>
        </p:spPr>
      </p:pic>
      <p:pic>
        <p:nvPicPr>
          <p:cNvPr id="524" name="picture 52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2758188" y="2289595"/>
            <a:ext cx="143997" cy="197706"/>
          </a:xfrm>
          <a:prstGeom prst="rect">
            <a:avLst/>
          </a:prstGeom>
        </p:spPr>
      </p:pic>
      <p:pic>
        <p:nvPicPr>
          <p:cNvPr id="526" name="picture 52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2758188" y="1862875"/>
            <a:ext cx="143997" cy="197706"/>
          </a:xfrm>
          <a:prstGeom prst="rect">
            <a:avLst/>
          </a:prstGeom>
        </p:spPr>
      </p:pic>
      <p:pic>
        <p:nvPicPr>
          <p:cNvPr id="528" name="picture 52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2758188" y="1222795"/>
            <a:ext cx="143997" cy="197706"/>
          </a:xfrm>
          <a:prstGeom prst="rect">
            <a:avLst/>
          </a:prstGeom>
        </p:spPr>
      </p:pic>
      <p:pic>
        <p:nvPicPr>
          <p:cNvPr id="530" name="picture 53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418213" y="3036355"/>
            <a:ext cx="143997" cy="197706"/>
          </a:xfrm>
          <a:prstGeom prst="rect">
            <a:avLst/>
          </a:prstGeom>
        </p:spPr>
      </p:pic>
      <p:pic>
        <p:nvPicPr>
          <p:cNvPr id="532" name="picture 53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418213" y="2396275"/>
            <a:ext cx="143997" cy="197706"/>
          </a:xfrm>
          <a:prstGeom prst="rect">
            <a:avLst/>
          </a:prstGeom>
        </p:spPr>
      </p:pic>
      <p:pic>
        <p:nvPicPr>
          <p:cNvPr id="534" name="picture 53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418213" y="1969555"/>
            <a:ext cx="143997" cy="197706"/>
          </a:xfrm>
          <a:prstGeom prst="rect">
            <a:avLst/>
          </a:prstGeom>
        </p:spPr>
      </p:pic>
      <p:pic>
        <p:nvPicPr>
          <p:cNvPr id="536" name="picture 53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418213" y="1329475"/>
            <a:ext cx="143997" cy="197706"/>
          </a:xfrm>
          <a:prstGeom prst="rect">
            <a:avLst/>
          </a:prstGeom>
        </p:spPr>
      </p:pic>
      <p:pic>
        <p:nvPicPr>
          <p:cNvPr id="538" name="picture 538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953244" y="775715"/>
            <a:ext cx="399288" cy="350520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7818119" y="751332"/>
            <a:ext cx="387095" cy="387096"/>
          </a:xfrm>
          <a:prstGeom prst="rect">
            <a:avLst/>
          </a:prstGeom>
        </p:spPr>
      </p:pic>
      <p:pic>
        <p:nvPicPr>
          <p:cNvPr id="542" name="picture 54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5440679" y="763524"/>
            <a:ext cx="451103" cy="393191"/>
          </a:xfrm>
          <a:prstGeom prst="rect">
            <a:avLst/>
          </a:prstGeom>
        </p:spPr>
      </p:pic>
      <p:pic>
        <p:nvPicPr>
          <p:cNvPr id="544" name="picture 54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736092" y="763523"/>
            <a:ext cx="394715" cy="373379"/>
          </a:xfrm>
          <a:prstGeom prst="rect">
            <a:avLst/>
          </a:prstGeom>
        </p:spPr>
      </p:pic>
      <p:sp>
        <p:nvSpPr>
          <p:cNvPr id="546" name="textbox 546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AI音频工具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48" name="picture 54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3477767" y="775715"/>
            <a:ext cx="934211" cy="350520"/>
          </a:xfrm>
          <a:prstGeom prst="rect">
            <a:avLst/>
          </a:prstGeom>
        </p:spPr>
      </p:pic>
      <p:pic>
        <p:nvPicPr>
          <p:cNvPr id="550" name="picture 550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5658611" y="3436620"/>
            <a:ext cx="876300" cy="3733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picture 5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554" name="table 554"/>
          <p:cNvGraphicFramePr>
            <a:graphicFrameLocks noGrp="1"/>
          </p:cNvGraphicFramePr>
          <p:nvPr/>
        </p:nvGraphicFramePr>
        <p:xfrm>
          <a:off x="305434" y="732154"/>
          <a:ext cx="11711940" cy="6047104"/>
        </p:xfrm>
        <a:graphic>
          <a:graphicData uri="http://schemas.openxmlformats.org/drawingml/2006/table">
            <a:tbl>
              <a:tblPr/>
              <a:tblGrid>
                <a:gridCol w="2346325"/>
                <a:gridCol w="2339339"/>
                <a:gridCol w="2339975"/>
                <a:gridCol w="2339975"/>
                <a:gridCol w="2346325"/>
              </a:tblGrid>
              <a:tr h="447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3945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254" indent="-278765" algn="l" rtl="0" eaLnBrk="0">
                        <a:lnSpc>
                          <a:spcPct val="106000"/>
                        </a:lnSpc>
                        <a:spcBef>
                          <a:spcPts val="4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支持使用「短音频样本」快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速进行语音克隆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9254" indent="-278765" algn="l" rtl="0" eaLnBrk="0">
                        <a:lnSpc>
                          <a:spcPct val="107000"/>
                        </a:lnSpc>
                        <a:spcBef>
                          <a:spcPts val="399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能做多语言（它们提到支持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 种语言）和较高质量的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语音合成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9254" indent="-278765" algn="l" rtl="0" eaLnBrk="0">
                        <a:lnSpc>
                          <a:spcPct val="104000"/>
                        </a:lnSpc>
                        <a:spcBef>
                          <a:spcPts val="548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适合需要高质量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、自然语音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输出的场景，如配音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、视频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旁白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、播客等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0489" algn="l" rtl="0" eaLnBrk="0">
                        <a:lnSpc>
                          <a:spcPts val="1521"/>
                        </a:lnSpc>
                        <a:spcBef>
                          <a:spcPts val="416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价格／授权较高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0489" algn="l" rtl="0" eaLnBrk="0">
                        <a:lnSpc>
                          <a:spcPct val="105000"/>
                        </a:lnSpc>
                        <a:spcBef>
                          <a:spcPts val="358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https://e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levenlabs.io/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indent="-278765" algn="l" rtl="0" eaLnBrk="0">
                        <a:lnSpc>
                          <a:spcPct val="107000"/>
                        </a:lnSpc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Resemble AI提供从大约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分钟的语音数据生成克隆声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3540" indent="-279400" algn="l" rtl="0" eaLnBrk="0">
                        <a:lnSpc>
                          <a:spcPct val="109000"/>
                        </a:lnSpc>
                        <a:spcBef>
                          <a:spcPts val="402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强调「灵活授权／订阅」模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式，适合团队或商业用途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4809" indent="-280670" algn="l" rtl="0" eaLnBrk="0">
                        <a:lnSpc>
                          <a:spcPct val="107000"/>
                        </a:lnSpc>
                        <a:spcBef>
                          <a:spcPts val="46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适合那些需要自定义语音模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型（比如品牌声音／角色声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音）并且长期使用的场景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ct val="105000"/>
                        </a:lnSpc>
                        <a:spcBef>
                          <a:spcPts val="276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https://www.r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esemble.ai/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indent="-277495" algn="l" rtl="0" eaLnBrk="0">
                        <a:lnSpc>
                          <a:spcPct val="106000"/>
                        </a:lnSpc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几秒钟内即可免费克隆任何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声音，用于文本转语音或语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音转换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，以进行内容创作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有声读物创作 、配音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、唱歌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和说唱语音转换以及娱乐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000" indent="-276225" algn="l" rtl="0" eaLnBrk="0">
                        <a:lnSpc>
                          <a:spcPct val="97000"/>
                        </a:lnSpc>
                        <a:spcBef>
                          <a:spcPts val="536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适合创作者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、爱好者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、小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模项目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5000"/>
                        </a:lnSpc>
                        <a:spcBef>
                          <a:spcPts val="2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https://www.uberduck.ai/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indent="-285115" algn="l" rtl="0" eaLnBrk="0">
                        <a:lnSpc>
                          <a:spcPct val="109000"/>
                        </a:lnSpc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是一款「电脑本地软件」克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隆语音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，不需要持续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5445" indent="-280670" algn="l" rtl="0" eaLnBrk="0">
                        <a:lnSpc>
                          <a:spcPct val="104000"/>
                        </a:lnSpc>
                        <a:spcBef>
                          <a:spcPts val="466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优点：一次购买即可使用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不必月费；数据隐私较易控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3540" indent="-278765" algn="l" rtl="0" eaLnBrk="0">
                        <a:lnSpc>
                          <a:spcPct val="104000"/>
                        </a:lnSpc>
                        <a:spcBef>
                          <a:spcPts val="535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缺点：可能操作流程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、语言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、输出质量不如云服务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顶级工具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5000"/>
                        </a:lnSpc>
                        <a:spcBef>
                          <a:spcPts val="2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https://pixbim.</a:t>
                      </a:r>
                      <a:r>
                        <a:rPr sz="12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634" indent="-276859" algn="l" rtl="0" eaLnBrk="0">
                        <a:lnSpc>
                          <a:spcPct val="107000"/>
                        </a:lnSpc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语音流畅自然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、节奏和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情感接近专业配音演员水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适合商业级音频内容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270" indent="-277495" algn="l" rtl="0" eaLnBrk="0">
                        <a:lnSpc>
                          <a:spcPct val="106000"/>
                        </a:lnSpc>
                        <a:spcBef>
                          <a:spcPts val="526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品牌专属语音定制：可基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于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授权语音创建企业或个人的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专属“声音形象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”，强化品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牌一致性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5000"/>
                        </a:lnSpc>
                        <a:spcBef>
                          <a:spcPts val="3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https://www.wellsaid.io/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8075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逗哥配音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4505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800" kern="0" spc="-290" dirty="0">
                          <a:solidFill>
                            <a:srgbClr val="7489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lone</a:t>
                      </a:r>
                      <a:r>
                        <a:rPr sz="2800" kern="0" spc="-560" dirty="0">
                          <a:solidFill>
                            <a:srgbClr val="7489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800" kern="0" spc="-290" dirty="0">
                          <a:solidFill>
                            <a:srgbClr val="7489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echo</a:t>
                      </a:r>
                      <a:r>
                        <a:rPr sz="2800" kern="0" spc="-580" dirty="0">
                          <a:solidFill>
                            <a:srgbClr val="7489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800" kern="0" spc="-290" dirty="0">
                          <a:solidFill>
                            <a:srgbClr val="7489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</a:t>
                      </a:r>
                      <a:endParaRPr sz="2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7508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279" indent="-270509" algn="l" rtl="0" eaLnBrk="0">
                        <a:lnSpc>
                          <a:spcPct val="109000"/>
                        </a:lnSpc>
                        <a:spcBef>
                          <a:spcPts val="4"/>
                        </a:spcBef>
                        <a:tabLst>
                          <a:tab pos="1854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支持“快速克隆／高级克隆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模式，可在线训练个性化语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4170" indent="635" algn="l" rtl="0" eaLnBrk="0">
                        <a:lnSpc>
                          <a:spcPct val="94000"/>
                        </a:lnSpc>
                        <a:spcBef>
                          <a:spcPts val="24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音模型，支持多语言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、多方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言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、多年龄段发音人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0995" indent="-276225" algn="l" rtl="0" eaLnBrk="0">
                        <a:lnSpc>
                          <a:spcPct val="108000"/>
                        </a:lnSpc>
                        <a:spcBef>
                          <a:spcPts val="514"/>
                        </a:spcBef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适用场景：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内容创作者／短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视频配音／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品牌语音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 /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有声书配音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0359" indent="-275590" algn="l" rtl="0" eaLnBrk="0">
                        <a:lnSpc>
                          <a:spcPct val="105000"/>
                        </a:lnSpc>
                        <a:spcBef>
                          <a:spcPts val="549"/>
                        </a:spcBef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如果定制效果要求高可能要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更多录音样本＋付费升级；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声音使用涉及版权／声音人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格权需谨慎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104000"/>
                        </a:lnSpc>
                        <a:spcBef>
                          <a:spcPts val="2"/>
                        </a:spcBef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https://aigc.uni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sound.com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4645" indent="-276225" algn="l" rtl="0" eaLnBrk="0">
                        <a:lnSpc>
                          <a:spcPct val="111000"/>
                        </a:lnSpc>
                        <a:spcBef>
                          <a:spcPts val="3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“5 秒音视频样本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，30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秒完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成克隆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的宣传，支持声音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克隆 +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AI配音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+视频翻译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8765" algn="l" rtl="0" eaLnBrk="0">
                        <a:lnSpc>
                          <a:spcPct val="104000"/>
                        </a:lnSpc>
                        <a:spcBef>
                          <a:spcPts val="387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：需要快速复制原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声／视频本地化／多语言声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音转换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105000"/>
                        </a:lnSpc>
                        <a:spcBef>
                          <a:spcPts val="2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https://mi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necho.com/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725" indent="-280670" algn="l" rtl="0" eaLnBrk="0">
                        <a:lnSpc>
                          <a:spcPct val="106000"/>
                        </a:lnSpc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提供文字-转配音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(TTS) +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音克隆功能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8129" algn="l" rtl="0" eaLnBrk="0">
                        <a:lnSpc>
                          <a:spcPct val="108000"/>
                        </a:lnSpc>
                        <a:spcBef>
                          <a:spcPts val="392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 “AI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分角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”功能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：当你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有多个角色（例如小说推文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多角色动画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系统可自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识别角色并匹配不同发音人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055" algn="l" rtl="0" eaLnBrk="0">
                        <a:lnSpc>
                          <a:spcPct val="92000"/>
                        </a:lnSpc>
                        <a:spcBef>
                          <a:spcPts val="551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具备短视频创作辅助工具：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6550" indent="635" algn="l" rtl="0" eaLnBrk="0">
                        <a:lnSpc>
                          <a:spcPct val="107000"/>
                        </a:lnSpc>
                        <a:spcBef>
                          <a:spcPts val="76"/>
                        </a:spcBef>
                        <a:tabLst/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如文案提取 、人声分离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、音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效处理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、快速配音导出等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4000"/>
                        </a:lnSpc>
                        <a:spcBef>
                          <a:spcPts val="2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https://www.douge.com/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indent="-349884" algn="l" rtl="0" eaLnBrk="0">
                        <a:lnSpc>
                          <a:spcPct val="117000"/>
                        </a:lnSpc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文本转语音</a:t>
                      </a:r>
                      <a:r>
                        <a:rPr sz="12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(TTS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)：可选多种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“AI</a:t>
                      </a:r>
                      <a:r>
                        <a:rPr sz="11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主播</a:t>
                      </a:r>
                      <a:r>
                        <a:rPr sz="11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音色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5915" indent="-276859" algn="l" rtl="0" eaLnBrk="0">
                        <a:lnSpc>
                          <a:spcPct val="104000"/>
                        </a:lnSpc>
                        <a:spcBef>
                          <a:spcPts val="374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支持例如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：多音字校正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、停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顿调整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、多人发声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、PPT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件一键生成语音字幕等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5915" indent="-276859" algn="l" rtl="0" eaLnBrk="0">
                        <a:lnSpc>
                          <a:spcPct val="97000"/>
                        </a:lnSpc>
                        <a:spcBef>
                          <a:spcPts val="546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操作比较简便，适合入门或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快速生成配音内容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090" indent="-280034" algn="l" rtl="0" eaLnBrk="0">
                        <a:lnSpc>
                          <a:spcPct val="112000"/>
                        </a:lnSpc>
                        <a:spcBef>
                          <a:spcPts val="1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1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https://mot</a:t>
                      </a:r>
                      <a:r>
                        <a:rPr sz="12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1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ionsound.yoo</a:t>
                      </a:r>
                      <a:r>
                        <a:rPr sz="12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279" indent="-276225" algn="l" rtl="0" eaLnBrk="0">
                        <a:lnSpc>
                          <a:spcPct val="107000"/>
                        </a:lnSpc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是一个“超拟真瞬时 AI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语音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克隆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”平台，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由国内团队研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2900" indent="-283845" algn="l" rtl="0" eaLnBrk="0">
                        <a:lnSpc>
                          <a:spcPct val="106000"/>
                        </a:lnSpc>
                        <a:spcBef>
                          <a:spcPts val="408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声称只需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5-8 秒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的音频样本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即可进行“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瞬时语音克隆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6550" indent="-277495" algn="l" rtl="0" eaLnBrk="0">
                        <a:lnSpc>
                          <a:spcPct val="104000"/>
                        </a:lnSpc>
                        <a:spcBef>
                          <a:spcPts val="543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提供角色管理功能：用户可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创建多个“声音角色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”，为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不同文本分配不同角色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5000"/>
                        </a:lnSpc>
                        <a:spcBef>
                          <a:spcPts val="2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www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reecho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cn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</a:tbl>
          </a:graphicData>
        </a:graphic>
      </p:graphicFrame>
      <p:pic>
        <p:nvPicPr>
          <p:cNvPr id="556" name="picture 55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730206" y="6173774"/>
            <a:ext cx="122987" cy="168859"/>
          </a:xfrm>
          <a:prstGeom prst="rect">
            <a:avLst/>
          </a:prstGeom>
        </p:spPr>
      </p:pic>
      <p:pic>
        <p:nvPicPr>
          <p:cNvPr id="558" name="picture 5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730206" y="5533694"/>
            <a:ext cx="122987" cy="168859"/>
          </a:xfrm>
          <a:prstGeom prst="rect">
            <a:avLst/>
          </a:prstGeom>
        </p:spPr>
      </p:pic>
      <p:pic>
        <p:nvPicPr>
          <p:cNvPr id="560" name="picture 56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9730206" y="5094274"/>
            <a:ext cx="122987" cy="168859"/>
          </a:xfrm>
          <a:prstGeom prst="rect">
            <a:avLst/>
          </a:prstGeom>
        </p:spPr>
      </p:pic>
      <p:pic>
        <p:nvPicPr>
          <p:cNvPr id="562" name="picture 56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9730206" y="4454194"/>
            <a:ext cx="122987" cy="168859"/>
          </a:xfrm>
          <a:prstGeom prst="rect">
            <a:avLst/>
          </a:prstGeom>
        </p:spPr>
      </p:pic>
      <p:pic>
        <p:nvPicPr>
          <p:cNvPr id="564" name="picture 56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390231" y="5973114"/>
            <a:ext cx="122987" cy="168859"/>
          </a:xfrm>
          <a:prstGeom prst="rect">
            <a:avLst/>
          </a:prstGeom>
        </p:spPr>
      </p:pic>
      <p:pic>
        <p:nvPicPr>
          <p:cNvPr id="566" name="picture 56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7390231" y="5533694"/>
            <a:ext cx="122987" cy="168859"/>
          </a:xfrm>
          <a:prstGeom prst="rect">
            <a:avLst/>
          </a:prstGeom>
        </p:spPr>
      </p:pic>
      <p:pic>
        <p:nvPicPr>
          <p:cNvPr id="568" name="picture 56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7390231" y="4893614"/>
            <a:ext cx="122987" cy="168859"/>
          </a:xfrm>
          <a:prstGeom prst="rect">
            <a:avLst/>
          </a:prstGeom>
        </p:spPr>
      </p:pic>
      <p:pic>
        <p:nvPicPr>
          <p:cNvPr id="570" name="picture 57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7390231" y="4454194"/>
            <a:ext cx="122987" cy="168859"/>
          </a:xfrm>
          <a:prstGeom prst="rect">
            <a:avLst/>
          </a:prstGeom>
        </p:spPr>
      </p:pic>
      <p:pic>
        <p:nvPicPr>
          <p:cNvPr id="572" name="picture 57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050256" y="6274104"/>
            <a:ext cx="122986" cy="168859"/>
          </a:xfrm>
          <a:prstGeom prst="rect">
            <a:avLst/>
          </a:prstGeom>
        </p:spPr>
      </p:pic>
      <p:pic>
        <p:nvPicPr>
          <p:cNvPr id="574" name="picture 57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050256" y="5634024"/>
            <a:ext cx="122986" cy="168859"/>
          </a:xfrm>
          <a:prstGeom prst="rect">
            <a:avLst/>
          </a:prstGeom>
        </p:spPr>
      </p:pic>
      <p:pic>
        <p:nvPicPr>
          <p:cNvPr id="576" name="picture 57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5050256" y="4793284"/>
            <a:ext cx="122986" cy="168859"/>
          </a:xfrm>
          <a:prstGeom prst="rect">
            <a:avLst/>
          </a:prstGeom>
        </p:spPr>
      </p:pic>
      <p:pic>
        <p:nvPicPr>
          <p:cNvPr id="578" name="picture 57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5050256" y="4353864"/>
            <a:ext cx="122986" cy="168859"/>
          </a:xfrm>
          <a:prstGeom prst="rect">
            <a:avLst/>
          </a:prstGeom>
        </p:spPr>
      </p:pic>
      <p:pic>
        <p:nvPicPr>
          <p:cNvPr id="580" name="picture 58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2710281" y="5954064"/>
            <a:ext cx="122986" cy="168859"/>
          </a:xfrm>
          <a:prstGeom prst="rect">
            <a:avLst/>
          </a:prstGeom>
        </p:spPr>
      </p:pic>
      <p:pic>
        <p:nvPicPr>
          <p:cNvPr id="582" name="picture 58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2710281" y="5313984"/>
            <a:ext cx="122986" cy="168859"/>
          </a:xfrm>
          <a:prstGeom prst="rect">
            <a:avLst/>
          </a:prstGeom>
        </p:spPr>
      </p:pic>
      <p:pic>
        <p:nvPicPr>
          <p:cNvPr id="584" name="picture 58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2710281" y="4673904"/>
            <a:ext cx="122986" cy="168859"/>
          </a:xfrm>
          <a:prstGeom prst="rect">
            <a:avLst/>
          </a:prstGeom>
        </p:spPr>
      </p:pic>
      <p:pic>
        <p:nvPicPr>
          <p:cNvPr id="586" name="picture 58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70306" y="6474764"/>
            <a:ext cx="122986" cy="168859"/>
          </a:xfrm>
          <a:prstGeom prst="rect">
            <a:avLst/>
          </a:prstGeom>
        </p:spPr>
      </p:pic>
      <p:pic>
        <p:nvPicPr>
          <p:cNvPr id="588" name="picture 58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370306" y="5634024"/>
            <a:ext cx="122986" cy="168859"/>
          </a:xfrm>
          <a:prstGeom prst="rect">
            <a:avLst/>
          </a:prstGeom>
        </p:spPr>
      </p:pic>
      <p:pic>
        <p:nvPicPr>
          <p:cNvPr id="590" name="picture 59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370306" y="4993944"/>
            <a:ext cx="122986" cy="168859"/>
          </a:xfrm>
          <a:prstGeom prst="rect">
            <a:avLst/>
          </a:prstGeom>
        </p:spPr>
      </p:pic>
      <p:pic>
        <p:nvPicPr>
          <p:cNvPr id="592" name="picture 59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370306" y="4153204"/>
            <a:ext cx="120570" cy="168859"/>
          </a:xfrm>
          <a:prstGeom prst="rect">
            <a:avLst/>
          </a:prstGeom>
        </p:spPr>
      </p:pic>
      <p:pic>
        <p:nvPicPr>
          <p:cNvPr id="594" name="picture 59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5628132" y="3611879"/>
            <a:ext cx="429767" cy="382523"/>
          </a:xfrm>
          <a:prstGeom prst="rect">
            <a:avLst/>
          </a:prstGeom>
        </p:spPr>
      </p:pic>
      <p:pic>
        <p:nvPicPr>
          <p:cNvPr id="596" name="picture 59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9775926" y="2910509"/>
            <a:ext cx="122987" cy="168859"/>
          </a:xfrm>
          <a:prstGeom prst="rect">
            <a:avLst/>
          </a:prstGeom>
        </p:spPr>
      </p:pic>
      <p:pic>
        <p:nvPicPr>
          <p:cNvPr id="598" name="picture 59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9775926" y="2069769"/>
            <a:ext cx="122987" cy="168859"/>
          </a:xfrm>
          <a:prstGeom prst="rect">
            <a:avLst/>
          </a:prstGeom>
        </p:spPr>
      </p:pic>
      <p:pic>
        <p:nvPicPr>
          <p:cNvPr id="600" name="picture 60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9775926" y="1429689"/>
            <a:ext cx="122987" cy="168859"/>
          </a:xfrm>
          <a:prstGeom prst="rect">
            <a:avLst/>
          </a:prstGeom>
        </p:spPr>
      </p:pic>
      <p:pic>
        <p:nvPicPr>
          <p:cNvPr id="602" name="picture 60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7435951" y="3149269"/>
            <a:ext cx="122987" cy="168859"/>
          </a:xfrm>
          <a:prstGeom prst="rect">
            <a:avLst/>
          </a:prstGeom>
        </p:spPr>
      </p:pic>
      <p:pic>
        <p:nvPicPr>
          <p:cNvPr id="604" name="picture 60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7435951" y="2509189"/>
            <a:ext cx="122987" cy="168859"/>
          </a:xfrm>
          <a:prstGeom prst="rect">
            <a:avLst/>
          </a:prstGeom>
        </p:spPr>
      </p:pic>
      <p:pic>
        <p:nvPicPr>
          <p:cNvPr id="606" name="picture 60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7435951" y="1869109"/>
            <a:ext cx="122987" cy="168859"/>
          </a:xfrm>
          <a:prstGeom prst="rect">
            <a:avLst/>
          </a:prstGeom>
        </p:spPr>
      </p:pic>
      <p:pic>
        <p:nvPicPr>
          <p:cNvPr id="608" name="picture 60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7435951" y="1429689"/>
            <a:ext cx="122987" cy="168859"/>
          </a:xfrm>
          <a:prstGeom prst="rect">
            <a:avLst/>
          </a:prstGeom>
        </p:spPr>
      </p:pic>
      <p:pic>
        <p:nvPicPr>
          <p:cNvPr id="610" name="picture 61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5095976" y="3029889"/>
            <a:ext cx="122986" cy="168859"/>
          </a:xfrm>
          <a:prstGeom prst="rect">
            <a:avLst/>
          </a:prstGeom>
        </p:spPr>
      </p:pic>
      <p:pic>
        <p:nvPicPr>
          <p:cNvPr id="612" name="picture 61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095976" y="2590469"/>
            <a:ext cx="122986" cy="168859"/>
          </a:xfrm>
          <a:prstGeom prst="rect">
            <a:avLst/>
          </a:prstGeom>
        </p:spPr>
      </p:pic>
      <p:pic>
        <p:nvPicPr>
          <p:cNvPr id="614" name="picture 614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5095976" y="1549069"/>
            <a:ext cx="122986" cy="168859"/>
          </a:xfrm>
          <a:prstGeom prst="rect">
            <a:avLst/>
          </a:prstGeom>
        </p:spPr>
      </p:pic>
      <p:pic>
        <p:nvPicPr>
          <p:cNvPr id="616" name="picture 61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2756001" y="3149269"/>
            <a:ext cx="122986" cy="168859"/>
          </a:xfrm>
          <a:prstGeom prst="rect">
            <a:avLst/>
          </a:prstGeom>
        </p:spPr>
      </p:pic>
      <p:pic>
        <p:nvPicPr>
          <p:cNvPr id="618" name="picture 61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2756001" y="2509189"/>
            <a:ext cx="122986" cy="168859"/>
          </a:xfrm>
          <a:prstGeom prst="rect">
            <a:avLst/>
          </a:prstGeom>
        </p:spPr>
      </p:pic>
      <p:pic>
        <p:nvPicPr>
          <p:cNvPr id="620" name="picture 62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2756001" y="2069769"/>
            <a:ext cx="122986" cy="168859"/>
          </a:xfrm>
          <a:prstGeom prst="rect">
            <a:avLst/>
          </a:prstGeom>
        </p:spPr>
      </p:pic>
      <p:pic>
        <p:nvPicPr>
          <p:cNvPr id="622" name="picture 62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2756001" y="1429689"/>
            <a:ext cx="122986" cy="168859"/>
          </a:xfrm>
          <a:prstGeom prst="rect">
            <a:avLst/>
          </a:prstGeom>
        </p:spPr>
      </p:pic>
      <p:pic>
        <p:nvPicPr>
          <p:cNvPr id="624" name="picture 62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416026" y="3268649"/>
            <a:ext cx="122986" cy="168859"/>
          </a:xfrm>
          <a:prstGeom prst="rect">
            <a:avLst/>
          </a:prstGeom>
        </p:spPr>
      </p:pic>
      <p:pic>
        <p:nvPicPr>
          <p:cNvPr id="626" name="picture 62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416026" y="3029889"/>
            <a:ext cx="122986" cy="168859"/>
          </a:xfrm>
          <a:prstGeom prst="rect">
            <a:avLst/>
          </a:prstGeom>
        </p:spPr>
      </p:pic>
      <p:pic>
        <p:nvPicPr>
          <p:cNvPr id="628" name="picture 62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416026" y="2389809"/>
            <a:ext cx="122986" cy="168859"/>
          </a:xfrm>
          <a:prstGeom prst="rect">
            <a:avLst/>
          </a:prstGeom>
        </p:spPr>
      </p:pic>
      <p:pic>
        <p:nvPicPr>
          <p:cNvPr id="630" name="picture 63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416026" y="1749729"/>
            <a:ext cx="122986" cy="168859"/>
          </a:xfrm>
          <a:prstGeom prst="rect">
            <a:avLst/>
          </a:prstGeom>
        </p:spPr>
      </p:pic>
      <p:pic>
        <p:nvPicPr>
          <p:cNvPr id="632" name="picture 632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416026" y="1310309"/>
            <a:ext cx="122986" cy="168859"/>
          </a:xfrm>
          <a:prstGeom prst="rect">
            <a:avLst/>
          </a:prstGeom>
        </p:spPr>
      </p:pic>
      <p:sp>
        <p:nvSpPr>
          <p:cNvPr id="634" name="textbox 634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AI语音克隆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36" name="picture 63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2941320" y="774191"/>
            <a:ext cx="1930908" cy="370332"/>
          </a:xfrm>
          <a:prstGeom prst="rect">
            <a:avLst/>
          </a:prstGeom>
        </p:spPr>
      </p:pic>
      <p:pic>
        <p:nvPicPr>
          <p:cNvPr id="638" name="picture 638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5497067" y="758952"/>
            <a:ext cx="1469136" cy="399288"/>
          </a:xfrm>
          <a:prstGeom prst="rect">
            <a:avLst/>
          </a:prstGeom>
        </p:spPr>
      </p:pic>
      <p:pic>
        <p:nvPicPr>
          <p:cNvPr id="640" name="picture 640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7761731" y="3616452"/>
            <a:ext cx="1467611" cy="374904"/>
          </a:xfrm>
          <a:prstGeom prst="rect">
            <a:avLst/>
          </a:prstGeom>
        </p:spPr>
      </p:pic>
      <p:pic>
        <p:nvPicPr>
          <p:cNvPr id="642" name="picture 642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10192511" y="772667"/>
            <a:ext cx="1402080" cy="373379"/>
          </a:xfrm>
          <a:prstGeom prst="rect">
            <a:avLst/>
          </a:prstGeom>
        </p:spPr>
      </p:pic>
      <p:pic>
        <p:nvPicPr>
          <p:cNvPr id="644" name="picture 644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856488" y="772667"/>
            <a:ext cx="1363979" cy="373379"/>
          </a:xfrm>
          <a:prstGeom prst="rect">
            <a:avLst/>
          </a:prstGeom>
        </p:spPr>
      </p:pic>
      <p:pic>
        <p:nvPicPr>
          <p:cNvPr id="646" name="picture 646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21600000">
            <a:off x="7900416" y="763523"/>
            <a:ext cx="1271016" cy="391667"/>
          </a:xfrm>
          <a:prstGeom prst="rect">
            <a:avLst/>
          </a:prstGeom>
        </p:spPr>
      </p:pic>
      <p:pic>
        <p:nvPicPr>
          <p:cNvPr id="648" name="picture 648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21600000">
            <a:off x="937260" y="3616452"/>
            <a:ext cx="1120139" cy="373379"/>
          </a:xfrm>
          <a:prstGeom prst="rect">
            <a:avLst/>
          </a:prstGeom>
        </p:spPr>
      </p:pic>
      <p:pic>
        <p:nvPicPr>
          <p:cNvPr id="650" name="picture 650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 rot="21600000">
            <a:off x="3389375" y="3616452"/>
            <a:ext cx="1034796" cy="3733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picture 6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654" name="table 654"/>
          <p:cNvGraphicFramePr>
            <a:graphicFrameLocks noGrp="1"/>
          </p:cNvGraphicFramePr>
          <p:nvPr/>
        </p:nvGraphicFramePr>
        <p:xfrm>
          <a:off x="342138" y="732434"/>
          <a:ext cx="11532235" cy="5888354"/>
        </p:xfrm>
        <a:graphic>
          <a:graphicData uri="http://schemas.openxmlformats.org/drawingml/2006/table">
            <a:tbl>
              <a:tblPr/>
              <a:tblGrid>
                <a:gridCol w="337820"/>
                <a:gridCol w="2548255"/>
                <a:gridCol w="277495"/>
                <a:gridCol w="2602229"/>
                <a:gridCol w="278129"/>
                <a:gridCol w="2601595"/>
                <a:gridCol w="278129"/>
                <a:gridCol w="2608579"/>
              </a:tblGrid>
              <a:tr h="5334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99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9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100000"/>
                        </a:lnSpc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indent="-5714" algn="l" rtl="0" eaLnBrk="0">
                        <a:lnSpc>
                          <a:spcPct val="121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TikTok</a:t>
                      </a:r>
                      <a:r>
                        <a:rPr sz="12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官方推荐视频剪辑平台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导入素材后可自动识别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高光片段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匹配音乐节奏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、生成成片；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一键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即可得到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“成品级短视频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9530" indent="3810" algn="l" rtl="0" eaLnBrk="0">
                        <a:lnSpc>
                          <a:spcPct val="115000"/>
                        </a:lnSpc>
                        <a:spcBef>
                          <a:spcPts val="624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字幕与翻译能力强：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建语音识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别与翻译引擎，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可自动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生成多语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种字幕（准确率高）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www.capcut.com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indent="-1270" algn="l" rtl="0" eaLnBrk="0">
                        <a:lnSpc>
                          <a:spcPct val="12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视频剪辑像编辑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文档一样，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删文字即删视频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。极大提高播客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、访谈类视频编辑效率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6045" indent="-1270" algn="l" rtl="0" eaLnBrk="0">
                        <a:lnSpc>
                          <a:spcPct val="120000"/>
                        </a:lnSpc>
                        <a:spcBef>
                          <a:spcPts val="270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克隆你的声音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，修正口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误或补录无需重录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3029" indent="-6350" algn="l" rtl="0" eaLnBrk="0">
                        <a:lnSpc>
                          <a:spcPct val="119000"/>
                        </a:lnSpc>
                        <a:spcBef>
                          <a:spcPts val="454"/>
                        </a:spcBef>
                        <a:tabLst/>
                      </a:pP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支持脚本式视频制作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Screen  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Recorder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自动字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幕）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0489" algn="l" rtl="0" eaLnBrk="0">
                        <a:lnSpc>
                          <a:spcPct val="113000"/>
                        </a:lnSpc>
                        <a:spcBef>
                          <a:spcPts val="296"/>
                        </a:spcBef>
                        <a:tabLst/>
                      </a:pP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https://www.d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escript.com/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indent="2540" algn="l" rtl="0" eaLnBrk="0">
                        <a:lnSpc>
                          <a:spcPct val="11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一站式在线视频创作平台，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主打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“轻量剪辑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智能字幕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品牌可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视化模板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6679" indent="1905" algn="l" rtl="0" eaLnBrk="0">
                        <a:lnSpc>
                          <a:spcPct val="113000"/>
                        </a:lnSpc>
                        <a:spcBef>
                          <a:spcPts val="472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多语言翻译效果好，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尤其对中文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识别支持度高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indent="1270" algn="l" rtl="0" eaLnBrk="0">
                        <a:lnSpc>
                          <a:spcPct val="120000"/>
                        </a:lnSpc>
                        <a:spcBef>
                          <a:spcPts val="272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可自动生成</a:t>
                      </a:r>
                      <a:r>
                        <a:rPr sz="12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B-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roll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，快速切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入短视频节奏感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89" algn="l" rtl="0" eaLnBrk="0">
                        <a:lnSpc>
                          <a:spcPct val="113000"/>
                        </a:lnSpc>
                        <a:tabLst/>
                      </a:pP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https://www.veed.io</a:t>
                      </a: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indent="-2540" algn="l" rtl="0" eaLnBrk="0">
                        <a:lnSpc>
                          <a:spcPct val="121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提供高质量视频托管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＋4K播放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可定制品牌播放器，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适合企业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algn="l" rtl="0" eaLnBrk="0">
                        <a:lnSpc>
                          <a:spcPct val="87000"/>
                        </a:lnSpc>
                        <a:spcBef>
                          <a:spcPts val="201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创作者控制品牌形象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8585" indent="-3810" algn="l" rtl="0" eaLnBrk="0">
                        <a:lnSpc>
                          <a:spcPct val="116000"/>
                        </a:lnSpc>
                        <a:spcBef>
                          <a:spcPts val="504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集成录制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、编辑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、直播与互动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支持线上培训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、产品发布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内容营销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6045" indent="1905" algn="l" rtl="0" eaLnBrk="0">
                        <a:lnSpc>
                          <a:spcPct val="113000"/>
                        </a:lnSpc>
                        <a:spcBef>
                          <a:spcPts val="493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强化团队协作与权限控制，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详细观看分析和嵌入统计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89" algn="l" rtl="0" eaLnBrk="0">
                        <a:lnSpc>
                          <a:spcPct val="11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vimeo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com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7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AIMIX</a:t>
                      </a:r>
                      <a:r>
                        <a:rPr sz="15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智剪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5457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00000"/>
                        </a:lnSpc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algn="l" rtl="0" eaLnBrk="0">
                        <a:lnSpc>
                          <a:spcPct val="11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软件自动分析导入素材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，快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速识别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“精彩片段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帮助我从原始素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到初稿用时大幅缩短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0" algn="l" rtl="0" eaLnBrk="0">
                        <a:lnSpc>
                          <a:spcPct val="117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将视频中的人声自动转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化为可编辑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一次删掉文本后，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对应的镜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头也被自动删掉 —</a:t>
                      </a:r>
                      <a:r>
                        <a:rPr sz="12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比传统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剪辑直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观高效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ct val="113000"/>
                        </a:lnSpc>
                        <a:tabLst/>
                      </a:pP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https://miao.wondershare.cn/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从脚本生成</a:t>
                      </a:r>
                      <a:r>
                        <a:rPr sz="12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拍摄辅助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→剪辑输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689" indent="12700" algn="l" rtl="0" eaLnBrk="0">
                        <a:lnSpc>
                          <a:spcPct val="113000"/>
                        </a:lnSpc>
                        <a:spcBef>
                          <a:spcPts val="240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 ，一条龙支持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，适合“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口播日更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0960" algn="l" rtl="0" eaLnBrk="0">
                        <a:lnSpc>
                          <a:spcPct val="121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  <a:r>
                        <a:rPr sz="12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种风格模板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、10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种方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言字幕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、一键生成封面，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制作社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号短视频非常快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113000"/>
                        </a:lnSpc>
                        <a:tabLst/>
                      </a:pP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https://www.kaipai.com/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880" indent="2540" algn="l" rtl="0" eaLnBrk="0">
                        <a:lnSpc>
                          <a:spcPct val="11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“轨道编辑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”“音频处理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”“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像生成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”三个关键环节引入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8105" indent="-20320" algn="l" rtl="0" eaLnBrk="0">
                        <a:lnSpc>
                          <a:spcPct val="112000"/>
                        </a:lnSpc>
                        <a:spcBef>
                          <a:spcPts val="22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例如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“文字成片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”功能可根据脚本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自动生成视频初稿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6514" indent="8889" algn="l" rtl="0" eaLnBrk="0">
                        <a:lnSpc>
                          <a:spcPct val="113000"/>
                        </a:lnSpc>
                        <a:spcBef>
                          <a:spcPts val="658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即便没有专业剪辑背景，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用户也能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在手机端快速导入素材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、应用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、自动出成片；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创作者常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055" indent="78105" algn="l" rtl="0" eaLnBrk="0">
                        <a:lnSpc>
                          <a:spcPct val="115000"/>
                        </a:lnSpc>
                        <a:spcBef>
                          <a:spcPts val="13"/>
                        </a:spcBef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“一分钟素材→一条短片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”变得可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113000"/>
                        </a:lnSpc>
                        <a:tabLst/>
                      </a:pP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https://www.capcut.cn/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ts val="1642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针对电商/内容矩阵场景，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150" indent="79375" algn="l" rtl="0" eaLnBrk="0">
                        <a:lnSpc>
                          <a:spcPct val="120000"/>
                        </a:lnSpc>
                        <a:spcBef>
                          <a:spcPts val="158"/>
                        </a:spcBef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“上传原片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批量剪成多条短视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”流程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自动混剪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、场景识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别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、字幕对齐，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大幅缩短制作周期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提供高级合成能力：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可按脚本/场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景顺序设定每条视频的结构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、配音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、画面节奏，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变成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自动剪辑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流水线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11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</a:t>
                      </a: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w.aimix.pro/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</a:tbl>
          </a:graphicData>
        </a:graphic>
      </p:graphicFrame>
      <p:pic>
        <p:nvPicPr>
          <p:cNvPr id="656" name="picture 6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047833" y="6160680"/>
            <a:ext cx="132722" cy="182227"/>
          </a:xfrm>
          <a:prstGeom prst="rect">
            <a:avLst/>
          </a:prstGeom>
        </p:spPr>
      </p:pic>
      <p:pic>
        <p:nvPicPr>
          <p:cNvPr id="658" name="picture 6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047833" y="5251360"/>
            <a:ext cx="132722" cy="182227"/>
          </a:xfrm>
          <a:prstGeom prst="rect">
            <a:avLst/>
          </a:prstGeom>
        </p:spPr>
      </p:pic>
      <p:pic>
        <p:nvPicPr>
          <p:cNvPr id="660" name="picture 6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047833" y="4342039"/>
            <a:ext cx="132722" cy="182227"/>
          </a:xfrm>
          <a:prstGeom prst="rect">
            <a:avLst/>
          </a:prstGeom>
        </p:spPr>
      </p:pic>
      <p:pic>
        <p:nvPicPr>
          <p:cNvPr id="662" name="picture 6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168108" y="6269265"/>
            <a:ext cx="132723" cy="182227"/>
          </a:xfrm>
          <a:prstGeom prst="rect">
            <a:avLst/>
          </a:prstGeom>
        </p:spPr>
      </p:pic>
      <p:pic>
        <p:nvPicPr>
          <p:cNvPr id="664" name="picture 6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168108" y="5142139"/>
            <a:ext cx="132723" cy="182227"/>
          </a:xfrm>
          <a:prstGeom prst="rect">
            <a:avLst/>
          </a:prstGeom>
        </p:spPr>
      </p:pic>
      <p:pic>
        <p:nvPicPr>
          <p:cNvPr id="666" name="picture 66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168108" y="4232819"/>
            <a:ext cx="132723" cy="182227"/>
          </a:xfrm>
          <a:prstGeom prst="rect">
            <a:avLst/>
          </a:prstGeom>
        </p:spPr>
      </p:pic>
      <p:pic>
        <p:nvPicPr>
          <p:cNvPr id="668" name="picture 66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287748" y="5942875"/>
            <a:ext cx="132723" cy="182227"/>
          </a:xfrm>
          <a:prstGeom prst="rect">
            <a:avLst/>
          </a:prstGeom>
        </p:spPr>
      </p:pic>
      <p:pic>
        <p:nvPicPr>
          <p:cNvPr id="670" name="picture 67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287748" y="5251360"/>
            <a:ext cx="132723" cy="182227"/>
          </a:xfrm>
          <a:prstGeom prst="rect">
            <a:avLst/>
          </a:prstGeom>
        </p:spPr>
      </p:pic>
      <p:pic>
        <p:nvPicPr>
          <p:cNvPr id="672" name="picture 67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287748" y="4559844"/>
            <a:ext cx="132723" cy="182227"/>
          </a:xfrm>
          <a:prstGeom prst="rect">
            <a:avLst/>
          </a:prstGeom>
        </p:spPr>
      </p:pic>
      <p:pic>
        <p:nvPicPr>
          <p:cNvPr id="674" name="picture 67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08023" y="6051460"/>
            <a:ext cx="132723" cy="182227"/>
          </a:xfrm>
          <a:prstGeom prst="rect">
            <a:avLst/>
          </a:prstGeom>
        </p:spPr>
      </p:pic>
      <p:pic>
        <p:nvPicPr>
          <p:cNvPr id="676" name="picture 67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408023" y="5142139"/>
            <a:ext cx="132723" cy="182227"/>
          </a:xfrm>
          <a:prstGeom prst="rect">
            <a:avLst/>
          </a:prstGeom>
        </p:spPr>
      </p:pic>
      <p:pic>
        <p:nvPicPr>
          <p:cNvPr id="678" name="picture 67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408023" y="4450625"/>
            <a:ext cx="132723" cy="182227"/>
          </a:xfrm>
          <a:prstGeom prst="rect">
            <a:avLst/>
          </a:prstGeom>
        </p:spPr>
      </p:pic>
      <p:pic>
        <p:nvPicPr>
          <p:cNvPr id="680" name="picture 68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483852" y="3617976"/>
            <a:ext cx="393192" cy="396239"/>
          </a:xfrm>
          <a:prstGeom prst="rect">
            <a:avLst/>
          </a:prstGeom>
        </p:spPr>
      </p:pic>
      <p:pic>
        <p:nvPicPr>
          <p:cNvPr id="682" name="picture 68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093553" y="3250475"/>
            <a:ext cx="132722" cy="182227"/>
          </a:xfrm>
          <a:prstGeom prst="rect">
            <a:avLst/>
          </a:prstGeom>
        </p:spPr>
      </p:pic>
      <p:pic>
        <p:nvPicPr>
          <p:cNvPr id="684" name="picture 68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093553" y="2776765"/>
            <a:ext cx="132722" cy="182227"/>
          </a:xfrm>
          <a:prstGeom prst="rect">
            <a:avLst/>
          </a:prstGeom>
        </p:spPr>
      </p:pic>
      <p:pic>
        <p:nvPicPr>
          <p:cNvPr id="686" name="picture 68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093553" y="2085250"/>
            <a:ext cx="132722" cy="182227"/>
          </a:xfrm>
          <a:prstGeom prst="rect">
            <a:avLst/>
          </a:prstGeom>
        </p:spPr>
      </p:pic>
      <p:pic>
        <p:nvPicPr>
          <p:cNvPr id="688" name="picture 68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9093553" y="1393735"/>
            <a:ext cx="132722" cy="182227"/>
          </a:xfrm>
          <a:prstGeom prst="rect">
            <a:avLst/>
          </a:prstGeom>
        </p:spPr>
      </p:pic>
      <p:pic>
        <p:nvPicPr>
          <p:cNvPr id="690" name="picture 69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213828" y="3141890"/>
            <a:ext cx="132723" cy="182227"/>
          </a:xfrm>
          <a:prstGeom prst="rect">
            <a:avLst/>
          </a:prstGeom>
        </p:spPr>
      </p:pic>
      <p:pic>
        <p:nvPicPr>
          <p:cNvPr id="692" name="picture 69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213828" y="2668179"/>
            <a:ext cx="132723" cy="182227"/>
          </a:xfrm>
          <a:prstGeom prst="rect">
            <a:avLst/>
          </a:prstGeom>
        </p:spPr>
      </p:pic>
      <p:pic>
        <p:nvPicPr>
          <p:cNvPr id="694" name="picture 69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6213828" y="2194469"/>
            <a:ext cx="132723" cy="182227"/>
          </a:xfrm>
          <a:prstGeom prst="rect">
            <a:avLst/>
          </a:prstGeom>
        </p:spPr>
      </p:pic>
      <p:pic>
        <p:nvPicPr>
          <p:cNvPr id="696" name="picture 69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6213828" y="1502954"/>
            <a:ext cx="132723" cy="182227"/>
          </a:xfrm>
          <a:prstGeom prst="rect">
            <a:avLst/>
          </a:prstGeom>
        </p:spPr>
      </p:pic>
      <p:pic>
        <p:nvPicPr>
          <p:cNvPr id="698" name="picture 69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3333467" y="3141890"/>
            <a:ext cx="132723" cy="182227"/>
          </a:xfrm>
          <a:prstGeom prst="rect">
            <a:avLst/>
          </a:prstGeom>
        </p:spPr>
      </p:pic>
      <p:pic>
        <p:nvPicPr>
          <p:cNvPr id="700" name="picture 70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3333467" y="2668179"/>
            <a:ext cx="132723" cy="182227"/>
          </a:xfrm>
          <a:prstGeom prst="rect">
            <a:avLst/>
          </a:prstGeom>
        </p:spPr>
      </p:pic>
      <p:pic>
        <p:nvPicPr>
          <p:cNvPr id="702" name="picture 70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3333467" y="2194469"/>
            <a:ext cx="132723" cy="182227"/>
          </a:xfrm>
          <a:prstGeom prst="rect">
            <a:avLst/>
          </a:prstGeom>
        </p:spPr>
      </p:pic>
      <p:pic>
        <p:nvPicPr>
          <p:cNvPr id="704" name="picture 70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3333467" y="1502954"/>
            <a:ext cx="132723" cy="182227"/>
          </a:xfrm>
          <a:prstGeom prst="rect">
            <a:avLst/>
          </a:prstGeom>
        </p:spPr>
      </p:pic>
      <p:pic>
        <p:nvPicPr>
          <p:cNvPr id="706" name="picture 70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453743" y="3122840"/>
            <a:ext cx="132723" cy="182227"/>
          </a:xfrm>
          <a:prstGeom prst="rect">
            <a:avLst/>
          </a:prstGeom>
        </p:spPr>
      </p:pic>
      <p:pic>
        <p:nvPicPr>
          <p:cNvPr id="708" name="picture 70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453743" y="2431325"/>
            <a:ext cx="132723" cy="182227"/>
          </a:xfrm>
          <a:prstGeom prst="rect">
            <a:avLst/>
          </a:prstGeom>
        </p:spPr>
      </p:pic>
      <p:pic>
        <p:nvPicPr>
          <p:cNvPr id="710" name="picture 71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453743" y="1522004"/>
            <a:ext cx="132723" cy="182227"/>
          </a:xfrm>
          <a:prstGeom prst="rect">
            <a:avLst/>
          </a:prstGeom>
        </p:spPr>
      </p:pic>
      <p:sp>
        <p:nvSpPr>
          <p:cNvPr id="712" name="textbox 712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剪辑工具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14" name="picture 71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6960107" y="751331"/>
            <a:ext cx="1141476" cy="509016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4038600" y="777240"/>
            <a:ext cx="1226820" cy="457200"/>
          </a:xfrm>
          <a:prstGeom prst="rect">
            <a:avLst/>
          </a:prstGeom>
        </p:spPr>
      </p:pic>
      <p:pic>
        <p:nvPicPr>
          <p:cNvPr id="718" name="picture 71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1225296" y="777240"/>
            <a:ext cx="1150619" cy="457200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1248155" y="3605784"/>
            <a:ext cx="1106423" cy="420623"/>
          </a:xfrm>
          <a:prstGeom prst="rect">
            <a:avLst/>
          </a:prstGeom>
        </p:spPr>
      </p:pic>
      <p:pic>
        <p:nvPicPr>
          <p:cNvPr id="722" name="picture 72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4166615" y="3587495"/>
            <a:ext cx="969264" cy="457200"/>
          </a:xfrm>
          <a:prstGeom prst="rect">
            <a:avLst/>
          </a:prstGeom>
        </p:spPr>
      </p:pic>
      <p:pic>
        <p:nvPicPr>
          <p:cNvPr id="724" name="picture 72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0012680" y="780288"/>
            <a:ext cx="952500" cy="449579"/>
          </a:xfrm>
          <a:prstGeom prst="rect">
            <a:avLst/>
          </a:prstGeom>
        </p:spPr>
      </p:pic>
      <p:pic>
        <p:nvPicPr>
          <p:cNvPr id="726" name="picture 72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7127747" y="3611879"/>
            <a:ext cx="806195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 rot="21600000">
            <a:off x="2645664" y="3837431"/>
            <a:ext cx="2161032" cy="2753868"/>
            <a:chOff x="0" y="0"/>
            <a:chExt cx="2161032" cy="2753868"/>
          </a:xfrm>
        </p:grpSpPr>
        <p:pic>
          <p:nvPicPr>
            <p:cNvPr id="728" name="picture 7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414527"/>
              <a:ext cx="2161032" cy="2339340"/>
            </a:xfrm>
            <a:prstGeom prst="rect">
              <a:avLst/>
            </a:prstGeom>
          </p:spPr>
        </p:pic>
        <p:pic>
          <p:nvPicPr>
            <p:cNvPr id="730" name="picture 730">
              <a:hlinkClick r:id="rId4" action="ppaction://hlinkfil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91820" y="2176018"/>
              <a:ext cx="1893569" cy="396240"/>
            </a:xfrm>
            <a:prstGeom prst="rect">
              <a:avLst/>
            </a:prstGeom>
          </p:spPr>
        </p:pic>
        <p:sp>
          <p:nvSpPr>
            <p:cNvPr id="732" name="textbox 732"/>
            <p:cNvSpPr/>
            <p:nvPr/>
          </p:nvSpPr>
          <p:spPr>
            <a:xfrm>
              <a:off x="92935" y="577353"/>
              <a:ext cx="1948179" cy="20675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2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0195" indent="-277495" algn="l" rtl="0" eaLnBrk="0">
                <a:lnSpc>
                  <a:spcPct val="99000"/>
                </a:lnSpc>
                <a:tabLst>
                  <a:tab pos="14541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腾讯推出，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云端智能视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频创作工具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7020" indent="-274954" algn="l" rtl="0" eaLnBrk="0">
                <a:lnSpc>
                  <a:spcPct val="107000"/>
                </a:lnSpc>
                <a:spcBef>
                  <a:spcPts val="241"/>
                </a:spcBef>
                <a:tabLst>
                  <a:tab pos="14541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主要特征：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提供数字人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播报服务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200" kern="0" spc="7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数字人形象</a:t>
              </a:r>
              <a:r>
                <a:rPr sz="1200" kern="0" spc="8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逼真，</a:t>
              </a:r>
              <a:r>
                <a:rPr sz="1200" kern="0" spc="-21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支持唇形语音同</a:t>
              </a:r>
              <a:r>
                <a:rPr sz="1200" kern="0" spc="9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步和表情动作拟人等效</a:t>
              </a:r>
              <a:r>
                <a:rPr sz="1200" kern="0" spc="8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果，</a:t>
              </a:r>
              <a:r>
                <a:rPr sz="1200" kern="0" spc="-21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能够精准模拟真人</a:t>
              </a:r>
              <a:r>
                <a:rPr sz="1200" kern="0" spc="90" dirty="0">
                  <a:solidFill>
                    <a:srgbClr val="22222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发音和口型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5275" indent="-282575" algn="l" rtl="0" eaLnBrk="0">
                <a:lnSpc>
                  <a:spcPct val="123000"/>
                </a:lnSpc>
                <a:spcBef>
                  <a:spcPts val="85"/>
                </a:spcBef>
                <a:tabLst>
                  <a:tab pos="14541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2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4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4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https://zenvideo.qq.co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m/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pic>
          <p:nvPicPr>
            <p:cNvPr id="734" name="picture 7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05635" y="2185173"/>
              <a:ext cx="132723" cy="182227"/>
            </a:xfrm>
            <a:prstGeom prst="rect">
              <a:avLst/>
            </a:prstGeom>
          </p:spPr>
        </p:pic>
        <p:pic>
          <p:nvPicPr>
            <p:cNvPr id="736" name="picture 73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05635" y="986293"/>
              <a:ext cx="132723" cy="182227"/>
            </a:xfrm>
            <a:prstGeom prst="rect">
              <a:avLst/>
            </a:prstGeom>
          </p:spPr>
        </p:pic>
        <p:pic>
          <p:nvPicPr>
            <p:cNvPr id="738" name="picture 73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05635" y="590053"/>
              <a:ext cx="132723" cy="182227"/>
            </a:xfrm>
            <a:prstGeom prst="rect">
              <a:avLst/>
            </a:prstGeom>
          </p:spPr>
        </p:pic>
        <p:pic>
          <p:nvPicPr>
            <p:cNvPr id="740" name="picture 7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60247" y="0"/>
              <a:ext cx="1242059" cy="358139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 rot="21600000">
            <a:off x="7461504" y="3838956"/>
            <a:ext cx="2161032" cy="2752343"/>
            <a:chOff x="0" y="0"/>
            <a:chExt cx="2161032" cy="2752343"/>
          </a:xfrm>
        </p:grpSpPr>
        <p:pic>
          <p:nvPicPr>
            <p:cNvPr id="742" name="picture 74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413003"/>
              <a:ext cx="2161032" cy="2339340"/>
            </a:xfrm>
            <a:prstGeom prst="rect">
              <a:avLst/>
            </a:prstGeom>
          </p:spPr>
        </p:pic>
        <p:sp>
          <p:nvSpPr>
            <p:cNvPr id="744" name="textbox 744"/>
            <p:cNvSpPr/>
            <p:nvPr/>
          </p:nvSpPr>
          <p:spPr>
            <a:xfrm>
              <a:off x="92936" y="575828"/>
              <a:ext cx="1958339" cy="20370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89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8925" indent="-276225" algn="l" rtl="0" eaLnBrk="0">
                <a:lnSpc>
                  <a:spcPct val="99000"/>
                </a:lnSpc>
                <a:tabLst>
                  <a:tab pos="14541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京东推出，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专注电商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直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播虚拟数字人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8925" indent="-276859" algn="l" rtl="0" eaLnBrk="0">
                <a:lnSpc>
                  <a:spcPct val="107000"/>
                </a:lnSpc>
                <a:spcBef>
                  <a:spcPts val="270"/>
                </a:spcBef>
                <a:tabLst>
                  <a:tab pos="14541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主要特征：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虚拟主播给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每个店铺配上一个带货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主播和专属客服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。数字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人主播一键开播，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推荐商品，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超长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7*24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小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时不间断开播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，稳定专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22000"/>
                </a:lnSpc>
                <a:spcBef>
                  <a:spcPts val="69"/>
                </a:spcBef>
                <a:tabLst>
                  <a:tab pos="14541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2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3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4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https://yanxi.</a:t>
              </a:r>
              <a:r>
                <a:rPr sz="1200" u="sng" kern="0" spc="3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jd.com/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pic>
          <p:nvPicPr>
            <p:cNvPr id="746" name="picture 74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05636" y="2381768"/>
              <a:ext cx="132722" cy="182227"/>
            </a:xfrm>
            <a:prstGeom prst="rect">
              <a:avLst/>
            </a:prstGeom>
          </p:spPr>
        </p:pic>
        <p:pic>
          <p:nvPicPr>
            <p:cNvPr id="748" name="picture 7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05636" y="984768"/>
              <a:ext cx="132722" cy="182227"/>
            </a:xfrm>
            <a:prstGeom prst="rect">
              <a:avLst/>
            </a:prstGeom>
          </p:spPr>
        </p:pic>
        <p:pic>
          <p:nvPicPr>
            <p:cNvPr id="750" name="picture 75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05636" y="588528"/>
              <a:ext cx="132722" cy="182227"/>
            </a:xfrm>
            <a:prstGeom prst="rect">
              <a:avLst/>
            </a:prstGeom>
          </p:spPr>
        </p:pic>
        <p:pic>
          <p:nvPicPr>
            <p:cNvPr id="752" name="picture 75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606552" y="0"/>
              <a:ext cx="949452" cy="355091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 rot="21600000">
            <a:off x="2645664" y="1222247"/>
            <a:ext cx="2161032" cy="2340864"/>
            <a:chOff x="0" y="0"/>
            <a:chExt cx="2161032" cy="2340864"/>
          </a:xfrm>
        </p:grpSpPr>
        <p:pic>
          <p:nvPicPr>
            <p:cNvPr id="754" name="picture 75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161032" cy="2340864"/>
            </a:xfrm>
            <a:prstGeom prst="rect">
              <a:avLst/>
            </a:prstGeom>
          </p:spPr>
        </p:pic>
        <p:sp>
          <p:nvSpPr>
            <p:cNvPr id="756" name="textbox 756"/>
            <p:cNvSpPr/>
            <p:nvPr/>
          </p:nvSpPr>
          <p:spPr>
            <a:xfrm>
              <a:off x="-12700" y="-12700"/>
              <a:ext cx="2186939" cy="23856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52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94970" indent="-276859" algn="l" rtl="0" eaLnBrk="0">
                <a:lnSpc>
                  <a:spcPct val="98000"/>
                </a:lnSpc>
                <a:tabLst>
                  <a:tab pos="25082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Tavus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推出，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海外高精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度数字人平台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393700" indent="-275590" algn="l" rtl="0" eaLnBrk="0">
                <a:lnSpc>
                  <a:spcPct val="106000"/>
                </a:lnSpc>
                <a:spcBef>
                  <a:spcPts val="297"/>
                </a:spcBef>
                <a:tabLst>
                  <a:tab pos="25082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主要特征：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Phoenix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模型生成高精度数字孪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生，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支持换装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、换背景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等自定义，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支持批量生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成和实时交互对话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18110" algn="l" rtl="0" eaLnBrk="0">
                <a:lnSpc>
                  <a:spcPct val="103000"/>
                </a:lnSpc>
                <a:spcBef>
                  <a:spcPts val="247"/>
                </a:spcBef>
                <a:tabLst>
                  <a:tab pos="25082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2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3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7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</a:t>
              </a:r>
              <a:r>
                <a:rPr sz="1200" u="sng" kern="0" spc="6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.tavus.io/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pic>
          <p:nvPicPr>
            <p:cNvPr id="758" name="picture 75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05635" y="1773947"/>
              <a:ext cx="132723" cy="182227"/>
            </a:xfrm>
            <a:prstGeom prst="rect">
              <a:avLst/>
            </a:prstGeom>
          </p:spPr>
        </p:pic>
        <p:pic>
          <p:nvPicPr>
            <p:cNvPr id="760" name="picture 76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05635" y="771917"/>
              <a:ext cx="132723" cy="182227"/>
            </a:xfrm>
            <a:prstGeom prst="rect">
              <a:avLst/>
            </a:prstGeom>
          </p:spPr>
        </p:pic>
        <p:pic>
          <p:nvPicPr>
            <p:cNvPr id="762" name="picture 76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05635" y="375677"/>
              <a:ext cx="132723" cy="182227"/>
            </a:xfrm>
            <a:prstGeom prst="rect">
              <a:avLst/>
            </a:prstGeom>
          </p:spPr>
        </p:pic>
      </p:grpSp>
      <p:pic>
        <p:nvPicPr>
          <p:cNvPr id="764" name="picture 7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7461504" y="1219200"/>
            <a:ext cx="2161032" cy="2339340"/>
          </a:xfrm>
          <a:prstGeom prst="rect">
            <a:avLst/>
          </a:prstGeom>
        </p:spPr>
      </p:pic>
      <p:pic>
        <p:nvPicPr>
          <p:cNvPr id="766" name="picture 76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050535" y="1358748"/>
            <a:ext cx="2167128" cy="2207410"/>
          </a:xfrm>
          <a:prstGeom prst="rect">
            <a:avLst/>
          </a:prstGeom>
        </p:spPr>
      </p:pic>
      <p:pic>
        <p:nvPicPr>
          <p:cNvPr id="768" name="picture 76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050535" y="4400230"/>
            <a:ext cx="2167128" cy="2194117"/>
          </a:xfrm>
          <a:prstGeom prst="rect">
            <a:avLst/>
          </a:prstGeom>
        </p:spPr>
      </p:pic>
      <p:pic>
        <p:nvPicPr>
          <p:cNvPr id="770" name="picture 77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866376" y="1367470"/>
            <a:ext cx="2167128" cy="2194117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 rot="21600000">
            <a:off x="9866376" y="4400230"/>
            <a:ext cx="2167128" cy="2194117"/>
            <a:chOff x="0" y="0"/>
            <a:chExt cx="2167128" cy="2194117"/>
          </a:xfrm>
        </p:grpSpPr>
        <p:pic>
          <p:nvPicPr>
            <p:cNvPr id="772" name="picture 77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0" y="0"/>
              <a:ext cx="2167128" cy="2194117"/>
            </a:xfrm>
            <a:prstGeom prst="rect">
              <a:avLst/>
            </a:prstGeom>
          </p:spPr>
        </p:pic>
        <p:sp>
          <p:nvSpPr>
            <p:cNvPr id="774" name="textbox 774"/>
            <p:cNvSpPr/>
            <p:nvPr/>
          </p:nvSpPr>
          <p:spPr>
            <a:xfrm>
              <a:off x="-12700" y="-12700"/>
              <a:ext cx="2192654" cy="22390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8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99415" indent="-278129" algn="l" rtl="0" eaLnBrk="0">
                <a:lnSpc>
                  <a:spcPct val="99000"/>
                </a:lnSpc>
                <a:tabLst>
                  <a:tab pos="2540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清博智能推出，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超写实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虚拟人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398779" indent="-277495" algn="l" rtl="0" eaLnBrk="0">
                <a:lnSpc>
                  <a:spcPct val="108000"/>
                </a:lnSpc>
                <a:spcBef>
                  <a:spcPts val="234"/>
                </a:spcBef>
                <a:tabLst>
                  <a:tab pos="2540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主要特征：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服装和人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物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可定制，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满足个性化需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求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。支持虚拟人直播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短视频制作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、多模态交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互终端，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打造企业专属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IP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1285" algn="l" rtl="0" eaLnBrk="0">
                <a:lnSpc>
                  <a:spcPct val="122000"/>
                </a:lnSpc>
                <a:spcBef>
                  <a:spcPts val="14"/>
                </a:spcBef>
                <a:tabLst>
                  <a:tab pos="2540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2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3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4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https://metawa.c</a:t>
              </a:r>
              <a:r>
                <a:rPr sz="1200" u="sng" kern="0" spc="30" dirty="0">
                  <a:solidFill>
                    <a:srgbClr val="0026E5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n/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pic>
          <p:nvPicPr>
            <p:cNvPr id="776" name="picture 776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08684" y="1721435"/>
              <a:ext cx="132722" cy="182227"/>
            </a:xfrm>
            <a:prstGeom prst="rect">
              <a:avLst/>
            </a:prstGeom>
          </p:spPr>
        </p:pic>
        <p:pic>
          <p:nvPicPr>
            <p:cNvPr id="778" name="picture 778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08684" y="522555"/>
              <a:ext cx="132722" cy="182227"/>
            </a:xfrm>
            <a:prstGeom prst="rect">
              <a:avLst/>
            </a:prstGeom>
          </p:spPr>
        </p:pic>
        <p:pic>
          <p:nvPicPr>
            <p:cNvPr id="780" name="picture 780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08684" y="126314"/>
              <a:ext cx="132722" cy="182227"/>
            </a:xfrm>
            <a:prstGeom prst="rect">
              <a:avLst/>
            </a:prstGeom>
          </p:spPr>
        </p:pic>
      </p:grpSp>
      <p:pic>
        <p:nvPicPr>
          <p:cNvPr id="782" name="picture 78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234695" y="1367470"/>
            <a:ext cx="2167127" cy="2194117"/>
          </a:xfrm>
          <a:prstGeom prst="rect">
            <a:avLst/>
          </a:prstGeom>
        </p:spPr>
      </p:pic>
      <p:pic>
        <p:nvPicPr>
          <p:cNvPr id="784" name="picture 78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234695" y="4400230"/>
            <a:ext cx="2167127" cy="2194117"/>
          </a:xfrm>
          <a:prstGeom prst="rect">
            <a:avLst/>
          </a:prstGeom>
        </p:spPr>
      </p:pic>
      <p:pic>
        <p:nvPicPr>
          <p:cNvPr id="786" name="picture 786">
            <a:hlinkClick r:id="rId32" action="ppaction://hlinkfile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7553325" y="3079115"/>
            <a:ext cx="1920240" cy="396240"/>
          </a:xfrm>
          <a:prstGeom prst="rect">
            <a:avLst/>
          </a:prstGeom>
        </p:spPr>
      </p:pic>
      <p:sp>
        <p:nvSpPr>
          <p:cNvPr id="788" name="textbox 788"/>
          <p:cNvSpPr/>
          <p:nvPr/>
        </p:nvSpPr>
        <p:spPr>
          <a:xfrm>
            <a:off x="7554440" y="1263088"/>
            <a:ext cx="2096135" cy="2284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8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9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小冰公司（原微软小冰）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推出，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孵化超千万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命体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7000"/>
              </a:lnSpc>
              <a:spcBef>
                <a:spcPts val="132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推了数字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家和数字员工等完整产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品线，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支持创建拥有情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感交互能力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、专业技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和内容生产能力的数字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23000"/>
              </a:lnSpc>
              <a:spcBef>
                <a:spcPts val="82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https://www.xiaoice.co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790" name="picture 79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7567140" y="3088270"/>
            <a:ext cx="132722" cy="182227"/>
          </a:xfrm>
          <a:prstGeom prst="rect">
            <a:avLst/>
          </a:prstGeom>
        </p:spPr>
      </p:pic>
      <p:pic>
        <p:nvPicPr>
          <p:cNvPr id="792" name="picture 79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7567140" y="1889390"/>
            <a:ext cx="132722" cy="182227"/>
          </a:xfrm>
          <a:prstGeom prst="rect">
            <a:avLst/>
          </a:prstGeom>
        </p:spPr>
      </p:pic>
      <p:pic>
        <p:nvPicPr>
          <p:cNvPr id="794" name="picture 79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7567140" y="1295030"/>
            <a:ext cx="132722" cy="182227"/>
          </a:xfrm>
          <a:prstGeom prst="rect">
            <a:avLst/>
          </a:prstGeom>
        </p:spPr>
      </p:pic>
      <p:pic>
        <p:nvPicPr>
          <p:cNvPr id="796" name="picture 796">
            <a:hlinkClick r:id="rId37" action="ppaction://hlinkfile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329564" y="6112509"/>
            <a:ext cx="1903095" cy="396240"/>
          </a:xfrm>
          <a:prstGeom prst="rect">
            <a:avLst/>
          </a:prstGeom>
        </p:spPr>
      </p:pic>
      <p:sp>
        <p:nvSpPr>
          <p:cNvPr id="798" name="textbox 798"/>
          <p:cNvSpPr/>
          <p:nvPr/>
        </p:nvSpPr>
        <p:spPr>
          <a:xfrm>
            <a:off x="330680" y="4315724"/>
            <a:ext cx="1948179" cy="2265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7020" indent="-274954" algn="l" rtl="0" eaLnBrk="0">
              <a:lnSpc>
                <a:spcPct val="106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万兴科技推出，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</a:t>
            </a:r>
            <a:r>
              <a:rPr sz="1200" kern="0" spc="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7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数字人定制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1200" kern="0" spc="7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人设定</a:t>
            </a:r>
            <a:r>
              <a:rPr sz="1200" kern="0" spc="10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位等一站式</a:t>
            </a:r>
            <a:r>
              <a:rPr sz="1200" kern="0" spc="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1200" kern="0" spc="10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营销解决</a:t>
            </a:r>
            <a:r>
              <a:rPr sz="1200" kern="0" spc="8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方案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8000"/>
              </a:lnSpc>
              <a:spcBef>
                <a:spcPts val="101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</a:t>
            </a:r>
            <a:r>
              <a:rPr sz="1200" kern="0" spc="-23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打造超逼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真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的数字人，</a:t>
            </a:r>
            <a:r>
              <a:rPr sz="1200" kern="0" spc="-22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支持各国语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言，</a:t>
            </a:r>
            <a:r>
              <a:rPr sz="1200" kern="0" spc="-22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满足不同口播场景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文案自动生成脚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本，</a:t>
            </a:r>
            <a:r>
              <a:rPr sz="1200" kern="0" spc="-1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覆盖各类场景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23000"/>
              </a:lnSpc>
              <a:spcBef>
                <a:spcPts val="12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https://virbo.wondersh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are.cn/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800" name="picture 80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43380" y="6121665"/>
            <a:ext cx="132723" cy="182227"/>
          </a:xfrm>
          <a:prstGeom prst="rect">
            <a:avLst/>
          </a:prstGeom>
        </p:spPr>
      </p:pic>
      <p:pic>
        <p:nvPicPr>
          <p:cNvPr id="802" name="picture 80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343380" y="5120905"/>
            <a:ext cx="132723" cy="182227"/>
          </a:xfrm>
          <a:prstGeom prst="rect">
            <a:avLst/>
          </a:prstGeom>
        </p:spPr>
      </p:pic>
      <p:pic>
        <p:nvPicPr>
          <p:cNvPr id="804" name="picture 80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343380" y="4328424"/>
            <a:ext cx="132723" cy="182227"/>
          </a:xfrm>
          <a:prstGeom prst="rect">
            <a:avLst/>
          </a:prstGeom>
        </p:spPr>
      </p:pic>
      <p:pic>
        <p:nvPicPr>
          <p:cNvPr id="806" name="picture 806">
            <a:hlinkClick r:id="rId42" action="ppaction://hlinkfile"/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329564" y="2980055"/>
            <a:ext cx="1958340" cy="396239"/>
          </a:xfrm>
          <a:prstGeom prst="rect">
            <a:avLst/>
          </a:prstGeom>
        </p:spPr>
      </p:pic>
      <p:sp>
        <p:nvSpPr>
          <p:cNvPr id="808" name="textbox 808"/>
          <p:cNvSpPr/>
          <p:nvPr/>
        </p:nvSpPr>
        <p:spPr>
          <a:xfrm>
            <a:off x="330680" y="1381390"/>
            <a:ext cx="1969770" cy="2067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5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百度推出，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集数字人生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、内容创作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、业务配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置为一体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6000"/>
              </a:lnSpc>
              <a:spcBef>
                <a:spcPts val="154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</a:t>
            </a:r>
            <a:r>
              <a:rPr sz="1200" kern="0" spc="-20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支持数字人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直播</a:t>
            </a:r>
            <a:r>
              <a:rPr sz="1200" kern="0" spc="-11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、数字人视频智</a:t>
            </a:r>
            <a:r>
              <a:rPr sz="1200" kern="0" spc="6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创作</a:t>
            </a:r>
            <a:r>
              <a:rPr sz="1200" kern="0" spc="-11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、数字人对话专</a:t>
            </a:r>
            <a:r>
              <a:rPr sz="1200" kern="0" spc="6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问答支持照片生成</a:t>
            </a:r>
            <a:r>
              <a:rPr sz="1200" kern="0" spc="-16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algn="l" rtl="0" eaLnBrk="0">
              <a:lnSpc>
                <a:spcPts val="1506"/>
              </a:lnSpc>
              <a:spcBef>
                <a:spcPts val="124"/>
              </a:spcBef>
              <a:tabLst/>
            </a:pP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Arial"/>
                <a:ea typeface="Arial"/>
                <a:cs typeface="Arial"/>
              </a:rPr>
              <a:t>3D</a:t>
            </a:r>
            <a:r>
              <a:rPr sz="1200" kern="0" spc="80" dirty="0">
                <a:solidFill>
                  <a:srgbClr val="0912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定制等多种方式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4640" indent="-281940" algn="l" rtl="0" eaLnBrk="0">
              <a:lnSpc>
                <a:spcPct val="123000"/>
              </a:lnSpc>
              <a:spcBef>
                <a:spcPts val="12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2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https://xiling.clo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ud.baid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810" name="picture 81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343380" y="2989272"/>
            <a:ext cx="132723" cy="182198"/>
          </a:xfrm>
          <a:prstGeom prst="rect">
            <a:avLst/>
          </a:prstGeom>
        </p:spPr>
      </p:pic>
      <p:pic>
        <p:nvPicPr>
          <p:cNvPr id="812" name="picture 81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343380" y="1988450"/>
            <a:ext cx="132723" cy="182227"/>
          </a:xfrm>
          <a:prstGeom prst="rect">
            <a:avLst/>
          </a:prstGeom>
        </p:spPr>
      </p:pic>
      <p:pic>
        <p:nvPicPr>
          <p:cNvPr id="814" name="picture 81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343380" y="1394090"/>
            <a:ext cx="132723" cy="182227"/>
          </a:xfrm>
          <a:prstGeom prst="rect">
            <a:avLst/>
          </a:prstGeom>
        </p:spPr>
      </p:pic>
      <p:pic>
        <p:nvPicPr>
          <p:cNvPr id="816" name="picture 816">
            <a:hlinkClick r:id="rId47" action="ppaction://hlinkfile"/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5145404" y="5914390"/>
            <a:ext cx="1314450" cy="396240"/>
          </a:xfrm>
          <a:prstGeom prst="rect">
            <a:avLst/>
          </a:prstGeom>
        </p:spPr>
      </p:pic>
      <p:sp>
        <p:nvSpPr>
          <p:cNvPr id="818" name="textbox 818"/>
          <p:cNvSpPr/>
          <p:nvPr/>
        </p:nvSpPr>
        <p:spPr>
          <a:xfrm>
            <a:off x="5146519" y="4513845"/>
            <a:ext cx="2093595" cy="1838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4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科大讯飞推出，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一站式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虚拟人音视频内容生产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6000"/>
              </a:lnSpc>
              <a:spcBef>
                <a:spcPts val="167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提供虚拟人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形象资产构建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驱动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多模态交互的多场景虚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拟人产品服务，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满足不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同场景应用需求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5000"/>
              </a:lnSpc>
              <a:spcBef>
                <a:spcPts val="80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https://virtual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             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man.xfyun.cn/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820" name="picture 82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159219" y="5923545"/>
            <a:ext cx="132723" cy="182227"/>
          </a:xfrm>
          <a:prstGeom prst="rect">
            <a:avLst/>
          </a:prstGeom>
        </p:spPr>
      </p:pic>
      <p:pic>
        <p:nvPicPr>
          <p:cNvPr id="822" name="picture 82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5159219" y="4922785"/>
            <a:ext cx="132723" cy="182227"/>
          </a:xfrm>
          <a:prstGeom prst="rect">
            <a:avLst/>
          </a:prstGeom>
        </p:spPr>
      </p:pic>
      <p:pic>
        <p:nvPicPr>
          <p:cNvPr id="824" name="picture 824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5159219" y="4526545"/>
            <a:ext cx="132723" cy="182227"/>
          </a:xfrm>
          <a:prstGeom prst="rect">
            <a:avLst/>
          </a:prstGeom>
        </p:spPr>
      </p:pic>
      <p:pic>
        <p:nvPicPr>
          <p:cNvPr id="826" name="picture 826">
            <a:hlinkClick r:id="rId53" action="ppaction://hlinkfile"/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5145404" y="2884805"/>
            <a:ext cx="1948179" cy="396239"/>
          </a:xfrm>
          <a:prstGeom prst="rect">
            <a:avLst/>
          </a:prstGeom>
        </p:spPr>
      </p:pic>
      <p:sp>
        <p:nvSpPr>
          <p:cNvPr id="828" name="textbox 828"/>
          <p:cNvSpPr/>
          <p:nvPr/>
        </p:nvSpPr>
        <p:spPr>
          <a:xfrm>
            <a:off x="5146519" y="1484260"/>
            <a:ext cx="2103120" cy="1781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indent="-280034" algn="l" rtl="0" eaLnBrk="0">
              <a:lnSpc>
                <a:spcPct val="99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诗云科技推出，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海外数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字人平台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7000"/>
              </a:lnSpc>
              <a:spcBef>
                <a:spcPts val="233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视频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、图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片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文字生成数字人，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批量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制作个性化数字人视频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支持动态场景生成展开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实时交互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99000"/>
              </a:lnSpc>
              <a:spcBef>
                <a:spcPts val="83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https://www.heygen.co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830" name="picture 830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5159219" y="2893960"/>
            <a:ext cx="132723" cy="182227"/>
          </a:xfrm>
          <a:prstGeom prst="rect">
            <a:avLst/>
          </a:prstGeom>
        </p:spPr>
      </p:pic>
      <p:pic>
        <p:nvPicPr>
          <p:cNvPr id="832" name="picture 832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5159219" y="1893200"/>
            <a:ext cx="132723" cy="182227"/>
          </a:xfrm>
          <a:prstGeom prst="rect">
            <a:avLst/>
          </a:prstGeom>
        </p:spPr>
      </p:pic>
      <p:pic>
        <p:nvPicPr>
          <p:cNvPr id="834" name="picture 834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21600000">
            <a:off x="5159219" y="1496960"/>
            <a:ext cx="132723" cy="182227"/>
          </a:xfrm>
          <a:prstGeom prst="rect">
            <a:avLst/>
          </a:prstGeom>
        </p:spPr>
      </p:pic>
      <p:pic>
        <p:nvPicPr>
          <p:cNvPr id="836" name="picture 836">
            <a:hlinkClick r:id="rId59" action="ppaction://hlinkfile"/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21600000">
            <a:off x="9961244" y="2880995"/>
            <a:ext cx="1938655" cy="396240"/>
          </a:xfrm>
          <a:prstGeom prst="rect">
            <a:avLst/>
          </a:prstGeom>
        </p:spPr>
      </p:pic>
      <p:sp>
        <p:nvSpPr>
          <p:cNvPr id="838" name="textbox 838"/>
          <p:cNvSpPr/>
          <p:nvPr/>
        </p:nvSpPr>
        <p:spPr>
          <a:xfrm>
            <a:off x="9962360" y="1480450"/>
            <a:ext cx="1949450" cy="1869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indent="-280034" algn="l" rtl="0" eaLnBrk="0">
              <a:lnSpc>
                <a:spcPct val="107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硅基智能推出，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小播秀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打造数字人直播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7000"/>
              </a:lnSpc>
              <a:spcBef>
                <a:spcPts val="16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一站式定制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数字主播，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素材灵活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配置一键智能开播，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时互动智能回答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元智能交互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3845" indent="-271779" algn="l" rtl="0" eaLnBrk="0">
              <a:lnSpc>
                <a:spcPct val="123000"/>
              </a:lnSpc>
              <a:spcBef>
                <a:spcPts val="78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http://www.vipxue.com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840" name="picture 840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 rot="21600000">
            <a:off x="9975060" y="2890150"/>
            <a:ext cx="132722" cy="182227"/>
          </a:xfrm>
          <a:prstGeom prst="rect">
            <a:avLst/>
          </a:prstGeom>
        </p:spPr>
      </p:pic>
      <p:pic>
        <p:nvPicPr>
          <p:cNvPr id="842" name="picture 842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21600000">
            <a:off x="9975060" y="1889390"/>
            <a:ext cx="132722" cy="182227"/>
          </a:xfrm>
          <a:prstGeom prst="rect">
            <a:avLst/>
          </a:prstGeom>
        </p:spPr>
      </p:pic>
      <p:pic>
        <p:nvPicPr>
          <p:cNvPr id="844" name="picture 844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 rot="21600000">
            <a:off x="9975060" y="1493150"/>
            <a:ext cx="132722" cy="182227"/>
          </a:xfrm>
          <a:prstGeom prst="rect">
            <a:avLst/>
          </a:prstGeom>
        </p:spPr>
      </p:pic>
      <p:pic>
        <p:nvPicPr>
          <p:cNvPr id="846" name="picture 846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848" name="textbox 848"/>
          <p:cNvSpPr/>
          <p:nvPr/>
        </p:nvSpPr>
        <p:spPr>
          <a:xfrm>
            <a:off x="82291" y="-31740"/>
            <a:ext cx="3051810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虚拟人工具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50" name="picture 850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 rot="21600000">
            <a:off x="784859" y="3787140"/>
            <a:ext cx="1066800" cy="457200"/>
          </a:xfrm>
          <a:prstGeom prst="rect">
            <a:avLst/>
          </a:prstGeom>
        </p:spPr>
      </p:pic>
      <p:pic>
        <p:nvPicPr>
          <p:cNvPr id="852" name="picture 852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 rot="21600000">
            <a:off x="5483352" y="3852671"/>
            <a:ext cx="1303019" cy="327660"/>
          </a:xfrm>
          <a:prstGeom prst="rect">
            <a:avLst/>
          </a:prstGeom>
        </p:spPr>
      </p:pic>
      <p:pic>
        <p:nvPicPr>
          <p:cNvPr id="854" name="picture 854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 rot="21600000">
            <a:off x="5501640" y="765047"/>
            <a:ext cx="1264919" cy="313944"/>
          </a:xfrm>
          <a:prstGeom prst="rect">
            <a:avLst/>
          </a:prstGeom>
        </p:spPr>
      </p:pic>
      <p:pic>
        <p:nvPicPr>
          <p:cNvPr id="856" name="picture 856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 rot="21600000">
            <a:off x="8107680" y="716279"/>
            <a:ext cx="867156" cy="408432"/>
          </a:xfrm>
          <a:prstGeom prst="rect">
            <a:avLst/>
          </a:prstGeom>
        </p:spPr>
      </p:pic>
      <p:pic>
        <p:nvPicPr>
          <p:cNvPr id="858" name="picture 858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 rot="21600000">
            <a:off x="10404347" y="758952"/>
            <a:ext cx="1089659" cy="324611"/>
          </a:xfrm>
          <a:prstGeom prst="rect">
            <a:avLst/>
          </a:prstGeom>
        </p:spPr>
      </p:pic>
      <p:pic>
        <p:nvPicPr>
          <p:cNvPr id="860" name="picture 86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rot="21600000">
            <a:off x="3177539" y="762000"/>
            <a:ext cx="1095755" cy="318515"/>
          </a:xfrm>
          <a:prstGeom prst="rect">
            <a:avLst/>
          </a:prstGeom>
        </p:spPr>
      </p:pic>
      <p:pic>
        <p:nvPicPr>
          <p:cNvPr id="862" name="picture 862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 rot="21600000">
            <a:off x="10520171" y="3817619"/>
            <a:ext cx="861059" cy="396239"/>
          </a:xfrm>
          <a:prstGeom prst="rect">
            <a:avLst/>
          </a:prstGeom>
        </p:spPr>
      </p:pic>
      <p:pic>
        <p:nvPicPr>
          <p:cNvPr id="864" name="picture 864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 rot="21600000">
            <a:off x="644652" y="803147"/>
            <a:ext cx="1348739" cy="236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picture 8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1355" y="4003548"/>
            <a:ext cx="11820143" cy="2666999"/>
          </a:xfrm>
          <a:prstGeom prst="rect">
            <a:avLst/>
          </a:prstGeom>
        </p:spPr>
      </p:pic>
      <p:pic>
        <p:nvPicPr>
          <p:cNvPr id="868" name="picture 8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1355" y="1427988"/>
            <a:ext cx="11820143" cy="2162555"/>
          </a:xfrm>
          <a:prstGeom prst="rect">
            <a:avLst/>
          </a:prstGeom>
        </p:spPr>
      </p:pic>
      <p:sp>
        <p:nvSpPr>
          <p:cNvPr id="870" name="textbox 870"/>
          <p:cNvSpPr/>
          <p:nvPr/>
        </p:nvSpPr>
        <p:spPr>
          <a:xfrm>
            <a:off x="7470241" y="4004564"/>
            <a:ext cx="1974850" cy="2438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1615" algn="l" rtl="0" eaLnBrk="0">
              <a:lnSpc>
                <a:spcPct val="86000"/>
              </a:lnSpc>
              <a:tabLst/>
            </a:pPr>
            <a:r>
              <a:rPr sz="3600" kern="0" spc="1580" dirty="0">
                <a:solidFill>
                  <a:srgbClr val="5065D6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600" kern="0" spc="-790" dirty="0">
                <a:solidFill>
                  <a:srgbClr val="5065D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100" dirty="0">
                <a:solidFill>
                  <a:srgbClr val="5065D6">
                    <a:alpha val="100000"/>
                  </a:srgbClr>
                </a:solidFill>
                <a:latin typeface="Arial"/>
                <a:ea typeface="Arial"/>
                <a:cs typeface="Arial"/>
              </a:rPr>
              <a:t>eT3D</a:t>
            </a:r>
            <a:endParaRPr sz="36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10000"/>
              </a:lnSpc>
              <a:spcBef>
                <a:spcPts val="105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NVIDIA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Research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发的生成式AI工具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7020" indent="-274954" algn="l" rtl="0" eaLnBrk="0">
              <a:lnSpc>
                <a:spcPct val="108000"/>
              </a:lnSpc>
              <a:spcBef>
                <a:spcPts val="4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主要特征：从单张2D图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像或文本输入生成高质量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3D模型，支持细节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编辑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和物理属性模拟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，主要面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向游戏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、影视及工业设计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领域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4000"/>
              </a:lnSpc>
              <a:spcBef>
                <a:spcPts val="11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https://www.get3d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.in/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72" name="picture 8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482941" y="6244259"/>
            <a:ext cx="122987" cy="168859"/>
          </a:xfrm>
          <a:prstGeom prst="rect">
            <a:avLst/>
          </a:prstGeom>
        </p:spPr>
      </p:pic>
      <p:pic>
        <p:nvPicPr>
          <p:cNvPr id="874" name="picture 8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482941" y="5040299"/>
            <a:ext cx="122987" cy="168859"/>
          </a:xfrm>
          <a:prstGeom prst="rect">
            <a:avLst/>
          </a:prstGeom>
        </p:spPr>
      </p:pic>
      <p:pic>
        <p:nvPicPr>
          <p:cNvPr id="876" name="picture 8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482941" y="4638979"/>
            <a:ext cx="122987" cy="168859"/>
          </a:xfrm>
          <a:prstGeom prst="rect">
            <a:avLst/>
          </a:prstGeom>
        </p:spPr>
      </p:pic>
      <p:pic>
        <p:nvPicPr>
          <p:cNvPr id="878" name="picture 878">
            <a:hlinkClick r:id="rId9" action="ppaction://hlinkfil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01590" y="2932429"/>
            <a:ext cx="1977390" cy="548640"/>
          </a:xfrm>
          <a:prstGeom prst="rect">
            <a:avLst/>
          </a:prstGeom>
        </p:spPr>
      </p:pic>
      <p:sp>
        <p:nvSpPr>
          <p:cNvPr id="880" name="textbox 880"/>
          <p:cNvSpPr/>
          <p:nvPr/>
        </p:nvSpPr>
        <p:spPr>
          <a:xfrm>
            <a:off x="5101691" y="1437259"/>
            <a:ext cx="1990089" cy="2094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3370" indent="-281304" algn="l" rtl="0" eaLnBrk="0">
              <a:lnSpc>
                <a:spcPct val="103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Google</a:t>
            </a:r>
            <a:r>
              <a:rPr sz="12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Research</a:t>
            </a:r>
            <a:r>
              <a:rPr sz="1200" kern="0" spc="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团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队研发，基于扩散模型的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3D生成技术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96000"/>
              </a:lnSpc>
              <a:spcBef>
                <a:spcPts val="4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主要特征：通过文本提示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生成高质量3D模型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NeRF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技术实现高细节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渲染，适合影视与艺术创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8000"/>
              </a:lnSpc>
              <a:spcBef>
                <a:spcPts val="10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https://gith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ub.com/ash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</a:t>
            </a:r>
            <a:r>
              <a:rPr sz="1200" u="sng" kern="0" spc="1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k</a:t>
            </a:r>
            <a:r>
              <a:rPr sz="1200" u="sng" kern="0" spc="1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y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1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</a:t>
            </a:r>
            <a:r>
              <a:rPr sz="1200" u="sng" kern="0" spc="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t</a:t>
            </a:r>
            <a:r>
              <a:rPr sz="1200" u="sng" kern="0" spc="1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</a:t>
            </a:r>
            <a:r>
              <a:rPr sz="1200" u="sng" kern="0" spc="1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b</a:t>
            </a:r>
            <a:r>
              <a:rPr sz="1200" u="sng" kern="0" spc="1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l</a:t>
            </a:r>
            <a:r>
              <a:rPr sz="1200" u="sng" kern="0" spc="1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</a:t>
            </a:r>
            <a:r>
              <a:rPr sz="1200" u="sng" kern="0" spc="1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dreamfusi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on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82" name="picture 88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114391" y="2930829"/>
            <a:ext cx="122986" cy="168859"/>
          </a:xfrm>
          <a:prstGeom prst="rect">
            <a:avLst/>
          </a:prstGeom>
        </p:spPr>
      </p:pic>
      <p:pic>
        <p:nvPicPr>
          <p:cNvPr id="884" name="picture 88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114391" y="2016429"/>
            <a:ext cx="122986" cy="168859"/>
          </a:xfrm>
          <a:prstGeom prst="rect">
            <a:avLst/>
          </a:prstGeom>
        </p:spPr>
      </p:pic>
      <p:pic>
        <p:nvPicPr>
          <p:cNvPr id="886" name="picture 88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114391" y="1467789"/>
            <a:ext cx="122986" cy="168859"/>
          </a:xfrm>
          <a:prstGeom prst="rect">
            <a:avLst/>
          </a:prstGeom>
        </p:spPr>
      </p:pic>
      <p:pic>
        <p:nvPicPr>
          <p:cNvPr id="888" name="picture 888">
            <a:hlinkClick r:id="rId10" action="ppaction://hlinkfile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731770" y="6230620"/>
            <a:ext cx="1977389" cy="401320"/>
          </a:xfrm>
          <a:prstGeom prst="rect">
            <a:avLst/>
          </a:prstGeom>
        </p:spPr>
      </p:pic>
      <p:sp>
        <p:nvSpPr>
          <p:cNvPr id="890" name="textbox 890"/>
          <p:cNvSpPr/>
          <p:nvPr/>
        </p:nvSpPr>
        <p:spPr>
          <a:xfrm>
            <a:off x="2731871" y="4608448"/>
            <a:ext cx="1990089" cy="2073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7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11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Stability</a:t>
            </a:r>
            <a:r>
              <a:rPr sz="1200" kern="0" spc="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孵化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VAST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公司发布的在线3D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生成AI建模平台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6000"/>
              </a:lnSpc>
              <a:spcBef>
                <a:spcPts val="8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主要特征：通过文本或草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图生成高精度3D模型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支持风格迁移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；开源社区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驱动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，可自定义训练模型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参数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18000"/>
              </a:lnSpc>
              <a:spcBef>
                <a:spcPts val="11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https://www.tripo3d.ai/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zh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92" name="picture 89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744571" y="6244259"/>
            <a:ext cx="122986" cy="168859"/>
          </a:xfrm>
          <a:prstGeom prst="rect">
            <a:avLst/>
          </a:prstGeom>
        </p:spPr>
      </p:pic>
      <p:pic>
        <p:nvPicPr>
          <p:cNvPr id="894" name="picture 89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744571" y="5240959"/>
            <a:ext cx="122986" cy="168859"/>
          </a:xfrm>
          <a:prstGeom prst="rect">
            <a:avLst/>
          </a:prstGeom>
        </p:spPr>
      </p:pic>
      <p:pic>
        <p:nvPicPr>
          <p:cNvPr id="896" name="picture 89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744571" y="4638979"/>
            <a:ext cx="122986" cy="168859"/>
          </a:xfrm>
          <a:prstGeom prst="rect">
            <a:avLst/>
          </a:prstGeom>
        </p:spPr>
      </p:pic>
      <p:pic>
        <p:nvPicPr>
          <p:cNvPr id="898" name="picture 898">
            <a:hlinkClick r:id="rId19" action="ppaction://hlinkfile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63220" y="2932429"/>
            <a:ext cx="1974850" cy="365760"/>
          </a:xfrm>
          <a:prstGeom prst="rect">
            <a:avLst/>
          </a:prstGeom>
        </p:spPr>
      </p:pic>
      <p:sp>
        <p:nvSpPr>
          <p:cNvPr id="900" name="textbox 900"/>
          <p:cNvSpPr/>
          <p:nvPr/>
        </p:nvSpPr>
        <p:spPr>
          <a:xfrm>
            <a:off x="363321" y="1437259"/>
            <a:ext cx="1997075" cy="1894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3370" indent="-280670" algn="l" rtl="0" eaLnBrk="0">
              <a:lnSpc>
                <a:spcPct val="101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ZOOX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Labs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开发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专注于AI驱动的自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动化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3D内容生成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97000"/>
              </a:lnSpc>
              <a:spcBef>
                <a:spcPts val="6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主要特征：通过文本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/单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图生成低多边形3D模型，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支持自动拓扑优化和贴图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生成，兼容Unity/Unrea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引擎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8000"/>
              </a:lnSpc>
              <a:spcBef>
                <a:spcPts val="9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https://www.alpha3d.i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02" name="picture 90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76021" y="2930829"/>
            <a:ext cx="122986" cy="168859"/>
          </a:xfrm>
          <a:prstGeom prst="rect">
            <a:avLst/>
          </a:prstGeom>
        </p:spPr>
      </p:pic>
      <p:pic>
        <p:nvPicPr>
          <p:cNvPr id="904" name="picture 90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76021" y="2021508"/>
            <a:ext cx="122986" cy="167887"/>
          </a:xfrm>
          <a:prstGeom prst="rect">
            <a:avLst/>
          </a:prstGeom>
        </p:spPr>
      </p:pic>
      <p:pic>
        <p:nvPicPr>
          <p:cNvPr id="906" name="picture 90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76021" y="1467624"/>
            <a:ext cx="122986" cy="167294"/>
          </a:xfrm>
          <a:prstGeom prst="rect">
            <a:avLst/>
          </a:prstGeom>
        </p:spPr>
      </p:pic>
      <p:pic>
        <p:nvPicPr>
          <p:cNvPr id="908" name="picture 908">
            <a:hlinkClick r:id="rId24" action="ppaction://hlinkfile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7470140" y="2932429"/>
            <a:ext cx="1977390" cy="365760"/>
          </a:xfrm>
          <a:prstGeom prst="rect">
            <a:avLst/>
          </a:prstGeom>
        </p:spPr>
      </p:pic>
      <p:sp>
        <p:nvSpPr>
          <p:cNvPr id="910" name="textbox 910"/>
          <p:cNvSpPr/>
          <p:nvPr/>
        </p:nvSpPr>
        <p:spPr>
          <a:xfrm>
            <a:off x="7470241" y="1437259"/>
            <a:ext cx="1990725" cy="1875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9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NVIDIA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推出的生成式AI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依托其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GPU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算力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97000"/>
              </a:lnSpc>
              <a:spcBef>
                <a:spcPts val="20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主要特征：文本生成高分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辨率3D模型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支持实时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编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辑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Omniverse平台协作与物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理模拟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2000"/>
              </a:lnSpc>
              <a:spcBef>
                <a:spcPts val="10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research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nvidia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com/labs/dir/mag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ic3d/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12" name="picture 91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7482941" y="2930829"/>
            <a:ext cx="122987" cy="168859"/>
          </a:xfrm>
          <a:prstGeom prst="rect">
            <a:avLst/>
          </a:prstGeom>
        </p:spPr>
      </p:pic>
      <p:pic>
        <p:nvPicPr>
          <p:cNvPr id="914" name="picture 91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7482941" y="2016429"/>
            <a:ext cx="122987" cy="168859"/>
          </a:xfrm>
          <a:prstGeom prst="rect">
            <a:avLst/>
          </a:prstGeom>
        </p:spPr>
      </p:pic>
      <p:pic>
        <p:nvPicPr>
          <p:cNvPr id="916" name="picture 91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7482941" y="1467789"/>
            <a:ext cx="122987" cy="168859"/>
          </a:xfrm>
          <a:prstGeom prst="rect">
            <a:avLst/>
          </a:prstGeom>
        </p:spPr>
      </p:pic>
      <p:pic>
        <p:nvPicPr>
          <p:cNvPr id="918" name="picture 918">
            <a:hlinkClick r:id="rId30" action="ppaction://hlinkfile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839325" y="6029959"/>
            <a:ext cx="1982469" cy="401319"/>
          </a:xfrm>
          <a:prstGeom prst="rect">
            <a:avLst/>
          </a:prstGeom>
        </p:spPr>
      </p:pic>
      <p:sp>
        <p:nvSpPr>
          <p:cNvPr id="920" name="textbox 920"/>
          <p:cNvSpPr/>
          <p:nvPr/>
        </p:nvSpPr>
        <p:spPr>
          <a:xfrm>
            <a:off x="9839426" y="4608448"/>
            <a:ext cx="1995170" cy="1854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indent="-279400" algn="l" rtl="0" eaLnBrk="0">
              <a:lnSpc>
                <a:spcPct val="112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由英国公司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Kaedim</a:t>
            </a:r>
            <a:r>
              <a:rPr sz="1200" kern="0" spc="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Ltd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开发的AI驱动工具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6000"/>
              </a:lnSpc>
              <a:spcBef>
                <a:spcPts val="10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：专注于将手绘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草图或平面设计图快速转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换为可编辑的3D模型 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简化角色设计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、游戏资产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和产品原型的创作流程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11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https://www.kaedim3d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22" name="picture 92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852126" y="6043599"/>
            <a:ext cx="122987" cy="168859"/>
          </a:xfrm>
          <a:prstGeom prst="rect">
            <a:avLst/>
          </a:prstGeom>
        </p:spPr>
      </p:pic>
      <p:pic>
        <p:nvPicPr>
          <p:cNvPr id="924" name="picture 92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9852126" y="5040299"/>
            <a:ext cx="122987" cy="168859"/>
          </a:xfrm>
          <a:prstGeom prst="rect">
            <a:avLst/>
          </a:prstGeom>
        </p:spPr>
      </p:pic>
      <p:pic>
        <p:nvPicPr>
          <p:cNvPr id="926" name="picture 92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9852126" y="4638979"/>
            <a:ext cx="122987" cy="168859"/>
          </a:xfrm>
          <a:prstGeom prst="rect">
            <a:avLst/>
          </a:prstGeom>
        </p:spPr>
      </p:pic>
      <p:sp>
        <p:nvSpPr>
          <p:cNvPr id="928" name="textbox 928"/>
          <p:cNvSpPr/>
          <p:nvPr/>
        </p:nvSpPr>
        <p:spPr>
          <a:xfrm>
            <a:off x="363321" y="4608448"/>
            <a:ext cx="1990089" cy="1835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indent="-279400" algn="l" rtl="0" eaLnBrk="0">
              <a:lnSpc>
                <a:spcPct val="111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美国AI公司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Com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mon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Sense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Machines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推出，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专注3D重建技术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290" indent="-275590" algn="l" rtl="0" eaLnBrk="0">
              <a:lnSpc>
                <a:spcPct val="106000"/>
              </a:lnSpc>
              <a:spcBef>
                <a:spcPts val="9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主要特征：从单张或多张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D图像生成带纹理3D网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格模型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批量处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理，适用于工业设计与逆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向工程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5000"/>
              </a:lnSpc>
              <a:spcBef>
                <a:spcPts val="11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https://www.csm.ai/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30" name="picture 93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376021" y="6244259"/>
            <a:ext cx="122986" cy="168859"/>
          </a:xfrm>
          <a:prstGeom prst="rect">
            <a:avLst/>
          </a:prstGeom>
        </p:spPr>
      </p:pic>
      <p:pic>
        <p:nvPicPr>
          <p:cNvPr id="932" name="picture 93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76021" y="5240959"/>
            <a:ext cx="122986" cy="168859"/>
          </a:xfrm>
          <a:prstGeom prst="rect">
            <a:avLst/>
          </a:prstGeom>
        </p:spPr>
      </p:pic>
      <p:pic>
        <p:nvPicPr>
          <p:cNvPr id="934" name="picture 93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76021" y="4638979"/>
            <a:ext cx="122986" cy="168859"/>
          </a:xfrm>
          <a:prstGeom prst="rect">
            <a:avLst/>
          </a:prstGeom>
        </p:spPr>
      </p:pic>
      <p:pic>
        <p:nvPicPr>
          <p:cNvPr id="936" name="picture 936">
            <a:hlinkClick r:id="rId40" action="ppaction://hlinkfile"/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5101590" y="6029959"/>
            <a:ext cx="1977390" cy="401319"/>
          </a:xfrm>
          <a:prstGeom prst="rect">
            <a:avLst/>
          </a:prstGeom>
        </p:spPr>
      </p:pic>
      <p:sp>
        <p:nvSpPr>
          <p:cNvPr id="938" name="textbox 938"/>
          <p:cNvSpPr/>
          <p:nvPr/>
        </p:nvSpPr>
        <p:spPr>
          <a:xfrm>
            <a:off x="5101691" y="4609972"/>
            <a:ext cx="1990089" cy="1852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0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22222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22222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22222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开发企业为</a:t>
            </a:r>
            <a:r>
              <a:rPr sz="1200" kern="0" spc="-10" dirty="0">
                <a:solidFill>
                  <a:srgbClr val="222222">
                    <a:alpha val="100000"/>
                  </a:srgbClr>
                </a:solidFill>
                <a:latin typeface="Arial"/>
                <a:ea typeface="Arial"/>
                <a:cs typeface="Arial"/>
              </a:rPr>
              <a:t>Trimbl</a:t>
            </a:r>
            <a:r>
              <a:rPr sz="1200" kern="0" spc="-20" dirty="0">
                <a:solidFill>
                  <a:srgbClr val="222222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200" kern="0" spc="120" dirty="0">
                <a:solidFill>
                  <a:srgbClr val="22222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20" dirty="0">
                <a:solidFill>
                  <a:srgbClr val="222222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Inc.</a:t>
            </a:r>
            <a:r>
              <a:rPr sz="1200" kern="0" spc="-20" dirty="0">
                <a:solidFill>
                  <a:srgbClr val="22222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80" dirty="0">
                <a:solidFill>
                  <a:srgbClr val="22222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作为传统</a:t>
            </a:r>
            <a:r>
              <a:rPr sz="1200" kern="0" spc="80" dirty="0">
                <a:solidFill>
                  <a:srgbClr val="222222">
                    <a:alpha val="100000"/>
                  </a:srgbClr>
                </a:solidFill>
                <a:latin typeface="Arial"/>
                <a:ea typeface="Arial"/>
                <a:cs typeface="Arial"/>
              </a:rPr>
              <a:t>3D</a:t>
            </a:r>
            <a:r>
              <a:rPr sz="1200" kern="0" spc="80" dirty="0">
                <a:solidFill>
                  <a:srgbClr val="22222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建模软件巨</a:t>
            </a:r>
            <a:r>
              <a:rPr sz="1200" kern="0" spc="-10" dirty="0">
                <a:solidFill>
                  <a:srgbClr val="22222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头，近年整合</a:t>
            </a:r>
            <a:r>
              <a:rPr sz="1200" kern="0" spc="-10" dirty="0">
                <a:solidFill>
                  <a:srgbClr val="222222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-10" dirty="0">
                <a:solidFill>
                  <a:srgbClr val="22222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8000"/>
              </a:lnSpc>
              <a:spcBef>
                <a:spcPts val="1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通过语音/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本生成建筑模型，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化结构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，支持直接生成施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工图纸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11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https://www.sketchupc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hina.com/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40" name="picture 94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114391" y="6043599"/>
            <a:ext cx="122986" cy="168859"/>
          </a:xfrm>
          <a:prstGeom prst="rect">
            <a:avLst/>
          </a:prstGeom>
        </p:spPr>
      </p:pic>
      <p:pic>
        <p:nvPicPr>
          <p:cNvPr id="942" name="picture 94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5114391" y="5240959"/>
            <a:ext cx="122986" cy="168859"/>
          </a:xfrm>
          <a:prstGeom prst="rect">
            <a:avLst/>
          </a:prstGeom>
        </p:spPr>
      </p:pic>
      <p:pic>
        <p:nvPicPr>
          <p:cNvPr id="944" name="picture 94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5114391" y="4638979"/>
            <a:ext cx="122986" cy="168859"/>
          </a:xfrm>
          <a:prstGeom prst="rect">
            <a:avLst/>
          </a:prstGeom>
        </p:spPr>
      </p:pic>
      <p:sp>
        <p:nvSpPr>
          <p:cNvPr id="946" name="textbox 946"/>
          <p:cNvSpPr/>
          <p:nvPr/>
        </p:nvSpPr>
        <p:spPr>
          <a:xfrm>
            <a:off x="9839426" y="1455089"/>
            <a:ext cx="1974850" cy="1675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由新加坡初创公司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829" indent="6985" algn="l" rtl="0" eaLnBrk="0">
              <a:lnSpc>
                <a:spcPct val="104000"/>
              </a:lnSpc>
              <a:spcBef>
                <a:spcPts val="10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Pixcap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Pte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Ltd推出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，专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注于无代码3D设计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4640" indent="-281940" algn="l" rtl="0" eaLnBrk="0">
              <a:lnSpc>
                <a:spcPct val="97000"/>
              </a:lnSpc>
              <a:spcBef>
                <a:spcPts val="2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主要特征：通过拖拽式界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面生成3D模型和动画，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734" indent="-3175" algn="l" rtl="0" eaLnBrk="0">
              <a:lnSpc>
                <a:spcPct val="93000"/>
              </a:lnSpc>
              <a:spcBef>
                <a:spcPts val="129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提供海量模板库，适用于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电商广告和社交媒体内容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制作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5000"/>
              </a:lnSpc>
              <a:spcBef>
                <a:spcPts val="9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https://pixcap.co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48" name="picture 94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9852126" y="2930829"/>
            <a:ext cx="122987" cy="168859"/>
          </a:xfrm>
          <a:prstGeom prst="rect">
            <a:avLst/>
          </a:prstGeom>
        </p:spPr>
      </p:pic>
      <p:pic>
        <p:nvPicPr>
          <p:cNvPr id="950" name="picture 95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852126" y="2016429"/>
            <a:ext cx="122987" cy="168859"/>
          </a:xfrm>
          <a:prstGeom prst="rect">
            <a:avLst/>
          </a:prstGeom>
        </p:spPr>
      </p:pic>
      <p:pic>
        <p:nvPicPr>
          <p:cNvPr id="952" name="picture 952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852126" y="1467789"/>
            <a:ext cx="122987" cy="166954"/>
          </a:xfrm>
          <a:prstGeom prst="rect">
            <a:avLst/>
          </a:prstGeom>
        </p:spPr>
      </p:pic>
      <p:sp>
        <p:nvSpPr>
          <p:cNvPr id="954" name="textbox 954"/>
          <p:cNvSpPr/>
          <p:nvPr/>
        </p:nvSpPr>
        <p:spPr>
          <a:xfrm>
            <a:off x="2731871" y="1437259"/>
            <a:ext cx="1990725" cy="1509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9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隶   属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   t   y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Technologies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专为游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戏开发者设计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99000"/>
              </a:lnSpc>
              <a:spcBef>
                <a:spcPts val="5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主要特征：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Unity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编辑器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支持文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3D模型/材质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，提供AI辅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助动画绑定和物理设置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4000"/>
              </a:lnSpc>
              <a:spcBef>
                <a:spcPts val="9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https://www.me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shy.ai/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56" name="picture 956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2744571" y="2747950"/>
            <a:ext cx="122986" cy="168859"/>
          </a:xfrm>
          <a:prstGeom prst="rect">
            <a:avLst/>
          </a:prstGeom>
        </p:spPr>
      </p:pic>
      <p:pic>
        <p:nvPicPr>
          <p:cNvPr id="958" name="picture 95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2744571" y="2016429"/>
            <a:ext cx="122986" cy="168859"/>
          </a:xfrm>
          <a:prstGeom prst="rect">
            <a:avLst/>
          </a:prstGeom>
        </p:spPr>
      </p:pic>
      <p:pic>
        <p:nvPicPr>
          <p:cNvPr id="960" name="picture 960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2744571" y="1467789"/>
            <a:ext cx="122986" cy="168859"/>
          </a:xfrm>
          <a:prstGeom prst="rect">
            <a:avLst/>
          </a:prstGeom>
        </p:spPr>
      </p:pic>
      <p:pic>
        <p:nvPicPr>
          <p:cNvPr id="962" name="picture 96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964" name="textbox 964"/>
          <p:cNvSpPr/>
          <p:nvPr/>
        </p:nvSpPr>
        <p:spPr>
          <a:xfrm>
            <a:off x="82291" y="-31740"/>
            <a:ext cx="3399154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4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3D模型工具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66" name="picture 966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5082374" y="938784"/>
            <a:ext cx="2019464" cy="467867"/>
          </a:xfrm>
          <a:prstGeom prst="rect">
            <a:avLst/>
          </a:prstGeom>
        </p:spPr>
      </p:pic>
      <p:pic>
        <p:nvPicPr>
          <p:cNvPr id="968" name="picture 968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589788" y="937260"/>
            <a:ext cx="1524000" cy="469391"/>
          </a:xfrm>
          <a:prstGeom prst="rect">
            <a:avLst/>
          </a:prstGeom>
        </p:spPr>
      </p:pic>
      <p:pic>
        <p:nvPicPr>
          <p:cNvPr id="970" name="picture 970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7709916" y="944879"/>
            <a:ext cx="1498092" cy="457200"/>
          </a:xfrm>
          <a:prstGeom prst="rect">
            <a:avLst/>
          </a:prstGeom>
        </p:spPr>
      </p:pic>
      <p:pic>
        <p:nvPicPr>
          <p:cNvPr id="972" name="picture 972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2996183" y="946403"/>
            <a:ext cx="1447799" cy="454152"/>
          </a:xfrm>
          <a:prstGeom prst="rect">
            <a:avLst/>
          </a:prstGeom>
        </p:spPr>
      </p:pic>
      <p:pic>
        <p:nvPicPr>
          <p:cNvPr id="974" name="picture 974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21600000">
            <a:off x="10203180" y="941832"/>
            <a:ext cx="1249680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picture 9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2587" y="3963923"/>
            <a:ext cx="11835383" cy="2845307"/>
          </a:xfrm>
          <a:prstGeom prst="rect">
            <a:avLst/>
          </a:prstGeom>
        </p:spPr>
      </p:pic>
      <p:pic>
        <p:nvPicPr>
          <p:cNvPr id="978" name="picture 9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2587" y="1501140"/>
            <a:ext cx="11835383" cy="2343912"/>
          </a:xfrm>
          <a:prstGeom prst="rect">
            <a:avLst/>
          </a:prstGeom>
        </p:spPr>
      </p:pic>
      <p:pic>
        <p:nvPicPr>
          <p:cNvPr id="980" name="picture 980">
            <a:hlinkClick r:id="rId5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3690" y="3336290"/>
            <a:ext cx="1949450" cy="474979"/>
          </a:xfrm>
          <a:prstGeom prst="rect">
            <a:avLst/>
          </a:prstGeom>
        </p:spPr>
      </p:pic>
      <p:sp>
        <p:nvSpPr>
          <p:cNvPr id="982" name="textbox 982"/>
          <p:cNvSpPr/>
          <p:nvPr/>
        </p:nvSpPr>
        <p:spPr>
          <a:xfrm>
            <a:off x="314805" y="1436442"/>
            <a:ext cx="1960879" cy="2383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indent="-279400" algn="l" rtl="0" eaLnBrk="0">
              <a:lnSpc>
                <a:spcPct val="127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集成于主流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IDE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VS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Code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、JetBrai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ns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00990" indent="-9525" algn="l" rtl="0" eaLnBrk="0">
              <a:lnSpc>
                <a:spcPct val="119000"/>
              </a:lnSpc>
              <a:spcBef>
                <a:spcPts val="94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自动补全代码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函数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、注释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642"/>
              </a:lnSpc>
              <a:spcBef>
                <a:spcPts val="307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2025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年引入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9559" indent="78105" algn="l" rtl="0" eaLnBrk="0">
              <a:lnSpc>
                <a:spcPct val="117000"/>
              </a:lnSpc>
              <a:spcBef>
                <a:spcPts val="487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“agent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模式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能代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替开发者执行部分编程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任务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22000"/>
              </a:lnSpc>
              <a:spcBef>
                <a:spcPts val="286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github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fe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atures/co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pilot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84" name="picture 9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7505" y="3368305"/>
            <a:ext cx="132723" cy="182227"/>
          </a:xfrm>
          <a:prstGeom prst="rect">
            <a:avLst/>
          </a:prstGeom>
        </p:spPr>
      </p:pic>
      <p:pic>
        <p:nvPicPr>
          <p:cNvPr id="986" name="picture 9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27505" y="2418345"/>
            <a:ext cx="132723" cy="182227"/>
          </a:xfrm>
          <a:prstGeom prst="rect">
            <a:avLst/>
          </a:prstGeom>
        </p:spPr>
      </p:pic>
      <p:pic>
        <p:nvPicPr>
          <p:cNvPr id="988" name="picture 9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27505" y="1468385"/>
            <a:ext cx="132723" cy="182227"/>
          </a:xfrm>
          <a:prstGeom prst="rect">
            <a:avLst/>
          </a:prstGeom>
        </p:spPr>
      </p:pic>
      <p:pic>
        <p:nvPicPr>
          <p:cNvPr id="990" name="picture 990">
            <a:hlinkClick r:id="rId11" action="ppaction://hlinkfile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432675" y="3237865"/>
            <a:ext cx="1977390" cy="474979"/>
          </a:xfrm>
          <a:prstGeom prst="rect">
            <a:avLst/>
          </a:prstGeom>
        </p:spPr>
      </p:pic>
      <p:sp>
        <p:nvSpPr>
          <p:cNvPr id="992" name="textbox 992"/>
          <p:cNvSpPr/>
          <p:nvPr/>
        </p:nvSpPr>
        <p:spPr>
          <a:xfrm>
            <a:off x="7433790" y="1439175"/>
            <a:ext cx="1989454" cy="231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15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支持将开发者模糊需求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转换为可执行计划，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</a:t>
            </a:r>
            <a:r>
              <a:rPr sz="1200" kern="0" spc="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通过多</a:t>
            </a:r>
            <a:r>
              <a:rPr sz="1200" kern="0" spc="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agent</a:t>
            </a:r>
            <a:r>
              <a:rPr sz="1200" kern="0" spc="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并行执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行子任务，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提高复杂功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能开发效率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290" indent="-275590" algn="l" rtl="0" eaLnBrk="0">
              <a:lnSpc>
                <a:spcPct val="120000"/>
              </a:lnSpc>
              <a:spcBef>
                <a:spcPts val="396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提供代码库索引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、依赖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追踪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、变更摘要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文档生成功能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31000"/>
              </a:lnSpc>
              <a:spcBef>
                <a:spcPts val="302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w.verdent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ai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94" name="picture 99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446490" y="3269880"/>
            <a:ext cx="132722" cy="182227"/>
          </a:xfrm>
          <a:prstGeom prst="rect">
            <a:avLst/>
          </a:prstGeom>
        </p:spPr>
      </p:pic>
      <p:pic>
        <p:nvPicPr>
          <p:cNvPr id="996" name="picture 99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446490" y="2557410"/>
            <a:ext cx="132722" cy="182227"/>
          </a:xfrm>
          <a:prstGeom prst="rect">
            <a:avLst/>
          </a:prstGeom>
        </p:spPr>
      </p:pic>
      <p:pic>
        <p:nvPicPr>
          <p:cNvPr id="998" name="picture 99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446490" y="1451875"/>
            <a:ext cx="132722" cy="182227"/>
          </a:xfrm>
          <a:prstGeom prst="rect">
            <a:avLst/>
          </a:prstGeom>
        </p:spPr>
      </p:pic>
      <p:pic>
        <p:nvPicPr>
          <p:cNvPr id="1000" name="picture 1000">
            <a:hlinkClick r:id="rId17" action="ppaction://hlinkfile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9805669" y="6309995"/>
            <a:ext cx="1977390" cy="435609"/>
          </a:xfrm>
          <a:prstGeom prst="rect">
            <a:avLst/>
          </a:prstGeom>
        </p:spPr>
      </p:pic>
      <p:sp>
        <p:nvSpPr>
          <p:cNvPr id="1002" name="textbox 1002"/>
          <p:cNvSpPr/>
          <p:nvPr/>
        </p:nvSpPr>
        <p:spPr>
          <a:xfrm>
            <a:off x="9806785" y="4551117"/>
            <a:ext cx="1988820" cy="2224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7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腾讯CodeBuddy专为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中文开发者打造，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融合了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Claude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3.7与混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元大模型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14000"/>
              </a:lnSpc>
              <a:spcBef>
                <a:spcPts val="286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能听懂口语化指令，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还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能结合微信小程序等腾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讯云产品自动生成可部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署代码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0" indent="-273050" algn="l" rtl="0" eaLnBrk="0">
              <a:lnSpc>
                <a:spcPct val="121000"/>
              </a:lnSpc>
              <a:spcBef>
                <a:spcPts val="152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https://co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pilot.tencen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t.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04" name="picture 100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9819485" y="6325500"/>
            <a:ext cx="132722" cy="182227"/>
          </a:xfrm>
          <a:prstGeom prst="rect">
            <a:avLst/>
          </a:prstGeom>
        </p:spPr>
      </p:pic>
      <p:pic>
        <p:nvPicPr>
          <p:cNvPr id="1006" name="picture 100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9819485" y="5454280"/>
            <a:ext cx="132722" cy="182227"/>
          </a:xfrm>
          <a:prstGeom prst="rect">
            <a:avLst/>
          </a:prstGeom>
        </p:spPr>
      </p:pic>
      <p:pic>
        <p:nvPicPr>
          <p:cNvPr id="1008" name="picture 100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9819485" y="4583060"/>
            <a:ext cx="132722" cy="182227"/>
          </a:xfrm>
          <a:prstGeom prst="rect">
            <a:avLst/>
          </a:prstGeom>
        </p:spPr>
      </p:pic>
      <p:pic>
        <p:nvPicPr>
          <p:cNvPr id="1010" name="picture 1010">
            <a:hlinkClick r:id="rId22" action="ppaction://hlinkfile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13690" y="6172834"/>
            <a:ext cx="1913889" cy="435610"/>
          </a:xfrm>
          <a:prstGeom prst="rect">
            <a:avLst/>
          </a:prstGeom>
        </p:spPr>
      </p:pic>
      <p:sp>
        <p:nvSpPr>
          <p:cNvPr id="1012" name="textbox 1012"/>
          <p:cNvSpPr/>
          <p:nvPr/>
        </p:nvSpPr>
        <p:spPr>
          <a:xfrm>
            <a:off x="313791" y="4568494"/>
            <a:ext cx="2117725" cy="2070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3370" indent="-281304" algn="l" rtl="0" eaLnBrk="0">
              <a:lnSpc>
                <a:spcPct val="110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支持代码生成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、智能问答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多文件修改等，覆盖主流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IDE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4000"/>
              </a:lnSpc>
              <a:spcBef>
                <a:spcPts val="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推出“编程智能体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”，可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端到端完成工程内多文件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改动与工具调用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0000"/>
              </a:lnSpc>
              <a:spcBef>
                <a:spcPts val="10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VS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Code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官方插件装机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量高，企业/个人均可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8765" algn="l" rtl="0" eaLnBrk="0">
              <a:lnSpc>
                <a:spcPct val="121000"/>
              </a:lnSpc>
              <a:spcBef>
                <a:spcPts val="10"/>
              </a:spcBef>
              <a:tabLst>
                <a:tab pos="146050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lingma</a:t>
            </a:r>
            <a:r>
              <a:rPr sz="1200" u="sng" kern="0" spc="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aliyun</a:t>
            </a:r>
            <a:r>
              <a:rPr sz="1200" u="sng" kern="0" spc="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14" name="picture 101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327505" y="6188340"/>
            <a:ext cx="132723" cy="182227"/>
          </a:xfrm>
          <a:prstGeom prst="rect">
            <a:avLst/>
          </a:prstGeom>
        </p:spPr>
      </p:pic>
      <p:pic>
        <p:nvPicPr>
          <p:cNvPr id="1016" name="picture 101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326491" y="5785154"/>
            <a:ext cx="122986" cy="168859"/>
          </a:xfrm>
          <a:prstGeom prst="rect">
            <a:avLst/>
          </a:prstGeom>
        </p:spPr>
      </p:pic>
      <p:pic>
        <p:nvPicPr>
          <p:cNvPr id="1018" name="picture 101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326491" y="5183174"/>
            <a:ext cx="122986" cy="168859"/>
          </a:xfrm>
          <a:prstGeom prst="rect">
            <a:avLst/>
          </a:prstGeom>
        </p:spPr>
      </p:pic>
      <p:pic>
        <p:nvPicPr>
          <p:cNvPr id="1020" name="picture 102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326491" y="4581194"/>
            <a:ext cx="122986" cy="168859"/>
          </a:xfrm>
          <a:prstGeom prst="rect">
            <a:avLst/>
          </a:prstGeom>
        </p:spPr>
      </p:pic>
      <p:pic>
        <p:nvPicPr>
          <p:cNvPr id="1022" name="picture 1022">
            <a:hlinkClick r:id="rId6" action="ppaction://hlinkfile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2687320" y="3098800"/>
            <a:ext cx="1977389" cy="474979"/>
          </a:xfrm>
          <a:prstGeom prst="rect">
            <a:avLst/>
          </a:prstGeom>
        </p:spPr>
      </p:pic>
      <p:sp>
        <p:nvSpPr>
          <p:cNvPr id="1024" name="textbox 1024"/>
          <p:cNvSpPr/>
          <p:nvPr/>
        </p:nvSpPr>
        <p:spPr>
          <a:xfrm>
            <a:off x="2688435" y="1436442"/>
            <a:ext cx="1988820" cy="2145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25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被称为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先行 ”的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代码编辑器，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理解整个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项目上下文而不仅是当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前文件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290" indent="-275590" algn="l" rtl="0" eaLnBrk="0">
              <a:lnSpc>
                <a:spcPct val="120000"/>
              </a:lnSpc>
              <a:spcBef>
                <a:spcPts val="425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支持多文件编辑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、架构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建议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、代码重构，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适合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大型工程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22000"/>
              </a:lnSpc>
              <a:spcBef>
                <a:spcPts val="284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https://cursor.5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1com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ponent.com/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26" name="picture 102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2701135" y="3130815"/>
            <a:ext cx="132723" cy="182227"/>
          </a:xfrm>
          <a:prstGeom prst="rect">
            <a:avLst/>
          </a:prstGeom>
        </p:spPr>
      </p:pic>
      <p:pic>
        <p:nvPicPr>
          <p:cNvPr id="1028" name="picture 102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2701135" y="2418345"/>
            <a:ext cx="132723" cy="182227"/>
          </a:xfrm>
          <a:prstGeom prst="rect">
            <a:avLst/>
          </a:prstGeom>
        </p:spPr>
      </p:pic>
      <p:pic>
        <p:nvPicPr>
          <p:cNvPr id="1030" name="picture 103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2701135" y="1468385"/>
            <a:ext cx="132723" cy="182227"/>
          </a:xfrm>
          <a:prstGeom prst="rect">
            <a:avLst/>
          </a:prstGeom>
        </p:spPr>
      </p:pic>
      <p:pic>
        <p:nvPicPr>
          <p:cNvPr id="1032" name="picture 1032">
            <a:hlinkClick r:id="rId33" action="ppaction://hlinkfile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805669" y="3098800"/>
            <a:ext cx="1914525" cy="474979"/>
          </a:xfrm>
          <a:prstGeom prst="rect">
            <a:avLst/>
          </a:prstGeom>
        </p:spPr>
      </p:pic>
      <p:sp>
        <p:nvSpPr>
          <p:cNvPr id="1034" name="textbox 1034"/>
          <p:cNvSpPr/>
          <p:nvPr/>
        </p:nvSpPr>
        <p:spPr>
          <a:xfrm>
            <a:off x="9806785" y="1455685"/>
            <a:ext cx="1949450" cy="2145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20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理解代码结构，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能在多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文件间生成与重构，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现端到端改动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25000"/>
              </a:lnSpc>
              <a:spcBef>
                <a:spcPts val="277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Cascade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智能流程,用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自然语言触发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“生成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调试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部署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”等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多步骤自动化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27000"/>
              </a:lnSpc>
              <a:spcBef>
                <a:spcPts val="278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https://wi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ndsurf.com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36" name="picture 103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9819485" y="3130815"/>
            <a:ext cx="132722" cy="182227"/>
          </a:xfrm>
          <a:prstGeom prst="rect">
            <a:avLst/>
          </a:prstGeom>
        </p:spPr>
      </p:pic>
      <p:pic>
        <p:nvPicPr>
          <p:cNvPr id="1038" name="picture 103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9819485" y="2180855"/>
            <a:ext cx="132722" cy="182227"/>
          </a:xfrm>
          <a:prstGeom prst="rect">
            <a:avLst/>
          </a:prstGeom>
        </p:spPr>
      </p:pic>
      <p:pic>
        <p:nvPicPr>
          <p:cNvPr id="1040" name="picture 104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9819485" y="1468385"/>
            <a:ext cx="132722" cy="182227"/>
          </a:xfrm>
          <a:prstGeom prst="rect">
            <a:avLst/>
          </a:prstGeom>
        </p:spPr>
      </p:pic>
      <p:sp>
        <p:nvSpPr>
          <p:cNvPr id="1042" name="textbox 1042"/>
          <p:cNvSpPr/>
          <p:nvPr/>
        </p:nvSpPr>
        <p:spPr>
          <a:xfrm>
            <a:off x="2688435" y="4551117"/>
            <a:ext cx="1988820" cy="1988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16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IDE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助手一体，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代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码补全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、解释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、调试与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对话式编程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81304" algn="l" rtl="0" eaLnBrk="0">
              <a:lnSpc>
                <a:spcPct val="119000"/>
              </a:lnSpc>
              <a:spcBef>
                <a:spcPts val="140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兼容主流语言/框架 ，</a:t>
            </a:r>
            <a:r>
              <a:rPr sz="12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面向开发者免费开放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（活动期）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4000"/>
              </a:lnSpc>
              <a:spcBef>
                <a:spcPts val="12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社区实测聚焦前端/全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栈原型与线上协作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13000"/>
              </a:lnSpc>
              <a:spcBef>
                <a:spcPts val="140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https://www.trae.cn/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44" name="picture 104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2701135" y="6325500"/>
            <a:ext cx="132723" cy="182227"/>
          </a:xfrm>
          <a:prstGeom prst="rect">
            <a:avLst/>
          </a:prstGeom>
        </p:spPr>
      </p:pic>
      <p:pic>
        <p:nvPicPr>
          <p:cNvPr id="1046" name="picture 104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2701135" y="5889890"/>
            <a:ext cx="132723" cy="182227"/>
          </a:xfrm>
          <a:prstGeom prst="rect">
            <a:avLst/>
          </a:prstGeom>
        </p:spPr>
      </p:pic>
      <p:pic>
        <p:nvPicPr>
          <p:cNvPr id="1048" name="picture 104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2701135" y="5236475"/>
            <a:ext cx="132723" cy="182227"/>
          </a:xfrm>
          <a:prstGeom prst="rect">
            <a:avLst/>
          </a:prstGeom>
        </p:spPr>
      </p:pic>
      <p:pic>
        <p:nvPicPr>
          <p:cNvPr id="1050" name="picture 105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2701135" y="4583060"/>
            <a:ext cx="132723" cy="182227"/>
          </a:xfrm>
          <a:prstGeom prst="rect">
            <a:avLst/>
          </a:prstGeom>
        </p:spPr>
      </p:pic>
      <p:pic>
        <p:nvPicPr>
          <p:cNvPr id="1052" name="picture 1052">
            <a:hlinkClick r:id="rId43" action="ppaction://hlinkfile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5059679" y="5874384"/>
            <a:ext cx="1977389" cy="435610"/>
          </a:xfrm>
          <a:prstGeom prst="rect">
            <a:avLst/>
          </a:prstGeom>
        </p:spPr>
      </p:pic>
      <p:sp>
        <p:nvSpPr>
          <p:cNvPr id="1054" name="textbox 1054"/>
          <p:cNvSpPr/>
          <p:nvPr/>
        </p:nvSpPr>
        <p:spPr>
          <a:xfrm>
            <a:off x="5060794" y="4570360"/>
            <a:ext cx="1989454" cy="1769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17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基于文心大模型，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自动代码生成/单测/注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释/问答等全套能力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12000"/>
              </a:lnSpc>
              <a:spcBef>
                <a:spcPts val="116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百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种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言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IDE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面向个人下载即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21000"/>
              </a:lnSpc>
              <a:spcBef>
                <a:spcPts val="147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https://comate.bai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du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56" name="picture 105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5073494" y="5889890"/>
            <a:ext cx="132723" cy="182227"/>
          </a:xfrm>
          <a:prstGeom prst="rect">
            <a:avLst/>
          </a:prstGeom>
        </p:spPr>
      </p:pic>
      <p:pic>
        <p:nvPicPr>
          <p:cNvPr id="1058" name="picture 1058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5073494" y="5236475"/>
            <a:ext cx="132723" cy="182227"/>
          </a:xfrm>
          <a:prstGeom prst="rect">
            <a:avLst/>
          </a:prstGeom>
        </p:spPr>
      </p:pic>
      <p:pic>
        <p:nvPicPr>
          <p:cNvPr id="1060" name="picture 106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5073494" y="4583060"/>
            <a:ext cx="132723" cy="182227"/>
          </a:xfrm>
          <a:prstGeom prst="rect">
            <a:avLst/>
          </a:prstGeom>
        </p:spPr>
      </p:pic>
      <p:sp>
        <p:nvSpPr>
          <p:cNvPr id="1062" name="textbox 1062"/>
          <p:cNvSpPr/>
          <p:nvPr/>
        </p:nvSpPr>
        <p:spPr>
          <a:xfrm>
            <a:off x="5057594" y="1436442"/>
            <a:ext cx="1991995" cy="1760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3050" algn="l" rtl="0" eaLnBrk="0">
              <a:lnSpc>
                <a:spcPct val="123000"/>
              </a:lnSpc>
              <a:tabLst>
                <a:tab pos="14858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AWS</a:t>
            </a:r>
            <a:r>
              <a:rPr sz="1200" kern="0" spc="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推出的</a:t>
            </a:r>
            <a:r>
              <a:rPr sz="1200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编码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助手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针对云环境 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AWS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模块优化建议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77495" algn="l" rtl="0" eaLnBrk="0">
              <a:lnSpc>
                <a:spcPct val="121000"/>
              </a:lnSpc>
              <a:spcBef>
                <a:spcPts val="450"/>
              </a:spcBef>
              <a:tabLst>
                <a:tab pos="14858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支持与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AWS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服务深度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 适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云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sz="1200" kern="0" spc="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Serverless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3209" algn="l" rtl="0" eaLnBrk="0">
              <a:lnSpc>
                <a:spcPct val="118000"/>
              </a:lnSpc>
              <a:spcBef>
                <a:spcPts val="16"/>
              </a:spcBef>
              <a:tabLst>
                <a:tab pos="114300" algn="l"/>
              </a:tabLst>
            </a:pPr>
            <a:r>
              <a:rPr sz="9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9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  </a:t>
            </a:r>
            <a:r>
              <a:rPr sz="900" u="sng" kern="0" spc="-1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https://aws.amaz</a:t>
            </a:r>
            <a:r>
              <a:rPr sz="9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on.com/c</a:t>
            </a:r>
            <a:r>
              <a:rPr sz="9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     /   </a:t>
            </a:r>
            <a:r>
              <a:rPr sz="9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s     m     a</a:t>
            </a:r>
            <a:r>
              <a:rPr sz="900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  </a:t>
            </a:r>
            <a:r>
              <a:rPr sz="9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     t     -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4" name="picture 106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070294" y="2860864"/>
            <a:ext cx="101976" cy="140012"/>
          </a:xfrm>
          <a:prstGeom prst="rect">
            <a:avLst/>
          </a:prstGeom>
        </p:spPr>
      </p:pic>
      <p:pic>
        <p:nvPicPr>
          <p:cNvPr id="1066" name="picture 1066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5073494" y="2180855"/>
            <a:ext cx="132723" cy="182227"/>
          </a:xfrm>
          <a:prstGeom prst="rect">
            <a:avLst/>
          </a:prstGeom>
        </p:spPr>
      </p:pic>
      <p:pic>
        <p:nvPicPr>
          <p:cNvPr id="1068" name="picture 106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5073494" y="1468385"/>
            <a:ext cx="132723" cy="182227"/>
          </a:xfrm>
          <a:prstGeom prst="rect">
            <a:avLst/>
          </a:prstGeom>
        </p:spPr>
      </p:pic>
      <p:sp>
        <p:nvSpPr>
          <p:cNvPr id="1070" name="textbox 1070"/>
          <p:cNvSpPr/>
          <p:nvPr/>
        </p:nvSpPr>
        <p:spPr>
          <a:xfrm>
            <a:off x="7433790" y="4570360"/>
            <a:ext cx="2078989" cy="1532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indent="-280034" algn="l" rtl="0" eaLnBrk="0">
              <a:lnSpc>
                <a:spcPct val="112000"/>
              </a:lnSpc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第四代中文多语言代码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大模型，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开源可用，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9525" algn="l" rtl="0" eaLnBrk="0">
              <a:lnSpc>
                <a:spcPct val="114000"/>
              </a:lnSpc>
              <a:spcBef>
                <a:spcPts val="53"/>
              </a:spcBef>
              <a:tabLst/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128K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上下文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、函数调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9000"/>
              </a:lnSpc>
              <a:spcBef>
                <a:spcPts val="287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面向仓库级问答与生成，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适配多场景代码任务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13000"/>
              </a:lnSpc>
              <a:spcBef>
                <a:spcPts val="139"/>
              </a:spcBef>
              <a:tabLst>
                <a:tab pos="14541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https://codegeex.cn/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72" name="picture 1072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7446490" y="5889890"/>
            <a:ext cx="132722" cy="182227"/>
          </a:xfrm>
          <a:prstGeom prst="rect">
            <a:avLst/>
          </a:prstGeom>
        </p:spPr>
      </p:pic>
      <p:pic>
        <p:nvPicPr>
          <p:cNvPr id="1074" name="picture 1074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7446490" y="5454280"/>
            <a:ext cx="132722" cy="182227"/>
          </a:xfrm>
          <a:prstGeom prst="rect">
            <a:avLst/>
          </a:prstGeom>
        </p:spPr>
      </p:pic>
      <p:pic>
        <p:nvPicPr>
          <p:cNvPr id="1076" name="picture 1076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7446490" y="4583060"/>
            <a:ext cx="132722" cy="182227"/>
          </a:xfrm>
          <a:prstGeom prst="rect">
            <a:avLst/>
          </a:prstGeom>
        </p:spPr>
      </p:pic>
      <p:pic>
        <p:nvPicPr>
          <p:cNvPr id="1078" name="picture 1078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1080" name="textbox 1080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AI编程工具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2" name="path 1082">
            <a:hlinkClick r:id="rId48" action="ppaction://hlinkfile"/>
          </p:cNvPr>
          <p:cNvSpPr/>
          <p:nvPr/>
        </p:nvSpPr>
        <p:spPr>
          <a:xfrm>
            <a:off x="5345429" y="3151631"/>
            <a:ext cx="1691639" cy="6096"/>
          </a:xfrm>
          <a:custGeom>
            <a:avLst/>
            <a:gdLst/>
            <a:ahLst/>
            <a:cxnLst/>
            <a:rect l="0" t="0" r="0" b="0"/>
            <a:pathLst>
              <a:path w="2663" h="9">
                <a:moveTo>
                  <a:pt x="0" y="4"/>
                </a:moveTo>
                <a:lnTo>
                  <a:pt x="2663" y="4"/>
                </a:lnTo>
              </a:path>
            </a:pathLst>
          </a:custGeom>
          <a:noFill/>
          <a:ln w="6096" cap="flat">
            <a:solidFill>
              <a:srgbClr val="0026E5"/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84" name="picture 1084">
            <a:hlinkClick r:id="rId48" action="ppaction://hlinkfile"/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21600000">
            <a:off x="5059679" y="2861309"/>
            <a:ext cx="1977389" cy="762000"/>
          </a:xfrm>
          <a:prstGeom prst="rect">
            <a:avLst/>
          </a:prstGeom>
        </p:spPr>
      </p:pic>
      <p:sp>
        <p:nvSpPr>
          <p:cNvPr id="1086" name="textbox 1086"/>
          <p:cNvSpPr/>
          <p:nvPr/>
        </p:nvSpPr>
        <p:spPr>
          <a:xfrm>
            <a:off x="5334119" y="3138179"/>
            <a:ext cx="1715770" cy="516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985" algn="l" rtl="0" eaLnBrk="0">
              <a:lnSpc>
                <a:spcPct val="116000"/>
              </a:lnSpc>
              <a:tabLst/>
            </a:pPr>
            <a:r>
              <a:rPr sz="9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business/diff</a:t>
            </a:r>
            <a:r>
              <a:rPr sz="9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erentiate-with-</a:t>
            </a:r>
            <a:r>
              <a:rPr sz="900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u="sng" kern="0" spc="1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generative-ai</a:t>
            </a:r>
            <a:r>
              <a:rPr sz="9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/amazon-q-</a:t>
            </a:r>
            <a:r>
              <a:rPr sz="9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for-small-b</a:t>
            </a:r>
            <a:r>
              <a:rPr sz="9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usinesses/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88" name="picture 1088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21600000">
            <a:off x="9994392" y="868679"/>
            <a:ext cx="1600200" cy="457200"/>
          </a:xfrm>
          <a:prstGeom prst="rect">
            <a:avLst/>
          </a:prstGeom>
        </p:spPr>
      </p:pic>
      <p:pic>
        <p:nvPicPr>
          <p:cNvPr id="1090" name="picture 1090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 rot="21600000">
            <a:off x="434340" y="891540"/>
            <a:ext cx="1734311" cy="411479"/>
          </a:xfrm>
          <a:prstGeom prst="rect">
            <a:avLst/>
          </a:prstGeom>
        </p:spPr>
      </p:pic>
      <p:pic>
        <p:nvPicPr>
          <p:cNvPr id="1092" name="picture 1092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 rot="21600000">
            <a:off x="5199888" y="894588"/>
            <a:ext cx="1697735" cy="408432"/>
          </a:xfrm>
          <a:prstGeom prst="rect">
            <a:avLst/>
          </a:prstGeom>
        </p:spPr>
      </p:pic>
      <p:pic>
        <p:nvPicPr>
          <p:cNvPr id="1094" name="picture 1094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21600000">
            <a:off x="2976372" y="861059"/>
            <a:ext cx="1399031" cy="472440"/>
          </a:xfrm>
          <a:prstGeom prst="rect">
            <a:avLst/>
          </a:prstGeom>
        </p:spPr>
      </p:pic>
      <p:pic>
        <p:nvPicPr>
          <p:cNvPr id="1096" name="picture 1096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 rot="21600000">
            <a:off x="7758684" y="883920"/>
            <a:ext cx="13258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8" name="table 1098"/>
          <p:cNvGraphicFramePr>
            <a:graphicFrameLocks noGrp="1"/>
          </p:cNvGraphicFramePr>
          <p:nvPr/>
        </p:nvGraphicFramePr>
        <p:xfrm>
          <a:off x="246888" y="751484"/>
          <a:ext cx="11711940" cy="5888354"/>
        </p:xfrm>
        <a:graphic>
          <a:graphicData uri="http://schemas.openxmlformats.org/drawingml/2006/table">
            <a:tbl>
              <a:tblPr/>
              <a:tblGrid>
                <a:gridCol w="3245485"/>
                <a:gridCol w="2700020"/>
                <a:gridCol w="2880360"/>
                <a:gridCol w="2886075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8039" algn="l" rtl="0" eaLnBrk="0">
                        <a:lnSpc>
                          <a:spcPts val="2022"/>
                        </a:lnSpc>
                        <a:tabLst>
                          <a:tab pos="949960" algn="l"/>
                        </a:tabLst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Komo</a:t>
                      </a:r>
                      <a:r>
                        <a:rPr sz="15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99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ts val="1642"/>
                        </a:lnSpc>
                        <a:spcBef>
                          <a:spcPts val="6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国外头部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搜索产品，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效性不错，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7984" indent="12064" algn="l" rtl="0" eaLnBrk="0">
                        <a:lnSpc>
                          <a:spcPct val="113000"/>
                        </a:lnSpc>
                        <a:spcBef>
                          <a:spcPts val="294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问题是比较啰嗦，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幻觉率也很高，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该是免费模型的原因，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订阅后会好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很多，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推荐有研究需求的用户来使用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9890" indent="-278765" algn="l" rtl="0" eaLnBrk="0">
                        <a:lnSpc>
                          <a:spcPct val="116000"/>
                        </a:lnSpc>
                        <a:spcBef>
                          <a:spcPts val="341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新版本有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DeepResearch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一键生成报告，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但问题是用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中文问答的结果质量较英文相差很多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113000"/>
                        </a:lnSpc>
                        <a:spcBef>
                          <a:spcPts val="2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2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https://perplexitycn.com/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indent="-277495" algn="l" rtl="0" eaLnBrk="0">
                        <a:lnSpc>
                          <a:spcPct val="113000"/>
                        </a:lnSpc>
                        <a:spcBef>
                          <a:spcPts val="5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多模型选择 +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搜索角色设定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（如研究员／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分析师模式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适合深入研究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4970" indent="-289559" algn="l" rtl="0" eaLnBrk="0">
                        <a:lnSpc>
                          <a:spcPct val="112000"/>
                        </a:lnSpc>
                        <a:spcBef>
                          <a:spcPts val="597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用户能自定义数据源与搜索范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提升定向检索精度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5410" algn="l" rtl="0" eaLnBrk="0">
                        <a:lnSpc>
                          <a:spcPct val="113000"/>
                        </a:lnSpc>
                        <a:spcBef>
                          <a:spcPts val="345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komo</a:t>
                      </a:r>
                      <a:r>
                        <a:rPr sz="1200" u="sng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ai</a:t>
                      </a:r>
                      <a:r>
                        <a:rPr sz="1200" u="sng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indent="-277495" algn="l" rtl="0" eaLnBrk="0">
                        <a:lnSpc>
                          <a:spcPct val="114000"/>
                        </a:lnSpc>
                        <a:spcBef>
                          <a:spcPts val="1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企业级搜索索引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排序/个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性化推荐的搜索服务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1159" indent="-285750" algn="l" rtl="0" eaLnBrk="0">
                        <a:lnSpc>
                          <a:spcPct val="110000"/>
                        </a:lnSpc>
                        <a:spcBef>
                          <a:spcPts val="590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强调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“理解用户意图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”与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“快速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适合电商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</a:t>
                      </a:r>
                      <a:r>
                        <a:rPr sz="12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内搜索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13000"/>
                        </a:lnSpc>
                        <a:spcBef>
                          <a:spcPts val="2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https://www.algolia.c</a:t>
                      </a: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809" indent="-279400" algn="l" rtl="0" eaLnBrk="0">
                        <a:lnSpc>
                          <a:spcPct val="116000"/>
                        </a:lnSpc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提供嵌入向量（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embeddings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关键词联合搜索，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理解语义意图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而不仅仅匹配关键词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634" indent="-276225" algn="l" rtl="0" eaLnBrk="0">
                        <a:lnSpc>
                          <a:spcPct val="119000"/>
                        </a:lnSpc>
                        <a:spcBef>
                          <a:spcPts val="455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支持获取网页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“全文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内容（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clean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 ”、实时爬取与子页面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，便于用于</a:t>
                      </a:r>
                      <a:r>
                        <a:rPr sz="12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（检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索增强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生成）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5410" algn="l" rtl="0" eaLnBrk="0">
                        <a:lnSpc>
                          <a:spcPct val="113000"/>
                        </a:lnSpc>
                        <a:spcBef>
                          <a:spcPts val="296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exa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ai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852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600" kern="0" spc="60" dirty="0">
                          <a:solidFill>
                            <a:srgbClr val="036CF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b博查</a:t>
                      </a:r>
                      <a:endParaRPr sz="36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5457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9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indent="-276859" algn="l" rtl="0" eaLnBrk="0">
                        <a:lnSpc>
                          <a:spcPct val="112000"/>
                        </a:lnSpc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由昆仑万维推出，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基于大模型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浏览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内核整合，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专注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“智能搜索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＋推荐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”体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2265" indent="-276859" algn="l" rtl="0" eaLnBrk="0">
                        <a:lnSpc>
                          <a:spcPct val="114000"/>
                        </a:lnSpc>
                        <a:spcBef>
                          <a:spcPts val="612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集成多种工具，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具有多模态以及文件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析处理功能，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甚至可以直接生成音乐和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PPT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2265" indent="-276859" algn="l" rtl="0" eaLnBrk="0">
                        <a:lnSpc>
                          <a:spcPct val="112000"/>
                        </a:lnSpc>
                        <a:spcBef>
                          <a:spcPts val="533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搜索功能中规中矩，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但会生成一个类似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百度百科的宝典，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甚至能够申请管理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进行修改维护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13000"/>
                        </a:lnSpc>
                        <a:spcBef>
                          <a:spcPts val="2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http://www.kexiang.net.cn/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0" indent="-276859" algn="l" rtl="0" eaLnBrk="0">
                        <a:lnSpc>
                          <a:spcPct val="116000"/>
                        </a:lnSpc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具备3种可选搜索，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推理能力强，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覆盖面广，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甚至能找到一些原本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需要付费的论文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28929" indent="-269240" algn="l" rtl="0" eaLnBrk="0">
                        <a:lnSpc>
                          <a:spcPct val="116000"/>
                        </a:lnSpc>
                        <a:spcBef>
                          <a:spcPts val="569"/>
                        </a:spcBef>
                        <a:tabLst>
                          <a:tab pos="1892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时效性良好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，可以获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取当天的信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息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，经过资料收集和最终回答两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轮大模型推理生成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，可以自我过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滤不合理内容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，尽管思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考时间长，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但最终回答非常完善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，几乎可以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直接使用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13000"/>
                        </a:lnSpc>
                        <a:spcBef>
                          <a:spcPts val="2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https://met</a:t>
                      </a: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aso.cn/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820" indent="-278129" algn="l" rtl="0" eaLnBrk="0">
                        <a:lnSpc>
                          <a:spcPct val="121000"/>
                        </a:lnSpc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360研发的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搜索引擎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，属于新玩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家，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但和360搜索走的是两条路子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7495" algn="l" rtl="0" eaLnBrk="0">
                        <a:lnSpc>
                          <a:spcPct val="117000"/>
                        </a:lnSpc>
                        <a:spcBef>
                          <a:spcPts val="236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最大的特点是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1模式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速度很快而且搜索结果页保留了视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、图片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、地图等传统搜索引擎的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分栏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TAB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13000"/>
                        </a:lnSpc>
                        <a:spcBef>
                          <a:spcPts val="3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10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www</a:t>
                      </a:r>
                      <a:r>
                        <a:rPr sz="1200" u="sng" kern="0" spc="10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.n.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cn</a:t>
                      </a:r>
                      <a:r>
                        <a:rPr sz="1200" u="sng" kern="0" spc="10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740" indent="-273050" algn="l" rtl="0" eaLnBrk="0">
                        <a:lnSpc>
                          <a:spcPct val="112000"/>
                        </a:lnSpc>
                        <a:spcBef>
                          <a:spcPts val="6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国内首款支持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“多模型切换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搜索引擎，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整合通义千问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节云雀等模型资源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7495" algn="l" rtl="0" eaLnBrk="0">
                        <a:lnSpc>
                          <a:spcPct val="116000"/>
                        </a:lnSpc>
                        <a:spcBef>
                          <a:spcPts val="439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Search API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Semantic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Reranker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，便于作品／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集成知识检索功能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5279" indent="-275590" algn="l" rtl="0" eaLnBrk="0">
                        <a:lnSpc>
                          <a:spcPct val="112000"/>
                        </a:lnSpc>
                        <a:spcBef>
                          <a:spcPts val="602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结果不仅是链接，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还能直接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回答问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题，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提升用户获取信息的速度与效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13000"/>
                        </a:lnSpc>
                        <a:spcBef>
                          <a:spcPts val="2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1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bocha</a:t>
                      </a:r>
                      <a:r>
                        <a:rPr sz="1200" u="sng" kern="0" spc="1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cn</a:t>
                      </a:r>
                      <a:r>
                        <a:rPr sz="1200" u="sng" kern="0" spc="1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</a:tbl>
          </a:graphicData>
        </a:graphic>
      </p:graphicFrame>
      <p:pic>
        <p:nvPicPr>
          <p:cNvPr id="1100" name="picture 11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132923" y="6307365"/>
            <a:ext cx="132722" cy="182227"/>
          </a:xfrm>
          <a:prstGeom prst="rect">
            <a:avLst/>
          </a:prstGeom>
        </p:spPr>
      </p:pic>
      <p:pic>
        <p:nvPicPr>
          <p:cNvPr id="1102" name="picture 110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132923" y="5615849"/>
            <a:ext cx="132722" cy="182227"/>
          </a:xfrm>
          <a:prstGeom prst="rect">
            <a:avLst/>
          </a:prstGeom>
        </p:spPr>
      </p:pic>
      <p:pic>
        <p:nvPicPr>
          <p:cNvPr id="1104" name="picture 110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132923" y="4924335"/>
            <a:ext cx="132722" cy="182227"/>
          </a:xfrm>
          <a:prstGeom prst="rect">
            <a:avLst/>
          </a:prstGeom>
        </p:spPr>
      </p:pic>
      <p:pic>
        <p:nvPicPr>
          <p:cNvPr id="1106" name="picture 110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132923" y="4232819"/>
            <a:ext cx="132722" cy="182227"/>
          </a:xfrm>
          <a:prstGeom prst="rect">
            <a:avLst/>
          </a:prstGeom>
        </p:spPr>
      </p:pic>
      <p:pic>
        <p:nvPicPr>
          <p:cNvPr id="1108" name="picture 110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252563" y="5961925"/>
            <a:ext cx="132723" cy="182227"/>
          </a:xfrm>
          <a:prstGeom prst="rect">
            <a:avLst/>
          </a:prstGeom>
        </p:spPr>
      </p:pic>
      <p:pic>
        <p:nvPicPr>
          <p:cNvPr id="1110" name="picture 111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252563" y="5052604"/>
            <a:ext cx="132723" cy="182227"/>
          </a:xfrm>
          <a:prstGeom prst="rect">
            <a:avLst/>
          </a:prstGeom>
        </p:spPr>
      </p:pic>
      <p:pic>
        <p:nvPicPr>
          <p:cNvPr id="1112" name="picture 111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252563" y="4578894"/>
            <a:ext cx="132723" cy="182227"/>
          </a:xfrm>
          <a:prstGeom prst="rect">
            <a:avLst/>
          </a:prstGeom>
        </p:spPr>
      </p:pic>
      <p:pic>
        <p:nvPicPr>
          <p:cNvPr id="1114" name="picture 111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552543" y="6288315"/>
            <a:ext cx="132723" cy="182227"/>
          </a:xfrm>
          <a:prstGeom prst="rect">
            <a:avLst/>
          </a:prstGeom>
        </p:spPr>
      </p:pic>
      <p:pic>
        <p:nvPicPr>
          <p:cNvPr id="1116" name="picture 11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552543" y="4943385"/>
            <a:ext cx="129127" cy="182227"/>
          </a:xfrm>
          <a:prstGeom prst="rect">
            <a:avLst/>
          </a:prstGeom>
        </p:spPr>
      </p:pic>
      <p:pic>
        <p:nvPicPr>
          <p:cNvPr id="1118" name="picture 11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552543" y="4251869"/>
            <a:ext cx="132158" cy="182227"/>
          </a:xfrm>
          <a:prstGeom prst="rect">
            <a:avLst/>
          </a:prstGeom>
        </p:spPr>
      </p:pic>
      <p:pic>
        <p:nvPicPr>
          <p:cNvPr id="1120" name="picture 11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12773" y="6307365"/>
            <a:ext cx="132723" cy="182227"/>
          </a:xfrm>
          <a:prstGeom prst="rect">
            <a:avLst/>
          </a:prstGeom>
        </p:spPr>
      </p:pic>
      <p:pic>
        <p:nvPicPr>
          <p:cNvPr id="1122" name="picture 11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12773" y="5615849"/>
            <a:ext cx="132723" cy="182227"/>
          </a:xfrm>
          <a:prstGeom prst="rect">
            <a:avLst/>
          </a:prstGeom>
        </p:spPr>
      </p:pic>
      <p:pic>
        <p:nvPicPr>
          <p:cNvPr id="1124" name="picture 11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12773" y="4924335"/>
            <a:ext cx="132723" cy="182227"/>
          </a:xfrm>
          <a:prstGeom prst="rect">
            <a:avLst/>
          </a:prstGeom>
        </p:spPr>
      </p:pic>
      <p:pic>
        <p:nvPicPr>
          <p:cNvPr id="1126" name="picture 112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12773" y="4232819"/>
            <a:ext cx="132723" cy="182227"/>
          </a:xfrm>
          <a:prstGeom prst="rect">
            <a:avLst/>
          </a:prstGeom>
        </p:spPr>
      </p:pic>
      <p:pic>
        <p:nvPicPr>
          <p:cNvPr id="1128" name="picture 112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178642" y="3141890"/>
            <a:ext cx="132722" cy="182227"/>
          </a:xfrm>
          <a:prstGeom prst="rect">
            <a:avLst/>
          </a:prstGeom>
        </p:spPr>
      </p:pic>
      <p:pic>
        <p:nvPicPr>
          <p:cNvPr id="1130" name="picture 113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178642" y="2232569"/>
            <a:ext cx="132722" cy="182227"/>
          </a:xfrm>
          <a:prstGeom prst="rect">
            <a:avLst/>
          </a:prstGeom>
        </p:spPr>
      </p:pic>
      <p:pic>
        <p:nvPicPr>
          <p:cNvPr id="1132" name="picture 113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178642" y="1541054"/>
            <a:ext cx="132722" cy="182227"/>
          </a:xfrm>
          <a:prstGeom prst="rect">
            <a:avLst/>
          </a:prstGeom>
        </p:spPr>
      </p:pic>
      <p:pic>
        <p:nvPicPr>
          <p:cNvPr id="1134" name="picture 113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298283" y="2814865"/>
            <a:ext cx="132723" cy="182227"/>
          </a:xfrm>
          <a:prstGeom prst="rect">
            <a:avLst/>
          </a:prstGeom>
        </p:spPr>
      </p:pic>
      <p:pic>
        <p:nvPicPr>
          <p:cNvPr id="1136" name="picture 113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298283" y="2341154"/>
            <a:ext cx="132723" cy="182227"/>
          </a:xfrm>
          <a:prstGeom prst="rect">
            <a:avLst/>
          </a:prstGeom>
        </p:spPr>
      </p:pic>
      <p:pic>
        <p:nvPicPr>
          <p:cNvPr id="1138" name="picture 113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298283" y="1867444"/>
            <a:ext cx="132723" cy="182227"/>
          </a:xfrm>
          <a:prstGeom prst="rect">
            <a:avLst/>
          </a:prstGeom>
        </p:spPr>
      </p:pic>
      <p:pic>
        <p:nvPicPr>
          <p:cNvPr id="1140" name="picture 114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3598263" y="2924085"/>
            <a:ext cx="132723" cy="182227"/>
          </a:xfrm>
          <a:prstGeom prst="rect">
            <a:avLst/>
          </a:prstGeom>
        </p:spPr>
      </p:pic>
      <p:pic>
        <p:nvPicPr>
          <p:cNvPr id="1142" name="picture 114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3598263" y="2450375"/>
            <a:ext cx="132723" cy="182227"/>
          </a:xfrm>
          <a:prstGeom prst="rect">
            <a:avLst/>
          </a:prstGeom>
        </p:spPr>
      </p:pic>
      <p:pic>
        <p:nvPicPr>
          <p:cNvPr id="1144" name="picture 114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3598263" y="1758860"/>
            <a:ext cx="132723" cy="182227"/>
          </a:xfrm>
          <a:prstGeom prst="rect">
            <a:avLst/>
          </a:prstGeom>
        </p:spPr>
      </p:pic>
      <p:pic>
        <p:nvPicPr>
          <p:cNvPr id="1146" name="picture 114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358493" y="3141890"/>
            <a:ext cx="132723" cy="182227"/>
          </a:xfrm>
          <a:prstGeom prst="rect">
            <a:avLst/>
          </a:prstGeom>
        </p:spPr>
      </p:pic>
      <p:pic>
        <p:nvPicPr>
          <p:cNvPr id="1148" name="picture 114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358493" y="2450375"/>
            <a:ext cx="132723" cy="182227"/>
          </a:xfrm>
          <a:prstGeom prst="rect">
            <a:avLst/>
          </a:prstGeom>
        </p:spPr>
      </p:pic>
      <p:pic>
        <p:nvPicPr>
          <p:cNvPr id="1150" name="picture 115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358493" y="1541054"/>
            <a:ext cx="132723" cy="182227"/>
          </a:xfrm>
          <a:prstGeom prst="rect">
            <a:avLst/>
          </a:prstGeom>
        </p:spPr>
      </p:pic>
      <p:pic>
        <p:nvPicPr>
          <p:cNvPr id="1152" name="picture 115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3912108" y="801623"/>
            <a:ext cx="408432" cy="445008"/>
          </a:xfrm>
          <a:prstGeom prst="rect">
            <a:avLst/>
          </a:prstGeom>
        </p:spPr>
      </p:pic>
      <p:pic>
        <p:nvPicPr>
          <p:cNvPr id="1154" name="picture 115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1156" name="textbox 1156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搜索工具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58" name="picture 115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1207008" y="807720"/>
            <a:ext cx="1549908" cy="431291"/>
          </a:xfrm>
          <a:prstGeom prst="rect">
            <a:avLst/>
          </a:prstGeom>
        </p:spPr>
      </p:pic>
      <p:pic>
        <p:nvPicPr>
          <p:cNvPr id="1160" name="picture 116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1109472" y="3625595"/>
            <a:ext cx="1424939" cy="426720"/>
          </a:xfrm>
          <a:prstGeom prst="rect">
            <a:avLst/>
          </a:prstGeom>
        </p:spPr>
      </p:pic>
      <p:pic>
        <p:nvPicPr>
          <p:cNvPr id="1162" name="picture 1162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4183379" y="3621023"/>
            <a:ext cx="1380744" cy="435864"/>
          </a:xfrm>
          <a:prstGeom prst="rect">
            <a:avLst/>
          </a:prstGeom>
        </p:spPr>
      </p:pic>
      <p:pic>
        <p:nvPicPr>
          <p:cNvPr id="1164" name="picture 116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6918959" y="3622547"/>
            <a:ext cx="1310640" cy="431292"/>
          </a:xfrm>
          <a:prstGeom prst="rect">
            <a:avLst/>
          </a:prstGeom>
        </p:spPr>
      </p:pic>
      <p:pic>
        <p:nvPicPr>
          <p:cNvPr id="1166" name="picture 116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6937247" y="797052"/>
            <a:ext cx="1139952" cy="451103"/>
          </a:xfrm>
          <a:prstGeom prst="rect">
            <a:avLst/>
          </a:prstGeom>
        </p:spPr>
      </p:pic>
      <p:pic>
        <p:nvPicPr>
          <p:cNvPr id="1168" name="picture 116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9983723" y="809244"/>
            <a:ext cx="807719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picture 11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1172" name="table 1172"/>
          <p:cNvGraphicFramePr>
            <a:graphicFrameLocks noGrp="1"/>
          </p:cNvGraphicFramePr>
          <p:nvPr/>
        </p:nvGraphicFramePr>
        <p:xfrm>
          <a:off x="304038" y="732434"/>
          <a:ext cx="11532235" cy="5912484"/>
        </p:xfrm>
        <a:graphic>
          <a:graphicData uri="http://schemas.openxmlformats.org/drawingml/2006/table">
            <a:tbl>
              <a:tblPr/>
              <a:tblGrid>
                <a:gridCol w="337820"/>
                <a:gridCol w="2548254"/>
                <a:gridCol w="277495"/>
                <a:gridCol w="2602229"/>
                <a:gridCol w="278129"/>
                <a:gridCol w="2601595"/>
                <a:gridCol w="278129"/>
                <a:gridCol w="2608580"/>
              </a:tblGrid>
              <a:tr h="5334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99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100000"/>
                        </a:lnSpc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0" algn="l" rtl="0" eaLnBrk="0">
                        <a:lnSpc>
                          <a:spcPct val="11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利用自然语言查询方式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可从超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</a:t>
                      </a:r>
                      <a:r>
                        <a:rPr sz="12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1.25 亿篇学术论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文中检索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、提取数据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2069" algn="l" rtl="0" eaLnBrk="0">
                        <a:lnSpc>
                          <a:spcPct val="116000"/>
                        </a:lnSpc>
                        <a:spcBef>
                          <a:spcPts val="152"/>
                        </a:spcBef>
                        <a:tabLst/>
                      </a:pP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“聊天式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”与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问答式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”探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用于快速获得文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献综述或研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究背景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6514" algn="l" rtl="0" eaLnBrk="0">
                        <a:lnSpc>
                          <a:spcPct val="113000"/>
                        </a:lnSpc>
                        <a:spcBef>
                          <a:spcPts val="137"/>
                        </a:spcBef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elicit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com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314" indent="635" algn="l" rtl="0" eaLnBrk="0">
                        <a:lnSpc>
                          <a:spcPct val="111000"/>
                        </a:lnSpc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专注验证引用质量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、跟踪研究之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间的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“支持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”／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“反驳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”关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帮助识别可靠研究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7314" indent="-3175" algn="l" rtl="0" eaLnBrk="0">
                        <a:lnSpc>
                          <a:spcPct val="116000"/>
                        </a:lnSpc>
                        <a:spcBef>
                          <a:spcPts val="136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提供可视化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引用图谱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”与研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究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关系网络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，便于洞察某研究主题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的演化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0489" algn="l" rtl="0" eaLnBrk="0">
                        <a:lnSpc>
                          <a:spcPct val="113000"/>
                        </a:lnSpc>
                        <a:spcBef>
                          <a:spcPts val="134"/>
                        </a:spcBef>
                        <a:tabLst/>
                      </a:pP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https://scite.ai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indent="1270" algn="l" rtl="0" eaLnBrk="0">
                        <a:lnSpc>
                          <a:spcPct val="11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基于语义理解构建学术文献搜索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引擎，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可自动生成摘要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、识别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键实体与引用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5410" algn="l" rtl="0" eaLnBrk="0">
                        <a:lnSpc>
                          <a:spcPct val="119000"/>
                        </a:lnSpc>
                        <a:spcBef>
                          <a:spcPts val="13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拥有超过</a:t>
                      </a: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亿+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学术出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版物索引，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适合跨学科研究文献检索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5410" indent="1270" algn="l" rtl="0" eaLnBrk="0">
                        <a:lnSpc>
                          <a:spcPct val="116000"/>
                        </a:lnSpc>
                        <a:spcBef>
                          <a:spcPts val="134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“研究警报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”“论文推荐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功能，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有助研究者保持领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域最新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6679" indent="3810" algn="l" rtl="0" eaLnBrk="0">
                        <a:lnSpc>
                          <a:spcPct val="116000"/>
                        </a:lnSpc>
                        <a:spcBef>
                          <a:spcPts val="126"/>
                        </a:spcBef>
                        <a:tabLst/>
                      </a:pP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https://www.semanticscholar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org/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indent="1270" algn="l" rtl="0" eaLnBrk="0">
                        <a:lnSpc>
                          <a:spcPct val="11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专注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“文献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”流程：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</a:t>
                      </a:r>
                      <a:r>
                        <a:rPr sz="12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进行聊天式问答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、摘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、生成功能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indent="-635" algn="l" rtl="0" eaLnBrk="0">
                        <a:lnSpc>
                          <a:spcPct val="116000"/>
                        </a:lnSpc>
                        <a:spcBef>
                          <a:spcPts val="133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提供结构化输出与可视化支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适合准备综述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、课题报告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、文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献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0489" algn="l" rtl="0" eaLnBrk="0">
                        <a:lnSpc>
                          <a:spcPct val="113000"/>
                        </a:lnSpc>
                        <a:spcBef>
                          <a:spcPts val="142"/>
                        </a:spcBef>
                        <a:tabLst/>
                      </a:pP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https://scispace.com/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1140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让科研像聊天一样简单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064385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00000"/>
                        </a:lnSpc>
                        <a:spcBef>
                          <a:spcPts val="368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11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一句话生成图文并茂的文献综述；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一句话生成结构化定性/定量研究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论文；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一句话生成图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文并茂的百万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字研究报告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一句话生成10张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美可视化图表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0" indent="1270" algn="l" rtl="0" eaLnBrk="0">
                        <a:lnSpc>
                          <a:spcPct val="116000"/>
                        </a:lnSpc>
                        <a:spcBef>
                          <a:spcPts val="432"/>
                        </a:spcBef>
                        <a:tabLst/>
                      </a:pP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集成检索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、分析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、写作等模块，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动执行文献整理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、图表生成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、知识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建模等高强度任务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ts val="1554"/>
                        </a:lnSpc>
                        <a:tabLst/>
                      </a:pPr>
                      <a:r>
                        <a:rPr sz="1200" kern="0" spc="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https://pan.baidu.com/s/1kPrF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" indent="635" algn="l" rtl="0" eaLnBrk="0">
                        <a:lnSpc>
                          <a:spcPct val="12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提供一站式的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辅助科研工具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括论文深度解读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、提示词生成和优</a:t>
                      </a:r>
                      <a:r>
                        <a:rPr sz="1200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</a:t>
                      </a:r>
                      <a:r>
                        <a:rPr sz="1200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SERVERS</a:t>
                      </a:r>
                      <a:r>
                        <a:rPr sz="1200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在线使用和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联网搜索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多文档对话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深度融合大模型技术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、智能体协作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与可定制化工作流，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提示语交互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、多智能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体协同为核心，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支持学术发现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、文献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、成果创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113000"/>
                        </a:lnSpc>
                        <a:tabLst/>
                      </a:pPr>
                      <a:r>
                        <a:rPr sz="1200" u="sng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https://academic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.ai4cas.cn/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369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基于专业学术资源与大模型融合，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0325" indent="-1905" algn="l" rtl="0" eaLnBrk="0">
                        <a:lnSpc>
                          <a:spcPct val="116000"/>
                        </a:lnSpc>
                        <a:spcBef>
                          <a:spcPts val="110"/>
                        </a:spcBef>
                        <a:tabLst/>
                      </a:pP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问答式增强检索</a:t>
                      </a:r>
                      <a:r>
                        <a:rPr sz="12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生成式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知识服务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785" indent="635" algn="l" rtl="0" eaLnBrk="0">
                        <a:lnSpc>
                          <a:spcPct val="116000"/>
                        </a:lnSpc>
                        <a:spcBef>
                          <a:spcPts val="450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提供知识问答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、智能研读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、辅助创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作等模块，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能帮助研究者从提问到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文档生成完成全流程辅助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8419" indent="-635" algn="l" rtl="0" eaLnBrk="0">
                        <a:lnSpc>
                          <a:spcPct val="118000"/>
                        </a:lnSpc>
                        <a:spcBef>
                          <a:spcPts val="433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检索结果可溯源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、可信可控；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从传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统关键词检索升级为语义理解</a:t>
                      </a:r>
                      <a:r>
                        <a:rPr sz="1200" kern="0" spc="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向量检索，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提升查全查准率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4769" algn="l" rtl="0" eaLnBrk="0">
                        <a:lnSpc>
                          <a:spcPct val="113000"/>
                        </a:lnSpc>
                        <a:spcBef>
                          <a:spcPts val="345"/>
                        </a:spcBef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ai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cnki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net</a:t>
                      </a:r>
                      <a:r>
                        <a:rPr sz="1200" u="sng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368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610" indent="5080" algn="l" rtl="0" eaLnBrk="0">
                        <a:lnSpc>
                          <a:spcPct val="11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文献助手（ S1-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Literature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可一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次性梳理上千篇文献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、支持公式/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专业数据理解；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工具调度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台（ S1-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ToolChain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）可调度300+科学计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、仿真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、优化工具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785" indent="2540" algn="l" rtl="0" eaLnBrk="0">
                        <a:lnSpc>
                          <a:spcPct val="118000"/>
                        </a:lnSpc>
                        <a:spcBef>
                          <a:spcPts val="382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该平台由</a:t>
                      </a:r>
                      <a:r>
                        <a:rPr sz="12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中国科学院自动化研究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所等单位联合开发，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科研全流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程支撑：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“假设提出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方案规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仿真推演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实验验证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律发现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ts val="164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https://www.s</a:t>
                      </a:r>
                      <a:r>
                        <a:rPr sz="1200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cienceone.cn/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1780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21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ts val="1554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</a:t>
                      </a:r>
                      <a:r>
                        <a:rPr sz="1200" kern="0" spc="-2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hpWuwB2ei</a:t>
                      </a:r>
                      <a:r>
                        <a:rPr sz="1200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</a:t>
                      </a:r>
                      <a:r>
                        <a:rPr sz="12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P33Qjg?pwd=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5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21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4" algn="l" rtl="0" eaLnBrk="0">
                        <a:lnSpc>
                          <a:spcPts val="1642"/>
                        </a:lnSpc>
                        <a:tabLst/>
                      </a:pPr>
                      <a:r>
                        <a:rPr sz="1200" kern="0" spc="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0417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74" name="picture 11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009733" y="6390550"/>
            <a:ext cx="132722" cy="182227"/>
          </a:xfrm>
          <a:prstGeom prst="rect">
            <a:avLst/>
          </a:prstGeom>
        </p:spPr>
      </p:pic>
      <p:pic>
        <p:nvPicPr>
          <p:cNvPr id="1176" name="picture 117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009733" y="5263425"/>
            <a:ext cx="132722" cy="182227"/>
          </a:xfrm>
          <a:prstGeom prst="rect">
            <a:avLst/>
          </a:prstGeom>
        </p:spPr>
      </p:pic>
      <p:pic>
        <p:nvPicPr>
          <p:cNvPr id="1178" name="picture 11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009733" y="4136299"/>
            <a:ext cx="132722" cy="182227"/>
          </a:xfrm>
          <a:prstGeom prst="rect">
            <a:avLst/>
          </a:prstGeom>
        </p:spPr>
      </p:pic>
      <p:pic>
        <p:nvPicPr>
          <p:cNvPr id="1180" name="picture 118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130008" y="6300380"/>
            <a:ext cx="132723" cy="182227"/>
          </a:xfrm>
          <a:prstGeom prst="rect">
            <a:avLst/>
          </a:prstGeom>
        </p:spPr>
      </p:pic>
      <p:pic>
        <p:nvPicPr>
          <p:cNvPr id="1182" name="picture 118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130008" y="5608865"/>
            <a:ext cx="132723" cy="182227"/>
          </a:xfrm>
          <a:prstGeom prst="rect">
            <a:avLst/>
          </a:prstGeom>
        </p:spPr>
      </p:pic>
      <p:pic>
        <p:nvPicPr>
          <p:cNvPr id="1184" name="picture 118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130008" y="4917349"/>
            <a:ext cx="132723" cy="182227"/>
          </a:xfrm>
          <a:prstGeom prst="rect">
            <a:avLst/>
          </a:prstGeom>
        </p:spPr>
      </p:pic>
      <p:pic>
        <p:nvPicPr>
          <p:cNvPr id="1186" name="picture 118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130008" y="4225835"/>
            <a:ext cx="132723" cy="182227"/>
          </a:xfrm>
          <a:prstGeom prst="rect">
            <a:avLst/>
          </a:prstGeom>
        </p:spPr>
      </p:pic>
      <p:pic>
        <p:nvPicPr>
          <p:cNvPr id="1188" name="picture 118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249647" y="6281330"/>
            <a:ext cx="132723" cy="182227"/>
          </a:xfrm>
          <a:prstGeom prst="rect">
            <a:avLst/>
          </a:prstGeom>
        </p:spPr>
      </p:pic>
      <p:pic>
        <p:nvPicPr>
          <p:cNvPr id="1190" name="picture 119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249647" y="5154204"/>
            <a:ext cx="132723" cy="182227"/>
          </a:xfrm>
          <a:prstGeom prst="rect">
            <a:avLst/>
          </a:prstGeom>
        </p:spPr>
      </p:pic>
      <p:pic>
        <p:nvPicPr>
          <p:cNvPr id="1192" name="picture 119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249647" y="4244885"/>
            <a:ext cx="132723" cy="182227"/>
          </a:xfrm>
          <a:prstGeom prst="rect">
            <a:avLst/>
          </a:prstGeom>
        </p:spPr>
      </p:pic>
      <p:pic>
        <p:nvPicPr>
          <p:cNvPr id="1194" name="picture 119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69923" y="5954940"/>
            <a:ext cx="132723" cy="182227"/>
          </a:xfrm>
          <a:prstGeom prst="rect">
            <a:avLst/>
          </a:prstGeom>
        </p:spPr>
      </p:pic>
      <p:pic>
        <p:nvPicPr>
          <p:cNvPr id="1196" name="picture 119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69923" y="5263425"/>
            <a:ext cx="132723" cy="182227"/>
          </a:xfrm>
          <a:prstGeom prst="rect">
            <a:avLst/>
          </a:prstGeom>
        </p:spPr>
      </p:pic>
      <p:pic>
        <p:nvPicPr>
          <p:cNvPr id="1198" name="picture 119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69923" y="4136299"/>
            <a:ext cx="132723" cy="182227"/>
          </a:xfrm>
          <a:prstGeom prst="rect">
            <a:avLst/>
          </a:prstGeom>
        </p:spPr>
      </p:pic>
      <p:pic>
        <p:nvPicPr>
          <p:cNvPr id="1200" name="picture 120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055453" y="2975519"/>
            <a:ext cx="132722" cy="182227"/>
          </a:xfrm>
          <a:prstGeom prst="rect">
            <a:avLst/>
          </a:prstGeom>
        </p:spPr>
      </p:pic>
      <p:pic>
        <p:nvPicPr>
          <p:cNvPr id="1202" name="picture 120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055453" y="2322104"/>
            <a:ext cx="132722" cy="182227"/>
          </a:xfrm>
          <a:prstGeom prst="rect">
            <a:avLst/>
          </a:prstGeom>
        </p:spPr>
      </p:pic>
      <p:pic>
        <p:nvPicPr>
          <p:cNvPr id="1204" name="picture 120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055453" y="1668690"/>
            <a:ext cx="132722" cy="182227"/>
          </a:xfrm>
          <a:prstGeom prst="rect">
            <a:avLst/>
          </a:prstGeom>
        </p:spPr>
      </p:pic>
      <p:pic>
        <p:nvPicPr>
          <p:cNvPr id="1206" name="picture 120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175728" y="3084740"/>
            <a:ext cx="132723" cy="182227"/>
          </a:xfrm>
          <a:prstGeom prst="rect">
            <a:avLst/>
          </a:prstGeom>
        </p:spPr>
      </p:pic>
      <p:pic>
        <p:nvPicPr>
          <p:cNvPr id="1208" name="picture 120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175728" y="2431325"/>
            <a:ext cx="132723" cy="182227"/>
          </a:xfrm>
          <a:prstGeom prst="rect">
            <a:avLst/>
          </a:prstGeom>
        </p:spPr>
      </p:pic>
      <p:pic>
        <p:nvPicPr>
          <p:cNvPr id="1210" name="picture 121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175728" y="1995715"/>
            <a:ext cx="132723" cy="182227"/>
          </a:xfrm>
          <a:prstGeom prst="rect">
            <a:avLst/>
          </a:prstGeom>
        </p:spPr>
      </p:pic>
      <p:pic>
        <p:nvPicPr>
          <p:cNvPr id="1212" name="picture 121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6175728" y="1342299"/>
            <a:ext cx="132723" cy="182227"/>
          </a:xfrm>
          <a:prstGeom prst="rect">
            <a:avLst/>
          </a:prstGeom>
        </p:spPr>
      </p:pic>
      <p:pic>
        <p:nvPicPr>
          <p:cNvPr id="1214" name="picture 121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3295367" y="2975519"/>
            <a:ext cx="132723" cy="182227"/>
          </a:xfrm>
          <a:prstGeom prst="rect">
            <a:avLst/>
          </a:prstGeom>
        </p:spPr>
      </p:pic>
      <p:pic>
        <p:nvPicPr>
          <p:cNvPr id="1216" name="picture 121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3295367" y="2322104"/>
            <a:ext cx="132723" cy="182227"/>
          </a:xfrm>
          <a:prstGeom prst="rect">
            <a:avLst/>
          </a:prstGeom>
        </p:spPr>
      </p:pic>
      <p:pic>
        <p:nvPicPr>
          <p:cNvPr id="1218" name="picture 121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3295367" y="1668690"/>
            <a:ext cx="132723" cy="182227"/>
          </a:xfrm>
          <a:prstGeom prst="rect">
            <a:avLst/>
          </a:prstGeom>
        </p:spPr>
      </p:pic>
      <p:pic>
        <p:nvPicPr>
          <p:cNvPr id="1220" name="picture 122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415643" y="2975519"/>
            <a:ext cx="132723" cy="182227"/>
          </a:xfrm>
          <a:prstGeom prst="rect">
            <a:avLst/>
          </a:prstGeom>
        </p:spPr>
      </p:pic>
      <p:pic>
        <p:nvPicPr>
          <p:cNvPr id="1222" name="picture 122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415643" y="2322104"/>
            <a:ext cx="132723" cy="182227"/>
          </a:xfrm>
          <a:prstGeom prst="rect">
            <a:avLst/>
          </a:prstGeom>
        </p:spPr>
      </p:pic>
      <p:pic>
        <p:nvPicPr>
          <p:cNvPr id="1224" name="picture 122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415643" y="1668690"/>
            <a:ext cx="132723" cy="182227"/>
          </a:xfrm>
          <a:prstGeom prst="rect">
            <a:avLst/>
          </a:prstGeom>
        </p:spPr>
      </p:pic>
      <p:sp>
        <p:nvSpPr>
          <p:cNvPr id="1226" name="textbox 1226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科研工具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28" name="picture 122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6606540" y="780288"/>
            <a:ext cx="1981200" cy="426720"/>
          </a:xfrm>
          <a:prstGeom prst="rect">
            <a:avLst/>
          </a:prstGeom>
        </p:spPr>
      </p:pic>
      <p:pic>
        <p:nvPicPr>
          <p:cNvPr id="1230" name="picture 123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800855" y="3587495"/>
            <a:ext cx="1839467" cy="457200"/>
          </a:xfrm>
          <a:prstGeom prst="rect">
            <a:avLst/>
          </a:prstGeom>
        </p:spPr>
      </p:pic>
      <p:pic>
        <p:nvPicPr>
          <p:cNvPr id="1232" name="picture 123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6835140" y="3596640"/>
            <a:ext cx="1524000" cy="437388"/>
          </a:xfrm>
          <a:prstGeom prst="rect">
            <a:avLst/>
          </a:prstGeom>
        </p:spPr>
      </p:pic>
      <p:pic>
        <p:nvPicPr>
          <p:cNvPr id="1234" name="picture 123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703307" y="3587495"/>
            <a:ext cx="1357883" cy="457200"/>
          </a:xfrm>
          <a:prstGeom prst="rect">
            <a:avLst/>
          </a:prstGeom>
        </p:spPr>
      </p:pic>
      <p:pic>
        <p:nvPicPr>
          <p:cNvPr id="1236" name="picture 123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9621011" y="789432"/>
            <a:ext cx="1434083" cy="408432"/>
          </a:xfrm>
          <a:prstGeom prst="rect">
            <a:avLst/>
          </a:prstGeom>
        </p:spPr>
      </p:pic>
      <p:pic>
        <p:nvPicPr>
          <p:cNvPr id="1238" name="picture 123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4081271" y="746759"/>
            <a:ext cx="1155191" cy="492252"/>
          </a:xfrm>
          <a:prstGeom prst="rect">
            <a:avLst/>
          </a:prstGeom>
        </p:spPr>
      </p:pic>
      <p:pic>
        <p:nvPicPr>
          <p:cNvPr id="1240" name="picture 124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1240536" y="766571"/>
            <a:ext cx="972311" cy="454152"/>
          </a:xfrm>
          <a:prstGeom prst="rect">
            <a:avLst/>
          </a:prstGeom>
        </p:spPr>
      </p:pic>
      <p:pic>
        <p:nvPicPr>
          <p:cNvPr id="1242" name="picture 124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865631" y="3628644"/>
            <a:ext cx="374903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picture 1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5740" y="1501140"/>
            <a:ext cx="11806427" cy="5192267"/>
          </a:xfrm>
          <a:prstGeom prst="rect">
            <a:avLst/>
          </a:prstGeom>
        </p:spPr>
      </p:pic>
      <p:sp>
        <p:nvSpPr>
          <p:cNvPr id="1246" name="textbox 1246"/>
          <p:cNvSpPr/>
          <p:nvPr/>
        </p:nvSpPr>
        <p:spPr>
          <a:xfrm>
            <a:off x="5117566" y="1548434"/>
            <a:ext cx="1990089" cy="4772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290" indent="-275590" algn="l" rtl="0" eaLnBrk="0">
              <a:lnSpc>
                <a:spcPct val="113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用户可利用</a:t>
            </a:r>
            <a:r>
              <a:rPr sz="12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GPT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生成文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案，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再导入</a:t>
            </a:r>
            <a:r>
              <a:rPr sz="12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Markdown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格式到</a:t>
            </a:r>
            <a:r>
              <a:rPr sz="1200" kern="0" spc="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Mind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Show ，快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速生成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4000"/>
              </a:lnSpc>
              <a:spcBef>
                <a:spcPts val="25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支持导入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word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PDF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思维导图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、长文摘要等多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类型材料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5000"/>
              </a:lnSpc>
              <a:spcBef>
                <a:spcPts val="25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https://mindshow.ai/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5909" indent="-276225" algn="l" rtl="0" eaLnBrk="0">
              <a:lnSpc>
                <a:spcPct val="113000"/>
              </a:lnSpc>
              <a:spcBef>
                <a:spcPts val="369"/>
              </a:spcBef>
              <a:tabLst>
                <a:tab pos="14223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只需输入一句主题或上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传文档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几秒钟就能生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成逻辑清晰 、排版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规整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的演示文稿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7179" indent="-277495" algn="l" rtl="0" eaLnBrk="0">
              <a:lnSpc>
                <a:spcPct val="114000"/>
              </a:lnSpc>
              <a:spcBef>
                <a:spcPts val="844"/>
              </a:spcBef>
              <a:tabLst>
                <a:tab pos="14223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模板数量丰富,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会自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为每页生成标题 、要点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和图表建议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104000"/>
              </a:lnSpc>
              <a:spcBef>
                <a:spcPts val="3"/>
              </a:spcBef>
              <a:tabLst>
                <a:tab pos="142239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https://pptg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o.cn/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48" name="picture 12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37251" y="6122339"/>
            <a:ext cx="122986" cy="168859"/>
          </a:xfrm>
          <a:prstGeom prst="rect">
            <a:avLst/>
          </a:prstGeom>
        </p:spPr>
      </p:pic>
      <p:pic>
        <p:nvPicPr>
          <p:cNvPr id="1250" name="picture 12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37251" y="5388914"/>
            <a:ext cx="122986" cy="168859"/>
          </a:xfrm>
          <a:prstGeom prst="rect">
            <a:avLst/>
          </a:prstGeom>
        </p:spPr>
      </p:pic>
      <p:pic>
        <p:nvPicPr>
          <p:cNvPr id="1252" name="picture 12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137251" y="4436414"/>
            <a:ext cx="122986" cy="168859"/>
          </a:xfrm>
          <a:prstGeom prst="rect">
            <a:avLst/>
          </a:prstGeom>
        </p:spPr>
      </p:pic>
      <p:pic>
        <p:nvPicPr>
          <p:cNvPr id="1254" name="picture 12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30266" y="3094659"/>
            <a:ext cx="122986" cy="168859"/>
          </a:xfrm>
          <a:prstGeom prst="rect">
            <a:avLst/>
          </a:prstGeom>
        </p:spPr>
      </p:pic>
      <p:pic>
        <p:nvPicPr>
          <p:cNvPr id="1256" name="picture 12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130266" y="2437434"/>
            <a:ext cx="122986" cy="168859"/>
          </a:xfrm>
          <a:prstGeom prst="rect">
            <a:avLst/>
          </a:prstGeom>
        </p:spPr>
      </p:pic>
      <p:pic>
        <p:nvPicPr>
          <p:cNvPr id="1258" name="picture 125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30266" y="1561134"/>
            <a:ext cx="122986" cy="168859"/>
          </a:xfrm>
          <a:prstGeom prst="rect">
            <a:avLst/>
          </a:prstGeom>
        </p:spPr>
      </p:pic>
      <p:sp>
        <p:nvSpPr>
          <p:cNvPr id="1260" name="textbox 1260"/>
          <p:cNvSpPr/>
          <p:nvPr/>
        </p:nvSpPr>
        <p:spPr>
          <a:xfrm>
            <a:off x="9747986" y="3855211"/>
            <a:ext cx="2189479" cy="268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4019" algn="l" rtl="0" eaLnBrk="0">
              <a:lnSpc>
                <a:spcPct val="83000"/>
              </a:lnSpc>
              <a:tabLst/>
            </a:pPr>
            <a:r>
              <a:rPr sz="4200" kern="0" spc="740" dirty="0">
                <a:solidFill>
                  <a:srgbClr val="28233A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4200" kern="0" spc="-970" dirty="0">
                <a:solidFill>
                  <a:srgbClr val="28233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200" kern="0" spc="-440" dirty="0">
                <a:solidFill>
                  <a:srgbClr val="28233A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endParaRPr sz="42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15000"/>
              </a:lnSpc>
              <a:spcBef>
                <a:spcPts val="31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输入主题后可以自动生成大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纲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，用户可以编辑和修改大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纲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，然后在平台库中选择合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适的模板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，就可以自动生成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11000"/>
              </a:lnSpc>
              <a:spcBef>
                <a:spcPts val="90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速度快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、排版清晰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、可读性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也不错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，支持文档转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一键美化.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5000"/>
              </a:lnSpc>
              <a:spcBef>
                <a:spcPts val="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https://www.aippt.cn/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62" name="picture 12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760686" y="6342684"/>
            <a:ext cx="122987" cy="168859"/>
          </a:xfrm>
          <a:prstGeom prst="rect">
            <a:avLst/>
          </a:prstGeom>
        </p:spPr>
      </p:pic>
      <p:pic>
        <p:nvPicPr>
          <p:cNvPr id="1264" name="picture 126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760686" y="5609259"/>
            <a:ext cx="122987" cy="168859"/>
          </a:xfrm>
          <a:prstGeom prst="rect">
            <a:avLst/>
          </a:prstGeom>
        </p:spPr>
      </p:pic>
      <p:pic>
        <p:nvPicPr>
          <p:cNvPr id="1266" name="picture 126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760686" y="4437684"/>
            <a:ext cx="122987" cy="168859"/>
          </a:xfrm>
          <a:prstGeom prst="rect">
            <a:avLst/>
          </a:prstGeom>
        </p:spPr>
      </p:pic>
      <p:pic>
        <p:nvPicPr>
          <p:cNvPr id="1268" name="picture 1268">
            <a:hlinkClick r:id="rId16" action="ppaction://hlinkfile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403465" y="6170929"/>
            <a:ext cx="2122169" cy="438150"/>
          </a:xfrm>
          <a:prstGeom prst="rect">
            <a:avLst/>
          </a:prstGeom>
        </p:spPr>
      </p:pic>
      <p:sp>
        <p:nvSpPr>
          <p:cNvPr id="1270" name="textbox 1270"/>
          <p:cNvSpPr/>
          <p:nvPr/>
        </p:nvSpPr>
        <p:spPr>
          <a:xfrm>
            <a:off x="7403566" y="3997731"/>
            <a:ext cx="2134870" cy="2621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2609" algn="l" rtl="0" eaLnBrk="0">
              <a:lnSpc>
                <a:spcPct val="87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讯飞智能</a:t>
            </a:r>
            <a:r>
              <a:rPr sz="1700" b="1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1000"/>
              </a:lnSpc>
              <a:spcBef>
                <a:spcPts val="146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主题模版风格多样，AI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配图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5000"/>
              </a:lnSpc>
              <a:spcBef>
                <a:spcPts val="97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支持多种主流语言，包括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简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体中文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、英语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、日语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、韩语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等10余种语言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80034" algn="l" rtl="0" eaLnBrk="0">
              <a:lnSpc>
                <a:spcPct val="112000"/>
              </a:lnSpc>
              <a:spcBef>
                <a:spcPts val="82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支持生成配备的演讲稿，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于PPT内容由AI生成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12000"/>
              </a:lnSpc>
              <a:spcBef>
                <a:spcPts val="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https://www.xfyun.cn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/ser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vices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aippt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72" name="picture 127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416266" y="6199809"/>
            <a:ext cx="122987" cy="168859"/>
          </a:xfrm>
          <a:prstGeom prst="rect">
            <a:avLst/>
          </a:prstGeom>
        </p:spPr>
      </p:pic>
      <p:pic>
        <p:nvPicPr>
          <p:cNvPr id="1274" name="picture 127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7416266" y="5685459"/>
            <a:ext cx="122987" cy="168859"/>
          </a:xfrm>
          <a:prstGeom prst="rect">
            <a:avLst/>
          </a:prstGeom>
        </p:spPr>
      </p:pic>
      <p:pic>
        <p:nvPicPr>
          <p:cNvPr id="1276" name="picture 127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7416266" y="4952034"/>
            <a:ext cx="122987" cy="168859"/>
          </a:xfrm>
          <a:prstGeom prst="rect">
            <a:avLst/>
          </a:prstGeom>
        </p:spPr>
      </p:pic>
      <p:pic>
        <p:nvPicPr>
          <p:cNvPr id="1278" name="picture 127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7416266" y="4437684"/>
            <a:ext cx="122987" cy="168859"/>
          </a:xfrm>
          <a:prstGeom prst="rect">
            <a:avLst/>
          </a:prstGeom>
        </p:spPr>
      </p:pic>
      <p:pic>
        <p:nvPicPr>
          <p:cNvPr id="1280" name="picture 1280">
            <a:hlinkClick r:id="rId22" action="ppaction://hlinkfile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9849484" y="3284855"/>
            <a:ext cx="1977390" cy="438149"/>
          </a:xfrm>
          <a:prstGeom prst="rect">
            <a:avLst/>
          </a:prstGeom>
        </p:spPr>
      </p:pic>
      <p:sp>
        <p:nvSpPr>
          <p:cNvPr id="1282" name="textbox 1282"/>
          <p:cNvSpPr/>
          <p:nvPr/>
        </p:nvSpPr>
        <p:spPr>
          <a:xfrm>
            <a:off x="9849586" y="1548434"/>
            <a:ext cx="1990089" cy="219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11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可快速从主题或大纲生成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演示文稿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，几分钟出稿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视觉统一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4000"/>
              </a:lnSpc>
              <a:spcBef>
                <a:spcPts val="41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选择模板后可以自动配图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和设计布局，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图文极富设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计感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，可以在线编辑生成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的PPT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，下载后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，每个组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件也可以在本地单独编辑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80034" algn="l" rtl="0" eaLnBrk="0">
              <a:lnSpc>
                <a:spcPct val="114000"/>
              </a:lnSpc>
              <a:spcBef>
                <a:spcPts val="25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gamma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app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zh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84" name="picture 128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862286" y="3313734"/>
            <a:ext cx="122987" cy="168859"/>
          </a:xfrm>
          <a:prstGeom prst="rect">
            <a:avLst/>
          </a:prstGeom>
        </p:spPr>
      </p:pic>
      <p:pic>
        <p:nvPicPr>
          <p:cNvPr id="1286" name="picture 128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862286" y="2218359"/>
            <a:ext cx="122987" cy="168859"/>
          </a:xfrm>
          <a:prstGeom prst="rect">
            <a:avLst/>
          </a:prstGeom>
        </p:spPr>
      </p:pic>
      <p:pic>
        <p:nvPicPr>
          <p:cNvPr id="1288" name="picture 128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862286" y="1561134"/>
            <a:ext cx="122987" cy="168859"/>
          </a:xfrm>
          <a:prstGeom prst="rect">
            <a:avLst/>
          </a:prstGeom>
        </p:spPr>
      </p:pic>
      <p:pic>
        <p:nvPicPr>
          <p:cNvPr id="1290" name="picture 1290">
            <a:hlinkClick r:id="rId28" action="ppaction://hlinkfile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7483475" y="3065779"/>
            <a:ext cx="1977390" cy="438150"/>
          </a:xfrm>
          <a:prstGeom prst="rect">
            <a:avLst/>
          </a:prstGeom>
        </p:spPr>
      </p:pic>
      <p:sp>
        <p:nvSpPr>
          <p:cNvPr id="1292" name="textbox 1292"/>
          <p:cNvSpPr/>
          <p:nvPr/>
        </p:nvSpPr>
        <p:spPr>
          <a:xfrm>
            <a:off x="7483576" y="1548434"/>
            <a:ext cx="2094864" cy="1983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4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1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自动调整排版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、间距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、配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色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、图标与字体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，让页面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始终保持设计感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3000"/>
              </a:lnSpc>
              <a:spcBef>
                <a:spcPts val="39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只要输入文字或粘贴数据，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它会自动识别信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息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类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型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（列表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、对比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、图表等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并推荐最佳可视化方式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80034" algn="l" rtl="0" eaLnBrk="0">
              <a:lnSpc>
                <a:spcPct val="118000"/>
              </a:lnSpc>
              <a:spcBef>
                <a:spcPts val="23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beautiful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ai/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94" name="picture 129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7496276" y="3094659"/>
            <a:ext cx="122987" cy="168859"/>
          </a:xfrm>
          <a:prstGeom prst="rect">
            <a:avLst/>
          </a:prstGeom>
        </p:spPr>
      </p:pic>
      <p:pic>
        <p:nvPicPr>
          <p:cNvPr id="1296" name="picture 129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7496276" y="2218359"/>
            <a:ext cx="122987" cy="168859"/>
          </a:xfrm>
          <a:prstGeom prst="rect">
            <a:avLst/>
          </a:prstGeom>
        </p:spPr>
      </p:pic>
      <p:pic>
        <p:nvPicPr>
          <p:cNvPr id="1298" name="picture 129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7496276" y="1561134"/>
            <a:ext cx="122987" cy="168859"/>
          </a:xfrm>
          <a:prstGeom prst="rect">
            <a:avLst/>
          </a:prstGeom>
        </p:spPr>
      </p:pic>
      <p:pic>
        <p:nvPicPr>
          <p:cNvPr id="1300" name="picture 1300">
            <a:hlinkClick r:id="rId34" action="ppaction://hlinkfile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2717164" y="5942329"/>
            <a:ext cx="2042794" cy="438150"/>
          </a:xfrm>
          <a:prstGeom prst="rect">
            <a:avLst/>
          </a:prstGeom>
        </p:spPr>
      </p:pic>
      <p:sp>
        <p:nvSpPr>
          <p:cNvPr id="1302" name="textbox 1302"/>
          <p:cNvSpPr/>
          <p:nvPr/>
        </p:nvSpPr>
        <p:spPr>
          <a:xfrm>
            <a:off x="2717266" y="4424984"/>
            <a:ext cx="2056129" cy="1983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13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一键生成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用户只需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输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想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法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Word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PDF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文件，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即可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内容提纲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14000"/>
              </a:lnSpc>
              <a:spcBef>
                <a:spcPts val="25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智能生成演讲稿 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辅助生成演讲稿 ，提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升演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示效果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8000"/>
              </a:lnSpc>
              <a:spcBef>
                <a:spcPts val="24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qzoffice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04" name="picture 130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2729966" y="5971209"/>
            <a:ext cx="122986" cy="168859"/>
          </a:xfrm>
          <a:prstGeom prst="rect">
            <a:avLst/>
          </a:prstGeom>
        </p:spPr>
      </p:pic>
      <p:pic>
        <p:nvPicPr>
          <p:cNvPr id="1306" name="picture 130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2729966" y="5313984"/>
            <a:ext cx="122986" cy="168859"/>
          </a:xfrm>
          <a:prstGeom prst="rect">
            <a:avLst/>
          </a:prstGeom>
        </p:spPr>
      </p:pic>
      <p:pic>
        <p:nvPicPr>
          <p:cNvPr id="1308" name="picture 130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2729966" y="4437684"/>
            <a:ext cx="122986" cy="168859"/>
          </a:xfrm>
          <a:prstGeom prst="rect">
            <a:avLst/>
          </a:prstGeom>
        </p:spPr>
      </p:pic>
      <p:sp>
        <p:nvSpPr>
          <p:cNvPr id="1310" name="textbox 1310"/>
          <p:cNvSpPr/>
          <p:nvPr/>
        </p:nvSpPr>
        <p:spPr>
          <a:xfrm>
            <a:off x="388086" y="1526794"/>
            <a:ext cx="2021204" cy="1981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14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用户只需输入需求，A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即可帮你生成结构清晰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视觉设计良好的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5000"/>
              </a:lnSpc>
              <a:spcBef>
                <a:spcPts val="40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生成后用户可在线编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辑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导出为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9559" indent="8889" algn="l" rtl="0" eaLnBrk="0">
              <a:lnSpc>
                <a:spcPct val="120000"/>
              </a:lnSpc>
              <a:spcBef>
                <a:spcPts val="1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PPTX/PDF/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HTML 格式，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使得“快速生成＋个性调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”兼顾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4000"/>
              </a:lnSpc>
              <a:spcBef>
                <a:spcPts val="26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www.tiangong.cn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12" name="picture 131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400786" y="3309924"/>
            <a:ext cx="122986" cy="168859"/>
          </a:xfrm>
          <a:prstGeom prst="rect">
            <a:avLst/>
          </a:prstGeom>
        </p:spPr>
      </p:pic>
      <p:pic>
        <p:nvPicPr>
          <p:cNvPr id="1314" name="picture 131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400786" y="2214550"/>
            <a:ext cx="122986" cy="168859"/>
          </a:xfrm>
          <a:prstGeom prst="rect">
            <a:avLst/>
          </a:prstGeom>
        </p:spPr>
      </p:pic>
      <p:pic>
        <p:nvPicPr>
          <p:cNvPr id="1316" name="picture 131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400786" y="1557324"/>
            <a:ext cx="122986" cy="168859"/>
          </a:xfrm>
          <a:prstGeom prst="rect">
            <a:avLst/>
          </a:prstGeom>
        </p:spPr>
      </p:pic>
      <p:pic>
        <p:nvPicPr>
          <p:cNvPr id="1318" name="picture 1318">
            <a:hlinkClick r:id="rId43" action="ppaction://hlinkfile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2752725" y="3065779"/>
            <a:ext cx="1976754" cy="438150"/>
          </a:xfrm>
          <a:prstGeom prst="rect">
            <a:avLst/>
          </a:prstGeom>
        </p:spPr>
      </p:pic>
      <p:sp>
        <p:nvSpPr>
          <p:cNvPr id="1320" name="textbox 1320"/>
          <p:cNvSpPr/>
          <p:nvPr/>
        </p:nvSpPr>
        <p:spPr>
          <a:xfrm>
            <a:off x="2752826" y="1548434"/>
            <a:ext cx="1990089" cy="1983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indent="-281940" algn="l" rtl="0" eaLnBrk="0">
              <a:lnSpc>
                <a:spcPct val="111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支持将文字内容快速转化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、文件转为PP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图片转为PPT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6000"/>
              </a:lnSpc>
              <a:spcBef>
                <a:spcPts val="40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支持用户上传已有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进行美化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6000"/>
              </a:lnSpc>
              <a:spcBef>
                <a:spcPts val="39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上手门槛低，适合快速制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8000"/>
              </a:lnSpc>
              <a:spcBef>
                <a:spcPts val="23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https://wenku.baidu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22" name="picture 132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2765526" y="3094659"/>
            <a:ext cx="122986" cy="168859"/>
          </a:xfrm>
          <a:prstGeom prst="rect">
            <a:avLst/>
          </a:prstGeom>
        </p:spPr>
      </p:pic>
      <p:pic>
        <p:nvPicPr>
          <p:cNvPr id="1324" name="picture 132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2765526" y="2656509"/>
            <a:ext cx="122986" cy="168859"/>
          </a:xfrm>
          <a:prstGeom prst="rect">
            <a:avLst/>
          </a:prstGeom>
        </p:spPr>
      </p:pic>
      <p:pic>
        <p:nvPicPr>
          <p:cNvPr id="1326" name="picture 132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2765526" y="2218359"/>
            <a:ext cx="122986" cy="168859"/>
          </a:xfrm>
          <a:prstGeom prst="rect">
            <a:avLst/>
          </a:prstGeom>
        </p:spPr>
      </p:pic>
      <p:pic>
        <p:nvPicPr>
          <p:cNvPr id="1328" name="picture 132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2765526" y="1561134"/>
            <a:ext cx="122986" cy="168859"/>
          </a:xfrm>
          <a:prstGeom prst="rect">
            <a:avLst/>
          </a:prstGeom>
        </p:spPr>
      </p:pic>
      <p:sp>
        <p:nvSpPr>
          <p:cNvPr id="1330" name="textbox 1330"/>
          <p:cNvSpPr/>
          <p:nvPr/>
        </p:nvSpPr>
        <p:spPr>
          <a:xfrm>
            <a:off x="82291" y="-31740"/>
            <a:ext cx="2650489" cy="146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9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PPT生成</a:t>
            </a:r>
            <a:endParaRPr sz="3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91869" algn="l" rtl="0" eaLnBrk="0">
              <a:lnSpc>
                <a:spcPct val="80000"/>
              </a:lnSpc>
              <a:spcBef>
                <a:spcPts val="3"/>
              </a:spcBef>
              <a:tabLst>
                <a:tab pos="1053464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天工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32" name="picture 133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640080" y="870203"/>
            <a:ext cx="434340" cy="533400"/>
          </a:xfrm>
          <a:prstGeom prst="rect">
            <a:avLst/>
          </a:prstGeom>
        </p:spPr>
      </p:pic>
      <p:pic>
        <p:nvPicPr>
          <p:cNvPr id="1334" name="picture 1334">
            <a:hlinkClick r:id="rId50" action="ppaction://hlinkfile"/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299720" y="5142229"/>
            <a:ext cx="2153919" cy="876300"/>
          </a:xfrm>
          <a:prstGeom prst="rect">
            <a:avLst/>
          </a:prstGeom>
        </p:spPr>
      </p:pic>
      <p:sp>
        <p:nvSpPr>
          <p:cNvPr id="1336" name="textbox 1336"/>
          <p:cNvSpPr/>
          <p:nvPr/>
        </p:nvSpPr>
        <p:spPr>
          <a:xfrm>
            <a:off x="299821" y="4407154"/>
            <a:ext cx="2167254" cy="1656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15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由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Google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实验室推出的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驱动知识探索平台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，前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身为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Project Tailw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92100" indent="-279400" algn="l" rtl="0" eaLnBrk="0">
              <a:lnSpc>
                <a:spcPct val="121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https://no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tebooklm.googl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notebook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/4d5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da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ea</a:t>
            </a:r>
            <a:r>
              <a:rPr sz="1200" u="sng" kern="0" spc="-1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-1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cf</a:t>
            </a:r>
            <a:r>
              <a:rPr sz="1200" u="sng" kern="0" spc="-1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4</a:t>
            </a:r>
            <a:r>
              <a:rPr sz="1200" u="sng" kern="0" spc="-1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200" u="sng" kern="0" spc="-1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-1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4</a:t>
            </a:r>
            <a:r>
              <a:rPr sz="1200" u="sng" kern="0" spc="-1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0</a:t>
            </a:r>
            <a:r>
              <a:rPr sz="1200" u="sng" kern="0" spc="-1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5</a:t>
            </a:r>
            <a:r>
              <a:rPr sz="1200" u="sng" kern="0" spc="-1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8</a:t>
            </a:r>
            <a:r>
              <a:rPr sz="1200" u="sng" kern="0" spc="-1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bf</a:t>
            </a:r>
            <a:r>
              <a:rPr sz="1200" u="sng" kern="0" spc="-1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8</a:t>
            </a:r>
            <a:r>
              <a:rPr sz="1200" u="sng" kern="0" spc="-1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r>
              <a:rPr sz="1200" u="sng" kern="0" spc="-1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9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be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2269b67d2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38" name="picture 133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312521" y="5171109"/>
            <a:ext cx="122986" cy="168859"/>
          </a:xfrm>
          <a:prstGeom prst="rect">
            <a:avLst/>
          </a:prstGeom>
        </p:spPr>
      </p:pic>
      <p:pic>
        <p:nvPicPr>
          <p:cNvPr id="1340" name="picture 1340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312521" y="4437684"/>
            <a:ext cx="122986" cy="168859"/>
          </a:xfrm>
          <a:prstGeom prst="rect">
            <a:avLst/>
          </a:prstGeom>
        </p:spPr>
      </p:pic>
      <p:pic>
        <p:nvPicPr>
          <p:cNvPr id="1342" name="picture 1342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1344" name="textbox 1344"/>
          <p:cNvSpPr/>
          <p:nvPr/>
        </p:nvSpPr>
        <p:spPr>
          <a:xfrm>
            <a:off x="2951479" y="887983"/>
            <a:ext cx="4071620" cy="499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75284" algn="l" rtl="0" eaLnBrk="0">
              <a:lnSpc>
                <a:spcPts val="2520"/>
              </a:lnSpc>
              <a:spcBef>
                <a:spcPts val="4"/>
              </a:spcBef>
              <a:tabLst>
                <a:tab pos="492759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b="1" kern="0" spc="50" baseline="549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百度文库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000" kern="0" spc="0" dirty="0">
                <a:solidFill>
                  <a:srgbClr val="242424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MIND</a:t>
            </a:r>
            <a:r>
              <a:rPr sz="2000" kern="0" spc="-360" dirty="0">
                <a:solidFill>
                  <a:srgbClr val="24242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242424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</a:t>
            </a:r>
            <a:r>
              <a:rPr sz="2000" kern="0" spc="40" dirty="0">
                <a:solidFill>
                  <a:srgbClr val="24242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000" kern="0" spc="-360" dirty="0">
                <a:solidFill>
                  <a:srgbClr val="24242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24242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pic>
        <p:nvPicPr>
          <p:cNvPr id="1346" name="picture 1346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2964179" y="900683"/>
            <a:ext cx="362711" cy="473964"/>
          </a:xfrm>
          <a:prstGeom prst="rect">
            <a:avLst/>
          </a:prstGeom>
        </p:spPr>
      </p:pic>
      <p:pic>
        <p:nvPicPr>
          <p:cNvPr id="1348" name="picture 1348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7671816" y="885444"/>
            <a:ext cx="1600200" cy="502920"/>
          </a:xfrm>
          <a:prstGeom prst="rect">
            <a:avLst/>
          </a:prstGeom>
        </p:spPr>
      </p:pic>
      <p:pic>
        <p:nvPicPr>
          <p:cNvPr id="1350" name="picture 1350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10232135" y="928116"/>
            <a:ext cx="121158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2" name="picture 1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1354" name="table 1354"/>
          <p:cNvGraphicFramePr>
            <a:graphicFrameLocks noGrp="1"/>
          </p:cNvGraphicFramePr>
          <p:nvPr/>
        </p:nvGraphicFramePr>
        <p:xfrm>
          <a:off x="304038" y="732434"/>
          <a:ext cx="11532234" cy="5888354"/>
        </p:xfrm>
        <a:graphic>
          <a:graphicData uri="http://schemas.openxmlformats.org/drawingml/2006/table">
            <a:tbl>
              <a:tblPr/>
              <a:tblGrid>
                <a:gridCol w="2886075"/>
                <a:gridCol w="2879725"/>
                <a:gridCol w="2879725"/>
                <a:gridCol w="2886710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99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50" indent="-276225" algn="l" rtl="0" eaLnBrk="0">
                        <a:lnSpc>
                          <a:spcPct val="112000"/>
                        </a:lnSpc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支持检测由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Gemini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等模型生成的文本，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</a:t>
                      </a: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多种语言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7350" indent="-276225" algn="l" rtl="0" eaLnBrk="0">
                        <a:lnSpc>
                          <a:spcPct val="103000"/>
                        </a:lnSpc>
                        <a:spcBef>
                          <a:spcPts val="2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针对文本内容，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可以直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接粘贴文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本进行扫描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，操作较为简单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1125" algn="l" rtl="0" eaLnBrk="0">
                        <a:lnSpc>
                          <a:spcPct val="112000"/>
                        </a:lnSpc>
                        <a:spcBef>
                          <a:spcPts val="12"/>
                        </a:spcBef>
                        <a:tabLst>
                          <a:tab pos="24384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https://c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opyleaks.com/zh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其产品强调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“可检测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高质量已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3540" indent="76835" algn="l" rtl="0" eaLnBrk="0">
                        <a:lnSpc>
                          <a:spcPct val="108000"/>
                        </a:lnSpc>
                        <a:spcBef>
                          <a:spcPts val="48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“人化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”内容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”（即 AI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经过润  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色后仍能识别） 、支持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言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、检测不同的</a:t>
                      </a:r>
                      <a:r>
                        <a:rPr sz="12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（如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Gemini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生成内容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904" indent="-278129" algn="l" rtl="0" eaLnBrk="0">
                        <a:lnSpc>
                          <a:spcPct val="108000"/>
                        </a:lnSpc>
                        <a:spcBef>
                          <a:spcPts val="15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需要较高检测精度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可能含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润色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”的文本场景（如学术文章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出版物）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algn="l" rtl="0" eaLnBrk="0">
                        <a:lnSpc>
                          <a:spcPct val="109000"/>
                        </a:lnSpc>
                        <a:spcBef>
                          <a:spcPts val="14"/>
                        </a:spcBef>
                        <a:tabLst>
                          <a:tab pos="23749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pangram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ai</a:t>
                      </a:r>
                      <a:r>
                        <a:rPr sz="1200" u="sng" kern="0" spc="1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0" indent="-275590" algn="l" rtl="0" eaLnBrk="0">
                        <a:lnSpc>
                          <a:spcPct val="109000"/>
                        </a:lnSpc>
                        <a:spcBef>
                          <a:spcPts val="6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主要定位教育／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出版领域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对学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生作业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、文章原创性检测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有较多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5410" algn="l" rtl="0" eaLnBrk="0">
                        <a:lnSpc>
                          <a:spcPct val="99000"/>
                        </a:lnSpc>
                        <a:spcBef>
                          <a:spcPts val="130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用户界面友好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，操作门槛低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000" indent="-275590" algn="l" rtl="0" eaLnBrk="0">
                        <a:lnSpc>
                          <a:spcPct val="109000"/>
                        </a:lnSpc>
                        <a:spcBef>
                          <a:spcPts val="9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提供检测结果并显示疑似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成的段落/句子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5410" algn="l" rtl="0" eaLnBrk="0">
                        <a:lnSpc>
                          <a:spcPct val="109000"/>
                        </a:lnSpc>
                        <a:spcBef>
                          <a:spcPts val="14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10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gptzero</a:t>
                      </a:r>
                      <a:r>
                        <a:rPr sz="1200" u="sng" kern="0" spc="10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me</a:t>
                      </a:r>
                      <a:r>
                        <a:rPr sz="1200" u="sng" kern="0" spc="10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5445" indent="-280034" algn="l" rtl="0" eaLnBrk="0">
                        <a:lnSpc>
                          <a:spcPct val="108000"/>
                        </a:lnSpc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分析到段落级别，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显示文中哪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些部分可能是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生成的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0365" indent="-274954" algn="l" rtl="0" eaLnBrk="0">
                        <a:lnSpc>
                          <a:spcPct val="99000"/>
                        </a:lnSpc>
                        <a:spcBef>
                          <a:spcPts val="8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支持多语言检测，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对非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英语场景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友好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634" indent="-276225" algn="l" rtl="0" eaLnBrk="0">
                        <a:lnSpc>
                          <a:spcPct val="99000"/>
                        </a:lnSpc>
                        <a:spcBef>
                          <a:spcPts val="261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免费试用版可用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，便于快速初步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5410" algn="l" rtl="0" eaLnBrk="0">
                        <a:lnSpc>
                          <a:spcPct val="113000"/>
                        </a:lnSpc>
                        <a:spcBef>
                          <a:spcPts val="122"/>
                        </a:spcBef>
                        <a:tabLst>
                          <a:tab pos="23812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https://www.s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cribbr.com/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5457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indent="-278129" algn="l" rtl="0" eaLnBrk="0">
                        <a:lnSpc>
                          <a:spcPct val="123000"/>
                        </a:lnSpc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专注中文场景，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支持中文文本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（也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含图像检测）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尤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其优化中文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生成内容识别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3534" indent="-278129" algn="l" rtl="0" eaLnBrk="0">
                        <a:lnSpc>
                          <a:spcPct val="115000"/>
                        </a:lnSpc>
                        <a:spcBef>
                          <a:spcPts val="1032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免费使用门槛低，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对于日常检测比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较友好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20369" indent="-354965" algn="l" rtl="0" eaLnBrk="0">
                        <a:lnSpc>
                          <a:spcPct val="125000"/>
                        </a:lnSpc>
                        <a:spcBef>
                          <a:spcPts val="883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背 后 数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 （  如 训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</a:t>
                      </a:r>
                      <a:r>
                        <a:rPr sz="1200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万份正负样本 ”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号称检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1629" algn="l" rtl="0" eaLnBrk="0">
                        <a:lnSpc>
                          <a:spcPct val="88000"/>
                        </a:lnSpc>
                        <a:spcBef>
                          <a:spcPts val="39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测率较高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13000"/>
                        </a:lnSpc>
                        <a:spcBef>
                          <a:spcPts val="3"/>
                        </a:spcBef>
                        <a:tabLst>
                          <a:tab pos="19812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https://www.mitataai.com/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279" indent="-276225" algn="l" rtl="0" eaLnBrk="0">
                        <a:lnSpc>
                          <a:spcPct val="123000"/>
                        </a:lnSpc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被称为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国内首个</a:t>
                      </a:r>
                      <a:r>
                        <a:rPr sz="1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内容检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测工具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”之一，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专为中文场景设计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055" algn="l" rtl="0" eaLnBrk="0">
                        <a:lnSpc>
                          <a:spcPts val="1557"/>
                        </a:lnSpc>
                        <a:spcBef>
                          <a:spcPts val="949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宣称中文文本检测准确率已超过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1629" algn="l" rtl="0" eaLnBrk="0">
                        <a:lnSpc>
                          <a:spcPts val="1642"/>
                        </a:lnSpc>
                        <a:spcBef>
                          <a:spcPts val="161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90%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6550" indent="-277495" algn="l" rtl="0" eaLnBrk="0">
                        <a:lnSpc>
                          <a:spcPct val="120000"/>
                        </a:lnSpc>
                        <a:spcBef>
                          <a:spcPts val="821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出自高校/实验室背景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具备研究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性背景支持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113000"/>
                        </a:lnSpc>
                        <a:spcBef>
                          <a:spcPts val="7"/>
                        </a:spcBef>
                        <a:tabLst>
                          <a:tab pos="19177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https://app.aigcx.co</a:t>
                      </a: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915" indent="-276225" algn="l" rtl="0" eaLnBrk="0">
                        <a:lnSpc>
                          <a:spcPct val="121000"/>
                        </a:lnSpc>
                        <a:spcBef>
                          <a:spcPts val="4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专注于论文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、学术写作场景，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检测是否含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生成内容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7495" algn="l" rtl="0" eaLnBrk="0">
                        <a:lnSpc>
                          <a:spcPct val="123000"/>
                        </a:lnSpc>
                        <a:spcBef>
                          <a:spcPts val="705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提供一站式服务：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内容检测</a:t>
                      </a:r>
                      <a:r>
                        <a:rPr sz="12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论文查重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+降重，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适合学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术写作用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9725" indent="-280034" algn="l" rtl="0" eaLnBrk="0">
                        <a:lnSpc>
                          <a:spcPct val="120000"/>
                        </a:lnSpc>
                        <a:spcBef>
                          <a:spcPts val="892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操作较为直接，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适合学者／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生用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于自查稿件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113000"/>
                        </a:lnSpc>
                        <a:spcBef>
                          <a:spcPts val="7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https://www.paperyy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3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279" indent="-275590" algn="l" rtl="0" eaLnBrk="0">
                        <a:lnSpc>
                          <a:spcPct val="99000"/>
                        </a:lnSpc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支持检测来自国内外各类大模型生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成的中文文本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7495" algn="l" rtl="0" eaLnBrk="0">
                        <a:lnSpc>
                          <a:spcPct val="109000"/>
                        </a:lnSpc>
                        <a:spcBef>
                          <a:spcPts val="114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基于高质量文献大数据资源（结构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、碎片化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、知识元化）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+“知识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”检测技术，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从语言模式与语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义逻辑两条链路识别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生成内容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6550" indent="-276859" algn="l" rtl="0" eaLnBrk="0">
                        <a:lnSpc>
                          <a:spcPct val="107000"/>
                        </a:lnSpc>
                        <a:spcBef>
                          <a:spcPts val="36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支持多种上传方式（单篇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、多篇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压缩包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、手工录入） 、多种格式文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档，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并可实时追踪检测进度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、查看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、提供可视化报告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689" algn="l" rtl="0" eaLnBrk="0">
                        <a:lnSpc>
                          <a:spcPct val="113000"/>
                        </a:lnSpc>
                        <a:spcBef>
                          <a:spcPts val="5"/>
                        </a:spcBef>
                        <a:tabLst>
                          <a:tab pos="192404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7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https://c</a:t>
                      </a:r>
                      <a:r>
                        <a:rPr sz="1200" u="sng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x.cnki.net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</a:tbl>
          </a:graphicData>
        </a:graphic>
      </p:graphicFrame>
      <p:pic>
        <p:nvPicPr>
          <p:cNvPr id="1356" name="picture 13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009733" y="6234975"/>
            <a:ext cx="132722" cy="182227"/>
          </a:xfrm>
          <a:prstGeom prst="rect">
            <a:avLst/>
          </a:prstGeom>
        </p:spPr>
      </p:pic>
      <p:pic>
        <p:nvPicPr>
          <p:cNvPr id="1358" name="picture 13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009733" y="5447577"/>
            <a:ext cx="132722" cy="181009"/>
          </a:xfrm>
          <a:prstGeom prst="rect">
            <a:avLst/>
          </a:prstGeom>
        </p:spPr>
      </p:pic>
      <p:pic>
        <p:nvPicPr>
          <p:cNvPr id="1360" name="picture 13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009733" y="4649890"/>
            <a:ext cx="132722" cy="181044"/>
          </a:xfrm>
          <a:prstGeom prst="rect">
            <a:avLst/>
          </a:prstGeom>
        </p:spPr>
      </p:pic>
      <p:pic>
        <p:nvPicPr>
          <p:cNvPr id="1362" name="picture 13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009733" y="4253775"/>
            <a:ext cx="132722" cy="182227"/>
          </a:xfrm>
          <a:prstGeom prst="rect">
            <a:avLst/>
          </a:prstGeom>
        </p:spPr>
      </p:pic>
      <p:pic>
        <p:nvPicPr>
          <p:cNvPr id="1364" name="picture 13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130008" y="6203225"/>
            <a:ext cx="132723" cy="182227"/>
          </a:xfrm>
          <a:prstGeom prst="rect">
            <a:avLst/>
          </a:prstGeom>
        </p:spPr>
      </p:pic>
      <p:pic>
        <p:nvPicPr>
          <p:cNvPr id="1366" name="picture 136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130008" y="5652045"/>
            <a:ext cx="132723" cy="182227"/>
          </a:xfrm>
          <a:prstGeom prst="rect">
            <a:avLst/>
          </a:prstGeom>
        </p:spPr>
      </p:pic>
      <p:pic>
        <p:nvPicPr>
          <p:cNvPr id="1368" name="picture 136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130008" y="4863375"/>
            <a:ext cx="132723" cy="182227"/>
          </a:xfrm>
          <a:prstGeom prst="rect">
            <a:avLst/>
          </a:prstGeom>
        </p:spPr>
      </p:pic>
      <p:pic>
        <p:nvPicPr>
          <p:cNvPr id="1370" name="picture 137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130008" y="4312194"/>
            <a:ext cx="132723" cy="182227"/>
          </a:xfrm>
          <a:prstGeom prst="rect">
            <a:avLst/>
          </a:prstGeom>
        </p:spPr>
      </p:pic>
      <p:pic>
        <p:nvPicPr>
          <p:cNvPr id="1372" name="picture 137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249647" y="6084480"/>
            <a:ext cx="132723" cy="182227"/>
          </a:xfrm>
          <a:prstGeom prst="rect">
            <a:avLst/>
          </a:prstGeom>
        </p:spPr>
      </p:pic>
      <p:pic>
        <p:nvPicPr>
          <p:cNvPr id="1374" name="picture 137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249647" y="5533299"/>
            <a:ext cx="132723" cy="182227"/>
          </a:xfrm>
          <a:prstGeom prst="rect">
            <a:avLst/>
          </a:prstGeom>
        </p:spPr>
      </p:pic>
      <p:pic>
        <p:nvPicPr>
          <p:cNvPr id="1376" name="picture 137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249647" y="4982119"/>
            <a:ext cx="132723" cy="182227"/>
          </a:xfrm>
          <a:prstGeom prst="rect">
            <a:avLst/>
          </a:prstGeom>
        </p:spPr>
      </p:pic>
      <p:pic>
        <p:nvPicPr>
          <p:cNvPr id="1378" name="picture 137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249647" y="4430939"/>
            <a:ext cx="132723" cy="182227"/>
          </a:xfrm>
          <a:prstGeom prst="rect">
            <a:avLst/>
          </a:prstGeom>
        </p:spPr>
      </p:pic>
      <p:pic>
        <p:nvPicPr>
          <p:cNvPr id="1380" name="picture 138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69923" y="6321969"/>
            <a:ext cx="132723" cy="182227"/>
          </a:xfrm>
          <a:prstGeom prst="rect">
            <a:avLst/>
          </a:prstGeom>
        </p:spPr>
      </p:pic>
      <p:pic>
        <p:nvPicPr>
          <p:cNvPr id="1382" name="picture 138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369923" y="5533299"/>
            <a:ext cx="132723" cy="182227"/>
          </a:xfrm>
          <a:prstGeom prst="rect">
            <a:avLst/>
          </a:prstGeom>
        </p:spPr>
      </p:pic>
      <p:pic>
        <p:nvPicPr>
          <p:cNvPr id="1384" name="picture 138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369923" y="4982119"/>
            <a:ext cx="132723" cy="182227"/>
          </a:xfrm>
          <a:prstGeom prst="rect">
            <a:avLst/>
          </a:prstGeom>
        </p:spPr>
      </p:pic>
      <p:pic>
        <p:nvPicPr>
          <p:cNvPr id="1386" name="picture 138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369923" y="4193449"/>
            <a:ext cx="132723" cy="182227"/>
          </a:xfrm>
          <a:prstGeom prst="rect">
            <a:avLst/>
          </a:prstGeom>
        </p:spPr>
      </p:pic>
      <p:pic>
        <p:nvPicPr>
          <p:cNvPr id="1388" name="picture 138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9055453" y="2910115"/>
            <a:ext cx="132722" cy="182227"/>
          </a:xfrm>
          <a:prstGeom prst="rect">
            <a:avLst/>
          </a:prstGeom>
        </p:spPr>
      </p:pic>
      <p:pic>
        <p:nvPicPr>
          <p:cNvPr id="1390" name="picture 139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9055453" y="2513875"/>
            <a:ext cx="132722" cy="182227"/>
          </a:xfrm>
          <a:prstGeom prst="rect">
            <a:avLst/>
          </a:prstGeom>
        </p:spPr>
      </p:pic>
      <p:pic>
        <p:nvPicPr>
          <p:cNvPr id="1392" name="picture 139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055453" y="2117635"/>
            <a:ext cx="132722" cy="182227"/>
          </a:xfrm>
          <a:prstGeom prst="rect">
            <a:avLst/>
          </a:prstGeom>
        </p:spPr>
      </p:pic>
      <p:pic>
        <p:nvPicPr>
          <p:cNvPr id="1394" name="picture 139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055453" y="1721394"/>
            <a:ext cx="132722" cy="182227"/>
          </a:xfrm>
          <a:prstGeom prst="rect">
            <a:avLst/>
          </a:prstGeom>
        </p:spPr>
      </p:pic>
      <p:pic>
        <p:nvPicPr>
          <p:cNvPr id="1396" name="picture 139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6175728" y="2914844"/>
            <a:ext cx="132723" cy="177674"/>
          </a:xfrm>
          <a:prstGeom prst="rect">
            <a:avLst/>
          </a:prstGeom>
        </p:spPr>
      </p:pic>
      <p:pic>
        <p:nvPicPr>
          <p:cNvPr id="1398" name="picture 139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175728" y="2515223"/>
            <a:ext cx="132723" cy="179141"/>
          </a:xfrm>
          <a:prstGeom prst="rect">
            <a:avLst/>
          </a:prstGeom>
        </p:spPr>
      </p:pic>
      <p:pic>
        <p:nvPicPr>
          <p:cNvPr id="1400" name="picture 140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175728" y="2315754"/>
            <a:ext cx="132723" cy="180552"/>
          </a:xfrm>
          <a:prstGeom prst="rect">
            <a:avLst/>
          </a:prstGeom>
        </p:spPr>
      </p:pic>
      <p:pic>
        <p:nvPicPr>
          <p:cNvPr id="1402" name="picture 140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6175728" y="1721394"/>
            <a:ext cx="132723" cy="182227"/>
          </a:xfrm>
          <a:prstGeom prst="rect">
            <a:avLst/>
          </a:prstGeom>
        </p:spPr>
      </p:pic>
      <p:pic>
        <p:nvPicPr>
          <p:cNvPr id="1404" name="picture 140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3295367" y="3112965"/>
            <a:ext cx="132723" cy="177674"/>
          </a:xfrm>
          <a:prstGeom prst="rect">
            <a:avLst/>
          </a:prstGeom>
        </p:spPr>
      </p:pic>
      <p:pic>
        <p:nvPicPr>
          <p:cNvPr id="1406" name="picture 140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3295367" y="2518754"/>
            <a:ext cx="132723" cy="179087"/>
          </a:xfrm>
          <a:prstGeom prst="rect">
            <a:avLst/>
          </a:prstGeom>
        </p:spPr>
      </p:pic>
      <p:pic>
        <p:nvPicPr>
          <p:cNvPr id="1408" name="picture 140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295367" y="1523275"/>
            <a:ext cx="132723" cy="180552"/>
          </a:xfrm>
          <a:prstGeom prst="rect">
            <a:avLst/>
          </a:prstGeom>
        </p:spPr>
      </p:pic>
      <p:pic>
        <p:nvPicPr>
          <p:cNvPr id="1410" name="picture 141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415643" y="2811054"/>
            <a:ext cx="132723" cy="182227"/>
          </a:xfrm>
          <a:prstGeom prst="rect">
            <a:avLst/>
          </a:prstGeom>
        </p:spPr>
      </p:pic>
      <p:pic>
        <p:nvPicPr>
          <p:cNvPr id="1412" name="picture 141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415643" y="2414815"/>
            <a:ext cx="132723" cy="182227"/>
          </a:xfrm>
          <a:prstGeom prst="rect">
            <a:avLst/>
          </a:prstGeom>
        </p:spPr>
      </p:pic>
      <p:pic>
        <p:nvPicPr>
          <p:cNvPr id="1414" name="picture 141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415643" y="1820454"/>
            <a:ext cx="132723" cy="182227"/>
          </a:xfrm>
          <a:prstGeom prst="rect">
            <a:avLst/>
          </a:prstGeom>
        </p:spPr>
      </p:pic>
      <p:sp>
        <p:nvSpPr>
          <p:cNvPr id="1416" name="textbox 1416"/>
          <p:cNvSpPr/>
          <p:nvPr/>
        </p:nvSpPr>
        <p:spPr>
          <a:xfrm>
            <a:off x="80386" y="-36820"/>
            <a:ext cx="382714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7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文本检测工具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18" name="picture 141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9541764" y="3625595"/>
            <a:ext cx="2002535" cy="385572"/>
          </a:xfrm>
          <a:prstGeom prst="rect">
            <a:avLst/>
          </a:prstGeom>
        </p:spPr>
      </p:pic>
      <p:pic>
        <p:nvPicPr>
          <p:cNvPr id="1420" name="picture 142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3902963" y="745235"/>
            <a:ext cx="1524000" cy="495300"/>
          </a:xfrm>
          <a:prstGeom prst="rect">
            <a:avLst/>
          </a:prstGeom>
        </p:spPr>
      </p:pic>
      <p:pic>
        <p:nvPicPr>
          <p:cNvPr id="1422" name="picture 142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3723132" y="3614927"/>
            <a:ext cx="1836420" cy="406908"/>
          </a:xfrm>
          <a:prstGeom prst="rect">
            <a:avLst/>
          </a:prstGeom>
        </p:spPr>
      </p:pic>
      <p:pic>
        <p:nvPicPr>
          <p:cNvPr id="1424" name="picture 142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045463" y="3610355"/>
            <a:ext cx="1487424" cy="416052"/>
          </a:xfrm>
          <a:prstGeom prst="rect">
            <a:avLst/>
          </a:prstGeom>
        </p:spPr>
      </p:pic>
      <p:pic>
        <p:nvPicPr>
          <p:cNvPr id="1426" name="picture 142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1112519" y="771144"/>
            <a:ext cx="1353312" cy="443484"/>
          </a:xfrm>
          <a:prstGeom prst="rect">
            <a:avLst/>
          </a:prstGeom>
        </p:spPr>
      </p:pic>
      <p:pic>
        <p:nvPicPr>
          <p:cNvPr id="1428" name="picture 1428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753600" y="800100"/>
            <a:ext cx="1537716" cy="387096"/>
          </a:xfrm>
          <a:prstGeom prst="rect">
            <a:avLst/>
          </a:prstGeom>
        </p:spPr>
      </p:pic>
      <p:pic>
        <p:nvPicPr>
          <p:cNvPr id="1430" name="picture 143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6851904" y="3605783"/>
            <a:ext cx="1277111" cy="426720"/>
          </a:xfrm>
          <a:prstGeom prst="rect">
            <a:avLst/>
          </a:prstGeom>
        </p:spPr>
      </p:pic>
      <p:pic>
        <p:nvPicPr>
          <p:cNvPr id="1432" name="picture 143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6822947" y="795528"/>
            <a:ext cx="1306068" cy="3947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picture 14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1436" name="table 1436"/>
          <p:cNvGraphicFramePr>
            <a:graphicFrameLocks noGrp="1"/>
          </p:cNvGraphicFramePr>
          <p:nvPr/>
        </p:nvGraphicFramePr>
        <p:xfrm>
          <a:off x="304038" y="732434"/>
          <a:ext cx="11532234" cy="5888355"/>
        </p:xfrm>
        <a:graphic>
          <a:graphicData uri="http://schemas.openxmlformats.org/drawingml/2006/table">
            <a:tbl>
              <a:tblPr/>
              <a:tblGrid>
                <a:gridCol w="337820"/>
                <a:gridCol w="2548254"/>
                <a:gridCol w="331470"/>
                <a:gridCol w="2548889"/>
                <a:gridCol w="331470"/>
                <a:gridCol w="2548254"/>
                <a:gridCol w="272415"/>
                <a:gridCol w="2613660"/>
              </a:tblGrid>
              <a:tr h="5334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5675" algn="l" rtl="0" eaLnBrk="0">
                        <a:lnSpc>
                          <a:spcPct val="8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阿里云盾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99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89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89" algn="l" rtl="0" eaLnBrk="0">
                        <a:lnSpc>
                          <a:spcPct val="99000"/>
                        </a:lnSpc>
                        <a:spcBef>
                          <a:spcPts val="363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8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indent="-635" algn="l" rtl="0" eaLnBrk="0">
                        <a:lnSpc>
                          <a:spcPct val="101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全栈AI内容风控能力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、500w+代答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知识库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、开箱即用安全方案等优势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能力，护航企业AI创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0800" algn="l" rtl="0" eaLnBrk="0">
                        <a:lnSpc>
                          <a:spcPct val="97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基于深度学习的多模态AI引擎可实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现毫秒级响应，支持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高并发处理与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全流程风控闭环，并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满足金融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、政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务等高端行业合规需求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5880" algn="l" rtl="0" eaLnBrk="0">
                        <a:lnSpc>
                          <a:spcPct val="105000"/>
                        </a:lnSpc>
                        <a:spcBef>
                          <a:spcPts val="89"/>
                        </a:spcBef>
                        <a:tabLst/>
                      </a:pP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https://dun.163.com/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6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indent="-63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全栈式智能内容审核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与业务风控解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决方案，利用人工智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能技术实时过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滤UGC内容中的违规信息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1435" indent="-1270" algn="l" rtl="0" eaLnBrk="0">
                        <a:lnSpc>
                          <a:spcPct val="96000"/>
                        </a:lnSpc>
                        <a:spcBef>
                          <a:spcPts val="29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对线上黑灰产行为有深入对抗经验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能有效识别各类变体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、隐藏式违规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内容，并提供AI机审与人工复审相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结合的服务体系，广泛应用于社交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直播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、游戏等强互动业务场景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5880" algn="l" rtl="0" eaLnBrk="0">
                        <a:lnSpc>
                          <a:spcPct val="105000"/>
                        </a:lnSpc>
                        <a:spcBef>
                          <a:spcPts val="83"/>
                        </a:spcBef>
                        <a:tabLst/>
                      </a:pP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https://www.ishumei.com/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6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" indent="635" algn="l" rtl="0" eaLnBrk="0">
                        <a:lnSpc>
                          <a:spcPct val="10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基于AI+大数据的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下一代网络安全监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测治理平台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。全生命周期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、持续性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多维度监测的新一代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云监测产品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8894" indent="5714" algn="l" rtl="0" eaLnBrk="0">
                        <a:lnSpc>
                          <a:spcPct val="97000"/>
                        </a:lnSpc>
                        <a:spcBef>
                          <a:spcPts val="97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为客户提供业务系统漏洞监测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、可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用性监测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、SSL监测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、安全事件监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、内容合规监测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、业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务系统资产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发现等多项监测能力,帮助客户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全面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掌握业务系统风险态势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5880" algn="l" rtl="0" eaLnBrk="0">
                        <a:lnSpc>
                          <a:spcPct val="105000"/>
                        </a:lnSpc>
                        <a:spcBef>
                          <a:spcPts val="83"/>
                        </a:spcBef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https://www.knownsec.com/#/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6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indent="13334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阿里云盾内容安全是阿里云提供的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AI智能内容审核A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PI服务，支持对文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、图片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、视频等多种内容进行多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、多语言的合规检测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1125" algn="l" rtl="0" eaLnBrk="0">
                        <a:lnSpc>
                          <a:spcPct val="96000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其功能涵盖色情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、暴恐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、涉政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、广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、辱骂等风险识别，依托阿里云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的计算资源，具备高可用性和可扩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展性，方便开发者快速集成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，为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类应用提供可靠的内容安全屏障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0489" indent="3810" algn="l" rtl="0" eaLnBrk="0">
                        <a:lnSpc>
                          <a:spcPct val="102000"/>
                        </a:lnSpc>
                        <a:spcBef>
                          <a:spcPts val="92"/>
                        </a:spcBef>
                        <a:tabLst/>
                      </a:pP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https://www.aliyu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n.com/product/</a:t>
                      </a:r>
                      <a:r>
                        <a:rPr sz="1200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security</a:t>
                      </a:r>
                      <a:r>
                        <a:rPr sz="1200" u="sng" kern="0" spc="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-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center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腾讯天御风控平台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09296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99000"/>
                        </a:lnSpc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99000"/>
                        </a:lnSpc>
                        <a:spcBef>
                          <a:spcPts val="366"/>
                        </a:spcBef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4" indent="-3175" algn="l" rtl="0" eaLnBrk="0">
                        <a:lnSpc>
                          <a:spcPct val="117000"/>
                        </a:lnSpc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于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 的 防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火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墙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 品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流量中的网页、脚本、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下载内容等多模态检测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10" indent="635" algn="l" rtl="0" eaLnBrk="0">
                        <a:lnSpc>
                          <a:spcPct val="117000"/>
                        </a:lnSpc>
                        <a:spcBef>
                          <a:spcPts val="726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适用于文本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、图像及网页脚本中的敏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感或违规内容识别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，适用于大型网络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环境中的内容合规需求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10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www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asiainfo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-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sec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com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4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366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indent="-5714" algn="l" rtl="0" eaLnBrk="0">
                        <a:lnSpc>
                          <a:spcPct val="12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AI识别文本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、图像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、音视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频等多种形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式的不良内容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，支持实时自动化识别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与拦截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080" algn="l" rtl="0" eaLnBrk="0">
                        <a:lnSpc>
                          <a:spcPct val="118000"/>
                        </a:lnSpc>
                        <a:spcBef>
                          <a:spcPts val="728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风控平台提供实时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、集中的一站式智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能风险管控服务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。打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通数据采集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、数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据清洗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、特征加工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、规则模型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顶层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场景的各个模块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，从而形成符合实际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风控场景的端到端服务平台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https://cloud.tencent.com/product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366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indent="-6350" algn="l" rtl="0" eaLnBrk="0">
                        <a:lnSpc>
                          <a:spcPct val="11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写作校对与合规审查智能产品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。它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不仅支持对纯文本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、图片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音频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、视频进行批量内容安全审查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350" algn="l" rtl="0" eaLnBrk="0">
                        <a:lnSpc>
                          <a:spcPct val="117000"/>
                        </a:lnSpc>
                        <a:spcBef>
                          <a:spcPts val="759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具备强大的文本纠错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，在节省人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工审核成本的同时提升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总体审核效率，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尤其适合媒体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、政务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等对文本质量要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求高的场景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9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zj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xfyun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cn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exam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text</a:t>
                      </a:r>
                      <a:r>
                        <a:rPr sz="1200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/?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life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363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indent="-7620" algn="l" rtl="0" eaLnBrk="0">
                        <a:lnSpc>
                          <a:spcPct val="105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AI生成内容检测与合规内容审核服务，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能够识别图像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、视频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、音频和文本中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的AI生成痕迹以及各类违规内容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5405" algn="l" rtl="0" eaLnBrk="0">
                        <a:lnSpc>
                          <a:spcPct val="88000"/>
                        </a:lnSpc>
                        <a:spcBef>
                          <a:spcPts val="24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其技术能够对内容进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行多标签分类，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3500" indent="2540" algn="l" rtl="0" eaLnBrk="0">
                        <a:lnSpc>
                          <a:spcPct val="94000"/>
                        </a:lnSpc>
                        <a:spcBef>
                          <a:spcPts val="11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帮助社交媒体平台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教育机构等用户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对UGC内容进行标记和过滤，维护平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台环境安全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9214" algn="l" rtl="0" eaLnBrk="0">
                        <a:lnSpc>
                          <a:spcPct val="105000"/>
                        </a:lnSpc>
                        <a:spcBef>
                          <a:spcPts val="92"/>
                        </a:spcBef>
                        <a:tabLst/>
                      </a:pP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1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https://hivemoderation.com</a:t>
                      </a:r>
                      <a:r>
                        <a:rPr sz="12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1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10922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125000"/>
                        </a:lnSpc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</a:t>
                      </a:r>
                      <a:r>
                        <a:rPr sz="1200" u="sng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53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ct val="10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/rcp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438" name="picture 14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008719" y="5891479"/>
            <a:ext cx="122987" cy="168859"/>
          </a:xfrm>
          <a:prstGeom prst="rect">
            <a:avLst/>
          </a:prstGeom>
        </p:spPr>
      </p:pic>
      <p:pic>
        <p:nvPicPr>
          <p:cNvPr id="1440" name="picture 14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008719" y="5159959"/>
            <a:ext cx="122987" cy="168859"/>
          </a:xfrm>
          <a:prstGeom prst="rect">
            <a:avLst/>
          </a:prstGeom>
        </p:spPr>
      </p:pic>
      <p:pic>
        <p:nvPicPr>
          <p:cNvPr id="1442" name="picture 14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008719" y="4611319"/>
            <a:ext cx="122987" cy="168859"/>
          </a:xfrm>
          <a:prstGeom prst="rect">
            <a:avLst/>
          </a:prstGeom>
        </p:spPr>
      </p:pic>
      <p:pic>
        <p:nvPicPr>
          <p:cNvPr id="1444" name="picture 14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128994" y="5997524"/>
            <a:ext cx="122986" cy="168859"/>
          </a:xfrm>
          <a:prstGeom prst="rect">
            <a:avLst/>
          </a:prstGeom>
        </p:spPr>
      </p:pic>
      <p:pic>
        <p:nvPicPr>
          <p:cNvPr id="1446" name="picture 14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128994" y="5045024"/>
            <a:ext cx="122986" cy="168859"/>
          </a:xfrm>
          <a:prstGeom prst="rect">
            <a:avLst/>
          </a:prstGeom>
        </p:spPr>
      </p:pic>
      <p:pic>
        <p:nvPicPr>
          <p:cNvPr id="1448" name="picture 14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128994" y="4311599"/>
            <a:ext cx="122986" cy="168859"/>
          </a:xfrm>
          <a:prstGeom prst="rect">
            <a:avLst/>
          </a:prstGeom>
        </p:spPr>
      </p:pic>
      <p:pic>
        <p:nvPicPr>
          <p:cNvPr id="1450" name="picture 14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248634" y="6106744"/>
            <a:ext cx="122986" cy="168859"/>
          </a:xfrm>
          <a:prstGeom prst="rect">
            <a:avLst/>
          </a:prstGeom>
        </p:spPr>
      </p:pic>
      <p:pic>
        <p:nvPicPr>
          <p:cNvPr id="1452" name="picture 145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248634" y="4935169"/>
            <a:ext cx="122986" cy="168859"/>
          </a:xfrm>
          <a:prstGeom prst="rect">
            <a:avLst/>
          </a:prstGeom>
        </p:spPr>
      </p:pic>
      <p:pic>
        <p:nvPicPr>
          <p:cNvPr id="1454" name="picture 145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248634" y="4201744"/>
            <a:ext cx="122986" cy="168859"/>
          </a:xfrm>
          <a:prstGeom prst="rect">
            <a:avLst/>
          </a:prstGeom>
        </p:spPr>
      </p:pic>
      <p:pic>
        <p:nvPicPr>
          <p:cNvPr id="1456" name="picture 145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68909" y="5997524"/>
            <a:ext cx="122986" cy="168859"/>
          </a:xfrm>
          <a:prstGeom prst="rect">
            <a:avLst/>
          </a:prstGeom>
        </p:spPr>
      </p:pic>
      <p:pic>
        <p:nvPicPr>
          <p:cNvPr id="1458" name="picture 145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68909" y="5264099"/>
            <a:ext cx="122986" cy="168859"/>
          </a:xfrm>
          <a:prstGeom prst="rect">
            <a:avLst/>
          </a:prstGeom>
        </p:spPr>
      </p:pic>
      <p:pic>
        <p:nvPicPr>
          <p:cNvPr id="1460" name="picture 146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68909" y="4530674"/>
            <a:ext cx="122986" cy="168859"/>
          </a:xfrm>
          <a:prstGeom prst="rect">
            <a:avLst/>
          </a:prstGeom>
        </p:spPr>
      </p:pic>
      <p:pic>
        <p:nvPicPr>
          <p:cNvPr id="1462" name="picture 146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054439" y="3054299"/>
            <a:ext cx="122987" cy="168859"/>
          </a:xfrm>
          <a:prstGeom prst="rect">
            <a:avLst/>
          </a:prstGeom>
        </p:spPr>
      </p:pic>
      <p:pic>
        <p:nvPicPr>
          <p:cNvPr id="1464" name="picture 146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054439" y="2139899"/>
            <a:ext cx="122987" cy="168859"/>
          </a:xfrm>
          <a:prstGeom prst="rect">
            <a:avLst/>
          </a:prstGeom>
        </p:spPr>
      </p:pic>
      <p:pic>
        <p:nvPicPr>
          <p:cNvPr id="1466" name="picture 146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054439" y="1408379"/>
            <a:ext cx="122987" cy="168859"/>
          </a:xfrm>
          <a:prstGeom prst="rect">
            <a:avLst/>
          </a:prstGeom>
        </p:spPr>
      </p:pic>
      <p:pic>
        <p:nvPicPr>
          <p:cNvPr id="1468" name="picture 146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174714" y="3054299"/>
            <a:ext cx="122986" cy="168859"/>
          </a:xfrm>
          <a:prstGeom prst="rect">
            <a:avLst/>
          </a:prstGeom>
        </p:spPr>
      </p:pic>
      <p:pic>
        <p:nvPicPr>
          <p:cNvPr id="1470" name="picture 147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174714" y="2139899"/>
            <a:ext cx="122986" cy="168859"/>
          </a:xfrm>
          <a:prstGeom prst="rect">
            <a:avLst/>
          </a:prstGeom>
        </p:spPr>
      </p:pic>
      <p:pic>
        <p:nvPicPr>
          <p:cNvPr id="1472" name="picture 147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174714" y="1591259"/>
            <a:ext cx="122986" cy="168859"/>
          </a:xfrm>
          <a:prstGeom prst="rect">
            <a:avLst/>
          </a:prstGeom>
        </p:spPr>
      </p:pic>
      <p:pic>
        <p:nvPicPr>
          <p:cNvPr id="1474" name="picture 147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3294354" y="3054299"/>
            <a:ext cx="122986" cy="168859"/>
          </a:xfrm>
          <a:prstGeom prst="rect">
            <a:avLst/>
          </a:prstGeom>
        </p:spPr>
      </p:pic>
      <p:pic>
        <p:nvPicPr>
          <p:cNvPr id="1476" name="picture 147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3294354" y="2139899"/>
            <a:ext cx="122986" cy="168859"/>
          </a:xfrm>
          <a:prstGeom prst="rect">
            <a:avLst/>
          </a:prstGeom>
        </p:spPr>
      </p:pic>
      <p:pic>
        <p:nvPicPr>
          <p:cNvPr id="1478" name="picture 147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3294354" y="1591259"/>
            <a:ext cx="122986" cy="168859"/>
          </a:xfrm>
          <a:prstGeom prst="rect">
            <a:avLst/>
          </a:prstGeom>
        </p:spPr>
      </p:pic>
      <p:pic>
        <p:nvPicPr>
          <p:cNvPr id="1480" name="picture 148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414629" y="2962859"/>
            <a:ext cx="122986" cy="168859"/>
          </a:xfrm>
          <a:prstGeom prst="rect">
            <a:avLst/>
          </a:prstGeom>
        </p:spPr>
      </p:pic>
      <p:pic>
        <p:nvPicPr>
          <p:cNvPr id="1482" name="picture 148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414629" y="2231338"/>
            <a:ext cx="122986" cy="168859"/>
          </a:xfrm>
          <a:prstGeom prst="rect">
            <a:avLst/>
          </a:prstGeom>
        </p:spPr>
      </p:pic>
      <p:pic>
        <p:nvPicPr>
          <p:cNvPr id="1484" name="picture 148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414629" y="1682699"/>
            <a:ext cx="122986" cy="168859"/>
          </a:xfrm>
          <a:prstGeom prst="rect">
            <a:avLst/>
          </a:prstGeom>
        </p:spPr>
      </p:pic>
      <p:sp>
        <p:nvSpPr>
          <p:cNvPr id="1486" name="textbox 1486"/>
          <p:cNvSpPr/>
          <p:nvPr/>
        </p:nvSpPr>
        <p:spPr>
          <a:xfrm>
            <a:off x="80386" y="-36820"/>
            <a:ext cx="382714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7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内容审核工具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88" name="picture 148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9165335" y="3662171"/>
            <a:ext cx="2485644" cy="318516"/>
          </a:xfrm>
          <a:prstGeom prst="rect">
            <a:avLst/>
          </a:prstGeom>
        </p:spPr>
      </p:pic>
      <p:pic>
        <p:nvPicPr>
          <p:cNvPr id="1490" name="picture 149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1046988" y="3584447"/>
            <a:ext cx="1508760" cy="472440"/>
          </a:xfrm>
          <a:prstGeom prst="rect">
            <a:avLst/>
          </a:prstGeom>
        </p:spPr>
      </p:pic>
      <p:pic>
        <p:nvPicPr>
          <p:cNvPr id="1492" name="picture 149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6728459" y="3624071"/>
            <a:ext cx="1578864" cy="393191"/>
          </a:xfrm>
          <a:prstGeom prst="rect">
            <a:avLst/>
          </a:prstGeom>
        </p:spPr>
      </p:pic>
      <p:pic>
        <p:nvPicPr>
          <p:cNvPr id="1494" name="picture 149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6886956" y="790955"/>
            <a:ext cx="1310640" cy="426720"/>
          </a:xfrm>
          <a:prstGeom prst="rect">
            <a:avLst/>
          </a:prstGeom>
        </p:spPr>
      </p:pic>
      <p:pic>
        <p:nvPicPr>
          <p:cNvPr id="1496" name="picture 149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1214627" y="819911"/>
            <a:ext cx="1171955" cy="370332"/>
          </a:xfrm>
          <a:prstGeom prst="rect">
            <a:avLst/>
          </a:prstGeom>
        </p:spPr>
      </p:pic>
      <p:pic>
        <p:nvPicPr>
          <p:cNvPr id="1498" name="picture 149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4261103" y="787907"/>
            <a:ext cx="967739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picture 15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graphicFrame>
        <p:nvGraphicFramePr>
          <p:cNvPr id="1502" name="table 1502"/>
          <p:cNvGraphicFramePr>
            <a:graphicFrameLocks noGrp="1"/>
          </p:cNvGraphicFramePr>
          <p:nvPr/>
        </p:nvGraphicFramePr>
        <p:xfrm>
          <a:off x="304038" y="732434"/>
          <a:ext cx="11532234" cy="5926454"/>
        </p:xfrm>
        <a:graphic>
          <a:graphicData uri="http://schemas.openxmlformats.org/drawingml/2006/table">
            <a:tbl>
              <a:tblPr/>
              <a:tblGrid>
                <a:gridCol w="2886075"/>
                <a:gridCol w="272415"/>
                <a:gridCol w="2607310"/>
                <a:gridCol w="331470"/>
                <a:gridCol w="2548255"/>
                <a:gridCol w="2886710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1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689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深信服安全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2299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6715" indent="-276225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青藤发布L4级无相AI，革新网络安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全运营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，实现秒级安全报告生成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精准还原攻击链路，提升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分析效率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与准确性，助力企业应对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复杂网络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威胁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7984" indent="-277495" algn="l" rtl="0" eaLnBrk="0">
                        <a:lnSpc>
                          <a:spcPct val="96000"/>
                        </a:lnSpc>
                        <a:spcBef>
                          <a:spcPts val="232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通过自动化防守体系，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使安全团队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从告警处理中解脱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，专注于更具战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略性的业务评估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、体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系建设和安全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0489" algn="l" rtl="0" eaLnBrk="0">
                        <a:lnSpc>
                          <a:spcPct val="104000"/>
                        </a:lnSpc>
                        <a:spcBef>
                          <a:spcPts val="97"/>
                        </a:spcBef>
                        <a:tabLst>
                          <a:tab pos="23304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https://qingten</a:t>
                      </a:r>
                      <a:r>
                        <a:rPr sz="1200" u="sng" kern="0" spc="-3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g.cn/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1455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669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indent="6985" algn="l" rtl="0" eaLnBrk="0">
                        <a:lnSpc>
                          <a:spcPct val="9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国内首个企业级安全GPT云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端大模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，完全自研保障数据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安全可控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8585" indent="1905" algn="l" rtl="0" eaLnBrk="0">
                        <a:lnSpc>
                          <a:spcPct val="97000"/>
                        </a:lnSpc>
                        <a:spcBef>
                          <a:spcPts val="128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赋能流量未知威胁检测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、钓鱼邮件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、智能告警降噪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、事件自动化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研判闭环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、数据分类分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级与风险监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测等工作，秒级闭环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、百倍提效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赋能组织对抗外部强敌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4935" algn="l" rtl="0" eaLnBrk="0">
                        <a:lnSpc>
                          <a:spcPct val="104000"/>
                        </a:lnSpc>
                        <a:spcBef>
                          <a:spcPts val="96"/>
                        </a:spcBef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https://www.security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gpt.com.cn/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spcBef>
                          <a:spcPts val="363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indent="952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国产Web应用防护，采用智能语义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分析引擎防御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注入</a:t>
                      </a:r>
                      <a:r>
                        <a:rPr sz="12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XSS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0165" indent="-3175" algn="l" rtl="0" eaLnBrk="0">
                        <a:lnSpc>
                          <a:spcPct val="97000"/>
                        </a:lnSpc>
                        <a:spcBef>
                          <a:spcPts val="10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攻击，检出率76.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17%，误报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率仅0.22%，支持动态防护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、人机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0165" indent="1905" algn="l" rtl="0" eaLnBrk="0">
                        <a:lnSpc>
                          <a:spcPct val="94000"/>
                        </a:lnSpc>
                        <a:spcBef>
                          <a:spcPts val="285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语义分析算法，有效保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卫网站安全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突破传统规则算法的极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限，精准检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、低误报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、难绕过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6514" algn="l" rtl="0" eaLnBrk="0">
                        <a:lnSpc>
                          <a:spcPct val="97000"/>
                        </a:lnSpc>
                        <a:spcBef>
                          <a:spcPts val="27"/>
                        </a:spcBef>
                        <a:tabLst/>
                      </a:pP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https://github.com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/chaitin/SafeLi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6079" indent="-281304" algn="l" rtl="0" eaLnBrk="0">
                        <a:lnSpc>
                          <a:spcPct val="95000"/>
                        </a:lnSpc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基于零信任架构，通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过云原生平台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实现多层次安全防护，核心产品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270" indent="1270" algn="l" rtl="0" eaLnBrk="0">
                        <a:lnSpc>
                          <a:spcPct val="101000"/>
                        </a:lnSpc>
                        <a:spcBef>
                          <a:spcPts val="1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Zero Trust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Exchange支持实时分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析与AI驱动的威胁检测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2270" indent="-277495" algn="l" rtl="0" eaLnBrk="0">
                        <a:lnSpc>
                          <a:spcPct val="98000"/>
                        </a:lnSpc>
                        <a:spcBef>
                          <a:spcPts val="11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利用AI技术预测漏洞</a:t>
                      </a:r>
                      <a:r>
                        <a:rPr sz="1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、主动狩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猎威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胁，通过AI驱动的数据安全分类技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术，像人一样识别200多个类别的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敏感数据，并增强了对Ge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nAI应用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的可见性和控制力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775" algn="l" rtl="0" eaLnBrk="0">
                        <a:lnSpc>
                          <a:spcPct val="105000"/>
                        </a:lnSpc>
                        <a:spcBef>
                          <a:spcPts val="92"/>
                        </a:spcBef>
                        <a:tabLst>
                          <a:tab pos="227329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6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www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zscaler</a:t>
                      </a:r>
                      <a:r>
                        <a:rPr sz="1200" u="sng" kern="0" spc="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59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600" kern="0" spc="-450" dirty="0">
                          <a:solidFill>
                            <a:srgbClr val="5C07E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令sentinel</a:t>
                      </a:r>
                      <a:r>
                        <a:rPr sz="3600" kern="0" spc="-870" dirty="0">
                          <a:solidFill>
                            <a:srgbClr val="5C07E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3600" kern="0" spc="-450" dirty="0">
                          <a:solidFill>
                            <a:srgbClr val="5C07E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3600" kern="0" spc="-460" dirty="0">
                          <a:solidFill>
                            <a:srgbClr val="5C07E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</a:t>
                      </a:r>
                      <a:endParaRPr sz="3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ts val="254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Crowd</a:t>
                      </a:r>
                      <a:r>
                        <a:rPr sz="2000" b="1" kern="0" spc="-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Strike</a:t>
                      </a:r>
                      <a:r>
                        <a:rPr sz="20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Falcon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29298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indent="-278129" algn="l" rtl="0" eaLnBrk="0">
                        <a:lnSpc>
                          <a:spcPct val="114000"/>
                        </a:lnSpc>
                        <a:spcBef>
                          <a:spcPts val="1"/>
                        </a:spcBef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Sentinel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One</a:t>
                      </a:r>
                      <a:r>
                        <a:rPr sz="12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SecurityAI</a:t>
                      </a: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全产品组合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，保护企业免受生成式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应用带来的数据安全风险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0995" indent="-276225" algn="l" rtl="0" eaLnBrk="0">
                        <a:lnSpc>
                          <a:spcPct val="118000"/>
                        </a:lnSpc>
                        <a:spcBef>
                          <a:spcPts val="547"/>
                        </a:spcBef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专门针对生成式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GenAI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应用的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能防止员工在使用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工具时造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成数据暴露，支持超15,000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种AI服务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105000"/>
                        </a:lnSpc>
                        <a:tabLst>
                          <a:tab pos="187325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5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https://www.sentinelone.com/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363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19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>
                          <a:tab pos="180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indent="-3810" algn="l" rtl="0" eaLnBrk="0">
                        <a:lnSpc>
                          <a:spcPct val="117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Guardian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包括两款新产品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，用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于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补充其现有的专注于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DSPM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（数据安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全态势管理）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DLP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（数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据防泄露）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的数据安全产品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4769" indent="-1905" algn="l" rtl="0" eaLnBrk="0">
                        <a:lnSpc>
                          <a:spcPct val="118000"/>
                        </a:lnSpc>
                        <a:spcBef>
                          <a:spcPts val="545"/>
                        </a:spcBef>
                        <a:tabLst/>
                      </a:pP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提供细粒度的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资产清单和实时风险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监控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，其核心像一个“AI大脑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”，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协同防护AI数据风险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104000"/>
                        </a:lnSpc>
                        <a:tabLst/>
                      </a:pP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https://www.cyera.com/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99000"/>
                        </a:lnSpc>
                        <a:spcBef>
                          <a:spcPts val="363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99000"/>
                        </a:lnSpc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	</a:t>
                      </a:r>
                      <a:endParaRPr sz="12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indent="1270" algn="l" rtl="0" eaLnBrk="0">
                        <a:lnSpc>
                          <a:spcPct val="11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用于构建和管理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安全智能体，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自动化调查和修复未知威胁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，并为安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全运营中心（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）分析师提供推理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和规划支持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080" algn="l" rtl="0" eaLnBrk="0">
                        <a:lnSpc>
                          <a:spcPct val="115000"/>
                        </a:lnSpc>
                        <a:spcBef>
                          <a:spcPts val="645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通过自动化分类和引导式操作,可在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分钟内解决威胁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。借助1万多项检测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和2600多项分析模型,发现每一种威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胁</a:t>
                      </a:r>
                      <a:r>
                        <a:rPr sz="1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。通过整合工具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自动化任务并提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升效率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://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www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paloaltonetworks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.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cn</a:t>
                      </a:r>
                      <a:r>
                        <a:rPr sz="1200" kern="0" spc="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820" indent="-278765" algn="l" rtl="0" eaLnBrk="0">
                        <a:lnSpc>
                          <a:spcPct val="115000"/>
                        </a:lnSpc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CrowdStrike 公司开发的统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一云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交付端点安全平台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，专注于通过人工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智能和机器学习技术实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现下一代防病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毒</a:t>
                      </a:r>
                      <a:r>
                        <a:rPr sz="12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、威胁检测与响应等功能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184" indent="-278129" algn="l" rtl="0" eaLnBrk="0">
                        <a:lnSpc>
                          <a:spcPct val="117000"/>
                        </a:lnSpc>
                        <a:spcBef>
                          <a:spcPts val="549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集成了AI智能体的安全平台，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旨在通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过统一的企业图谱和“AI就绪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”数据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，为安全团队提供高度自主的威胁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分析与响应能力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，显著提升处理效率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1629" indent="-282575" algn="l" rtl="0" eaLnBrk="0">
                        <a:lnSpc>
                          <a:spcPct val="112000"/>
                        </a:lnSpc>
                        <a:spcBef>
                          <a:spcPts val="2"/>
                        </a:spcBef>
                        <a:tabLst>
                          <a:tab pos="181610" algn="l"/>
                        </a:tabLst>
                      </a:pP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4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u="sng" kern="0" spc="-28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https://www.crowdstr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026E5"/>
                                <wpsdc:folHlinkClr xmlns:wpsdc="http://www.wps.cn/officeDocument/2017/drawingmlCustomData" val="0026E5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ike.com/en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200" kern="0" spc="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u="sng" kern="0" spc="-1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us/platform/cloud-security/</a:t>
                      </a: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cwpp/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</a:tr>
              <a:tr h="290829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algn="l" rtl="0" eaLnBrk="0">
                        <a:lnSpc>
                          <a:spcPct val="115000"/>
                        </a:lnSpc>
                        <a:tabLst/>
                      </a:pPr>
                      <a:r>
                        <a:rPr sz="1200" u="sng" kern="0" spc="-20" dirty="0">
                          <a:solidFill>
                            <a:srgbClr val="0026E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cortex/cloud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04" name="picture 150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008719" y="6087694"/>
            <a:ext cx="122987" cy="168859"/>
          </a:xfrm>
          <a:prstGeom prst="rect">
            <a:avLst/>
          </a:prstGeom>
        </p:spPr>
      </p:pic>
      <p:pic>
        <p:nvPicPr>
          <p:cNvPr id="1506" name="picture 15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008719" y="5173294"/>
            <a:ext cx="122987" cy="168859"/>
          </a:xfrm>
          <a:prstGeom prst="rect">
            <a:avLst/>
          </a:prstGeom>
        </p:spPr>
      </p:pic>
      <p:pic>
        <p:nvPicPr>
          <p:cNvPr id="1508" name="picture 150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008719" y="4258894"/>
            <a:ext cx="122987" cy="168859"/>
          </a:xfrm>
          <a:prstGeom prst="rect">
            <a:avLst/>
          </a:prstGeom>
        </p:spPr>
      </p:pic>
      <p:pic>
        <p:nvPicPr>
          <p:cNvPr id="1510" name="picture 15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128994" y="6197549"/>
            <a:ext cx="122986" cy="168859"/>
          </a:xfrm>
          <a:prstGeom prst="rect">
            <a:avLst/>
          </a:prstGeom>
        </p:spPr>
      </p:pic>
      <p:pic>
        <p:nvPicPr>
          <p:cNvPr id="1512" name="picture 15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128994" y="5064074"/>
            <a:ext cx="122986" cy="168859"/>
          </a:xfrm>
          <a:prstGeom prst="rect">
            <a:avLst/>
          </a:prstGeom>
        </p:spPr>
      </p:pic>
      <p:pic>
        <p:nvPicPr>
          <p:cNvPr id="1514" name="picture 15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128994" y="4149674"/>
            <a:ext cx="122986" cy="168859"/>
          </a:xfrm>
          <a:prstGeom prst="rect">
            <a:avLst/>
          </a:prstGeom>
        </p:spPr>
      </p:pic>
      <p:pic>
        <p:nvPicPr>
          <p:cNvPr id="1516" name="picture 15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248634" y="6087694"/>
            <a:ext cx="122986" cy="168859"/>
          </a:xfrm>
          <a:prstGeom prst="rect">
            <a:avLst/>
          </a:prstGeom>
        </p:spPr>
      </p:pic>
      <p:pic>
        <p:nvPicPr>
          <p:cNvPr id="1518" name="picture 15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248634" y="5392369"/>
            <a:ext cx="122986" cy="168859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248634" y="4477969"/>
            <a:ext cx="122986" cy="168859"/>
          </a:xfrm>
          <a:prstGeom prst="rect">
            <a:avLst/>
          </a:prstGeom>
        </p:spPr>
      </p:pic>
      <p:pic>
        <p:nvPicPr>
          <p:cNvPr id="1522" name="picture 15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68909" y="5978474"/>
            <a:ext cx="122986" cy="168859"/>
          </a:xfrm>
          <a:prstGeom prst="rect">
            <a:avLst/>
          </a:prstGeom>
        </p:spPr>
      </p:pic>
      <p:pic>
        <p:nvPicPr>
          <p:cNvPr id="1524" name="picture 15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68909" y="5283149"/>
            <a:ext cx="122986" cy="168859"/>
          </a:xfrm>
          <a:prstGeom prst="rect">
            <a:avLst/>
          </a:prstGeom>
        </p:spPr>
      </p:pic>
      <p:pic>
        <p:nvPicPr>
          <p:cNvPr id="1526" name="picture 15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68909" y="4587824"/>
            <a:ext cx="122986" cy="168859"/>
          </a:xfrm>
          <a:prstGeom prst="rect">
            <a:avLst/>
          </a:prstGeom>
        </p:spPr>
      </p:pic>
      <p:pic>
        <p:nvPicPr>
          <p:cNvPr id="1528" name="picture 15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054439" y="3145739"/>
            <a:ext cx="122987" cy="168859"/>
          </a:xfrm>
          <a:prstGeom prst="rect">
            <a:avLst/>
          </a:prstGeom>
        </p:spPr>
      </p:pic>
      <p:pic>
        <p:nvPicPr>
          <p:cNvPr id="1530" name="picture 153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054439" y="2236418"/>
            <a:ext cx="122987" cy="167889"/>
          </a:xfrm>
          <a:prstGeom prst="rect">
            <a:avLst/>
          </a:prstGeom>
        </p:spPr>
      </p:pic>
      <p:pic>
        <p:nvPicPr>
          <p:cNvPr id="1532" name="picture 153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054439" y="1499819"/>
            <a:ext cx="122987" cy="168859"/>
          </a:xfrm>
          <a:prstGeom prst="rect">
            <a:avLst/>
          </a:prstGeom>
        </p:spPr>
      </p:pic>
      <p:pic>
        <p:nvPicPr>
          <p:cNvPr id="1534" name="picture 153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174714" y="2962859"/>
            <a:ext cx="122986" cy="168859"/>
          </a:xfrm>
          <a:prstGeom prst="rect">
            <a:avLst/>
          </a:prstGeom>
        </p:spPr>
      </p:pic>
      <p:pic>
        <p:nvPicPr>
          <p:cNvPr id="1536" name="picture 153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174714" y="2414219"/>
            <a:ext cx="122986" cy="168859"/>
          </a:xfrm>
          <a:prstGeom prst="rect">
            <a:avLst/>
          </a:prstGeom>
        </p:spPr>
      </p:pic>
      <p:pic>
        <p:nvPicPr>
          <p:cNvPr id="1538" name="picture 153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174714" y="1499819"/>
            <a:ext cx="122986" cy="168859"/>
          </a:xfrm>
          <a:prstGeom prst="rect">
            <a:avLst/>
          </a:prstGeom>
        </p:spPr>
      </p:pic>
      <p:pic>
        <p:nvPicPr>
          <p:cNvPr id="1540" name="picture 154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3294354" y="2962859"/>
            <a:ext cx="122986" cy="168859"/>
          </a:xfrm>
          <a:prstGeom prst="rect">
            <a:avLst/>
          </a:prstGeom>
        </p:spPr>
      </p:pic>
      <p:pic>
        <p:nvPicPr>
          <p:cNvPr id="1542" name="picture 154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3294354" y="2048459"/>
            <a:ext cx="122986" cy="168859"/>
          </a:xfrm>
          <a:prstGeom prst="rect">
            <a:avLst/>
          </a:prstGeom>
        </p:spPr>
      </p:pic>
      <p:pic>
        <p:nvPicPr>
          <p:cNvPr id="1544" name="picture 154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3294354" y="1682699"/>
            <a:ext cx="122986" cy="168859"/>
          </a:xfrm>
          <a:prstGeom prst="rect">
            <a:avLst/>
          </a:prstGeom>
        </p:spPr>
      </p:pic>
      <p:pic>
        <p:nvPicPr>
          <p:cNvPr id="1546" name="picture 154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414629" y="3145739"/>
            <a:ext cx="122986" cy="168859"/>
          </a:xfrm>
          <a:prstGeom prst="rect">
            <a:avLst/>
          </a:prstGeom>
        </p:spPr>
      </p:pic>
      <p:pic>
        <p:nvPicPr>
          <p:cNvPr id="1548" name="picture 154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414629" y="2414219"/>
            <a:ext cx="122986" cy="168859"/>
          </a:xfrm>
          <a:prstGeom prst="rect">
            <a:avLst/>
          </a:prstGeom>
        </p:spPr>
      </p:pic>
      <p:pic>
        <p:nvPicPr>
          <p:cNvPr id="1550" name="picture 155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414629" y="1499819"/>
            <a:ext cx="122986" cy="168859"/>
          </a:xfrm>
          <a:prstGeom prst="rect">
            <a:avLst/>
          </a:prstGeom>
        </p:spPr>
      </p:pic>
      <p:sp>
        <p:nvSpPr>
          <p:cNvPr id="1552" name="textbox 1552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网络防护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54" name="picture 155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534911" y="775716"/>
            <a:ext cx="2144268" cy="457200"/>
          </a:xfrm>
          <a:prstGeom prst="rect">
            <a:avLst/>
          </a:prstGeom>
        </p:spPr>
      </p:pic>
      <p:pic>
        <p:nvPicPr>
          <p:cNvPr id="1556" name="picture 155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841247" y="794003"/>
            <a:ext cx="1917191" cy="425196"/>
          </a:xfrm>
          <a:prstGeom prst="rect">
            <a:avLst/>
          </a:prstGeom>
        </p:spPr>
      </p:pic>
      <p:pic>
        <p:nvPicPr>
          <p:cNvPr id="1558" name="picture 155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794759" y="3589020"/>
            <a:ext cx="1661159" cy="457200"/>
          </a:xfrm>
          <a:prstGeom prst="rect">
            <a:avLst/>
          </a:prstGeom>
        </p:spPr>
      </p:pic>
      <p:pic>
        <p:nvPicPr>
          <p:cNvPr id="1560" name="picture 156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9663684" y="822959"/>
            <a:ext cx="1539240" cy="396240"/>
          </a:xfrm>
          <a:prstGeom prst="rect">
            <a:avLst/>
          </a:prstGeom>
        </p:spPr>
      </p:pic>
      <p:pic>
        <p:nvPicPr>
          <p:cNvPr id="1562" name="picture 156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6810756" y="3627120"/>
            <a:ext cx="153924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picture 15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5759" y="851915"/>
            <a:ext cx="2700527" cy="291846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 rot="21600000">
            <a:off x="6213348" y="851915"/>
            <a:ext cx="2706624" cy="2900172"/>
            <a:chOff x="0" y="0"/>
            <a:chExt cx="2706624" cy="2900172"/>
          </a:xfrm>
        </p:grpSpPr>
        <p:pic>
          <p:nvPicPr>
            <p:cNvPr id="1566" name="picture 15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06624" cy="2900172"/>
            </a:xfrm>
            <a:prstGeom prst="rect">
              <a:avLst/>
            </a:prstGeom>
          </p:spPr>
        </p:pic>
        <p:sp>
          <p:nvSpPr>
            <p:cNvPr id="1568" name="textbox 1568"/>
            <p:cNvSpPr/>
            <p:nvPr/>
          </p:nvSpPr>
          <p:spPr>
            <a:xfrm>
              <a:off x="-12700" y="-12700"/>
              <a:ext cx="2732404" cy="29375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97205" indent="-287020" algn="l" rtl="0" eaLnBrk="0">
                <a:lnSpc>
                  <a:spcPct val="106000"/>
                </a:lnSpc>
                <a:spcBef>
                  <a:spcPts val="6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智能体平台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，具备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丰富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的插件和知识库生态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9584" indent="-279400" algn="l" rtl="0" eaLnBrk="0">
                <a:lnSpc>
                  <a:spcPct val="104000"/>
                </a:lnSpc>
                <a:spcBef>
                  <a:spcPts val="248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通过简单的拖拽和配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置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，就可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以创建多种智能体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，在语音对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话方面体验也不错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6859" algn="l" rtl="0" eaLnBrk="0">
                <a:lnSpc>
                  <a:spcPct val="105000"/>
                </a:lnSpc>
                <a:spcBef>
                  <a:spcPts val="276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用户无需编程经验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，通过平台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提供的可视化拖拽界面即可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快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速构建基于大语言模型的智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体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10184" algn="l" rtl="0" eaLnBrk="0">
                <a:lnSpc>
                  <a:spcPct val="105000"/>
                </a:lnSpc>
                <a:spcBef>
                  <a:spcPts val="106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://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coze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cn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570" name="picture 15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7713" y="2593899"/>
              <a:ext cx="122987" cy="168859"/>
            </a:xfrm>
            <a:prstGeom prst="rect">
              <a:avLst/>
            </a:prstGeom>
          </p:spPr>
        </p:pic>
        <p:pic>
          <p:nvPicPr>
            <p:cNvPr id="1572" name="picture 15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7713" y="1791258"/>
              <a:ext cx="122987" cy="168859"/>
            </a:xfrm>
            <a:prstGeom prst="rect">
              <a:avLst/>
            </a:prstGeom>
          </p:spPr>
        </p:pic>
        <p:pic>
          <p:nvPicPr>
            <p:cNvPr id="1574" name="picture 157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7713" y="1189278"/>
              <a:ext cx="122987" cy="168859"/>
            </a:xfrm>
            <a:prstGeom prst="rect">
              <a:avLst/>
            </a:prstGeom>
          </p:spPr>
        </p:pic>
        <p:pic>
          <p:nvPicPr>
            <p:cNvPr id="1576" name="picture 157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97713" y="787958"/>
              <a:ext cx="122987" cy="168859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 rot="21600000">
            <a:off x="3288791" y="851915"/>
            <a:ext cx="2705100" cy="2900172"/>
            <a:chOff x="0" y="0"/>
            <a:chExt cx="2705100" cy="2900172"/>
          </a:xfrm>
        </p:grpSpPr>
        <p:pic>
          <p:nvPicPr>
            <p:cNvPr id="1578" name="picture 157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705100" cy="2900172"/>
            </a:xfrm>
            <a:prstGeom prst="rect">
              <a:avLst/>
            </a:prstGeom>
          </p:spPr>
        </p:pic>
        <p:sp>
          <p:nvSpPr>
            <p:cNvPr id="1580" name="textbox 1580"/>
            <p:cNvSpPr/>
            <p:nvPr/>
          </p:nvSpPr>
          <p:spPr>
            <a:xfrm>
              <a:off x="-12700" y="-12700"/>
              <a:ext cx="2730500" cy="29375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5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33450" algn="l" rtl="0" eaLnBrk="0">
                <a:lnSpc>
                  <a:spcPct val="86000"/>
                </a:lnSpc>
                <a:tabLst/>
              </a:pPr>
              <a:r>
                <a:rPr sz="1500" b="1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沉思</a:t>
              </a:r>
              <a:r>
                <a:rPr sz="15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AutoGLM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044" indent="-278129" algn="l" rtl="0" eaLnBrk="0">
                <a:lnSpc>
                  <a:spcPct val="108000"/>
                </a:lnSpc>
                <a:spcBef>
                  <a:spcPts val="36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功能完整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，全程自动更能够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操作浏览器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，代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替人工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搜索，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自动阅读网页内容并总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315" indent="-279400" algn="l" rtl="0" eaLnBrk="0">
                <a:lnSpc>
                  <a:spcPct val="106000"/>
                </a:lnSpc>
                <a:spcBef>
                  <a:spcPts val="26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思考过程很有逻辑性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，并且能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实现对不同内容社区，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比如知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乎小红书的简单搜索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内容选择还有待提升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，且操作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常常陷入循环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8915" algn="l" rtl="0" eaLnBrk="0">
                <a:lnSpc>
                  <a:spcPct val="105000"/>
                </a:lnSpc>
                <a:spcBef>
                  <a:spcPts val="109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https://www.zhipuai.cn/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582" name="picture 158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6824" y="2593899"/>
              <a:ext cx="122986" cy="168859"/>
            </a:xfrm>
            <a:prstGeom prst="rect">
              <a:avLst/>
            </a:prstGeom>
          </p:spPr>
        </p:pic>
        <p:pic>
          <p:nvPicPr>
            <p:cNvPr id="1584" name="picture 158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6824" y="1590599"/>
              <a:ext cx="122986" cy="168859"/>
            </a:xfrm>
            <a:prstGeom prst="rect">
              <a:avLst/>
            </a:prstGeom>
          </p:spPr>
        </p:pic>
        <p:pic>
          <p:nvPicPr>
            <p:cNvPr id="1586" name="picture 158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6824" y="787958"/>
              <a:ext cx="122986" cy="168859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 rot="21600000">
            <a:off x="9140952" y="891539"/>
            <a:ext cx="2699004" cy="2857500"/>
            <a:chOff x="0" y="0"/>
            <a:chExt cx="2699004" cy="2857500"/>
          </a:xfrm>
        </p:grpSpPr>
        <p:pic>
          <p:nvPicPr>
            <p:cNvPr id="1588" name="picture 158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2699004" cy="2857500"/>
            </a:xfrm>
            <a:prstGeom prst="rect">
              <a:avLst/>
            </a:prstGeom>
          </p:spPr>
        </p:pic>
        <p:sp>
          <p:nvSpPr>
            <p:cNvPr id="1590" name="textbox 1590"/>
            <p:cNvSpPr/>
            <p:nvPr/>
          </p:nvSpPr>
          <p:spPr>
            <a:xfrm>
              <a:off x="-12700" y="-12700"/>
              <a:ext cx="2724785" cy="289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2600" indent="-276859" algn="l" rtl="0" eaLnBrk="0">
                <a:lnSpc>
                  <a:spcPct val="111000"/>
                </a:lnSpc>
                <a:spcBef>
                  <a:spcPts val="2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一款开源的工作流自动化平台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核心功能围绕“</a:t>
              </a:r>
              <a:r>
                <a:rPr sz="1200" kern="0" spc="-2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连接一切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、自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动化流程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、灵活扩展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”设计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7495" algn="l" rtl="0" eaLnBrk="0">
                <a:lnSpc>
                  <a:spcPct val="111000"/>
                </a:lnSpc>
                <a:spcBef>
                  <a:spcPts val="980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旨在帮助用户通过可视化界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可视化拖拽+低代码配置快速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构建复杂的自动化工作流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5740" algn="l" rtl="0" eaLnBrk="0">
                <a:lnSpc>
                  <a:spcPct val="105000"/>
                </a:lnSpc>
                <a:spcBef>
                  <a:spcPts val="3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https://n8ncn.io/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592" name="picture 159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3649" y="2230425"/>
              <a:ext cx="122987" cy="168859"/>
            </a:xfrm>
            <a:prstGeom prst="rect">
              <a:avLst/>
            </a:prstGeom>
          </p:spPr>
        </p:pic>
        <p:pic>
          <p:nvPicPr>
            <p:cNvPr id="1594" name="picture 159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3649" y="1497000"/>
              <a:ext cx="122987" cy="168859"/>
            </a:xfrm>
            <a:prstGeom prst="rect">
              <a:avLst/>
            </a:prstGeom>
          </p:spPr>
        </p:pic>
        <p:pic>
          <p:nvPicPr>
            <p:cNvPr id="1596" name="picture 159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3649" y="763575"/>
              <a:ext cx="122987" cy="168859"/>
            </a:xfrm>
            <a:prstGeom prst="rect">
              <a:avLst/>
            </a:prstGeom>
          </p:spPr>
        </p:pic>
      </p:grpSp>
      <p:pic>
        <p:nvPicPr>
          <p:cNvPr id="1598" name="picture 159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213348" y="3912107"/>
            <a:ext cx="2706624" cy="2827019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3288791" y="3912107"/>
            <a:ext cx="2705100" cy="2827019"/>
            <a:chOff x="0" y="0"/>
            <a:chExt cx="2705100" cy="2827019"/>
          </a:xfrm>
        </p:grpSpPr>
        <p:pic>
          <p:nvPicPr>
            <p:cNvPr id="1600" name="picture 160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2705100" cy="2827019"/>
            </a:xfrm>
            <a:prstGeom prst="rect">
              <a:avLst/>
            </a:prstGeom>
          </p:spPr>
        </p:pic>
        <p:sp>
          <p:nvSpPr>
            <p:cNvPr id="1602" name="textbox 1602"/>
            <p:cNvSpPr/>
            <p:nvPr/>
          </p:nvSpPr>
          <p:spPr>
            <a:xfrm>
              <a:off x="-12700" y="-12700"/>
              <a:ext cx="2730500" cy="2863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6409" indent="-277495" algn="l" rtl="0" eaLnBrk="0">
                <a:lnSpc>
                  <a:spcPct val="106000"/>
                </a:lnSpc>
                <a:spcBef>
                  <a:spcPts val="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能力和产品本身的交互体验来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看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，确实有独特之处，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比如会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把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的某些操作过程展示给你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765" algn="l" rtl="0" eaLnBrk="0">
                <a:lnSpc>
                  <a:spcPct val="108000"/>
                </a:lnSpc>
                <a:spcBef>
                  <a:spcPts val="39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如果把幻觉率和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token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成本降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下来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，可能会成为年轻人的第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一款agent的工具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8915" algn="l" rtl="0" eaLnBrk="0">
                <a:lnSpc>
                  <a:spcPct val="105000"/>
                </a:lnSpc>
                <a:spcBef>
                  <a:spcPts val="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https://manus.im/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04" name="picture 160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6824" y="2258491"/>
              <a:ext cx="122986" cy="168859"/>
            </a:xfrm>
            <a:prstGeom prst="rect">
              <a:avLst/>
            </a:prstGeom>
          </p:spPr>
        </p:pic>
        <p:pic>
          <p:nvPicPr>
            <p:cNvPr id="1606" name="picture 1606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6824" y="1618412"/>
              <a:ext cx="122986" cy="168859"/>
            </a:xfrm>
            <a:prstGeom prst="rect">
              <a:avLst/>
            </a:prstGeom>
          </p:spPr>
        </p:pic>
        <p:pic>
          <p:nvPicPr>
            <p:cNvPr id="1608" name="picture 160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6824" y="777671"/>
              <a:ext cx="122986" cy="168859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 rot="21600000">
            <a:off x="9140952" y="3912107"/>
            <a:ext cx="2699004" cy="2823971"/>
            <a:chOff x="0" y="0"/>
            <a:chExt cx="2699004" cy="2823971"/>
          </a:xfrm>
        </p:grpSpPr>
        <p:pic>
          <p:nvPicPr>
            <p:cNvPr id="1610" name="picture 161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0" y="303276"/>
              <a:ext cx="2699004" cy="2520695"/>
            </a:xfrm>
            <a:prstGeom prst="rect">
              <a:avLst/>
            </a:prstGeom>
          </p:spPr>
        </p:pic>
        <p:sp>
          <p:nvSpPr>
            <p:cNvPr id="1612" name="textbox 1612"/>
            <p:cNvSpPr/>
            <p:nvPr/>
          </p:nvSpPr>
          <p:spPr>
            <a:xfrm>
              <a:off x="-12700" y="-12700"/>
              <a:ext cx="2724785" cy="28600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67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5800" algn="l" rtl="0" eaLnBrk="0">
                <a:lnSpc>
                  <a:spcPct val="84000"/>
                </a:lnSpc>
                <a:tabLst/>
              </a:pPr>
              <a:r>
                <a:rPr sz="4200" kern="0" spc="-40" dirty="0">
                  <a:solidFill>
                    <a:srgbClr val="8199E3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FDify.</a:t>
              </a:r>
              <a:endParaRPr sz="4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1965" indent="-276225" algn="l" rtl="0" eaLnBrk="0">
                <a:lnSpc>
                  <a:spcPct val="106000"/>
                </a:lnSpc>
                <a:spcBef>
                  <a:spcPts val="367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自由度更高的一款开源产品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用户作为开发者和中小企业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可以实现从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的构建到工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作流编排，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RAG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检索和模型管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理等多种任务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1965" indent="-276225" algn="l" rtl="0" eaLnBrk="0">
                <a:lnSpc>
                  <a:spcPct val="107000"/>
                </a:lnSpc>
                <a:spcBef>
                  <a:spcPts val="433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在可视画布上构建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、测试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作流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，并且支持市面上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几乎所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有主流模型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5740" algn="l" rtl="0" eaLnBrk="0">
                <a:lnSpc>
                  <a:spcPct val="104000"/>
                </a:lnSpc>
                <a:spcBef>
                  <a:spcPts val="1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https://dify.ai/zh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14" name="picture 1614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3649" y="2459152"/>
              <a:ext cx="122987" cy="168859"/>
            </a:xfrm>
            <a:prstGeom prst="rect">
              <a:avLst/>
            </a:prstGeom>
          </p:spPr>
        </p:pic>
        <p:pic>
          <p:nvPicPr>
            <p:cNvPr id="1616" name="picture 161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93649" y="1819071"/>
              <a:ext cx="122987" cy="168859"/>
            </a:xfrm>
            <a:prstGeom prst="rect">
              <a:avLst/>
            </a:prstGeom>
          </p:spPr>
        </p:pic>
        <p:pic>
          <p:nvPicPr>
            <p:cNvPr id="1618" name="picture 1618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193649" y="777671"/>
              <a:ext cx="122987" cy="168859"/>
            </a:xfrm>
            <a:prstGeom prst="rect">
              <a:avLst/>
            </a:prstGeom>
          </p:spPr>
        </p:pic>
      </p:grpSp>
      <p:grpSp>
        <p:nvGrpSpPr>
          <p:cNvPr id="42" name="group 42"/>
          <p:cNvGrpSpPr/>
          <p:nvPr/>
        </p:nvGrpSpPr>
        <p:grpSpPr>
          <a:xfrm rot="21600000">
            <a:off x="365759" y="3942588"/>
            <a:ext cx="2700527" cy="2793491"/>
            <a:chOff x="0" y="0"/>
            <a:chExt cx="2700527" cy="2793491"/>
          </a:xfrm>
        </p:grpSpPr>
        <p:pic>
          <p:nvPicPr>
            <p:cNvPr id="1620" name="picture 1620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0" y="0"/>
              <a:ext cx="2700527" cy="2793491"/>
            </a:xfrm>
            <a:prstGeom prst="rect">
              <a:avLst/>
            </a:prstGeom>
          </p:spPr>
        </p:pic>
        <p:sp>
          <p:nvSpPr>
            <p:cNvPr id="1622" name="textbox 1622"/>
            <p:cNvSpPr/>
            <p:nvPr/>
          </p:nvSpPr>
          <p:spPr>
            <a:xfrm>
              <a:off x="-12700" y="-12700"/>
              <a:ext cx="2726054" cy="28308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140" indent="-278129" algn="l" rtl="0" eaLnBrk="0">
                <a:lnSpc>
                  <a:spcPct val="106000"/>
                </a:lnSpc>
                <a:spcBef>
                  <a:spcPts val="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平台宣传其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NEO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可支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撑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约</a:t>
              </a:r>
              <a:r>
                <a:rPr sz="1200" kern="0" spc="2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10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百万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token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上下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文窗口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 “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1000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 推理步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骤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的长流程任务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7495" algn="l" rtl="0" eaLnBrk="0">
                <a:lnSpc>
                  <a:spcPct val="105000"/>
                </a:lnSpc>
                <a:spcBef>
                  <a:spcPts val="56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 用 于 诸 如 “ 编 写 长 篇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说 ”“开发大型游戏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”“处理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海量文档分析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”这类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传统模型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难以维持状态的任务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https://flowithcn.com/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24" name="picture 1624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4411" y="2428671"/>
              <a:ext cx="122986" cy="168859"/>
            </a:xfrm>
            <a:prstGeom prst="rect">
              <a:avLst/>
            </a:prstGeom>
          </p:spPr>
        </p:pic>
        <p:pic>
          <p:nvPicPr>
            <p:cNvPr id="1626" name="picture 162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94411" y="1587931"/>
              <a:ext cx="122986" cy="168859"/>
            </a:xfrm>
            <a:prstGeom prst="rect">
              <a:avLst/>
            </a:prstGeom>
          </p:spPr>
        </p:pic>
        <p:pic>
          <p:nvPicPr>
            <p:cNvPr id="1628" name="picture 1628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194411" y="747191"/>
              <a:ext cx="122986" cy="168859"/>
            </a:xfrm>
            <a:prstGeom prst="rect">
              <a:avLst/>
            </a:prstGeom>
          </p:spPr>
        </p:pic>
      </p:grpSp>
      <p:pic>
        <p:nvPicPr>
          <p:cNvPr id="1630" name="picture 1630">
            <a:hlinkClick r:id="rId36" action="ppaction://hlinkfil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398259" y="6156959"/>
            <a:ext cx="2337434" cy="401320"/>
          </a:xfrm>
          <a:prstGeom prst="rect">
            <a:avLst/>
          </a:prstGeom>
        </p:spPr>
      </p:pic>
      <p:sp>
        <p:nvSpPr>
          <p:cNvPr id="1632" name="textbox 1632"/>
          <p:cNvSpPr/>
          <p:nvPr/>
        </p:nvSpPr>
        <p:spPr>
          <a:xfrm>
            <a:off x="6398361" y="4066666"/>
            <a:ext cx="2350135" cy="2503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43584" algn="l" rtl="0" eaLnBrk="0">
              <a:lnSpc>
                <a:spcPct val="88000"/>
              </a:lnSpc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SuperAgent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6000"/>
              </a:lnSpc>
              <a:spcBef>
                <a:spcPts val="36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某些功能并不能实现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，例如预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订机票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，会帮你填写好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出发地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和目的地的信息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，但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无法真的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帮你预定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，不过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电话的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功能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很有意思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12420" indent="-299720" algn="l" rtl="0" eaLnBrk="0">
              <a:lnSpc>
                <a:spcPct val="97000"/>
              </a:lnSpc>
              <a:spcBef>
                <a:spcPts val="54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目前也只支持美国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、加拿大和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日本的电话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07000"/>
              </a:lnSpc>
              <a:spcBef>
                <a:spcPts val="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http://visionmedia.github.io/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superagent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34" name="picture 163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6411061" y="6170599"/>
            <a:ext cx="122987" cy="168859"/>
          </a:xfrm>
          <a:prstGeom prst="rect">
            <a:avLst/>
          </a:prstGeom>
        </p:spPr>
      </p:pic>
      <p:pic>
        <p:nvPicPr>
          <p:cNvPr id="1636" name="picture 163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6411061" y="5731179"/>
            <a:ext cx="122987" cy="168859"/>
          </a:xfrm>
          <a:prstGeom prst="rect">
            <a:avLst/>
          </a:prstGeom>
        </p:spPr>
      </p:pic>
      <p:pic>
        <p:nvPicPr>
          <p:cNvPr id="1638" name="picture 163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6411061" y="4689779"/>
            <a:ext cx="122987" cy="168859"/>
          </a:xfrm>
          <a:prstGeom prst="rect">
            <a:avLst/>
          </a:prstGeom>
        </p:spPr>
      </p:pic>
      <p:pic>
        <p:nvPicPr>
          <p:cNvPr id="1640" name="picture 1640">
            <a:hlinkClick r:id="rId37" action="ppaction://hlinkfile"/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47369" y="2830195"/>
            <a:ext cx="2337435" cy="401320"/>
          </a:xfrm>
          <a:prstGeom prst="rect">
            <a:avLst/>
          </a:prstGeom>
        </p:spPr>
      </p:pic>
      <p:sp>
        <p:nvSpPr>
          <p:cNvPr id="1642" name="textbox 1642"/>
          <p:cNvSpPr/>
          <p:nvPr/>
        </p:nvSpPr>
        <p:spPr>
          <a:xfrm>
            <a:off x="547471" y="1609344"/>
            <a:ext cx="2350135" cy="163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0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VSCode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重新开发，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具备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科研及实力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，复杂任务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的处理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能力很强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4000"/>
              </a:lnSpc>
              <a:spcBef>
                <a:spcPts val="25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唯一缺点是价格贵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，性价比极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能力很惊艳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，但仅限于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定场景或研究主题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7000"/>
              </a:lnSpc>
              <a:spcBef>
                <a:spcPts val="11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https://github.com/dzhng/d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eep-research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44" name="picture 1644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560171" y="2843834"/>
            <a:ext cx="122986" cy="168859"/>
          </a:xfrm>
          <a:prstGeom prst="rect">
            <a:avLst/>
          </a:prstGeom>
        </p:spPr>
      </p:pic>
      <p:pic>
        <p:nvPicPr>
          <p:cNvPr id="1646" name="picture 164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560171" y="2241854"/>
            <a:ext cx="122986" cy="168859"/>
          </a:xfrm>
          <a:prstGeom prst="rect">
            <a:avLst/>
          </a:prstGeom>
        </p:spPr>
      </p:pic>
      <p:pic>
        <p:nvPicPr>
          <p:cNvPr id="1648" name="picture 164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560171" y="1639874"/>
            <a:ext cx="122986" cy="168859"/>
          </a:xfrm>
          <a:prstGeom prst="rect">
            <a:avLst/>
          </a:prstGeom>
        </p:spPr>
      </p:pic>
      <p:pic>
        <p:nvPicPr>
          <p:cNvPr id="1650" name="picture 165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1652" name="textbox 1652"/>
          <p:cNvSpPr/>
          <p:nvPr/>
        </p:nvSpPr>
        <p:spPr>
          <a:xfrm>
            <a:off x="82291" y="-31740"/>
            <a:ext cx="2109470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065"/>
              </a:lnSpc>
              <a:tabLst/>
            </a:pPr>
            <a:r>
              <a:rPr sz="3900" b="1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3900" b="1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3900" b="1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900" b="1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Agen</a:t>
            </a:r>
            <a:r>
              <a:rPr sz="39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54" name="textbox 1654"/>
          <p:cNvSpPr/>
          <p:nvPr/>
        </p:nvSpPr>
        <p:spPr>
          <a:xfrm>
            <a:off x="1251657" y="960891"/>
            <a:ext cx="1437639" cy="282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22"/>
              </a:lnSpc>
              <a:tabLst/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DeepResearch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 rot="21600000">
            <a:off x="3331463" y="1336979"/>
            <a:ext cx="2706624" cy="5307660"/>
            <a:chOff x="0" y="0"/>
            <a:chExt cx="2706624" cy="5307660"/>
          </a:xfrm>
        </p:grpSpPr>
        <p:pic>
          <p:nvPicPr>
            <p:cNvPr id="1656" name="picture 16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62826"/>
              <a:ext cx="2706624" cy="5244833"/>
            </a:xfrm>
            <a:prstGeom prst="rect">
              <a:avLst/>
            </a:prstGeom>
          </p:spPr>
        </p:pic>
        <p:pic>
          <p:nvPicPr>
            <p:cNvPr id="1658" name="picture 1658">
              <a:hlinkClick r:id="rId4" action="ppaction://hlinkfil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84530" y="1504645"/>
              <a:ext cx="2337435" cy="438150"/>
            </a:xfrm>
            <a:prstGeom prst="rect">
              <a:avLst/>
            </a:prstGeom>
          </p:spPr>
        </p:pic>
        <p:pic>
          <p:nvPicPr>
            <p:cNvPr id="1660" name="picture 1660">
              <a:hlinkClick r:id="rId6" action="ppaction://hlinkfil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84530" y="4545660"/>
              <a:ext cx="2336800" cy="401320"/>
            </a:xfrm>
            <a:prstGeom prst="rect">
              <a:avLst/>
            </a:prstGeom>
          </p:spPr>
        </p:pic>
        <p:sp>
          <p:nvSpPr>
            <p:cNvPr id="1662" name="textbox 1662"/>
            <p:cNvSpPr/>
            <p:nvPr/>
          </p:nvSpPr>
          <p:spPr>
            <a:xfrm>
              <a:off x="184632" y="-12700"/>
              <a:ext cx="2350770" cy="50082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19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1465" indent="-278765" algn="l" rtl="0" eaLnBrk="0">
                <a:lnSpc>
                  <a:spcPct val="113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获得全球教育市场较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高使用率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（超过</a:t>
              </a:r>
              <a:r>
                <a:rPr sz="1200" kern="0" spc="2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600</a:t>
              </a:r>
              <a:r>
                <a:rPr sz="1200" kern="0" spc="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万教师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像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助手一样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”帮助教师生成学习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资源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、批改建议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、课后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任务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277495" algn="l" rtl="0" eaLnBrk="0">
                <a:lnSpc>
                  <a:spcPct val="111000"/>
                </a:lnSpc>
                <a:spcBef>
                  <a:spcPts val="389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主打减轻教师负担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，让教师能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把焦点更多放在学生互动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不是繁琐备课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8925" indent="-276859" algn="l" rtl="0" eaLnBrk="0">
                <a:lnSpc>
                  <a:spcPct val="118000"/>
                </a:lnSpc>
                <a:spcBef>
                  <a:spcPts val="236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</a:t>
              </a:r>
              <a:r>
                <a:rPr sz="1200" u="sng" kern="0" spc="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://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u="sng" kern="0" spc="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magicschool</a:t>
              </a:r>
              <a:r>
                <a:rPr sz="1200" u="sng" kern="0" spc="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ai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16025" algn="l" rtl="0" eaLnBrk="0">
                <a:lnSpc>
                  <a:spcPct val="87000"/>
                </a:lnSpc>
                <a:spcBef>
                  <a:spcPts val="514"/>
                </a:spcBef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行知格物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0195" indent="-278129" algn="l" rtl="0" eaLnBrk="0">
                <a:lnSpc>
                  <a:spcPct val="110000"/>
                </a:lnSpc>
                <a:spcBef>
                  <a:spcPts val="370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专为中小学 “AI +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机器人/3D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虚拟互动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教学场景设计，将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人工智能教学内容低门槛化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互动化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；教师可直接调用虚拟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场景和 AI 助助进行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课堂实践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5750" indent="-273684" algn="l" rtl="0" eaLnBrk="0">
                <a:lnSpc>
                  <a:spcPct val="107000"/>
                </a:lnSpc>
                <a:spcBef>
                  <a:spcPts val="8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支持“教／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练／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评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一体化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辅助教学流程提升学生参与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5275" indent="-282575" algn="l" rtl="0" eaLnBrk="0">
                <a:lnSpc>
                  <a:spcPct val="117000"/>
                </a:lnSpc>
                <a:spcBef>
                  <a:spcPts val="11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https://aiedu.ubtrobot.com/i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ndex.html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64" name="picture 166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7332" y="4559300"/>
              <a:ext cx="122986" cy="168859"/>
            </a:xfrm>
            <a:prstGeom prst="rect">
              <a:avLst/>
            </a:prstGeom>
          </p:spPr>
        </p:pic>
        <p:pic>
          <p:nvPicPr>
            <p:cNvPr id="1666" name="picture 16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97332" y="3957320"/>
              <a:ext cx="122986" cy="168859"/>
            </a:xfrm>
            <a:prstGeom prst="rect">
              <a:avLst/>
            </a:prstGeom>
          </p:spPr>
        </p:pic>
        <p:pic>
          <p:nvPicPr>
            <p:cNvPr id="1668" name="picture 166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7332" y="2954020"/>
              <a:ext cx="122986" cy="168859"/>
            </a:xfrm>
            <a:prstGeom prst="rect">
              <a:avLst/>
            </a:prstGeom>
          </p:spPr>
        </p:pic>
        <p:pic>
          <p:nvPicPr>
            <p:cNvPr id="1670" name="picture 167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7332" y="1533525"/>
              <a:ext cx="122986" cy="168859"/>
            </a:xfrm>
            <a:prstGeom prst="rect">
              <a:avLst/>
            </a:prstGeom>
          </p:spPr>
        </p:pic>
        <p:pic>
          <p:nvPicPr>
            <p:cNvPr id="1672" name="picture 167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7332" y="876300"/>
              <a:ext cx="122986" cy="168859"/>
            </a:xfrm>
            <a:prstGeom prst="rect">
              <a:avLst/>
            </a:prstGeom>
          </p:spPr>
        </p:pic>
        <p:pic>
          <p:nvPicPr>
            <p:cNvPr id="1674" name="picture 167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7332" y="0"/>
              <a:ext cx="122986" cy="168859"/>
            </a:xfrm>
            <a:prstGeom prst="rect">
              <a:avLst/>
            </a:prstGeom>
          </p:spPr>
        </p:pic>
      </p:grpSp>
      <p:pic>
        <p:nvPicPr>
          <p:cNvPr id="1676" name="picture 167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239255" y="1399806"/>
            <a:ext cx="2706624" cy="5244833"/>
          </a:xfrm>
          <a:prstGeom prst="rect">
            <a:avLst/>
          </a:prstGeom>
        </p:spPr>
      </p:pic>
      <p:pic>
        <p:nvPicPr>
          <p:cNvPr id="1678" name="picture 1678">
            <a:hlinkClick r:id="rId15" action="ppaction://hlinkfile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423659" y="6083300"/>
            <a:ext cx="2336800" cy="401320"/>
          </a:xfrm>
          <a:prstGeom prst="rect">
            <a:avLst/>
          </a:prstGeom>
        </p:spPr>
      </p:pic>
      <p:pic>
        <p:nvPicPr>
          <p:cNvPr id="1680" name="picture 1680">
            <a:hlinkClick r:id="rId17" action="ppaction://hlinkfile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423659" y="3060700"/>
            <a:ext cx="2337434" cy="438150"/>
          </a:xfrm>
          <a:prstGeom prst="rect">
            <a:avLst/>
          </a:prstGeom>
        </p:spPr>
      </p:pic>
      <p:sp>
        <p:nvSpPr>
          <p:cNvPr id="1682" name="textbox 1682"/>
          <p:cNvSpPr/>
          <p:nvPr/>
        </p:nvSpPr>
        <p:spPr>
          <a:xfrm>
            <a:off x="6423761" y="1324279"/>
            <a:ext cx="2399664" cy="5191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14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浏览器插件形式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、可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嵌入教师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 有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 （  如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Docs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Slides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生成课程脚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、评估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、反馈工具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；老师评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价其“节省备课时间极多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1000"/>
              </a:lnSpc>
              <a:spcBef>
                <a:spcPts val="37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支持打造“差异化学习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路径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针对学生不同水平生成不同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任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8000"/>
              </a:lnSpc>
              <a:spcBef>
                <a:spcPts val="24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https://www.briskteaching.c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om/zh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35025" algn="l" rtl="0" eaLnBrk="0">
              <a:lnSpc>
                <a:spcPct val="87000"/>
              </a:lnSpc>
              <a:spcBef>
                <a:spcPts val="512"/>
              </a:spcBef>
              <a:tabLst/>
            </a:pP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讯飞智慧教育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06000"/>
              </a:lnSpc>
              <a:spcBef>
                <a:spcPts val="36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覆盖学校教学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、教师发展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慧考试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、自主学习等全场景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模型结合语音识别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大数据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、个性化推荐，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现“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材施教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81304" algn="l" rtl="0" eaLnBrk="0">
              <a:lnSpc>
                <a:spcPct val="105000"/>
              </a:lnSpc>
              <a:spcBef>
                <a:spcPts val="27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具备智能出题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、学情分析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、学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习路径推荐等功能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，教师可实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时获取学生弱点数据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、调整教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学策略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7020" indent="-274320" algn="l" rtl="0" eaLnBrk="0">
              <a:lnSpc>
                <a:spcPct val="112000"/>
              </a:lnSpc>
              <a:spcBef>
                <a:spcPts val="12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https://www.fifedu.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com/ipla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t/html/index.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html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84" name="picture 168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436461" y="6096939"/>
            <a:ext cx="122987" cy="168859"/>
          </a:xfrm>
          <a:prstGeom prst="rect">
            <a:avLst/>
          </a:prstGeom>
        </p:spPr>
      </p:pic>
      <p:pic>
        <p:nvPicPr>
          <p:cNvPr id="1686" name="picture 168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436461" y="5294299"/>
            <a:ext cx="122987" cy="168859"/>
          </a:xfrm>
          <a:prstGeom prst="rect">
            <a:avLst/>
          </a:prstGeom>
        </p:spPr>
      </p:pic>
      <p:pic>
        <p:nvPicPr>
          <p:cNvPr id="1688" name="picture 168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6436461" y="4290999"/>
            <a:ext cx="122987" cy="168859"/>
          </a:xfrm>
          <a:prstGeom prst="rect">
            <a:avLst/>
          </a:prstGeom>
        </p:spPr>
      </p:pic>
      <p:pic>
        <p:nvPicPr>
          <p:cNvPr id="1690" name="picture 169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6436461" y="3089579"/>
            <a:ext cx="122987" cy="168859"/>
          </a:xfrm>
          <a:prstGeom prst="rect">
            <a:avLst/>
          </a:prstGeom>
        </p:spPr>
      </p:pic>
      <p:pic>
        <p:nvPicPr>
          <p:cNvPr id="1692" name="picture 169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436461" y="2432354"/>
            <a:ext cx="122987" cy="168859"/>
          </a:xfrm>
          <a:prstGeom prst="rect">
            <a:avLst/>
          </a:prstGeom>
        </p:spPr>
      </p:pic>
      <p:pic>
        <p:nvPicPr>
          <p:cNvPr id="1694" name="picture 169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6436461" y="1336979"/>
            <a:ext cx="122987" cy="168859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 rot="21600000">
            <a:off x="426719" y="3764279"/>
            <a:ext cx="2700527" cy="2877312"/>
            <a:chOff x="0" y="0"/>
            <a:chExt cx="2700527" cy="2877312"/>
          </a:xfrm>
        </p:grpSpPr>
        <p:pic>
          <p:nvPicPr>
            <p:cNvPr id="1696" name="picture 1696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0" y="536448"/>
              <a:ext cx="2700527" cy="2340864"/>
            </a:xfrm>
            <a:prstGeom prst="rect">
              <a:avLst/>
            </a:prstGeom>
          </p:spPr>
        </p:pic>
        <p:sp>
          <p:nvSpPr>
            <p:cNvPr id="1698" name="textbox 1698"/>
            <p:cNvSpPr/>
            <p:nvPr/>
          </p:nvSpPr>
          <p:spPr>
            <a:xfrm>
              <a:off x="161391" y="514019"/>
              <a:ext cx="2390139" cy="22180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1465" indent="-278765" algn="l" rtl="0" eaLnBrk="0">
                <a:lnSpc>
                  <a:spcPct val="106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面向教师的一体化智慧教学平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；近期上线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“AI工作台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支持智能备课 、自动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出题 、课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中互动（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讲伴） 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课后学情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报告的全流程闭环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278129" algn="l" rtl="0" eaLnBrk="0">
                <a:lnSpc>
                  <a:spcPct val="108000"/>
                </a:lnSpc>
                <a:spcBef>
                  <a:spcPts val="99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讲伴能在投屏时辅助提问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分组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、点名与收集反馈，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老师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主要关注节奏与点拨；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互动数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据当场回流，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临场调度更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心里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04000"/>
                </a:lnSpc>
                <a:spcBef>
                  <a:spcPts val="130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.yuketang.cn/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700" name="picture 170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74091" y="2533319"/>
              <a:ext cx="122986" cy="168859"/>
            </a:xfrm>
            <a:prstGeom prst="rect">
              <a:avLst/>
            </a:prstGeom>
          </p:spPr>
        </p:pic>
        <p:pic>
          <p:nvPicPr>
            <p:cNvPr id="1702" name="picture 1702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74091" y="1530019"/>
              <a:ext cx="122986" cy="168859"/>
            </a:xfrm>
            <a:prstGeom prst="rect">
              <a:avLst/>
            </a:prstGeom>
          </p:spPr>
        </p:pic>
        <p:pic>
          <p:nvPicPr>
            <p:cNvPr id="1704" name="picture 170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74091" y="526719"/>
              <a:ext cx="122986" cy="168859"/>
            </a:xfrm>
            <a:prstGeom prst="rect">
              <a:avLst/>
            </a:prstGeom>
          </p:spPr>
        </p:pic>
        <p:pic>
          <p:nvPicPr>
            <p:cNvPr id="1706" name="picture 170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819911" y="0"/>
              <a:ext cx="1062227" cy="405383"/>
            </a:xfrm>
            <a:prstGeom prst="rect">
              <a:avLst/>
            </a:prstGeom>
          </p:spPr>
        </p:pic>
      </p:grpSp>
      <p:pic>
        <p:nvPicPr>
          <p:cNvPr id="1708" name="picture 170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150096" y="4300728"/>
            <a:ext cx="2699004" cy="2340864"/>
          </a:xfrm>
          <a:prstGeom prst="rect">
            <a:avLst/>
          </a:prstGeom>
        </p:spPr>
      </p:pic>
      <p:pic>
        <p:nvPicPr>
          <p:cNvPr id="1710" name="picture 171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426719" y="1263396"/>
            <a:ext cx="2700527" cy="2339339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 rot="21600000">
            <a:off x="9150096" y="1263396"/>
            <a:ext cx="2699004" cy="2339339"/>
            <a:chOff x="0" y="0"/>
            <a:chExt cx="2699004" cy="2339339"/>
          </a:xfrm>
        </p:grpSpPr>
        <p:pic>
          <p:nvPicPr>
            <p:cNvPr id="1712" name="picture 171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0" y="0"/>
              <a:ext cx="2699004" cy="2339339"/>
            </a:xfrm>
            <a:prstGeom prst="rect">
              <a:avLst/>
            </a:prstGeom>
          </p:spPr>
        </p:pic>
        <p:sp>
          <p:nvSpPr>
            <p:cNvPr id="1714" name="textbox 1714"/>
            <p:cNvSpPr/>
            <p:nvPr/>
          </p:nvSpPr>
          <p:spPr>
            <a:xfrm>
              <a:off x="-12700" y="-12700"/>
              <a:ext cx="2724785" cy="2375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83869" indent="-277495" algn="l" rtl="0" eaLnBrk="0">
                <a:lnSpc>
                  <a:spcPct val="113000"/>
                </a:lnSpc>
                <a:spcBef>
                  <a:spcPts val="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猿辅导推出国内首个专为教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研发的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专业工具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生成交互式教学动画与游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戏化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课件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225" algn="l" rtl="0" eaLnBrk="0">
                <a:lnSpc>
                  <a:spcPct val="114000"/>
                </a:lnSpc>
                <a:spcBef>
                  <a:spcPts val="42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立足中国教师的教学与备课场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景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，基于十余年的教育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专业大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模型和百亿级知识数据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，构建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了一整套更适合中国老师教学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适合中国学生学习的工作流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4000"/>
                </a:lnSpc>
                <a:spcBef>
                  <a:spcPts val="25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feixianglaoshi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com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716" name="picture 171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194030" y="2045258"/>
              <a:ext cx="122987" cy="168859"/>
            </a:xfrm>
            <a:prstGeom prst="rect">
              <a:avLst/>
            </a:prstGeom>
          </p:spPr>
        </p:pic>
        <p:pic>
          <p:nvPicPr>
            <p:cNvPr id="1718" name="picture 1718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194030" y="949883"/>
              <a:ext cx="122987" cy="168859"/>
            </a:xfrm>
            <a:prstGeom prst="rect">
              <a:avLst/>
            </a:prstGeom>
          </p:spPr>
        </p:pic>
        <p:pic>
          <p:nvPicPr>
            <p:cNvPr id="1720" name="picture 1720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194030" y="73583"/>
              <a:ext cx="122987" cy="168859"/>
            </a:xfrm>
            <a:prstGeom prst="rect">
              <a:avLst/>
            </a:prstGeom>
          </p:spPr>
        </p:pic>
      </p:grpSp>
      <p:pic>
        <p:nvPicPr>
          <p:cNvPr id="1722" name="picture 1722">
            <a:hlinkClick r:id="rId38" action="ppaction://hlinkfile"/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9331325" y="5882640"/>
            <a:ext cx="2336800" cy="401320"/>
          </a:xfrm>
          <a:prstGeom prst="rect">
            <a:avLst/>
          </a:prstGeom>
        </p:spPr>
      </p:pic>
      <p:sp>
        <p:nvSpPr>
          <p:cNvPr id="1724" name="textbox 1724"/>
          <p:cNvSpPr/>
          <p:nvPr/>
        </p:nvSpPr>
        <p:spPr>
          <a:xfrm>
            <a:off x="9331426" y="4260469"/>
            <a:ext cx="2350135" cy="2036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斑马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主要面向幼儿市场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，采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用的是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分阶课程体系 ，结合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少儿行为大数据实时分析，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适应调整学习路径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9000"/>
              </a:lnSpc>
              <a:spcBef>
                <a:spcPts val="13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最大特点是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互动以情景形式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呈现 ，但录播模式导致实时互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动较弱，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适合2-8岁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的儿童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按课计费，价格适中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0" indent="-273684" algn="l" rtl="0" eaLnBrk="0">
              <a:lnSpc>
                <a:spcPct val="107000"/>
              </a:lnSpc>
              <a:spcBef>
                <a:spcPts val="2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https://banmaapp.com/inde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x.html?ref=op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eni.cn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26" name="picture 172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9344126" y="5896279"/>
            <a:ext cx="122987" cy="168859"/>
          </a:xfrm>
          <a:prstGeom prst="rect">
            <a:avLst/>
          </a:prstGeom>
        </p:spPr>
      </p:pic>
      <p:pic>
        <p:nvPicPr>
          <p:cNvPr id="1728" name="picture 172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344126" y="5093639"/>
            <a:ext cx="122987" cy="168859"/>
          </a:xfrm>
          <a:prstGeom prst="rect">
            <a:avLst/>
          </a:prstGeom>
        </p:spPr>
      </p:pic>
      <p:pic>
        <p:nvPicPr>
          <p:cNvPr id="1730" name="picture 173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9344126" y="4290999"/>
            <a:ext cx="122987" cy="168859"/>
          </a:xfrm>
          <a:prstGeom prst="rect">
            <a:avLst/>
          </a:prstGeom>
        </p:spPr>
      </p:pic>
      <p:pic>
        <p:nvPicPr>
          <p:cNvPr id="1732" name="picture 1732">
            <a:hlinkClick r:id="rId43" action="ppaction://hlinkfile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608330" y="2622550"/>
            <a:ext cx="2337434" cy="438150"/>
          </a:xfrm>
          <a:prstGeom prst="rect">
            <a:avLst/>
          </a:prstGeom>
        </p:spPr>
      </p:pic>
      <p:sp>
        <p:nvSpPr>
          <p:cNvPr id="1734" name="textbox 1734"/>
          <p:cNvSpPr/>
          <p:nvPr/>
        </p:nvSpPr>
        <p:spPr>
          <a:xfrm>
            <a:off x="608431" y="1324279"/>
            <a:ext cx="2350770" cy="1764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旨在为学生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、教师和家长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个性化学习和教学支持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13000"/>
              </a:lnSpc>
              <a:spcBef>
                <a:spcPts val="39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帮助学生解决数学问题Q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、编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写故事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、进行写作指导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，并为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教师提供课程规划和教案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编写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的支持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8000"/>
              </a:lnSpc>
              <a:spcBef>
                <a:spcPts val="23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https://zh.khanacad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emy.org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36" name="picture 173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621131" y="2651429"/>
            <a:ext cx="122986" cy="168859"/>
          </a:xfrm>
          <a:prstGeom prst="rect">
            <a:avLst/>
          </a:prstGeom>
        </p:spPr>
      </p:pic>
      <p:pic>
        <p:nvPicPr>
          <p:cNvPr id="1738" name="picture 173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621131" y="1775129"/>
            <a:ext cx="122986" cy="168859"/>
          </a:xfrm>
          <a:prstGeom prst="rect">
            <a:avLst/>
          </a:prstGeom>
        </p:spPr>
      </p:pic>
      <p:pic>
        <p:nvPicPr>
          <p:cNvPr id="1740" name="picture 174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621131" y="1336979"/>
            <a:ext cx="122986" cy="168859"/>
          </a:xfrm>
          <a:prstGeom prst="rect">
            <a:avLst/>
          </a:prstGeom>
        </p:spPr>
      </p:pic>
      <p:pic>
        <p:nvPicPr>
          <p:cNvPr id="1742" name="picture 1742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1744" name="textbox 1744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教育工具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46" name="picture 174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3956303" y="501396"/>
            <a:ext cx="1455420" cy="762000"/>
          </a:xfrm>
          <a:prstGeom prst="rect">
            <a:avLst/>
          </a:prstGeom>
        </p:spPr>
      </p:pic>
      <p:pic>
        <p:nvPicPr>
          <p:cNvPr id="1748" name="picture 174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6710171" y="598931"/>
            <a:ext cx="1763267" cy="566928"/>
          </a:xfrm>
          <a:prstGeom prst="rect">
            <a:avLst/>
          </a:prstGeom>
        </p:spPr>
      </p:pic>
      <p:pic>
        <p:nvPicPr>
          <p:cNvPr id="1750" name="picture 175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848868" y="640079"/>
            <a:ext cx="1856232" cy="484632"/>
          </a:xfrm>
          <a:prstGeom prst="rect">
            <a:avLst/>
          </a:prstGeom>
        </p:spPr>
      </p:pic>
      <p:pic>
        <p:nvPicPr>
          <p:cNvPr id="1752" name="picture 1752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9933431" y="3697223"/>
            <a:ext cx="1135380" cy="539496"/>
          </a:xfrm>
          <a:prstGeom prst="rect">
            <a:avLst/>
          </a:prstGeom>
        </p:spPr>
      </p:pic>
      <p:pic>
        <p:nvPicPr>
          <p:cNvPr id="1754" name="picture 1754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9928859" y="670559"/>
            <a:ext cx="1141476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50"/>
          <p:cNvGrpSpPr/>
          <p:nvPr/>
        </p:nvGrpSpPr>
        <p:grpSpPr>
          <a:xfrm rot="21600000">
            <a:off x="419100" y="3646932"/>
            <a:ext cx="2700527" cy="3008376"/>
            <a:chOff x="0" y="0"/>
            <a:chExt cx="2700527" cy="3008376"/>
          </a:xfrm>
        </p:grpSpPr>
        <p:pic>
          <p:nvPicPr>
            <p:cNvPr id="1756" name="picture 17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609600"/>
              <a:ext cx="2700527" cy="2398776"/>
            </a:xfrm>
            <a:prstGeom prst="rect">
              <a:avLst/>
            </a:prstGeom>
          </p:spPr>
        </p:pic>
        <p:pic>
          <p:nvPicPr>
            <p:cNvPr id="1758" name="picture 1758">
              <a:hlinkClick r:id="rId4" action="ppaction://hlinkfil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81609" y="2187447"/>
              <a:ext cx="2337435" cy="401319"/>
            </a:xfrm>
            <a:prstGeom prst="rect">
              <a:avLst/>
            </a:prstGeom>
          </p:spPr>
        </p:pic>
        <p:sp>
          <p:nvSpPr>
            <p:cNvPr id="1760" name="textbox 1760"/>
            <p:cNvSpPr/>
            <p:nvPr/>
          </p:nvSpPr>
          <p:spPr>
            <a:xfrm>
              <a:off x="181711" y="-12700"/>
              <a:ext cx="2361564" cy="2632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43305" algn="l" rtl="0" eaLnBrk="0">
                <a:lnSpc>
                  <a:spcPct val="86000"/>
                </a:lnSpc>
                <a:spcBef>
                  <a:spcPts val="1"/>
                </a:spcBef>
                <a:tabLst>
                  <a:tab pos="1222375" algn="l"/>
                </a:tabLst>
              </a:pP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7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快对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88925" indent="-276859" algn="l" rtl="0" eaLnBrk="0">
                <a:lnSpc>
                  <a:spcPct val="108000"/>
                </a:lnSpc>
                <a:spcBef>
                  <a:spcPts val="362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作业帮旗下的K12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学习类app，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针对中小学场景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，只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需要通过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较少的检测题目或扫描习题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试卷来定位知识薄弱点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3370" indent="-280670" algn="l" rtl="0" eaLnBrk="0">
                <a:lnSpc>
                  <a:spcPct val="104000"/>
                </a:lnSpc>
                <a:spcBef>
                  <a:spcPts val="259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能像辅导老师一样帮忙批改作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，整理错题和点评文章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，功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能比较全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2100" indent="-279400" algn="l" rtl="0" eaLnBrk="0">
                <a:lnSpc>
                  <a:spcPct val="112000"/>
                </a:lnSpc>
                <a:spcBef>
                  <a:spcPts val="112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://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kuaiduizuoye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.c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762" name="picture 176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4411" y="2201087"/>
              <a:ext cx="122986" cy="168859"/>
            </a:xfrm>
            <a:prstGeom prst="rect">
              <a:avLst/>
            </a:prstGeom>
          </p:spPr>
        </p:pic>
        <p:pic>
          <p:nvPicPr>
            <p:cNvPr id="1764" name="picture 176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4411" y="1599107"/>
              <a:ext cx="122986" cy="168859"/>
            </a:xfrm>
            <a:prstGeom prst="rect">
              <a:avLst/>
            </a:prstGeom>
          </p:spPr>
        </p:pic>
        <p:pic>
          <p:nvPicPr>
            <p:cNvPr id="1766" name="picture 17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94411" y="796467"/>
              <a:ext cx="122986" cy="168859"/>
            </a:xfrm>
            <a:prstGeom prst="rect">
              <a:avLst/>
            </a:prstGeom>
          </p:spPr>
        </p:pic>
        <p:pic>
          <p:nvPicPr>
            <p:cNvPr id="1768" name="picture 176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685800" y="0"/>
              <a:ext cx="539496" cy="539496"/>
            </a:xfrm>
            <a:prstGeom prst="rect">
              <a:avLst/>
            </a:prstGeom>
          </p:spPr>
        </p:pic>
      </p:grpSp>
      <p:pic>
        <p:nvPicPr>
          <p:cNvPr id="1770" name="picture 17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pic>
        <p:nvPicPr>
          <p:cNvPr id="1772" name="picture 17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142476" y="621791"/>
            <a:ext cx="2699004" cy="2830067"/>
          </a:xfrm>
          <a:prstGeom prst="rect">
            <a:avLst/>
          </a:prstGeom>
        </p:spPr>
      </p:pic>
      <p:pic>
        <p:nvPicPr>
          <p:cNvPr id="1774" name="picture 177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142476" y="4248911"/>
            <a:ext cx="2699004" cy="2423159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 rot="21600000">
            <a:off x="419100" y="1112520"/>
            <a:ext cx="2700527" cy="2339339"/>
            <a:chOff x="0" y="0"/>
            <a:chExt cx="2700527" cy="2339339"/>
          </a:xfrm>
        </p:grpSpPr>
        <p:pic>
          <p:nvPicPr>
            <p:cNvPr id="1776" name="picture 177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700527" cy="2339339"/>
            </a:xfrm>
            <a:prstGeom prst="rect">
              <a:avLst/>
            </a:prstGeom>
          </p:spPr>
        </p:pic>
        <p:sp>
          <p:nvSpPr>
            <p:cNvPr id="1778" name="textbox 1778"/>
            <p:cNvSpPr/>
            <p:nvPr/>
          </p:nvSpPr>
          <p:spPr>
            <a:xfrm>
              <a:off x="-12700" y="-12700"/>
              <a:ext cx="2726054" cy="2375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869" indent="-276859" algn="l" rtl="0" eaLnBrk="0">
                <a:lnSpc>
                  <a:spcPct val="112000"/>
                </a:lnSpc>
                <a:spcBef>
                  <a:spcPts val="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自动将教材/视频/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PDF</a:t>
              </a:r>
              <a:r>
                <a:rPr sz="1200" kern="0" spc="3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“摘要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闪卡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+测验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”，极大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加速复习效率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80034" algn="l" rtl="0" eaLnBrk="0">
                <a:lnSpc>
                  <a:spcPct val="107000"/>
                </a:lnSpc>
                <a:spcBef>
                  <a:spcPts val="125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拥有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导师功能，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学生可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资料上传后直接提问，AI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上传内容作答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8765" algn="l" rtl="0" eaLnBrk="0">
                <a:lnSpc>
                  <a:spcPct val="106000"/>
                </a:lnSpc>
                <a:spcBef>
                  <a:spcPts val="245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进度追踪清晰，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能显示“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哪些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知识点已掌握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”“哪些还需加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强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”，适合自我管理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的学习者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7009" algn="l" rtl="0" eaLnBrk="0">
                <a:lnSpc>
                  <a:spcPct val="104000"/>
                </a:lnSpc>
                <a:spcBef>
                  <a:spcPts val="2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https://www.mindgrasp.ai/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780" name="picture 178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4411" y="2029764"/>
              <a:ext cx="122986" cy="168859"/>
            </a:xfrm>
            <a:prstGeom prst="rect">
              <a:avLst/>
            </a:prstGeom>
          </p:spPr>
        </p:pic>
        <p:pic>
          <p:nvPicPr>
            <p:cNvPr id="1782" name="picture 178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4411" y="1427784"/>
              <a:ext cx="122986" cy="168859"/>
            </a:xfrm>
            <a:prstGeom prst="rect">
              <a:avLst/>
            </a:prstGeom>
          </p:spPr>
        </p:pic>
        <p:pic>
          <p:nvPicPr>
            <p:cNvPr id="1784" name="picture 178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4411" y="825804"/>
              <a:ext cx="122986" cy="168859"/>
            </a:xfrm>
            <a:prstGeom prst="rect">
              <a:avLst/>
            </a:prstGeom>
          </p:spPr>
        </p:pic>
        <p:pic>
          <p:nvPicPr>
            <p:cNvPr id="1786" name="picture 178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4411" y="223824"/>
              <a:ext cx="122986" cy="168859"/>
            </a:xfrm>
            <a:prstGeom prst="rect">
              <a:avLst/>
            </a:prstGeom>
          </p:spPr>
        </p:pic>
      </p:grpSp>
      <p:grpSp>
        <p:nvGrpSpPr>
          <p:cNvPr id="54" name="group 54"/>
          <p:cNvGrpSpPr/>
          <p:nvPr/>
        </p:nvGrpSpPr>
        <p:grpSpPr>
          <a:xfrm rot="21600000">
            <a:off x="3323844" y="4392160"/>
            <a:ext cx="2706624" cy="2269244"/>
            <a:chOff x="0" y="0"/>
            <a:chExt cx="2706624" cy="2269244"/>
          </a:xfrm>
        </p:grpSpPr>
        <p:pic>
          <p:nvPicPr>
            <p:cNvPr id="1788" name="picture 178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2706624" cy="2269244"/>
            </a:xfrm>
            <a:prstGeom prst="rect">
              <a:avLst/>
            </a:prstGeom>
          </p:spPr>
        </p:pic>
        <p:sp>
          <p:nvSpPr>
            <p:cNvPr id="1790" name="textbox 1790"/>
            <p:cNvSpPr/>
            <p:nvPr/>
          </p:nvSpPr>
          <p:spPr>
            <a:xfrm>
              <a:off x="-12700" y="-12700"/>
              <a:ext cx="2732404" cy="2306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483234" indent="-273684" algn="l" rtl="0" eaLnBrk="0">
                <a:lnSpc>
                  <a:spcPct val="107000"/>
                </a:lnSpc>
                <a:spcBef>
                  <a:spcPts val="3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拍照解题＋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自动生成错题本，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可即时给出解题思路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4000"/>
                </a:lnSpc>
                <a:spcBef>
                  <a:spcPts val="69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覆盖全学科 ＋智能规划学习路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径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，为学生提供 “AI伴学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315" indent="-278765" algn="l" rtl="0" eaLnBrk="0">
                <a:lnSpc>
                  <a:spcPct val="106000"/>
                </a:lnSpc>
                <a:spcBef>
                  <a:spcPts val="256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学生反馈只需上传题目或教材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几秒钟即得到练习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、测验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识卡，复习时间明显缩短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8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ww.conbrie.com/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792" name="picture 179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7332" y="1656519"/>
              <a:ext cx="122986" cy="168859"/>
            </a:xfrm>
            <a:prstGeom prst="rect">
              <a:avLst/>
            </a:prstGeom>
          </p:spPr>
        </p:pic>
        <p:pic>
          <p:nvPicPr>
            <p:cNvPr id="1794" name="picture 179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7332" y="1054539"/>
              <a:ext cx="122986" cy="168859"/>
            </a:xfrm>
            <a:prstGeom prst="rect">
              <a:avLst/>
            </a:prstGeom>
          </p:spPr>
        </p:pic>
        <p:pic>
          <p:nvPicPr>
            <p:cNvPr id="1796" name="picture 1796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7332" y="452559"/>
              <a:ext cx="122986" cy="168859"/>
            </a:xfrm>
            <a:prstGeom prst="rect">
              <a:avLst/>
            </a:prstGeom>
          </p:spPr>
        </p:pic>
        <p:pic>
          <p:nvPicPr>
            <p:cNvPr id="1798" name="picture 179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7332" y="51239"/>
              <a:ext cx="122986" cy="168859"/>
            </a:xfrm>
            <a:prstGeom prst="rect">
              <a:avLst/>
            </a:prstGeom>
          </p:spPr>
        </p:pic>
      </p:grpSp>
      <p:pic>
        <p:nvPicPr>
          <p:cNvPr id="1800" name="picture 180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231635" y="4395937"/>
            <a:ext cx="2706623" cy="2268514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 rot="21600000">
            <a:off x="3323844" y="1248180"/>
            <a:ext cx="2706624" cy="2206727"/>
            <a:chOff x="0" y="0"/>
            <a:chExt cx="2706624" cy="2206727"/>
          </a:xfrm>
        </p:grpSpPr>
        <p:pic>
          <p:nvPicPr>
            <p:cNvPr id="1802" name="picture 180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0" y="0"/>
              <a:ext cx="2706624" cy="2206727"/>
            </a:xfrm>
            <a:prstGeom prst="rect">
              <a:avLst/>
            </a:prstGeom>
          </p:spPr>
        </p:pic>
        <p:sp>
          <p:nvSpPr>
            <p:cNvPr id="1804" name="textbox 1804"/>
            <p:cNvSpPr/>
            <p:nvPr/>
          </p:nvSpPr>
          <p:spPr>
            <a:xfrm>
              <a:off x="-12700" y="-12700"/>
              <a:ext cx="2732404" cy="2242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87044" indent="-277495" algn="l" rtl="0" eaLnBrk="0">
                <a:lnSpc>
                  <a:spcPct val="107000"/>
                </a:lnSpc>
                <a:spcBef>
                  <a:spcPts val="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YouTube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视频或其他教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学视频的快速摘要与整理 ，适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合喜欢看视频学习的学生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315" indent="-278765" algn="l" rtl="0" eaLnBrk="0">
                <a:lnSpc>
                  <a:spcPct val="97000"/>
                </a:lnSpc>
                <a:spcBef>
                  <a:spcPts val="248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可在多学科中使用，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工具覆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较广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04000"/>
                </a:lnSpc>
                <a:spcBef>
                  <a:spcPts val="370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了解关键知识点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，测试你的知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识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，获取参考答案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，并聆听人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工智能导师的指导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13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https://www.youlearn.ai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06" name="picture 180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97332" y="1693444"/>
              <a:ext cx="122986" cy="168859"/>
            </a:xfrm>
            <a:prstGeom prst="rect">
              <a:avLst/>
            </a:prstGeom>
          </p:spPr>
        </p:pic>
        <p:pic>
          <p:nvPicPr>
            <p:cNvPr id="1808" name="picture 1808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197332" y="1091464"/>
              <a:ext cx="122986" cy="168859"/>
            </a:xfrm>
            <a:prstGeom prst="rect">
              <a:avLst/>
            </a:prstGeom>
          </p:spPr>
        </p:pic>
        <p:pic>
          <p:nvPicPr>
            <p:cNvPr id="1810" name="picture 1810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7332" y="690144"/>
              <a:ext cx="122986" cy="168859"/>
            </a:xfrm>
            <a:prstGeom prst="rect">
              <a:avLst/>
            </a:prstGeom>
          </p:spPr>
        </p:pic>
        <p:pic>
          <p:nvPicPr>
            <p:cNvPr id="1812" name="picture 1812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7332" y="88164"/>
              <a:ext cx="122986" cy="168859"/>
            </a:xfrm>
            <a:prstGeom prst="rect">
              <a:avLst/>
            </a:prstGeom>
          </p:spPr>
        </p:pic>
      </p:grpSp>
      <p:pic>
        <p:nvPicPr>
          <p:cNvPr id="1814" name="picture 181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231635" y="1248180"/>
            <a:ext cx="2706623" cy="2206727"/>
          </a:xfrm>
          <a:prstGeom prst="rect">
            <a:avLst/>
          </a:prstGeom>
        </p:spPr>
      </p:pic>
      <p:pic>
        <p:nvPicPr>
          <p:cNvPr id="1816" name="picture 1816">
            <a:hlinkClick r:id="rId5" action="ppaction://hlinkfile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416040" y="6235700"/>
            <a:ext cx="2337434" cy="401320"/>
          </a:xfrm>
          <a:prstGeom prst="rect">
            <a:avLst/>
          </a:prstGeom>
        </p:spPr>
      </p:pic>
      <p:sp>
        <p:nvSpPr>
          <p:cNvPr id="1818" name="textbox 1818"/>
          <p:cNvSpPr/>
          <p:nvPr/>
        </p:nvSpPr>
        <p:spPr>
          <a:xfrm>
            <a:off x="6416141" y="4430699"/>
            <a:ext cx="2554604" cy="2237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4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早期国内将 “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自适应学习引擎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引入中小学 ，全科覆盖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、个性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化路径推荐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0" indent="-273684" algn="l" rtl="0" eaLnBrk="0">
              <a:lnSpc>
                <a:spcPct val="104000"/>
              </a:lnSpc>
              <a:spcBef>
                <a:spcPts val="24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精准定位学生薄弱知识颗粒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分析每次答题过程以推荐下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一步练习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80670" algn="l" rtl="0" eaLnBrk="0">
              <a:lnSpc>
                <a:spcPct val="104000"/>
              </a:lnSpc>
              <a:spcBef>
                <a:spcPts val="25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学生反映系统“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识别我不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点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”速度快，练习更有针对性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比盲刷题效率更高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2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https://www.songshuai.com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20" name="picture 182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6428841" y="6249339"/>
            <a:ext cx="122987" cy="168859"/>
          </a:xfrm>
          <a:prstGeom prst="rect">
            <a:avLst/>
          </a:prstGeom>
        </p:spPr>
      </p:pic>
      <p:pic>
        <p:nvPicPr>
          <p:cNvPr id="1822" name="picture 182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428841" y="5647359"/>
            <a:ext cx="122987" cy="168859"/>
          </a:xfrm>
          <a:prstGeom prst="rect">
            <a:avLst/>
          </a:prstGeom>
        </p:spPr>
      </p:pic>
      <p:pic>
        <p:nvPicPr>
          <p:cNvPr id="1824" name="picture 182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6428841" y="5045379"/>
            <a:ext cx="122987" cy="168859"/>
          </a:xfrm>
          <a:prstGeom prst="rect">
            <a:avLst/>
          </a:prstGeom>
        </p:spPr>
      </p:pic>
      <p:pic>
        <p:nvPicPr>
          <p:cNvPr id="1826" name="picture 182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6428841" y="4443399"/>
            <a:ext cx="122987" cy="168859"/>
          </a:xfrm>
          <a:prstGeom prst="rect">
            <a:avLst/>
          </a:prstGeom>
        </p:spPr>
      </p:pic>
      <p:pic>
        <p:nvPicPr>
          <p:cNvPr id="1828" name="picture 1828">
            <a:hlinkClick r:id="rId39" action="ppaction://hlinkfile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9323704" y="2727325"/>
            <a:ext cx="2337435" cy="401320"/>
          </a:xfrm>
          <a:prstGeom prst="rect">
            <a:avLst/>
          </a:prstGeom>
        </p:spPr>
      </p:pic>
      <p:sp>
        <p:nvSpPr>
          <p:cNvPr id="1830" name="textbox 1830"/>
          <p:cNvSpPr/>
          <p:nvPr/>
        </p:nvSpPr>
        <p:spPr>
          <a:xfrm>
            <a:off x="9323806" y="1323644"/>
            <a:ext cx="2350770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05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将课堂讲义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PPT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、视频等上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传后 ，一键生成闪卡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、测验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导师互动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，非常适合期末冲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4000"/>
              </a:lnSpc>
              <a:spcBef>
                <a:spcPts val="24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进度报表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数据分析功能强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让学生清楚知道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 弱项在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哪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”“复习优先级是什么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1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https://www.studyfet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ch.co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32" name="picture 1832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336506" y="2740964"/>
            <a:ext cx="122987" cy="168859"/>
          </a:xfrm>
          <a:prstGeom prst="rect">
            <a:avLst/>
          </a:prstGeom>
        </p:spPr>
      </p:pic>
      <p:pic>
        <p:nvPicPr>
          <p:cNvPr id="1834" name="picture 183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9336506" y="2138984"/>
            <a:ext cx="122987" cy="168859"/>
          </a:xfrm>
          <a:prstGeom prst="rect">
            <a:avLst/>
          </a:prstGeom>
        </p:spPr>
      </p:pic>
      <p:pic>
        <p:nvPicPr>
          <p:cNvPr id="1836" name="picture 183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9336506" y="1336344"/>
            <a:ext cx="122987" cy="168859"/>
          </a:xfrm>
          <a:prstGeom prst="rect">
            <a:avLst/>
          </a:prstGeom>
        </p:spPr>
      </p:pic>
      <p:pic>
        <p:nvPicPr>
          <p:cNvPr id="1838" name="picture 1838">
            <a:hlinkClick r:id="rId44" action="ppaction://hlinkfile"/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6416040" y="2727325"/>
            <a:ext cx="2337434" cy="401320"/>
          </a:xfrm>
          <a:prstGeom prst="rect">
            <a:avLst/>
          </a:prstGeom>
        </p:spPr>
      </p:pic>
      <p:sp>
        <p:nvSpPr>
          <p:cNvPr id="1840" name="textbox 1840"/>
          <p:cNvSpPr/>
          <p:nvPr/>
        </p:nvSpPr>
        <p:spPr>
          <a:xfrm>
            <a:off x="6416141" y="1323644"/>
            <a:ext cx="2350135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5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帮助学生提升口算等能力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支持多学科各种题型的作业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批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 ，提供视频解析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，被家长们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称为“作业检查神器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04000"/>
              </a:lnSpc>
              <a:spcBef>
                <a:spcPts val="26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通过拍照实现一秒检查小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学作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，全面覆盖小学阶段数学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语文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、英语等各种题型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80034" algn="l" rtl="0" eaLnBrk="0">
              <a:lnSpc>
                <a:spcPct val="112000"/>
              </a:lnSpc>
              <a:spcBef>
                <a:spcPts val="11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https://www.xiaoyuankousu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an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42" name="picture 184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6428841" y="2740964"/>
            <a:ext cx="122987" cy="168859"/>
          </a:xfrm>
          <a:prstGeom prst="rect">
            <a:avLst/>
          </a:prstGeom>
        </p:spPr>
      </p:pic>
      <p:pic>
        <p:nvPicPr>
          <p:cNvPr id="1844" name="picture 184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6428841" y="2138984"/>
            <a:ext cx="122987" cy="168859"/>
          </a:xfrm>
          <a:prstGeom prst="rect">
            <a:avLst/>
          </a:prstGeom>
        </p:spPr>
      </p:pic>
      <p:pic>
        <p:nvPicPr>
          <p:cNvPr id="1846" name="picture 184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6428841" y="1336344"/>
            <a:ext cx="122987" cy="168859"/>
          </a:xfrm>
          <a:prstGeom prst="rect">
            <a:avLst/>
          </a:prstGeom>
        </p:spPr>
      </p:pic>
      <p:pic>
        <p:nvPicPr>
          <p:cNvPr id="1848" name="picture 1848">
            <a:hlinkClick r:id="rId49" action="ppaction://hlinkfile"/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9323704" y="5633720"/>
            <a:ext cx="2337435" cy="401319"/>
          </a:xfrm>
          <a:prstGeom prst="rect">
            <a:avLst/>
          </a:prstGeom>
        </p:spPr>
      </p:pic>
      <p:sp>
        <p:nvSpPr>
          <p:cNvPr id="1850" name="textbox 1850"/>
          <p:cNvSpPr/>
          <p:nvPr/>
        </p:nvSpPr>
        <p:spPr>
          <a:xfrm>
            <a:off x="9323806" y="4412869"/>
            <a:ext cx="2350135" cy="1653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提供学情分析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、AI助教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考试与练习功能，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为学生提供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测验＋分析＋反馈闭环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3209" algn="l" rtl="0" eaLnBrk="0">
              <a:lnSpc>
                <a:spcPct val="107000"/>
              </a:lnSpc>
              <a:spcBef>
                <a:spcPts val="1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教材／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练习资源丰富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，支持随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堂练习与模考，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监测学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习进度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2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zhixueyun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52" name="picture 185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9336506" y="5647359"/>
            <a:ext cx="122987" cy="168859"/>
          </a:xfrm>
          <a:prstGeom prst="rect">
            <a:avLst/>
          </a:prstGeom>
        </p:spPr>
      </p:pic>
      <p:pic>
        <p:nvPicPr>
          <p:cNvPr id="1854" name="picture 1854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9336506" y="5045379"/>
            <a:ext cx="122987" cy="168859"/>
          </a:xfrm>
          <a:prstGeom prst="rect">
            <a:avLst/>
          </a:prstGeom>
        </p:spPr>
      </p:pic>
      <p:pic>
        <p:nvPicPr>
          <p:cNvPr id="1856" name="picture 185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9336506" y="4443399"/>
            <a:ext cx="122987" cy="168859"/>
          </a:xfrm>
          <a:prstGeom prst="rect">
            <a:avLst/>
          </a:prstGeom>
        </p:spPr>
      </p:pic>
      <p:sp>
        <p:nvSpPr>
          <p:cNvPr id="1858" name="textbox 1858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学习工具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60" name="picture 186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6731507" y="626364"/>
            <a:ext cx="1781555" cy="560832"/>
          </a:xfrm>
          <a:prstGeom prst="rect">
            <a:avLst/>
          </a:prstGeom>
        </p:spPr>
      </p:pic>
      <p:pic>
        <p:nvPicPr>
          <p:cNvPr id="1862" name="picture 1862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9758171" y="3640835"/>
            <a:ext cx="1467611" cy="550164"/>
          </a:xfrm>
          <a:prstGeom prst="rect">
            <a:avLst/>
          </a:prstGeom>
        </p:spPr>
      </p:pic>
      <p:pic>
        <p:nvPicPr>
          <p:cNvPr id="1864" name="picture 1864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3991355" y="655320"/>
            <a:ext cx="1371600" cy="502920"/>
          </a:xfrm>
          <a:prstGeom prst="rect">
            <a:avLst/>
          </a:prstGeom>
        </p:spPr>
      </p:pic>
      <p:sp>
        <p:nvSpPr>
          <p:cNvPr id="1866" name="textbox 1866"/>
          <p:cNvSpPr/>
          <p:nvPr/>
        </p:nvSpPr>
        <p:spPr>
          <a:xfrm>
            <a:off x="3760723" y="3699763"/>
            <a:ext cx="1596389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37515" algn="l" rtl="0" eaLnBrk="0">
              <a:lnSpc>
                <a:spcPts val="2282"/>
              </a:lnSpc>
              <a:spcBef>
                <a:spcPts val="2"/>
              </a:spcBef>
              <a:tabLst>
                <a:tab pos="744219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Conbrie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68" name="picture 1868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3773423" y="3712463"/>
            <a:ext cx="425196" cy="406908"/>
          </a:xfrm>
          <a:prstGeom prst="rect">
            <a:avLst/>
          </a:prstGeom>
        </p:spPr>
      </p:pic>
      <p:sp>
        <p:nvSpPr>
          <p:cNvPr id="1870" name="textbox 1870"/>
          <p:cNvSpPr/>
          <p:nvPr/>
        </p:nvSpPr>
        <p:spPr>
          <a:xfrm>
            <a:off x="6857492" y="3690619"/>
            <a:ext cx="1245869" cy="450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63550" algn="l" rtl="0" eaLnBrk="0">
              <a:lnSpc>
                <a:spcPts val="2282"/>
              </a:lnSpc>
              <a:spcBef>
                <a:spcPts val="1"/>
              </a:spcBef>
              <a:tabLst>
                <a:tab pos="56070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松鼠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72" name="picture 1872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21600000">
            <a:off x="6870192" y="3703319"/>
            <a:ext cx="451104" cy="425196"/>
          </a:xfrm>
          <a:prstGeom prst="rect">
            <a:avLst/>
          </a:prstGeom>
        </p:spPr>
      </p:pic>
      <p:pic>
        <p:nvPicPr>
          <p:cNvPr id="1874" name="picture 1874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21600000">
            <a:off x="1193291" y="731520"/>
            <a:ext cx="1150619" cy="350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8"/>
          <p:cNvGrpSpPr/>
          <p:nvPr/>
        </p:nvGrpSpPr>
        <p:grpSpPr>
          <a:xfrm rot="21600000">
            <a:off x="381000" y="3794759"/>
            <a:ext cx="2700527" cy="2810256"/>
            <a:chOff x="0" y="0"/>
            <a:chExt cx="2700527" cy="2810256"/>
          </a:xfrm>
        </p:grpSpPr>
        <p:pic>
          <p:nvPicPr>
            <p:cNvPr id="1876" name="picture 187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0527" cy="2810256"/>
            </a:xfrm>
            <a:prstGeom prst="rect">
              <a:avLst/>
            </a:prstGeom>
          </p:spPr>
        </p:pic>
        <p:sp>
          <p:nvSpPr>
            <p:cNvPr id="1878" name="textbox 1878"/>
            <p:cNvSpPr/>
            <p:nvPr/>
          </p:nvSpPr>
          <p:spPr>
            <a:xfrm>
              <a:off x="-12700" y="-12700"/>
              <a:ext cx="2726054" cy="28473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0694" indent="-273684" algn="l" rtl="0" eaLnBrk="0">
                <a:lnSpc>
                  <a:spcPct val="104000"/>
                </a:lnSpc>
                <a:spcBef>
                  <a:spcPts val="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支持快速部署和可视化配置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自动建模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IT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生产力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平台注重数据安全和准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确性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8765" algn="l" rtl="0" eaLnBrk="0">
                <a:lnSpc>
                  <a:spcPct val="105000"/>
                </a:lnSpc>
                <a:spcBef>
                  <a:spcPts val="28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北极九章赋能全员全场景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用于不同行业和角色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，助力企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业释放数据价值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，推动数字化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10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https://datarc.cn/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80" name="picture 188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4411" y="2009444"/>
              <a:ext cx="122986" cy="168859"/>
            </a:xfrm>
            <a:prstGeom prst="rect">
              <a:avLst/>
            </a:prstGeom>
          </p:spPr>
        </p:pic>
        <p:pic>
          <p:nvPicPr>
            <p:cNvPr id="1882" name="picture 188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4411" y="1206805"/>
              <a:ext cx="122986" cy="168859"/>
            </a:xfrm>
            <a:prstGeom prst="rect">
              <a:avLst/>
            </a:prstGeom>
          </p:spPr>
        </p:pic>
        <p:pic>
          <p:nvPicPr>
            <p:cNvPr id="1884" name="picture 188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4411" y="604825"/>
              <a:ext cx="122986" cy="168859"/>
            </a:xfrm>
            <a:prstGeom prst="rect">
              <a:avLst/>
            </a:prstGeom>
          </p:spPr>
        </p:pic>
      </p:grpSp>
      <p:pic>
        <p:nvPicPr>
          <p:cNvPr id="1886" name="picture 18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04376" y="4206240"/>
            <a:ext cx="2699004" cy="2421635"/>
          </a:xfrm>
          <a:prstGeom prst="rect">
            <a:avLst/>
          </a:prstGeom>
        </p:spPr>
      </p:pic>
      <p:pic>
        <p:nvPicPr>
          <p:cNvPr id="1888" name="picture 188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81000" y="1301496"/>
            <a:ext cx="2700527" cy="2339339"/>
          </a:xfrm>
          <a:prstGeom prst="rect">
            <a:avLst/>
          </a:prstGeom>
        </p:spPr>
      </p:pic>
      <p:pic>
        <p:nvPicPr>
          <p:cNvPr id="1890" name="picture 189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104376" y="1301496"/>
            <a:ext cx="2699004" cy="2339339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 rot="21600000">
            <a:off x="3285744" y="4341867"/>
            <a:ext cx="2706624" cy="2269244"/>
            <a:chOff x="0" y="0"/>
            <a:chExt cx="2706624" cy="2269244"/>
          </a:xfrm>
        </p:grpSpPr>
        <p:pic>
          <p:nvPicPr>
            <p:cNvPr id="1892" name="picture 189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706624" cy="2269244"/>
            </a:xfrm>
            <a:prstGeom prst="rect">
              <a:avLst/>
            </a:prstGeom>
          </p:spPr>
        </p:pic>
        <p:sp>
          <p:nvSpPr>
            <p:cNvPr id="1894" name="textbox 1894"/>
            <p:cNvSpPr/>
            <p:nvPr/>
          </p:nvSpPr>
          <p:spPr>
            <a:xfrm>
              <a:off x="-12700" y="-12700"/>
              <a:ext cx="2732404" cy="2306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487044" indent="-278129" algn="l" rtl="0" eaLnBrk="0">
                <a:lnSpc>
                  <a:spcPct val="107000"/>
                </a:lnSpc>
                <a:spcBef>
                  <a:spcPts val="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 AI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的智能文档处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理平台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支持自动提取各类文档中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的数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859" algn="l" rtl="0" eaLnBrk="0">
                <a:lnSpc>
                  <a:spcPct val="107000"/>
                </a:lnSpc>
                <a:spcBef>
                  <a:spcPts val="248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结合</a:t>
              </a:r>
              <a:r>
                <a:rPr sz="1200" kern="0" spc="2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LLM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和视觉模型技术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确保数据提取的高效性和准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确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性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。用户只需上传样本文档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定义数据字段，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即可基于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API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将结构化数据无缝集成到现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工作流程中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8915" algn="l" rtl="0" eaLnBrk="0">
                <a:lnSpc>
                  <a:spcPct val="105000"/>
                </a:lnSpc>
                <a:spcBef>
                  <a:spcPts val="97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https://www.formx.ai/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96" name="picture 189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6697" y="1863656"/>
              <a:ext cx="122986" cy="168859"/>
            </a:xfrm>
            <a:prstGeom prst="rect">
              <a:avLst/>
            </a:prstGeom>
          </p:spPr>
        </p:pic>
        <p:pic>
          <p:nvPicPr>
            <p:cNvPr id="1898" name="picture 189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6697" y="659696"/>
              <a:ext cx="122986" cy="168859"/>
            </a:xfrm>
            <a:prstGeom prst="rect">
              <a:avLst/>
            </a:prstGeom>
          </p:spPr>
        </p:pic>
        <p:pic>
          <p:nvPicPr>
            <p:cNvPr id="1900" name="picture 190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6697" y="57717"/>
              <a:ext cx="122986" cy="168859"/>
            </a:xfrm>
            <a:prstGeom prst="rect">
              <a:avLst/>
            </a:prstGeom>
          </p:spPr>
        </p:pic>
      </p:grpSp>
      <p:grpSp>
        <p:nvGrpSpPr>
          <p:cNvPr id="62" name="group 62"/>
          <p:cNvGrpSpPr/>
          <p:nvPr/>
        </p:nvGrpSpPr>
        <p:grpSpPr>
          <a:xfrm rot="21600000">
            <a:off x="6193535" y="4341867"/>
            <a:ext cx="2706623" cy="2269244"/>
            <a:chOff x="0" y="0"/>
            <a:chExt cx="2706623" cy="2269244"/>
          </a:xfrm>
        </p:grpSpPr>
        <p:pic>
          <p:nvPicPr>
            <p:cNvPr id="1902" name="picture 190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706623" cy="2269244"/>
            </a:xfrm>
            <a:prstGeom prst="rect">
              <a:avLst/>
            </a:prstGeom>
          </p:spPr>
        </p:pic>
        <p:sp>
          <p:nvSpPr>
            <p:cNvPr id="1904" name="textbox 1904"/>
            <p:cNvSpPr/>
            <p:nvPr/>
          </p:nvSpPr>
          <p:spPr>
            <a:xfrm>
              <a:off x="-12700" y="-12700"/>
              <a:ext cx="2732404" cy="23056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485140" indent="-276225" algn="l" rtl="0" eaLnBrk="0">
                <a:lnSpc>
                  <a:spcPct val="106000"/>
                </a:lnSpc>
                <a:spcBef>
                  <a:spcPts val="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帮助用户高效处理数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据和自动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化工作流程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。支持创建自定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表单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、自动化电子表格任务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智能数据分析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、数据清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理及构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建定制解决方案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3684" algn="l" rtl="0" eaLnBrk="0">
                <a:lnSpc>
                  <a:spcPct val="110000"/>
                </a:lnSpc>
                <a:spcBef>
                  <a:spcPts val="9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 户 能 轻 松 连 接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E x c e l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Google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Sheets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SQL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等数据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源，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生成可视化仪表板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，通过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AI驱动的分析获得即时洞察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8915" algn="l" rtl="0" eaLnBrk="0">
                <a:lnSpc>
                  <a:spcPct val="104000"/>
                </a:lnSpc>
                <a:spcBef>
                  <a:spcPts val="7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https://ajelix.com/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906" name="picture 1906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6570" y="1863656"/>
              <a:ext cx="122986" cy="168859"/>
            </a:xfrm>
            <a:prstGeom prst="rect">
              <a:avLst/>
            </a:prstGeom>
          </p:spPr>
        </p:pic>
        <p:pic>
          <p:nvPicPr>
            <p:cNvPr id="1908" name="picture 1908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6570" y="1061017"/>
              <a:ext cx="122986" cy="168859"/>
            </a:xfrm>
            <a:prstGeom prst="rect">
              <a:avLst/>
            </a:prstGeom>
          </p:spPr>
        </p:pic>
        <p:pic>
          <p:nvPicPr>
            <p:cNvPr id="1910" name="picture 191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6570" y="57717"/>
              <a:ext cx="122986" cy="168859"/>
            </a:xfrm>
            <a:prstGeom prst="rect">
              <a:avLst/>
            </a:prstGeom>
          </p:spPr>
        </p:pic>
      </p:grpSp>
      <p:pic>
        <p:nvPicPr>
          <p:cNvPr id="1912" name="picture 19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285744" y="1437906"/>
            <a:ext cx="2706624" cy="2205977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 rot="21600000">
            <a:off x="6193535" y="1437906"/>
            <a:ext cx="2706623" cy="2205977"/>
            <a:chOff x="0" y="0"/>
            <a:chExt cx="2706623" cy="2205977"/>
          </a:xfrm>
        </p:grpSpPr>
        <p:pic>
          <p:nvPicPr>
            <p:cNvPr id="1914" name="picture 1914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0" y="0"/>
              <a:ext cx="2706623" cy="2205977"/>
            </a:xfrm>
            <a:prstGeom prst="rect">
              <a:avLst/>
            </a:prstGeom>
          </p:spPr>
        </p:pic>
        <p:sp>
          <p:nvSpPr>
            <p:cNvPr id="1916" name="textbox 1916"/>
            <p:cNvSpPr/>
            <p:nvPr/>
          </p:nvSpPr>
          <p:spPr>
            <a:xfrm>
              <a:off x="-12700" y="-12700"/>
              <a:ext cx="2732404" cy="2242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488315" indent="-278765" algn="l" rtl="0" eaLnBrk="0">
                <a:lnSpc>
                  <a:spcPct val="108000"/>
                </a:lnSpc>
                <a:spcBef>
                  <a:spcPts val="1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引擎：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面向数据智能的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智能体平台，聚焦结构化数据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满足企业多样化的数据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智能需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3684" algn="l" rtl="0" eaLnBrk="0">
                <a:lnSpc>
                  <a:spcPct val="108000"/>
                </a:lnSpc>
                <a:spcBef>
                  <a:spcPts val="137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画卷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：专注于数据分析场景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生产力工具，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为数据分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析 师 提 供 沉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浸 式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   V ib e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Analyzing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体验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，助力数据探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索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、报表创作与智能生成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07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https://www.asktabl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e.com/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918" name="picture 1918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7205" y="1865033"/>
              <a:ext cx="122987" cy="168859"/>
            </a:xfrm>
            <a:prstGeom prst="rect">
              <a:avLst/>
            </a:prstGeom>
          </p:spPr>
        </p:pic>
        <p:pic>
          <p:nvPicPr>
            <p:cNvPr id="1920" name="picture 1920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7205" y="861733"/>
              <a:ext cx="122987" cy="168859"/>
            </a:xfrm>
            <a:prstGeom prst="rect">
              <a:avLst/>
            </a:prstGeom>
          </p:spPr>
        </p:pic>
        <p:pic>
          <p:nvPicPr>
            <p:cNvPr id="1922" name="picture 1922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7205" y="59093"/>
              <a:ext cx="122987" cy="168859"/>
            </a:xfrm>
            <a:prstGeom prst="rect">
              <a:avLst/>
            </a:prstGeom>
          </p:spPr>
        </p:pic>
      </p:grpSp>
      <p:pic>
        <p:nvPicPr>
          <p:cNvPr id="1924" name="picture 1924">
            <a:hlinkClick r:id="rId27" action="ppaction://hlinkfile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284969" y="6191884"/>
            <a:ext cx="2337434" cy="401320"/>
          </a:xfrm>
          <a:prstGeom prst="rect">
            <a:avLst/>
          </a:prstGeom>
        </p:spPr>
      </p:pic>
      <p:sp>
        <p:nvSpPr>
          <p:cNvPr id="1926" name="textbox 1926"/>
          <p:cNvSpPr/>
          <p:nvPr/>
        </p:nvSpPr>
        <p:spPr>
          <a:xfrm>
            <a:off x="9285071" y="4369054"/>
            <a:ext cx="2433320" cy="2235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Excel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超级智能体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，能快速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处理复杂的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Excel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任务，例如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分析数据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、生成图表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、构建金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融模型等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8000"/>
              </a:lnSpc>
              <a:spcBef>
                <a:spcPts val="12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支持绘制像素艺术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Shortcut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的高效性和智能化功能使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为处理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Excel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任务的理想选择，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适合需要快速整理和分析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的用户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07000"/>
              </a:lnSpc>
              <a:spcBef>
                <a:spcPts val="11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https://www.tryshortcut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.ai/?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utm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_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source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=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web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note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28" name="picture 192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297771" y="6205524"/>
            <a:ext cx="122987" cy="168859"/>
          </a:xfrm>
          <a:prstGeom prst="rect">
            <a:avLst/>
          </a:prstGeom>
        </p:spPr>
      </p:pic>
      <p:pic>
        <p:nvPicPr>
          <p:cNvPr id="1930" name="picture 19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297771" y="5202224"/>
            <a:ext cx="122987" cy="168859"/>
          </a:xfrm>
          <a:prstGeom prst="rect">
            <a:avLst/>
          </a:prstGeom>
        </p:spPr>
      </p:pic>
      <p:pic>
        <p:nvPicPr>
          <p:cNvPr id="1932" name="picture 193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9297771" y="4399584"/>
            <a:ext cx="122987" cy="168859"/>
          </a:xfrm>
          <a:prstGeom prst="rect">
            <a:avLst/>
          </a:prstGeom>
        </p:spPr>
      </p:pic>
      <p:pic>
        <p:nvPicPr>
          <p:cNvPr id="1934" name="picture 1934">
            <a:hlinkClick r:id="rId28" action="ppaction://hlinkfile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285604" y="3088640"/>
            <a:ext cx="2337435" cy="401319"/>
          </a:xfrm>
          <a:prstGeom prst="rect">
            <a:avLst/>
          </a:prstGeom>
        </p:spPr>
      </p:pic>
      <p:sp>
        <p:nvSpPr>
          <p:cNvPr id="1936" name="textbox 1936"/>
          <p:cNvSpPr/>
          <p:nvPr/>
        </p:nvSpPr>
        <p:spPr>
          <a:xfrm>
            <a:off x="9285706" y="1466469"/>
            <a:ext cx="2350135" cy="2054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7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腾讯灯塔推出的</a:t>
            </a:r>
            <a:r>
              <a:rPr sz="12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原生大数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据分析工具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，支持多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源数据无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缝整合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，可实时接入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业务数据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库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，能读取图片中的表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格数据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6000"/>
              </a:lnSpc>
              <a:spcBef>
                <a:spcPts val="13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具备列特征实时预览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、一键分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组与透视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、函数公式智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能适配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等功能，操作体验与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Excel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致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11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beacon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qq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tom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oro/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38" name="picture 193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9298406" y="3102279"/>
            <a:ext cx="122987" cy="168859"/>
          </a:xfrm>
          <a:prstGeom prst="rect">
            <a:avLst/>
          </a:prstGeom>
        </p:spPr>
      </p:pic>
      <p:pic>
        <p:nvPicPr>
          <p:cNvPr id="1940" name="picture 194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9298406" y="2299639"/>
            <a:ext cx="122987" cy="168859"/>
          </a:xfrm>
          <a:prstGeom prst="rect">
            <a:avLst/>
          </a:prstGeom>
        </p:spPr>
      </p:pic>
      <p:pic>
        <p:nvPicPr>
          <p:cNvPr id="1942" name="picture 194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9298406" y="1497000"/>
            <a:ext cx="122987" cy="168859"/>
          </a:xfrm>
          <a:prstGeom prst="rect">
            <a:avLst/>
          </a:prstGeom>
        </p:spPr>
      </p:pic>
      <p:pic>
        <p:nvPicPr>
          <p:cNvPr id="1944" name="picture 1944">
            <a:hlinkClick r:id="rId37" action="ppaction://hlinkfile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562609" y="3088640"/>
            <a:ext cx="2337435" cy="401319"/>
          </a:xfrm>
          <a:prstGeom prst="rect">
            <a:avLst/>
          </a:prstGeom>
        </p:spPr>
      </p:pic>
      <p:sp>
        <p:nvSpPr>
          <p:cNvPr id="1946" name="textbox 1946"/>
          <p:cNvSpPr/>
          <p:nvPr/>
        </p:nvSpPr>
        <p:spPr>
          <a:xfrm>
            <a:off x="562711" y="1466469"/>
            <a:ext cx="2350135" cy="2054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办公小浣熊 ，将</a:t>
            </a:r>
            <a:r>
              <a:rPr sz="12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大模型能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力与文档编辑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、数据分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析场景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深度结合，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为用户提供一站式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创作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、分析和知识管理平台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08000"/>
              </a:lnSpc>
              <a:spcBef>
                <a:spcPts val="9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原生一站式创作空间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，用户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可以通过对话式的交互，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完成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资料的检索收集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、文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档的撰写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编辑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、数据的处理分析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13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https://off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ice.xiaohuanxiong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48" name="picture 194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575411" y="3102279"/>
            <a:ext cx="122986" cy="168859"/>
          </a:xfrm>
          <a:prstGeom prst="rect">
            <a:avLst/>
          </a:prstGeom>
        </p:spPr>
      </p:pic>
      <p:pic>
        <p:nvPicPr>
          <p:cNvPr id="1950" name="picture 195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575411" y="2299639"/>
            <a:ext cx="122986" cy="168859"/>
          </a:xfrm>
          <a:prstGeom prst="rect">
            <a:avLst/>
          </a:prstGeom>
        </p:spPr>
      </p:pic>
      <p:pic>
        <p:nvPicPr>
          <p:cNvPr id="1952" name="picture 195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75411" y="1497000"/>
            <a:ext cx="122986" cy="168859"/>
          </a:xfrm>
          <a:prstGeom prst="rect">
            <a:avLst/>
          </a:prstGeom>
        </p:spPr>
      </p:pic>
      <p:pic>
        <p:nvPicPr>
          <p:cNvPr id="1954" name="picture 1954">
            <a:hlinkClick r:id="rId43" action="ppaction://hlinkfile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3470275" y="2887979"/>
            <a:ext cx="2337434" cy="401320"/>
          </a:xfrm>
          <a:prstGeom prst="rect">
            <a:avLst/>
          </a:prstGeom>
        </p:spPr>
      </p:pic>
      <p:sp>
        <p:nvSpPr>
          <p:cNvPr id="1956" name="textbox 1956"/>
          <p:cNvSpPr/>
          <p:nvPr/>
        </p:nvSpPr>
        <p:spPr>
          <a:xfrm>
            <a:off x="3470376" y="1466469"/>
            <a:ext cx="2422525" cy="1854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2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仅通过聊天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即可处理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Excel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和数据分析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6000"/>
              </a:lnSpc>
              <a:spcBef>
                <a:spcPts val="27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一句话即可完成多表合并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sheet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拆分 、数据清洗 、数据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查找等，一句话即可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完成求和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求差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、求平均值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、求极值等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支持同时完成多条件数据运算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2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chatexcel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58" name="picture 195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3483076" y="2901619"/>
            <a:ext cx="122986" cy="168859"/>
          </a:xfrm>
          <a:prstGeom prst="rect">
            <a:avLst/>
          </a:prstGeom>
        </p:spPr>
      </p:pic>
      <p:pic>
        <p:nvPicPr>
          <p:cNvPr id="1960" name="picture 196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3483076" y="1898319"/>
            <a:ext cx="122986" cy="168859"/>
          </a:xfrm>
          <a:prstGeom prst="rect">
            <a:avLst/>
          </a:prstGeom>
        </p:spPr>
      </p:pic>
      <p:pic>
        <p:nvPicPr>
          <p:cNvPr id="1962" name="picture 196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3483076" y="1497000"/>
            <a:ext cx="122986" cy="168859"/>
          </a:xfrm>
          <a:prstGeom prst="rect">
            <a:avLst/>
          </a:prstGeom>
        </p:spPr>
      </p:pic>
      <p:sp>
        <p:nvSpPr>
          <p:cNvPr id="1964" name="textbox 1964"/>
          <p:cNvSpPr/>
          <p:nvPr/>
        </p:nvSpPr>
        <p:spPr>
          <a:xfrm>
            <a:off x="80386" y="-36820"/>
            <a:ext cx="4373879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8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数据处理与分析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66" name="picture 196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pic>
        <p:nvPicPr>
          <p:cNvPr id="1968" name="picture 196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3750563" y="835152"/>
            <a:ext cx="1775460" cy="419100"/>
          </a:xfrm>
          <a:prstGeom prst="rect">
            <a:avLst/>
          </a:prstGeom>
        </p:spPr>
      </p:pic>
      <p:pic>
        <p:nvPicPr>
          <p:cNvPr id="1970" name="picture 197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9738359" y="835152"/>
            <a:ext cx="1431035" cy="419100"/>
          </a:xfrm>
          <a:prstGeom prst="rect">
            <a:avLst/>
          </a:prstGeom>
        </p:spPr>
      </p:pic>
      <p:pic>
        <p:nvPicPr>
          <p:cNvPr id="1972" name="picture 197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1078991" y="830579"/>
            <a:ext cx="1303019" cy="426720"/>
          </a:xfrm>
          <a:prstGeom prst="rect">
            <a:avLst/>
          </a:prstGeom>
        </p:spPr>
      </p:pic>
      <p:pic>
        <p:nvPicPr>
          <p:cNvPr id="1974" name="picture 1974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6967727" y="827531"/>
            <a:ext cx="1158240" cy="434340"/>
          </a:xfrm>
          <a:prstGeom prst="rect">
            <a:avLst/>
          </a:prstGeom>
        </p:spPr>
      </p:pic>
      <p:sp>
        <p:nvSpPr>
          <p:cNvPr id="1976" name="textbox 1976"/>
          <p:cNvSpPr/>
          <p:nvPr/>
        </p:nvSpPr>
        <p:spPr>
          <a:xfrm>
            <a:off x="3989323" y="3820159"/>
            <a:ext cx="1247775" cy="429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180"/>
              </a:lnSpc>
              <a:tabLst/>
            </a:pPr>
            <a:r>
              <a:rPr sz="2500" kern="0" spc="-260" dirty="0">
                <a:solidFill>
                  <a:srgbClr val="2CCDAA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2500" kern="0" spc="-450" dirty="0">
                <a:solidFill>
                  <a:srgbClr val="2CCDA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260" dirty="0">
                <a:solidFill>
                  <a:srgbClr val="2CCDAA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Form</a:t>
            </a:r>
            <a:r>
              <a:rPr sz="2500" kern="0" spc="-500" dirty="0">
                <a:solidFill>
                  <a:srgbClr val="2CCDA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260" dirty="0">
                <a:solidFill>
                  <a:srgbClr val="2CCDAA">
                    <a:alpha val="100000"/>
                  </a:srgbClr>
                </a:solidFill>
                <a:latin typeface="Arial"/>
                <a:ea typeface="Arial"/>
                <a:cs typeface="Arial"/>
              </a:rPr>
              <a:t>x.a</a:t>
            </a:r>
            <a:r>
              <a:rPr sz="2500" kern="0" spc="-170" dirty="0">
                <a:solidFill>
                  <a:srgbClr val="2CCDA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sp>
        <p:nvSpPr>
          <p:cNvPr id="1978" name="textbox 1978"/>
          <p:cNvSpPr/>
          <p:nvPr/>
        </p:nvSpPr>
        <p:spPr>
          <a:xfrm>
            <a:off x="9612884" y="3834120"/>
            <a:ext cx="1473200" cy="348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42"/>
              </a:lnSpc>
              <a:tabLst/>
            </a:pPr>
            <a:r>
              <a:rPr sz="2000" b="1" kern="0" spc="-100" dirty="0">
                <a:solidFill>
                  <a:srgbClr val="282A2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Shor</a:t>
            </a:r>
            <a:r>
              <a:rPr sz="2000" b="1" kern="0" spc="-90" dirty="0">
                <a:solidFill>
                  <a:srgbClr val="282A2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tcu</a:t>
            </a:r>
            <a:r>
              <a:rPr sz="2000" b="1" kern="0" spc="-50" dirty="0">
                <a:solidFill>
                  <a:srgbClr val="282A2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80" name="picture 1980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9625584" y="3901440"/>
            <a:ext cx="426719" cy="266700"/>
          </a:xfrm>
          <a:prstGeom prst="rect">
            <a:avLst/>
          </a:prstGeom>
        </p:spPr>
      </p:pic>
      <p:pic>
        <p:nvPicPr>
          <p:cNvPr id="1982" name="picture 1982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6967727" y="3840479"/>
            <a:ext cx="115824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6"/>
          <p:cNvGrpSpPr/>
          <p:nvPr/>
        </p:nvGrpSpPr>
        <p:grpSpPr>
          <a:xfrm rot="21600000">
            <a:off x="9111996" y="734567"/>
            <a:ext cx="2699004" cy="3049523"/>
            <a:chOff x="0" y="0"/>
            <a:chExt cx="2699004" cy="3049523"/>
          </a:xfrm>
        </p:grpSpPr>
        <p:pic>
          <p:nvPicPr>
            <p:cNvPr id="1984" name="picture 198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699004" cy="3049523"/>
            </a:xfrm>
            <a:prstGeom prst="rect">
              <a:avLst/>
            </a:prstGeom>
          </p:spPr>
        </p:pic>
        <p:sp>
          <p:nvSpPr>
            <p:cNvPr id="1986" name="textbox 1986"/>
            <p:cNvSpPr/>
            <p:nvPr/>
          </p:nvSpPr>
          <p:spPr>
            <a:xfrm>
              <a:off x="-12700" y="-12700"/>
              <a:ext cx="2724785" cy="30867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7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5775" indent="-279400" algn="l" rtl="0" eaLnBrk="0">
                <a:lnSpc>
                  <a:spcPct val="104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一句话图表生成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：输入分析需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求或图表描述，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即可智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能理解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并快速生成对应图表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9400" algn="l" rtl="0" eaLnBrk="0">
                <a:lnSpc>
                  <a:spcPct val="104000"/>
                </a:lnSpc>
                <a:spcBef>
                  <a:spcPts val="23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支持多种图表类型和样式，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能推荐最适合的可视化方案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可以一键导出高质量图表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1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https://aibiao.cn/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988" name="picture 19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4030" y="1968932"/>
              <a:ext cx="122987" cy="168859"/>
            </a:xfrm>
            <a:prstGeom prst="rect">
              <a:avLst/>
            </a:prstGeom>
          </p:spPr>
        </p:pic>
        <p:pic>
          <p:nvPicPr>
            <p:cNvPr id="1990" name="picture 199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4030" y="1366951"/>
              <a:ext cx="122987" cy="168859"/>
            </a:xfrm>
            <a:prstGeom prst="rect">
              <a:avLst/>
            </a:prstGeom>
          </p:spPr>
        </p:pic>
        <p:pic>
          <p:nvPicPr>
            <p:cNvPr id="1992" name="picture 19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4030" y="764971"/>
              <a:ext cx="122987" cy="168859"/>
            </a:xfrm>
            <a:prstGeom prst="rect">
              <a:avLst/>
            </a:prstGeom>
          </p:spPr>
        </p:pic>
      </p:grpSp>
      <p:pic>
        <p:nvPicPr>
          <p:cNvPr id="1994" name="picture 19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11996" y="3887723"/>
            <a:ext cx="2699004" cy="2862071"/>
          </a:xfrm>
          <a:prstGeom prst="rect">
            <a:avLst/>
          </a:prstGeom>
        </p:spPr>
      </p:pic>
      <p:grpSp>
        <p:nvGrpSpPr>
          <p:cNvPr id="68" name="group 68"/>
          <p:cNvGrpSpPr/>
          <p:nvPr/>
        </p:nvGrpSpPr>
        <p:grpSpPr>
          <a:xfrm rot="21600000">
            <a:off x="388620" y="1263396"/>
            <a:ext cx="2700527" cy="2520695"/>
            <a:chOff x="0" y="0"/>
            <a:chExt cx="2700527" cy="2520695"/>
          </a:xfrm>
        </p:grpSpPr>
        <p:pic>
          <p:nvPicPr>
            <p:cNvPr id="1996" name="picture 19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700527" cy="2520695"/>
            </a:xfrm>
            <a:prstGeom prst="rect">
              <a:avLst/>
            </a:prstGeom>
          </p:spPr>
        </p:pic>
        <p:sp>
          <p:nvSpPr>
            <p:cNvPr id="1998" name="textbox 1998"/>
            <p:cNvSpPr/>
            <p:nvPr/>
          </p:nvSpPr>
          <p:spPr>
            <a:xfrm>
              <a:off x="-12700" y="-12700"/>
              <a:ext cx="2726054" cy="25577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234" indent="-276225" algn="l" rtl="0" eaLnBrk="0">
                <a:lnSpc>
                  <a:spcPct val="108000"/>
                </a:lnSpc>
                <a:spcBef>
                  <a:spcPts val="5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镝数科技推出的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数据可视化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和分析工具，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专注于为用户提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供便捷的图表生成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、数据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和报告撰写服务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0694" indent="-273684" algn="l" rtl="0" eaLnBrk="0">
                <a:lnSpc>
                  <a:spcPct val="109000"/>
                </a:lnSpc>
                <a:spcBef>
                  <a:spcPts val="14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爱图表已接入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DeepSeek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系列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，结合强大的数据处理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能力与智能化功能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，致力于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助职场人士高效处理和表达数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据，提升工作效率和报告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质量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1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https://aitubiao.co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000" name="picture 20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4411" y="2042083"/>
              <a:ext cx="122986" cy="168859"/>
            </a:xfrm>
            <a:prstGeom prst="rect">
              <a:avLst/>
            </a:prstGeom>
          </p:spPr>
        </p:pic>
        <p:pic>
          <p:nvPicPr>
            <p:cNvPr id="2002" name="picture 200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4411" y="1038783"/>
              <a:ext cx="122986" cy="168859"/>
            </a:xfrm>
            <a:prstGeom prst="rect">
              <a:avLst/>
            </a:prstGeom>
          </p:spPr>
        </p:pic>
        <p:pic>
          <p:nvPicPr>
            <p:cNvPr id="2004" name="picture 200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4411" y="236143"/>
              <a:ext cx="122986" cy="168859"/>
            </a:xfrm>
            <a:prstGeom prst="rect">
              <a:avLst/>
            </a:prstGeom>
          </p:spPr>
        </p:pic>
      </p:grpSp>
      <p:grpSp>
        <p:nvGrpSpPr>
          <p:cNvPr id="70" name="group 70"/>
          <p:cNvGrpSpPr/>
          <p:nvPr/>
        </p:nvGrpSpPr>
        <p:grpSpPr>
          <a:xfrm rot="21600000">
            <a:off x="388620" y="4351020"/>
            <a:ext cx="2700527" cy="2398775"/>
            <a:chOff x="0" y="0"/>
            <a:chExt cx="2700527" cy="2398775"/>
          </a:xfrm>
        </p:grpSpPr>
        <p:pic>
          <p:nvPicPr>
            <p:cNvPr id="2006" name="picture 200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700527" cy="2398775"/>
            </a:xfrm>
            <a:prstGeom prst="rect">
              <a:avLst/>
            </a:prstGeom>
          </p:spPr>
        </p:pic>
        <p:sp>
          <p:nvSpPr>
            <p:cNvPr id="2008" name="textbox 2008"/>
            <p:cNvSpPr/>
            <p:nvPr/>
          </p:nvSpPr>
          <p:spPr>
            <a:xfrm>
              <a:off x="-12700" y="-12700"/>
              <a:ext cx="2726054" cy="2435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484505" indent="-277495" algn="l" rtl="0" eaLnBrk="0">
                <a:lnSpc>
                  <a:spcPct val="105000"/>
                </a:lnSpc>
                <a:spcBef>
                  <a:spcPts val="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将用户输入的数据自动转化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图表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，并解释关键洞察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，用户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可以通过描述图表的主要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焦点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和类型来生成图表布局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9400" algn="l" rtl="0" eaLnBrk="0">
                <a:lnSpc>
                  <a:spcPct val="108000"/>
                </a:lnSpc>
                <a:spcBef>
                  <a:spcPts val="10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可以连接到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Google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Sheets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 ，直接导入数据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。适用于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需要从多个数据源整合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数据的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7009" algn="l" rtl="0" eaLnBrk="0">
                <a:lnSpc>
                  <a:spcPct val="104000"/>
                </a:lnSpc>
                <a:spcBef>
                  <a:spcPts val="11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https://graphy.app/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010" name="picture 201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4411" y="1689404"/>
              <a:ext cx="122986" cy="168859"/>
            </a:xfrm>
            <a:prstGeom prst="rect">
              <a:avLst/>
            </a:prstGeom>
          </p:spPr>
        </p:pic>
        <p:pic>
          <p:nvPicPr>
            <p:cNvPr id="2012" name="picture 201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4411" y="886764"/>
              <a:ext cx="122986" cy="168859"/>
            </a:xfrm>
            <a:prstGeom prst="rect">
              <a:avLst/>
            </a:prstGeom>
          </p:spPr>
        </p:pic>
        <p:pic>
          <p:nvPicPr>
            <p:cNvPr id="2014" name="picture 201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4411" y="84124"/>
              <a:ext cx="122986" cy="168859"/>
            </a:xfrm>
            <a:prstGeom prst="rect">
              <a:avLst/>
            </a:prstGeom>
          </p:spPr>
        </p:pic>
      </p:grpSp>
      <p:grpSp>
        <p:nvGrpSpPr>
          <p:cNvPr id="72" name="group 72"/>
          <p:cNvGrpSpPr/>
          <p:nvPr/>
        </p:nvGrpSpPr>
        <p:grpSpPr>
          <a:xfrm rot="21600000">
            <a:off x="3293363" y="1411955"/>
            <a:ext cx="2706624" cy="2375184"/>
            <a:chOff x="0" y="0"/>
            <a:chExt cx="2706624" cy="2375184"/>
          </a:xfrm>
        </p:grpSpPr>
        <p:pic>
          <p:nvPicPr>
            <p:cNvPr id="2016" name="picture 201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2706624" cy="2375184"/>
            </a:xfrm>
            <a:prstGeom prst="rect">
              <a:avLst/>
            </a:prstGeom>
          </p:spPr>
        </p:pic>
        <p:sp>
          <p:nvSpPr>
            <p:cNvPr id="2018" name="textbox 2018"/>
            <p:cNvSpPr/>
            <p:nvPr/>
          </p:nvSpPr>
          <p:spPr>
            <a:xfrm>
              <a:off x="-12700" y="-12700"/>
              <a:ext cx="2732404" cy="24123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487044" indent="-277495" algn="l" rtl="0" eaLnBrk="0">
                <a:lnSpc>
                  <a:spcPct val="107000"/>
                </a:lnSpc>
                <a:spcBef>
                  <a:spcPts val="1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新一代的数据生产力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于面向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API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的多维表格，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了电子表格和数据库的功能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允许用户将表格数据训练成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、AI线索收集器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、数据分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析师等智能工具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129" algn="l" rtl="0" eaLnBrk="0">
                <a:lnSpc>
                  <a:spcPct val="105000"/>
                </a:lnSpc>
                <a:spcBef>
                  <a:spcPts val="269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能够提供更加个性化和自动化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的可视化服务 ，帮助用户从繁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琐的数据管理中解放出来 ，提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高工作效率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10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https://vi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ka.cn/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020" name="picture 202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7332" y="2094183"/>
              <a:ext cx="122986" cy="168859"/>
            </a:xfrm>
            <a:prstGeom prst="rect">
              <a:avLst/>
            </a:prstGeom>
          </p:spPr>
        </p:pic>
        <p:pic>
          <p:nvPicPr>
            <p:cNvPr id="2022" name="picture 202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7332" y="1291544"/>
              <a:ext cx="122986" cy="168859"/>
            </a:xfrm>
            <a:prstGeom prst="rect">
              <a:avLst/>
            </a:prstGeom>
          </p:spPr>
        </p:pic>
        <p:pic>
          <p:nvPicPr>
            <p:cNvPr id="2024" name="picture 202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7332" y="87584"/>
              <a:ext cx="122986" cy="168859"/>
            </a:xfrm>
            <a:prstGeom prst="rect">
              <a:avLst/>
            </a:prstGeom>
          </p:spPr>
        </p:pic>
      </p:grpSp>
      <p:grpSp>
        <p:nvGrpSpPr>
          <p:cNvPr id="74" name="group 74"/>
          <p:cNvGrpSpPr/>
          <p:nvPr/>
        </p:nvGrpSpPr>
        <p:grpSpPr>
          <a:xfrm rot="21600000">
            <a:off x="6201155" y="1411955"/>
            <a:ext cx="2706624" cy="2375184"/>
            <a:chOff x="0" y="0"/>
            <a:chExt cx="2706624" cy="2375184"/>
          </a:xfrm>
        </p:grpSpPr>
        <p:pic>
          <p:nvPicPr>
            <p:cNvPr id="2026" name="picture 2026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0" y="0"/>
              <a:ext cx="2706624" cy="2375184"/>
            </a:xfrm>
            <a:prstGeom prst="rect">
              <a:avLst/>
            </a:prstGeom>
          </p:spPr>
        </p:pic>
        <p:sp>
          <p:nvSpPr>
            <p:cNvPr id="2028" name="textbox 2028"/>
            <p:cNvSpPr/>
            <p:nvPr/>
          </p:nvSpPr>
          <p:spPr>
            <a:xfrm>
              <a:off x="-12700" y="-12700"/>
              <a:ext cx="2732404" cy="2411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87044" indent="-277495" algn="l" rtl="0" eaLnBrk="0">
                <a:lnSpc>
                  <a:spcPct val="108000"/>
                </a:lnSpc>
                <a:spcBef>
                  <a:spcPts val="3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原生图表工具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，无需绘图经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验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，上传文档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，或与AI对话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即可生成思维导图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、流程图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表格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、看板等可视化内容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109000"/>
                </a:lnSpc>
                <a:spcBef>
                  <a:spcPts val="127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专业的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图表工具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，兼容多种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图表类型，支持团队多人协作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在线编辑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、云端存储，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高效整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理知识结构，优化工作流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26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https://www.fluig.cn/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030" name="picture 203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7205" y="1692864"/>
              <a:ext cx="122987" cy="168859"/>
            </a:xfrm>
            <a:prstGeom prst="rect">
              <a:avLst/>
            </a:prstGeom>
          </p:spPr>
        </p:pic>
        <p:pic>
          <p:nvPicPr>
            <p:cNvPr id="2032" name="picture 203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7205" y="890223"/>
              <a:ext cx="122987" cy="168859"/>
            </a:xfrm>
            <a:prstGeom prst="rect">
              <a:avLst/>
            </a:prstGeom>
          </p:spPr>
        </p:pic>
        <p:pic>
          <p:nvPicPr>
            <p:cNvPr id="2034" name="picture 2034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7205" y="87584"/>
              <a:ext cx="122987" cy="168859"/>
            </a:xfrm>
            <a:prstGeom prst="rect">
              <a:avLst/>
            </a:prstGeom>
          </p:spPr>
        </p:pic>
      </p:grpSp>
      <p:grpSp>
        <p:nvGrpSpPr>
          <p:cNvPr id="76" name="group 76"/>
          <p:cNvGrpSpPr/>
          <p:nvPr/>
        </p:nvGrpSpPr>
        <p:grpSpPr>
          <a:xfrm rot="21600000">
            <a:off x="6201155" y="4416993"/>
            <a:ext cx="2706624" cy="2332803"/>
            <a:chOff x="0" y="0"/>
            <a:chExt cx="2706624" cy="2332803"/>
          </a:xfrm>
        </p:grpSpPr>
        <p:pic>
          <p:nvPicPr>
            <p:cNvPr id="2036" name="picture 203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0" y="0"/>
              <a:ext cx="2706624" cy="2332803"/>
            </a:xfrm>
            <a:prstGeom prst="rect">
              <a:avLst/>
            </a:prstGeom>
          </p:spPr>
        </p:pic>
        <p:sp>
          <p:nvSpPr>
            <p:cNvPr id="2038" name="textbox 2038"/>
            <p:cNvSpPr/>
            <p:nvPr/>
          </p:nvSpPr>
          <p:spPr>
            <a:xfrm>
              <a:off x="-12700" y="-12700"/>
              <a:ext cx="2732404" cy="2369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389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6859" algn="l" rtl="0" eaLnBrk="0">
                <a:lnSpc>
                  <a:spcPct val="108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AI驱动数据分析和可视化工具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提供多种数据可视化选项和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叙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事报告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，帮助用户更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好地理解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和传达数据洞察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129" algn="l" rtl="0" eaLnBrk="0">
                <a:lnSpc>
                  <a:spcPct val="104000"/>
                </a:lnSpc>
                <a:spcBef>
                  <a:spcPts val="25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用户可以通过自然语言提问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系统会根据问题生成相应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的数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据分析和可视化结果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04000"/>
                </a:lnSpc>
                <a:spcBef>
                  <a:spcPts val="238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帮助用户轻松整合和清洗数据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无需依赖数据工程师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即可进行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高级数据分析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18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w.breadcrumb.ai/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040" name="picture 2040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7205" y="2024751"/>
              <a:ext cx="122987" cy="168859"/>
            </a:xfrm>
            <a:prstGeom prst="rect">
              <a:avLst/>
            </a:prstGeom>
          </p:spPr>
        </p:pic>
        <p:pic>
          <p:nvPicPr>
            <p:cNvPr id="2042" name="picture 2042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7205" y="1422771"/>
              <a:ext cx="122987" cy="168859"/>
            </a:xfrm>
            <a:prstGeom prst="rect">
              <a:avLst/>
            </a:prstGeom>
          </p:spPr>
        </p:pic>
        <p:pic>
          <p:nvPicPr>
            <p:cNvPr id="2044" name="picture 2044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7205" y="820791"/>
              <a:ext cx="122987" cy="168859"/>
            </a:xfrm>
            <a:prstGeom prst="rect">
              <a:avLst/>
            </a:prstGeom>
          </p:spPr>
        </p:pic>
        <p:pic>
          <p:nvPicPr>
            <p:cNvPr id="2046" name="picture 204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97205" y="18151"/>
              <a:ext cx="122987" cy="168859"/>
            </a:xfrm>
            <a:prstGeom prst="rect">
              <a:avLst/>
            </a:prstGeom>
          </p:spPr>
        </p:pic>
      </p:grpSp>
      <p:grpSp>
        <p:nvGrpSpPr>
          <p:cNvPr id="78" name="group 78"/>
          <p:cNvGrpSpPr/>
          <p:nvPr/>
        </p:nvGrpSpPr>
        <p:grpSpPr>
          <a:xfrm rot="21600000">
            <a:off x="3293363" y="4417314"/>
            <a:ext cx="2706624" cy="2327909"/>
            <a:chOff x="0" y="0"/>
            <a:chExt cx="2706624" cy="2327909"/>
          </a:xfrm>
        </p:grpSpPr>
        <p:pic>
          <p:nvPicPr>
            <p:cNvPr id="2048" name="picture 2048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0" y="58665"/>
              <a:ext cx="2706624" cy="2269244"/>
            </a:xfrm>
            <a:prstGeom prst="rect">
              <a:avLst/>
            </a:prstGeom>
          </p:spPr>
        </p:pic>
        <p:sp>
          <p:nvSpPr>
            <p:cNvPr id="2050" name="textbox 2050"/>
            <p:cNvSpPr/>
            <p:nvPr/>
          </p:nvSpPr>
          <p:spPr>
            <a:xfrm>
              <a:off x="-12700" y="-12700"/>
              <a:ext cx="2732404" cy="23641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90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5775" indent="-276225" algn="l" rtl="0" eaLnBrk="0">
                <a:lnSpc>
                  <a:spcPct val="107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依托于大型语言模型（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LLM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，帮助用户快速将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各种数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据转化为直观的视觉图表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3684" algn="l" rtl="0" eaLnBrk="0">
                <a:lnSpc>
                  <a:spcPct val="107000"/>
                </a:lnSpc>
                <a:spcBef>
                  <a:spcPts val="274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适用于需要处理和分析大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，但又缺乏专业数据可视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技能的用户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。通过提供简洁的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界面和强大的数据处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理能力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V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izzy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能够有效解决数据解读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难题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，提升数据分析的效率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准确性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17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https://www.videez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y.com/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052" name="picture 2052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197332" y="2024430"/>
              <a:ext cx="122986" cy="168859"/>
            </a:xfrm>
            <a:prstGeom prst="rect">
              <a:avLst/>
            </a:prstGeom>
          </p:spPr>
        </p:pic>
        <p:pic>
          <p:nvPicPr>
            <p:cNvPr id="2054" name="picture 205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197332" y="619810"/>
              <a:ext cx="122986" cy="168859"/>
            </a:xfrm>
            <a:prstGeom prst="rect">
              <a:avLst/>
            </a:prstGeom>
          </p:spPr>
        </p:pic>
        <p:pic>
          <p:nvPicPr>
            <p:cNvPr id="2056" name="picture 2056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 rot="21600000">
              <a:off x="197332" y="17830"/>
              <a:ext cx="122986" cy="168859"/>
            </a:xfrm>
            <a:prstGeom prst="rect">
              <a:avLst/>
            </a:prstGeom>
          </p:spPr>
        </p:pic>
      </p:grpSp>
      <p:pic>
        <p:nvPicPr>
          <p:cNvPr id="2058" name="picture 2058">
            <a:hlinkClick r:id="rId40" action="ppaction://hlinkfile"/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9293225" y="6026784"/>
            <a:ext cx="2337434" cy="401320"/>
          </a:xfrm>
          <a:prstGeom prst="rect">
            <a:avLst/>
          </a:prstGeom>
        </p:spPr>
      </p:pic>
      <p:sp>
        <p:nvSpPr>
          <p:cNvPr id="2060" name="textbox 2060"/>
          <p:cNvSpPr/>
          <p:nvPr/>
        </p:nvSpPr>
        <p:spPr>
          <a:xfrm>
            <a:off x="9293326" y="4422444"/>
            <a:ext cx="2350135" cy="2037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5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在将枯燥的数据统计转化为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动有趣的动态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GIF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或视频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。该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产品面向需要以视觉化方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式展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示数据的业务专业人士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6000"/>
              </a:lnSpc>
              <a:spcBef>
                <a:spcPts val="22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通过其用户友好的界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，用户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可以选择模板，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自定义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背景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颜色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、字体等，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以增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强数据的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吸引力和互动性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1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animstats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62" name="picture 206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9306026" y="6040424"/>
            <a:ext cx="122987" cy="168859"/>
          </a:xfrm>
          <a:prstGeom prst="rect">
            <a:avLst/>
          </a:prstGeom>
        </p:spPr>
      </p:pic>
      <p:pic>
        <p:nvPicPr>
          <p:cNvPr id="2064" name="picture 2064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9306026" y="5237784"/>
            <a:ext cx="122987" cy="168859"/>
          </a:xfrm>
          <a:prstGeom prst="rect">
            <a:avLst/>
          </a:prstGeom>
        </p:spPr>
      </p:pic>
      <p:pic>
        <p:nvPicPr>
          <p:cNvPr id="2066" name="picture 206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9306026" y="4435144"/>
            <a:ext cx="122987" cy="168859"/>
          </a:xfrm>
          <a:prstGeom prst="rect">
            <a:avLst/>
          </a:prstGeom>
        </p:spPr>
      </p:pic>
      <p:pic>
        <p:nvPicPr>
          <p:cNvPr id="2068" name="picture 206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070" name="textbox 2070"/>
          <p:cNvSpPr/>
          <p:nvPr/>
        </p:nvSpPr>
        <p:spPr>
          <a:xfrm>
            <a:off x="80386" y="-36820"/>
            <a:ext cx="3280409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7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72" name="picture 207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3991355" y="739139"/>
            <a:ext cx="1310639" cy="541020"/>
          </a:xfrm>
          <a:prstGeom prst="rect">
            <a:avLst/>
          </a:prstGeom>
        </p:spPr>
      </p:pic>
      <p:pic>
        <p:nvPicPr>
          <p:cNvPr id="2074" name="picture 207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4014215" y="3860292"/>
            <a:ext cx="1264920" cy="548639"/>
          </a:xfrm>
          <a:prstGeom prst="rect">
            <a:avLst/>
          </a:prstGeom>
        </p:spPr>
      </p:pic>
      <p:pic>
        <p:nvPicPr>
          <p:cNvPr id="2076" name="picture 207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1063751" y="769620"/>
            <a:ext cx="1348739" cy="480059"/>
          </a:xfrm>
          <a:prstGeom prst="rect">
            <a:avLst/>
          </a:prstGeom>
        </p:spPr>
      </p:pic>
      <p:sp>
        <p:nvSpPr>
          <p:cNvPr id="2078" name="textbox 2078"/>
          <p:cNvSpPr/>
          <p:nvPr/>
        </p:nvSpPr>
        <p:spPr>
          <a:xfrm>
            <a:off x="6599935" y="3958843"/>
            <a:ext cx="1908175" cy="353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500" kern="0" spc="-90" dirty="0">
                <a:solidFill>
                  <a:srgbClr val="46425F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⃞bread</a:t>
            </a:r>
            <a:r>
              <a:rPr sz="2500" kern="0" spc="-500" dirty="0">
                <a:solidFill>
                  <a:srgbClr val="46425F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500" kern="0" spc="-90" dirty="0">
                <a:solidFill>
                  <a:srgbClr val="46425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crum</a:t>
            </a:r>
            <a:r>
              <a:rPr sz="2500" kern="0" spc="-100" dirty="0">
                <a:solidFill>
                  <a:srgbClr val="46425F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pic>
        <p:nvPicPr>
          <p:cNvPr id="2080" name="picture 208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6969252" y="723900"/>
            <a:ext cx="1170431" cy="511606"/>
          </a:xfrm>
          <a:prstGeom prst="rect">
            <a:avLst/>
          </a:prstGeom>
        </p:spPr>
      </p:pic>
      <p:sp>
        <p:nvSpPr>
          <p:cNvPr id="2082" name="textbox 2082"/>
          <p:cNvSpPr/>
          <p:nvPr/>
        </p:nvSpPr>
        <p:spPr>
          <a:xfrm>
            <a:off x="1093723" y="3932935"/>
            <a:ext cx="1290955" cy="40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5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Graph</a:t>
            </a:r>
            <a:r>
              <a:rPr sz="3000" kern="0" spc="-6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3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4" name="picture 20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8620" y="824483"/>
            <a:ext cx="2700527" cy="2906268"/>
          </a:xfrm>
          <a:prstGeom prst="rect">
            <a:avLst/>
          </a:prstGeom>
        </p:spPr>
      </p:pic>
      <p:grpSp>
        <p:nvGrpSpPr>
          <p:cNvPr id="80" name="group 80"/>
          <p:cNvGrpSpPr/>
          <p:nvPr/>
        </p:nvGrpSpPr>
        <p:grpSpPr>
          <a:xfrm rot="21600000">
            <a:off x="9111996" y="821436"/>
            <a:ext cx="2700528" cy="2897123"/>
            <a:chOff x="0" y="0"/>
            <a:chExt cx="2700528" cy="2897123"/>
          </a:xfrm>
        </p:grpSpPr>
        <p:pic>
          <p:nvPicPr>
            <p:cNvPr id="2086" name="picture 208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00528" cy="2897123"/>
            </a:xfrm>
            <a:prstGeom prst="rect">
              <a:avLst/>
            </a:prstGeom>
          </p:spPr>
        </p:pic>
        <p:sp>
          <p:nvSpPr>
            <p:cNvPr id="2088" name="textbox 2088"/>
            <p:cNvSpPr/>
            <p:nvPr/>
          </p:nvSpPr>
          <p:spPr>
            <a:xfrm>
              <a:off x="-12700" y="-12700"/>
              <a:ext cx="2726054" cy="29343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44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9584" indent="-282575" algn="l" rtl="0" eaLnBrk="0">
                <a:lnSpc>
                  <a:spcPct val="109000"/>
                </a:lnSpc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白板独特的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优势，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更可视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 驱 动 用 户 进 行 多模 态 的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prompt输入，包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括文本，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图像，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网页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，音频，视频，代码块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8129" algn="l" rtl="0" eaLnBrk="0">
                <a:lnSpc>
                  <a:spcPct val="104000"/>
                </a:lnSpc>
                <a:spcBef>
                  <a:spcPts val="460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结合预定义的丰富模板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和大模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型的能力 ，极大提升团队工作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及协作效率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3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https://boardmix.cn/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090" name="picture 209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4664" y="2127808"/>
              <a:ext cx="122987" cy="168859"/>
            </a:xfrm>
            <a:prstGeom prst="rect">
              <a:avLst/>
            </a:prstGeom>
          </p:spPr>
        </p:pic>
        <p:pic>
          <p:nvPicPr>
            <p:cNvPr id="2092" name="picture 20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4664" y="1487728"/>
              <a:ext cx="122987" cy="168859"/>
            </a:xfrm>
            <a:prstGeom prst="rect">
              <a:avLst/>
            </a:prstGeom>
          </p:spPr>
        </p:pic>
        <p:pic>
          <p:nvPicPr>
            <p:cNvPr id="2094" name="picture 20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4664" y="646988"/>
              <a:ext cx="122987" cy="168859"/>
            </a:xfrm>
            <a:prstGeom prst="rect">
              <a:avLst/>
            </a:prstGeom>
          </p:spPr>
        </p:pic>
      </p:grpSp>
      <p:grpSp>
        <p:nvGrpSpPr>
          <p:cNvPr id="82" name="group 82"/>
          <p:cNvGrpSpPr/>
          <p:nvPr/>
        </p:nvGrpSpPr>
        <p:grpSpPr>
          <a:xfrm rot="21600000">
            <a:off x="9111996" y="3910583"/>
            <a:ext cx="2700528" cy="2718816"/>
            <a:chOff x="0" y="0"/>
            <a:chExt cx="2700528" cy="2718816"/>
          </a:xfrm>
        </p:grpSpPr>
        <p:pic>
          <p:nvPicPr>
            <p:cNvPr id="2096" name="picture 20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199644"/>
              <a:ext cx="2700528" cy="2519171"/>
            </a:xfrm>
            <a:prstGeom prst="rect">
              <a:avLst/>
            </a:prstGeom>
          </p:spPr>
        </p:pic>
        <p:sp>
          <p:nvSpPr>
            <p:cNvPr id="2098" name="textbox 2098"/>
            <p:cNvSpPr/>
            <p:nvPr/>
          </p:nvSpPr>
          <p:spPr>
            <a:xfrm>
              <a:off x="-12700" y="-12700"/>
              <a:ext cx="2726054" cy="27559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860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56284" algn="l" rtl="0" eaLnBrk="0">
                <a:lnSpc>
                  <a:spcPct val="85000"/>
                </a:lnSpc>
                <a:tabLst/>
              </a:pPr>
              <a:r>
                <a:rPr sz="3300" kern="0" spc="690" dirty="0">
                  <a:solidFill>
                    <a:srgbClr val="E76F57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sx</a:t>
              </a:r>
              <a:r>
                <a:rPr sz="3300" kern="0" spc="-700" dirty="0">
                  <a:solidFill>
                    <a:srgbClr val="E76F57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-470" dirty="0">
                  <a:solidFill>
                    <a:srgbClr val="E76F57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mind</a:t>
              </a:r>
              <a:endParaRPr sz="3300" dirty="0">
                <a:latin typeface="Arial"/>
                <a:ea typeface="Arial"/>
                <a:cs typeface="Arial"/>
              </a:endParaRPr>
            </a:p>
            <a:p>
              <a:pPr marL="485140" indent="-278129" algn="l" rtl="0" eaLnBrk="0">
                <a:lnSpc>
                  <a:spcPct val="104000"/>
                </a:lnSpc>
                <a:spcBef>
                  <a:spcPts val="1035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思维导图与头脑风暴软件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，通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技术帮助用户快速组织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管理和扩展思路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6859" algn="l" rtl="0" eaLnBrk="0">
                <a:lnSpc>
                  <a:spcPct val="104000"/>
                </a:lnSpc>
                <a:spcBef>
                  <a:spcPts val="545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它支持多种图表类型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，提供演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说模式等高级功能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，在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视觉美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观度和专业输出方面表现突出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2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https://xmind.cn/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100" name="picture 21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4664" y="1835836"/>
              <a:ext cx="122987" cy="168859"/>
            </a:xfrm>
            <a:prstGeom prst="rect">
              <a:avLst/>
            </a:prstGeom>
          </p:spPr>
        </p:pic>
        <p:pic>
          <p:nvPicPr>
            <p:cNvPr id="2102" name="picture 210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4664" y="1195755"/>
              <a:ext cx="122987" cy="168859"/>
            </a:xfrm>
            <a:prstGeom prst="rect">
              <a:avLst/>
            </a:prstGeom>
          </p:spPr>
        </p:pic>
        <p:pic>
          <p:nvPicPr>
            <p:cNvPr id="2104" name="picture 210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4664" y="555675"/>
              <a:ext cx="122987" cy="168859"/>
            </a:xfrm>
            <a:prstGeom prst="rect">
              <a:avLst/>
            </a:prstGeom>
          </p:spPr>
        </p:pic>
      </p:grpSp>
      <p:pic>
        <p:nvPicPr>
          <p:cNvPr id="2106" name="picture 210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201155" y="3921252"/>
            <a:ext cx="2706624" cy="2711196"/>
          </a:xfrm>
          <a:prstGeom prst="rect">
            <a:avLst/>
          </a:prstGeom>
        </p:spPr>
      </p:pic>
      <p:pic>
        <p:nvPicPr>
          <p:cNvPr id="2108" name="picture 210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88620" y="3924300"/>
            <a:ext cx="2700527" cy="2705099"/>
          </a:xfrm>
          <a:prstGeom prst="rect">
            <a:avLst/>
          </a:prstGeom>
        </p:spPr>
      </p:pic>
      <p:grpSp>
        <p:nvGrpSpPr>
          <p:cNvPr id="84" name="group 84"/>
          <p:cNvGrpSpPr/>
          <p:nvPr/>
        </p:nvGrpSpPr>
        <p:grpSpPr>
          <a:xfrm rot="21600000">
            <a:off x="3293363" y="3944111"/>
            <a:ext cx="2706624" cy="2688335"/>
            <a:chOff x="0" y="0"/>
            <a:chExt cx="2706624" cy="2688335"/>
          </a:xfrm>
        </p:grpSpPr>
        <p:pic>
          <p:nvPicPr>
            <p:cNvPr id="2110" name="picture 211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706624" cy="2688335"/>
            </a:xfrm>
            <a:prstGeom prst="rect">
              <a:avLst/>
            </a:prstGeom>
          </p:spPr>
        </p:pic>
        <p:sp>
          <p:nvSpPr>
            <p:cNvPr id="2112" name="textbox 2112"/>
            <p:cNvSpPr/>
            <p:nvPr/>
          </p:nvSpPr>
          <p:spPr>
            <a:xfrm>
              <a:off x="-12700" y="-12700"/>
              <a:ext cx="2732404" cy="27254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03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8315" indent="-278129" algn="l" rtl="0" eaLnBrk="0">
                <a:lnSpc>
                  <a:spcPct val="108000"/>
                </a:lnSpc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创新的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驱动工作空间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，将思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维导图 、任务列表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、笔记和视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频聊天等功能融合在一个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90219" indent="-280034" algn="l" rtl="0" eaLnBrk="0">
                <a:lnSpc>
                  <a:spcPct val="104000"/>
                </a:lnSpc>
                <a:spcBef>
                  <a:spcPts val="549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它通过提供自动化和协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作功能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帮助现代团队在一个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统一的界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面里规划项目和管理工作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10184" algn="l" rtl="0" eaLnBrk="0">
                <a:lnSpc>
                  <a:spcPct val="105000"/>
                </a:lnSpc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://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taskade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com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114" name="picture 211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7967" y="2002967"/>
              <a:ext cx="122986" cy="168859"/>
            </a:xfrm>
            <a:prstGeom prst="rect">
              <a:avLst/>
            </a:prstGeom>
          </p:spPr>
        </p:pic>
        <p:pic>
          <p:nvPicPr>
            <p:cNvPr id="2116" name="picture 211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7967" y="1362887"/>
              <a:ext cx="122986" cy="168859"/>
            </a:xfrm>
            <a:prstGeom prst="rect">
              <a:avLst/>
            </a:prstGeom>
          </p:spPr>
        </p:pic>
        <p:pic>
          <p:nvPicPr>
            <p:cNvPr id="2118" name="picture 211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7967" y="522147"/>
              <a:ext cx="122986" cy="168859"/>
            </a:xfrm>
            <a:prstGeom prst="rect">
              <a:avLst/>
            </a:prstGeom>
          </p:spPr>
        </p:pic>
      </p:grpSp>
      <p:grpSp>
        <p:nvGrpSpPr>
          <p:cNvPr id="86" name="group 86"/>
          <p:cNvGrpSpPr/>
          <p:nvPr/>
        </p:nvGrpSpPr>
        <p:grpSpPr>
          <a:xfrm rot="21600000">
            <a:off x="3293363" y="1290084"/>
            <a:ext cx="2706624" cy="2439143"/>
            <a:chOff x="0" y="0"/>
            <a:chExt cx="2706624" cy="2439143"/>
          </a:xfrm>
        </p:grpSpPr>
        <p:pic>
          <p:nvPicPr>
            <p:cNvPr id="2120" name="picture 212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2706624" cy="2439143"/>
            </a:xfrm>
            <a:prstGeom prst="rect">
              <a:avLst/>
            </a:prstGeom>
          </p:spPr>
        </p:pic>
        <p:sp>
          <p:nvSpPr>
            <p:cNvPr id="2122" name="textbox 2122"/>
            <p:cNvSpPr/>
            <p:nvPr/>
          </p:nvSpPr>
          <p:spPr>
            <a:xfrm>
              <a:off x="-12700" y="-12700"/>
              <a:ext cx="2732404" cy="2476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88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8950" indent="-278765" algn="l" rtl="0" eaLnBrk="0">
                <a:lnSpc>
                  <a:spcPct val="107000"/>
                </a:lnSpc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生成：借助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,可以输入一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话,直接生成以此为中心主题的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文件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3684" algn="l" rtl="0" eaLnBrk="0">
                <a:lnSpc>
                  <a:spcPct val="107000"/>
                </a:lnSpc>
                <a:spcBef>
                  <a:spcPts val="414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总结：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思维导图更清晰借助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,导入论文 、财报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、小说等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,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实现快速内容总结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225" algn="l" rtl="0" eaLnBrk="0">
                <a:lnSpc>
                  <a:spcPct val="107000"/>
                </a:lnSpc>
                <a:spcBef>
                  <a:spcPts val="420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探索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：挖掘思维深度利用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获取灵感深入挖掘信息,从而制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作出全面详细的作品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10184" algn="l" rtl="0" eaLnBrk="0">
                <a:lnSpc>
                  <a:spcPct val="105000"/>
                </a:lnSpc>
                <a:spcBef>
                  <a:spcPts val="1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https://www.zhixi.com/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124" name="picture 212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7967" y="2098580"/>
              <a:ext cx="122986" cy="168859"/>
            </a:xfrm>
            <a:prstGeom prst="rect">
              <a:avLst/>
            </a:prstGeom>
          </p:spPr>
        </p:pic>
        <p:pic>
          <p:nvPicPr>
            <p:cNvPr id="2126" name="picture 2126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7967" y="1458500"/>
              <a:ext cx="122986" cy="168859"/>
            </a:xfrm>
            <a:prstGeom prst="rect">
              <a:avLst/>
            </a:prstGeom>
          </p:spPr>
        </p:pic>
        <p:pic>
          <p:nvPicPr>
            <p:cNvPr id="2128" name="picture 212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7967" y="818419"/>
              <a:ext cx="122986" cy="168859"/>
            </a:xfrm>
            <a:prstGeom prst="rect">
              <a:avLst/>
            </a:prstGeom>
          </p:spPr>
        </p:pic>
        <p:pic>
          <p:nvPicPr>
            <p:cNvPr id="2130" name="picture 213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7967" y="178339"/>
              <a:ext cx="122986" cy="168859"/>
            </a:xfrm>
            <a:prstGeom prst="rect">
              <a:avLst/>
            </a:prstGeom>
          </p:spPr>
        </p:pic>
      </p:grpSp>
      <p:grpSp>
        <p:nvGrpSpPr>
          <p:cNvPr id="88" name="group 88"/>
          <p:cNvGrpSpPr/>
          <p:nvPr/>
        </p:nvGrpSpPr>
        <p:grpSpPr>
          <a:xfrm rot="21600000">
            <a:off x="6201155" y="1289638"/>
            <a:ext cx="2706624" cy="2431969"/>
            <a:chOff x="0" y="0"/>
            <a:chExt cx="2706624" cy="2431969"/>
          </a:xfrm>
        </p:grpSpPr>
        <p:pic>
          <p:nvPicPr>
            <p:cNvPr id="2132" name="picture 213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0" y="0"/>
              <a:ext cx="2706624" cy="2431969"/>
            </a:xfrm>
            <a:prstGeom prst="rect">
              <a:avLst/>
            </a:prstGeom>
          </p:spPr>
        </p:pic>
        <p:sp>
          <p:nvSpPr>
            <p:cNvPr id="2134" name="textbox 2134"/>
            <p:cNvSpPr/>
            <p:nvPr/>
          </p:nvSpPr>
          <p:spPr>
            <a:xfrm>
              <a:off x="-12700" y="-12700"/>
              <a:ext cx="2732404" cy="24682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6409" indent="-276225" algn="l" rtl="0" eaLnBrk="0">
                <a:lnSpc>
                  <a:spcPct val="107000"/>
                </a:lnSpc>
                <a:spcBef>
                  <a:spcPts val="4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驱动的免费在线思维导图与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流程图软件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，支持从网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页到手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机APP的全平台同步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8765" algn="l" rtl="0" eaLnBrk="0">
                <a:lnSpc>
                  <a:spcPct val="108000"/>
                </a:lnSpc>
                <a:spcBef>
                  <a:spcPts val="430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其特色在于输入主题后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能自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动生成基础框架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，并提供丰富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的行业场景模板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，适合需要快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速整理思路和进行团队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协作的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10184" algn="l" rtl="0" eaLnBrk="0">
                <a:lnSpc>
                  <a:spcPct val="104000"/>
                </a:lnSpc>
                <a:spcBef>
                  <a:spcPts val="2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https://gitmind.cn/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136" name="picture 213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97840" y="1860265"/>
              <a:ext cx="122987" cy="168859"/>
            </a:xfrm>
            <a:prstGeom prst="rect">
              <a:avLst/>
            </a:prstGeom>
          </p:spPr>
        </p:pic>
        <p:pic>
          <p:nvPicPr>
            <p:cNvPr id="2138" name="picture 2138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197840" y="818865"/>
              <a:ext cx="122987" cy="168859"/>
            </a:xfrm>
            <a:prstGeom prst="rect">
              <a:avLst/>
            </a:prstGeom>
          </p:spPr>
        </p:pic>
        <p:pic>
          <p:nvPicPr>
            <p:cNvPr id="2140" name="picture 2140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7840" y="178785"/>
              <a:ext cx="122987" cy="168859"/>
            </a:xfrm>
            <a:prstGeom prst="rect">
              <a:avLst/>
            </a:prstGeom>
          </p:spPr>
        </p:pic>
      </p:grpSp>
      <p:pic>
        <p:nvPicPr>
          <p:cNvPr id="2142" name="picture 2142">
            <a:hlinkClick r:id="rId32" action="ppaction://hlinkfile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6386194" y="6134100"/>
            <a:ext cx="2337435" cy="401320"/>
          </a:xfrm>
          <a:prstGeom prst="rect">
            <a:avLst/>
          </a:prstGeom>
        </p:spPr>
      </p:pic>
      <p:sp>
        <p:nvSpPr>
          <p:cNvPr id="2144" name="textbox 2144"/>
          <p:cNvSpPr/>
          <p:nvPr/>
        </p:nvSpPr>
        <p:spPr>
          <a:xfrm>
            <a:off x="6386296" y="4453559"/>
            <a:ext cx="2423160" cy="2113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5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一款采用非传统树状结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构的思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维管理工具，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它使用“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网状关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”来模拟人脑的思考方式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更适合构建复杂的知识体系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5000"/>
              </a:lnSpc>
              <a:spcBef>
                <a:spcPts val="57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它支持时间线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、附件和网页链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，是构建个人“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第二大脑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和进行深度知识管理的专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业选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择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http://www.thebrain.co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m.cn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46" name="picture 214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398996" y="6147739"/>
            <a:ext cx="122987" cy="168859"/>
          </a:xfrm>
          <a:prstGeom prst="rect">
            <a:avLst/>
          </a:prstGeom>
        </p:spPr>
      </p:pic>
      <p:pic>
        <p:nvPicPr>
          <p:cNvPr id="2148" name="picture 214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6398996" y="5306999"/>
            <a:ext cx="122987" cy="168859"/>
          </a:xfrm>
          <a:prstGeom prst="rect">
            <a:avLst/>
          </a:prstGeom>
        </p:spPr>
      </p:pic>
      <p:pic>
        <p:nvPicPr>
          <p:cNvPr id="2150" name="picture 215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398996" y="4466259"/>
            <a:ext cx="122987" cy="168859"/>
          </a:xfrm>
          <a:prstGeom prst="rect">
            <a:avLst/>
          </a:prstGeom>
        </p:spPr>
      </p:pic>
      <p:pic>
        <p:nvPicPr>
          <p:cNvPr id="2152" name="picture 2152">
            <a:hlinkClick r:id="rId37" action="ppaction://hlinkfile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570865" y="3136265"/>
            <a:ext cx="2337435" cy="401320"/>
          </a:xfrm>
          <a:prstGeom prst="rect">
            <a:avLst/>
          </a:prstGeom>
        </p:spPr>
      </p:pic>
      <p:sp>
        <p:nvSpPr>
          <p:cNvPr id="2154" name="textbox 2154"/>
          <p:cNvSpPr/>
          <p:nvPr/>
        </p:nvSpPr>
        <p:spPr>
          <a:xfrm>
            <a:off x="570966" y="1437894"/>
            <a:ext cx="2350135" cy="213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6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助手可一键生成导图框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架 。它提供海量模板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，支持思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维导图 、幻灯片演示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、甘特图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等多种模式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8000"/>
              </a:lnSpc>
              <a:spcBef>
                <a:spcPts val="40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并能在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Windows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macOS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Linux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及移动端使用，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适合个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人和团队进行知识管理与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edraw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wondershare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cn/mind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master/ai/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56" name="picture 215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583666" y="3149904"/>
            <a:ext cx="122986" cy="168859"/>
          </a:xfrm>
          <a:prstGeom prst="rect">
            <a:avLst/>
          </a:prstGeom>
        </p:spPr>
      </p:pic>
      <p:pic>
        <p:nvPicPr>
          <p:cNvPr id="2158" name="picture 215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583666" y="2309164"/>
            <a:ext cx="122986" cy="168859"/>
          </a:xfrm>
          <a:prstGeom prst="rect">
            <a:avLst/>
          </a:prstGeom>
        </p:spPr>
      </p:pic>
      <p:pic>
        <p:nvPicPr>
          <p:cNvPr id="2160" name="picture 216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83666" y="1468424"/>
            <a:ext cx="122986" cy="168859"/>
          </a:xfrm>
          <a:prstGeom prst="rect">
            <a:avLst/>
          </a:prstGeom>
        </p:spPr>
      </p:pic>
      <p:pic>
        <p:nvPicPr>
          <p:cNvPr id="2162" name="picture 2162">
            <a:hlinkClick r:id="rId43" action="ppaction://hlinkfile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570865" y="5933440"/>
            <a:ext cx="2337435" cy="401320"/>
          </a:xfrm>
          <a:prstGeom prst="rect">
            <a:avLst/>
          </a:prstGeom>
        </p:spPr>
      </p:pic>
      <p:sp>
        <p:nvSpPr>
          <p:cNvPr id="2164" name="textbox 2164"/>
          <p:cNvSpPr/>
          <p:nvPr/>
        </p:nvSpPr>
        <p:spPr>
          <a:xfrm>
            <a:off x="570966" y="4453559"/>
            <a:ext cx="2350135" cy="1912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0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在线绘图工具平台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，深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度接入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AI智能辅助思考能力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6000"/>
              </a:lnSpc>
              <a:spcBef>
                <a:spcPts val="39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用户可在创建思维导图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时直接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进行头脑风暴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、生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成导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图或优化结构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。它界面简洁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提供多种预设模板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，适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合需要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快速将想法可视化的用户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https://www.liuchengtu.com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66" name="picture 216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583666" y="5947079"/>
            <a:ext cx="122986" cy="168859"/>
          </a:xfrm>
          <a:prstGeom prst="rect">
            <a:avLst/>
          </a:prstGeom>
        </p:spPr>
      </p:pic>
      <p:pic>
        <p:nvPicPr>
          <p:cNvPr id="2168" name="picture 216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583666" y="4905679"/>
            <a:ext cx="122986" cy="168859"/>
          </a:xfrm>
          <a:prstGeom prst="rect">
            <a:avLst/>
          </a:prstGeom>
        </p:spPr>
      </p:pic>
      <p:pic>
        <p:nvPicPr>
          <p:cNvPr id="2170" name="picture 217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583666" y="4466259"/>
            <a:ext cx="122986" cy="168859"/>
          </a:xfrm>
          <a:prstGeom prst="rect">
            <a:avLst/>
          </a:prstGeom>
        </p:spPr>
      </p:pic>
      <p:pic>
        <p:nvPicPr>
          <p:cNvPr id="2172" name="picture 2172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174" name="textbox 2174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思维导图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76" name="picture 217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6792467" y="859536"/>
            <a:ext cx="1524000" cy="403859"/>
          </a:xfrm>
          <a:prstGeom prst="rect">
            <a:avLst/>
          </a:prstGeom>
        </p:spPr>
      </p:pic>
      <p:pic>
        <p:nvPicPr>
          <p:cNvPr id="2178" name="picture 217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4037075" y="862583"/>
            <a:ext cx="1219200" cy="396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90"/>
          <p:cNvGrpSpPr/>
          <p:nvPr/>
        </p:nvGrpSpPr>
        <p:grpSpPr>
          <a:xfrm rot="21600000">
            <a:off x="9174480" y="3601211"/>
            <a:ext cx="2705100" cy="3147060"/>
            <a:chOff x="0" y="0"/>
            <a:chExt cx="2705100" cy="3147060"/>
          </a:xfrm>
        </p:grpSpPr>
        <p:pic>
          <p:nvPicPr>
            <p:cNvPr id="2180" name="picture 21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5100" cy="3147060"/>
            </a:xfrm>
            <a:prstGeom prst="rect">
              <a:avLst/>
            </a:prstGeom>
          </p:spPr>
        </p:pic>
        <p:sp>
          <p:nvSpPr>
            <p:cNvPr id="2182" name="textbox 2182"/>
            <p:cNvSpPr/>
            <p:nvPr/>
          </p:nvSpPr>
          <p:spPr>
            <a:xfrm>
              <a:off x="-12700" y="-12700"/>
              <a:ext cx="2730500" cy="31838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89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32560" algn="l" rtl="0" eaLnBrk="0">
                <a:lnSpc>
                  <a:spcPct val="86000"/>
                </a:lnSpc>
                <a:tabLst/>
              </a:pPr>
              <a:r>
                <a:rPr sz="1700" b="1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红松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8950" indent="-279400" algn="l" rtl="0" eaLnBrk="0">
                <a:lnSpc>
                  <a:spcPct val="106000"/>
                </a:lnSpc>
                <a:spcBef>
                  <a:spcPts val="36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面向老年群体的在线兴趣学习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与社交工具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，包含24小时一站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生活学习助手“松小智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129" algn="l" rtl="0" eaLnBrk="0">
                <a:lnSpc>
                  <a:spcPct val="107000"/>
                </a:lnSpc>
                <a:spcBef>
                  <a:spcPts val="5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可通过语音或文字提问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、“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老师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”，44位平台真人讲师的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高精度数字分身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解答专业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课程问题及闲聊陪伴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01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https://www.tu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ixiu.com/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184" name="picture 21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6951" y="2079803"/>
              <a:ext cx="122987" cy="168859"/>
            </a:xfrm>
            <a:prstGeom prst="rect">
              <a:avLst/>
            </a:prstGeom>
          </p:spPr>
        </p:pic>
        <p:pic>
          <p:nvPicPr>
            <p:cNvPr id="2186" name="picture 218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6951" y="1277163"/>
              <a:ext cx="122987" cy="168859"/>
            </a:xfrm>
            <a:prstGeom prst="rect">
              <a:avLst/>
            </a:prstGeom>
          </p:spPr>
        </p:pic>
        <p:pic>
          <p:nvPicPr>
            <p:cNvPr id="2188" name="picture 218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6951" y="675183"/>
              <a:ext cx="122987" cy="168859"/>
            </a:xfrm>
            <a:prstGeom prst="rect">
              <a:avLst/>
            </a:prstGeom>
          </p:spPr>
        </p:pic>
      </p:grpSp>
      <p:pic>
        <p:nvPicPr>
          <p:cNvPr id="2190" name="picture 21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6240" y="3608832"/>
            <a:ext cx="2705100" cy="3137915"/>
          </a:xfrm>
          <a:prstGeom prst="rect">
            <a:avLst/>
          </a:prstGeom>
        </p:spPr>
      </p:pic>
      <p:grpSp>
        <p:nvGrpSpPr>
          <p:cNvPr id="92" name="group 92"/>
          <p:cNvGrpSpPr/>
          <p:nvPr/>
        </p:nvGrpSpPr>
        <p:grpSpPr>
          <a:xfrm rot="21600000">
            <a:off x="6251448" y="3607307"/>
            <a:ext cx="2699003" cy="3137916"/>
            <a:chOff x="0" y="0"/>
            <a:chExt cx="2699003" cy="3137916"/>
          </a:xfrm>
        </p:grpSpPr>
        <p:pic>
          <p:nvPicPr>
            <p:cNvPr id="2192" name="picture 219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699003" cy="3137916"/>
            </a:xfrm>
            <a:prstGeom prst="rect">
              <a:avLst/>
            </a:prstGeom>
          </p:spPr>
        </p:pic>
        <p:sp>
          <p:nvSpPr>
            <p:cNvPr id="2194" name="textbox 2194"/>
            <p:cNvSpPr/>
            <p:nvPr/>
          </p:nvSpPr>
          <p:spPr>
            <a:xfrm>
              <a:off x="-12700" y="-12700"/>
              <a:ext cx="2724785" cy="3175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48080" algn="l" rtl="0" eaLnBrk="0">
                <a:lnSpc>
                  <a:spcPct val="86000"/>
                </a:lnSpc>
                <a:spcBef>
                  <a:spcPts val="5"/>
                </a:spcBef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老来健康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4505" indent="-278129" algn="l" rtl="0" eaLnBrk="0">
                <a:lnSpc>
                  <a:spcPct val="104000"/>
                </a:lnSpc>
                <a:spcBef>
                  <a:spcPts val="36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核心功能涵盖个性化慢病管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服务包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，结合健康档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案进行动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态管理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8129" algn="l" rtl="0" eaLnBrk="0">
                <a:lnSpc>
                  <a:spcPct val="104000"/>
                </a:lnSpc>
                <a:spcBef>
                  <a:spcPts val="24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提供在线问诊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、复诊随访服务，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集成社保认证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、养老金查询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资格测算等社保服务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80034" algn="l" rtl="0" eaLnBrk="0">
                <a:lnSpc>
                  <a:spcPct val="97000"/>
                </a:lnSpc>
                <a:spcBef>
                  <a:spcPts val="25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提供电子社保卡及旅居出行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议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、文化活动信息等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22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https://laolai.com/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196" name="picture 219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3903" y="2274366"/>
              <a:ext cx="122987" cy="168859"/>
            </a:xfrm>
            <a:prstGeom prst="rect">
              <a:avLst/>
            </a:prstGeom>
          </p:spPr>
        </p:pic>
        <p:pic>
          <p:nvPicPr>
            <p:cNvPr id="2198" name="picture 219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3903" y="1873046"/>
              <a:ext cx="122987" cy="168859"/>
            </a:xfrm>
            <a:prstGeom prst="rect">
              <a:avLst/>
            </a:prstGeom>
          </p:spPr>
        </p:pic>
        <p:pic>
          <p:nvPicPr>
            <p:cNvPr id="2200" name="picture 22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3903" y="1271066"/>
              <a:ext cx="122987" cy="168859"/>
            </a:xfrm>
            <a:prstGeom prst="rect">
              <a:avLst/>
            </a:prstGeom>
          </p:spPr>
        </p:pic>
        <p:pic>
          <p:nvPicPr>
            <p:cNvPr id="2202" name="picture 220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3903" y="669086"/>
              <a:ext cx="122987" cy="168859"/>
            </a:xfrm>
            <a:prstGeom prst="rect">
              <a:avLst/>
            </a:prstGeom>
          </p:spPr>
        </p:pic>
      </p:grpSp>
      <p:pic>
        <p:nvPicPr>
          <p:cNvPr id="2204" name="picture 220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325367" y="3689603"/>
            <a:ext cx="2699003" cy="3054096"/>
          </a:xfrm>
          <a:prstGeom prst="rect">
            <a:avLst/>
          </a:prstGeom>
        </p:spPr>
      </p:pic>
      <p:pic>
        <p:nvPicPr>
          <p:cNvPr id="2206" name="picture 220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248400" y="655320"/>
            <a:ext cx="2705100" cy="2875788"/>
          </a:xfrm>
          <a:prstGeom prst="rect">
            <a:avLst/>
          </a:prstGeom>
        </p:spPr>
      </p:pic>
      <p:pic>
        <p:nvPicPr>
          <p:cNvPr id="2208" name="picture 220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322320" y="688847"/>
            <a:ext cx="2705100" cy="2842260"/>
          </a:xfrm>
          <a:prstGeom prst="rect">
            <a:avLst/>
          </a:prstGeom>
        </p:spPr>
      </p:pic>
      <p:pic>
        <p:nvPicPr>
          <p:cNvPr id="2210" name="picture 221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9177527" y="1007364"/>
            <a:ext cx="2699004" cy="2520695"/>
          </a:xfrm>
          <a:prstGeom prst="rect">
            <a:avLst/>
          </a:prstGeom>
        </p:spPr>
      </p:pic>
      <p:pic>
        <p:nvPicPr>
          <p:cNvPr id="2212" name="picture 22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99288" y="1007364"/>
            <a:ext cx="2699004" cy="2520695"/>
          </a:xfrm>
          <a:prstGeom prst="rect">
            <a:avLst/>
          </a:prstGeom>
        </p:spPr>
      </p:pic>
      <p:pic>
        <p:nvPicPr>
          <p:cNvPr id="2214" name="picture 2214">
            <a:hlinkClick r:id="rId20" action="ppaction://hlinkfile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580390" y="6068695"/>
            <a:ext cx="2337435" cy="601979"/>
          </a:xfrm>
          <a:prstGeom prst="rect">
            <a:avLst/>
          </a:prstGeom>
        </p:spPr>
      </p:pic>
      <p:sp>
        <p:nvSpPr>
          <p:cNvPr id="2216" name="textbox 2216"/>
          <p:cNvSpPr/>
          <p:nvPr/>
        </p:nvSpPr>
        <p:spPr>
          <a:xfrm>
            <a:off x="580491" y="3769512"/>
            <a:ext cx="2350135" cy="2914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40435" algn="l" rtl="0" eaLnBrk="0">
              <a:lnSpc>
                <a:spcPct val="86000"/>
              </a:lnSpc>
              <a:tabLst/>
            </a:pP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蚂蚁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AQ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06000"/>
              </a:lnSpc>
              <a:spcBef>
                <a:spcPts val="363"/>
              </a:spcBef>
              <a:tabLst>
                <a:tab pos="135254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800" kern="0" spc="-4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智能匹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800" kern="0" spc="-4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医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800" kern="0" spc="-4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、云陪诊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4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健康档案管理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、支持接入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手表等设备数据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，并提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供慢病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管理智能体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8000"/>
              </a:lnSpc>
              <a:spcBef>
                <a:spcPts val="11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https://sj.qq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.com/appdetail/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com.antgroup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aijk.android?r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ef=pidoutv.com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18" name="picture 221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93191" y="6082334"/>
            <a:ext cx="122986" cy="168859"/>
          </a:xfrm>
          <a:prstGeom prst="rect">
            <a:avLst/>
          </a:prstGeom>
        </p:spPr>
      </p:pic>
      <p:pic>
        <p:nvPicPr>
          <p:cNvPr id="2220" name="picture 222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593191" y="5279694"/>
            <a:ext cx="122986" cy="168859"/>
          </a:xfrm>
          <a:prstGeom prst="rect">
            <a:avLst/>
          </a:prstGeom>
        </p:spPr>
      </p:pic>
      <p:pic>
        <p:nvPicPr>
          <p:cNvPr id="2222" name="picture 222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2021611" y="5197855"/>
            <a:ext cx="167792" cy="226161"/>
          </a:xfrm>
          <a:prstGeom prst="rect">
            <a:avLst/>
          </a:prstGeom>
        </p:spPr>
      </p:pic>
      <p:pic>
        <p:nvPicPr>
          <p:cNvPr id="2224" name="picture 222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859381" y="5200827"/>
            <a:ext cx="154939" cy="224256"/>
          </a:xfrm>
          <a:prstGeom prst="rect">
            <a:avLst/>
          </a:prstGeom>
        </p:spPr>
      </p:pic>
      <p:pic>
        <p:nvPicPr>
          <p:cNvPr id="2226" name="picture 22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639925" y="5180482"/>
            <a:ext cx="219455" cy="252526"/>
          </a:xfrm>
          <a:prstGeom prst="rect">
            <a:avLst/>
          </a:prstGeom>
        </p:spPr>
      </p:pic>
      <p:pic>
        <p:nvPicPr>
          <p:cNvPr id="2228" name="picture 222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319022" y="5182768"/>
            <a:ext cx="236194" cy="249326"/>
          </a:xfrm>
          <a:prstGeom prst="rect">
            <a:avLst/>
          </a:prstGeom>
        </p:spPr>
      </p:pic>
      <p:pic>
        <p:nvPicPr>
          <p:cNvPr id="2230" name="picture 2230">
            <a:hlinkClick r:id="rId29" action="ppaction://hlinkfile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432550" y="3077209"/>
            <a:ext cx="2337434" cy="401320"/>
          </a:xfrm>
          <a:prstGeom prst="rect">
            <a:avLst/>
          </a:prstGeom>
        </p:spPr>
      </p:pic>
      <p:sp>
        <p:nvSpPr>
          <p:cNvPr id="2232" name="textbox 2232"/>
          <p:cNvSpPr/>
          <p:nvPr/>
        </p:nvSpPr>
        <p:spPr>
          <a:xfrm>
            <a:off x="6432651" y="798779"/>
            <a:ext cx="2399664" cy="271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55039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糖护士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4000"/>
              </a:lnSpc>
              <a:spcBef>
                <a:spcPts val="36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主要功能包括自动记录血糖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尿酸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、饮食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、运动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用药数据，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无需手写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6000"/>
              </a:lnSpc>
              <a:spcBef>
                <a:spcPts val="23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提供数据趋势的智能分析和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性化建议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，具备用药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和测血糖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的定时提醒功能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，配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合趣味活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动帮助养成习惯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97000"/>
              </a:lnSpc>
              <a:spcBef>
                <a:spcPts val="23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内置丰富的知识库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，并能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配套设备自动同步数据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23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https://www.dnurse.com/v2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34" name="picture 223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6445351" y="3090850"/>
            <a:ext cx="122987" cy="168859"/>
          </a:xfrm>
          <a:prstGeom prst="rect">
            <a:avLst/>
          </a:prstGeom>
        </p:spPr>
      </p:pic>
      <p:pic>
        <p:nvPicPr>
          <p:cNvPr id="2236" name="picture 223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6445351" y="2689529"/>
            <a:ext cx="122987" cy="168859"/>
          </a:xfrm>
          <a:prstGeom prst="rect">
            <a:avLst/>
          </a:prstGeom>
        </p:spPr>
      </p:pic>
      <p:pic>
        <p:nvPicPr>
          <p:cNvPr id="2238" name="picture 223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445351" y="1886889"/>
            <a:ext cx="122987" cy="168859"/>
          </a:xfrm>
          <a:prstGeom prst="rect">
            <a:avLst/>
          </a:prstGeom>
        </p:spPr>
      </p:pic>
      <p:pic>
        <p:nvPicPr>
          <p:cNvPr id="2240" name="picture 224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445351" y="1284909"/>
            <a:ext cx="122987" cy="168859"/>
          </a:xfrm>
          <a:prstGeom prst="rect">
            <a:avLst/>
          </a:prstGeom>
        </p:spPr>
      </p:pic>
      <p:pic>
        <p:nvPicPr>
          <p:cNvPr id="2242" name="picture 2242">
            <a:hlinkClick r:id="rId21" action="ppaction://hlinkfile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580390" y="3077209"/>
            <a:ext cx="2337435" cy="401320"/>
          </a:xfrm>
          <a:prstGeom prst="rect">
            <a:avLst/>
          </a:prstGeom>
        </p:spPr>
      </p:pic>
      <p:sp>
        <p:nvSpPr>
          <p:cNvPr id="2244" name="textbox 2244"/>
          <p:cNvSpPr/>
          <p:nvPr/>
        </p:nvSpPr>
        <p:spPr>
          <a:xfrm>
            <a:off x="580491" y="802665"/>
            <a:ext cx="2399664" cy="270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87705" algn="l" rtl="0" eaLnBrk="0">
              <a:lnSpc>
                <a:spcPct val="86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孝心环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04000"/>
              </a:lnSpc>
              <a:spcBef>
                <a:spcPts val="36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其核心功能包括允许子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女通过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APP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实时查看老人的地理位置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和行动轨迹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7000"/>
              </a:lnSpc>
              <a:spcBef>
                <a:spcPts val="23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持续监测心率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、睡眠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、步数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设备佩戴状态及电量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在检测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到心率异常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、久坐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设备脱落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等情况时自动向家属发出预警；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具备一键通话功能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持紧急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情况下的双向通话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11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http://www.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xiaoxinhuan.co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m/index.html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46" name="picture 224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593191" y="3090850"/>
            <a:ext cx="122986" cy="168859"/>
          </a:xfrm>
          <a:prstGeom prst="rect">
            <a:avLst/>
          </a:prstGeom>
        </p:spPr>
      </p:pic>
      <p:pic>
        <p:nvPicPr>
          <p:cNvPr id="2248" name="picture 224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593191" y="1886889"/>
            <a:ext cx="122986" cy="168859"/>
          </a:xfrm>
          <a:prstGeom prst="rect">
            <a:avLst/>
          </a:prstGeom>
        </p:spPr>
      </p:pic>
      <p:pic>
        <p:nvPicPr>
          <p:cNvPr id="2250" name="picture 225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593191" y="1284909"/>
            <a:ext cx="122986" cy="168859"/>
          </a:xfrm>
          <a:prstGeom prst="rect">
            <a:avLst/>
          </a:prstGeom>
        </p:spPr>
      </p:pic>
      <p:pic>
        <p:nvPicPr>
          <p:cNvPr id="2252" name="picture 2252">
            <a:hlinkClick r:id="rId39" action="ppaction://hlinkfile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505834" y="6068695"/>
            <a:ext cx="2337435" cy="401319"/>
          </a:xfrm>
          <a:prstGeom prst="rect">
            <a:avLst/>
          </a:prstGeom>
        </p:spPr>
      </p:pic>
      <p:sp>
        <p:nvSpPr>
          <p:cNvPr id="2254" name="textbox 2254"/>
          <p:cNvSpPr/>
          <p:nvPr/>
        </p:nvSpPr>
        <p:spPr>
          <a:xfrm>
            <a:off x="3505936" y="3769334"/>
            <a:ext cx="2350135" cy="2732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1986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讯飞晓医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3370" indent="-280670" algn="l" rtl="0" eaLnBrk="0">
              <a:lnSpc>
                <a:spcPct val="107000"/>
              </a:lnSpc>
              <a:spcBef>
                <a:spcPts val="36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智能健康咨询与问答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，支持文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字/语音多轮交互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4000"/>
              </a:lnSpc>
              <a:spcBef>
                <a:spcPts val="7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医疗报告多模态解读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解释指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、对比历史报告生成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趋势分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5000"/>
              </a:lnSpc>
              <a:spcBef>
                <a:spcPts val="26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提供全流程就医辅助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，个人健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康档案与慢病管理与安全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用药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指导及独具特色的中医养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生服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2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https://chatdr.iflyhealth.com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56" name="picture 225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3518636" y="6082334"/>
            <a:ext cx="122986" cy="168859"/>
          </a:xfrm>
          <a:prstGeom prst="rect">
            <a:avLst/>
          </a:prstGeom>
        </p:spPr>
      </p:pic>
      <p:pic>
        <p:nvPicPr>
          <p:cNvPr id="2258" name="picture 225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3518636" y="5279694"/>
            <a:ext cx="122986" cy="168859"/>
          </a:xfrm>
          <a:prstGeom prst="rect">
            <a:avLst/>
          </a:prstGeom>
        </p:spPr>
      </p:pic>
      <p:pic>
        <p:nvPicPr>
          <p:cNvPr id="2260" name="picture 226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3518636" y="4677714"/>
            <a:ext cx="122986" cy="168859"/>
          </a:xfrm>
          <a:prstGeom prst="rect">
            <a:avLst/>
          </a:prstGeom>
        </p:spPr>
      </p:pic>
      <p:pic>
        <p:nvPicPr>
          <p:cNvPr id="2262" name="picture 226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3518636" y="4276394"/>
            <a:ext cx="122986" cy="168859"/>
          </a:xfrm>
          <a:prstGeom prst="rect">
            <a:avLst/>
          </a:prstGeom>
        </p:spPr>
      </p:pic>
      <p:pic>
        <p:nvPicPr>
          <p:cNvPr id="2264" name="picture 2264">
            <a:hlinkClick r:id="rId45" action="ppaction://hlinkfile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9358630" y="2876550"/>
            <a:ext cx="2337434" cy="401320"/>
          </a:xfrm>
          <a:prstGeom prst="rect">
            <a:avLst/>
          </a:prstGeom>
        </p:spPr>
      </p:pic>
      <p:sp>
        <p:nvSpPr>
          <p:cNvPr id="2266" name="textbox 2266"/>
          <p:cNvSpPr/>
          <p:nvPr/>
        </p:nvSpPr>
        <p:spPr>
          <a:xfrm>
            <a:off x="9358731" y="756030"/>
            <a:ext cx="2422525" cy="2553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84859" algn="l" rtl="0" eaLnBrk="0">
              <a:lnSpc>
                <a:spcPts val="2282"/>
              </a:lnSpc>
              <a:tabLst/>
            </a:pPr>
            <a:r>
              <a:rPr sz="17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钧控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JIT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4000"/>
              </a:lnSpc>
              <a:spcBef>
                <a:spcPts val="36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其核心功能是拍摄标准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舌象照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片，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自动识别舌色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舌苔等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细节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6000"/>
              </a:lnSpc>
              <a:spcBef>
                <a:spcPts val="26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检测后一键生成包含舌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象图片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分析结果及个性化饮食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、生活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调理建议的可视化健康报告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并自动保存历史记录以便追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踪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健康变化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1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https://www.junctrl.cn/l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ist_8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68" name="picture 2268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371431" y="2890189"/>
            <a:ext cx="122987" cy="168859"/>
          </a:xfrm>
          <a:prstGeom prst="rect">
            <a:avLst/>
          </a:prstGeom>
        </p:spPr>
      </p:pic>
      <p:pic>
        <p:nvPicPr>
          <p:cNvPr id="2270" name="picture 227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371431" y="1886889"/>
            <a:ext cx="122987" cy="168859"/>
          </a:xfrm>
          <a:prstGeom prst="rect">
            <a:avLst/>
          </a:prstGeom>
        </p:spPr>
      </p:pic>
      <p:pic>
        <p:nvPicPr>
          <p:cNvPr id="2272" name="picture 227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9371431" y="1284909"/>
            <a:ext cx="122987" cy="168859"/>
          </a:xfrm>
          <a:prstGeom prst="rect">
            <a:avLst/>
          </a:prstGeom>
        </p:spPr>
      </p:pic>
      <p:pic>
        <p:nvPicPr>
          <p:cNvPr id="2274" name="picture 2274">
            <a:hlinkClick r:id="rId50" action="ppaction://hlinkfile"/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3506470" y="2475229"/>
            <a:ext cx="2337434" cy="401320"/>
          </a:xfrm>
          <a:prstGeom prst="rect">
            <a:avLst/>
          </a:prstGeom>
        </p:spPr>
      </p:pic>
      <p:sp>
        <p:nvSpPr>
          <p:cNvPr id="2276" name="textbox 2276"/>
          <p:cNvSpPr/>
          <p:nvPr/>
        </p:nvSpPr>
        <p:spPr>
          <a:xfrm>
            <a:off x="3506571" y="801522"/>
            <a:ext cx="2350770" cy="2106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70305" algn="l" rtl="0" eaLnBrk="0">
              <a:lnSpc>
                <a:spcPct val="87000"/>
              </a:lnSpc>
              <a:tabLst/>
            </a:pP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欢孝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5000"/>
              </a:lnSpc>
              <a:spcBef>
                <a:spcPts val="36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可与多种智能设备联动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的综合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监测守护平台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。其核心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涵盖健康管理 、安全守护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、生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活服务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、亲情互动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80670" algn="l" rtl="0" eaLnBrk="0">
              <a:lnSpc>
                <a:spcPct val="97000"/>
              </a:lnSpc>
              <a:spcBef>
                <a:spcPts val="24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并采用大字体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、简洁布局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、语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音交互等适老化设计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24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http://www.xiao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xinfuwu.co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78" name="picture 227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3519271" y="2488869"/>
            <a:ext cx="122986" cy="168859"/>
          </a:xfrm>
          <a:prstGeom prst="rect">
            <a:avLst/>
          </a:prstGeom>
        </p:spPr>
      </p:pic>
      <p:pic>
        <p:nvPicPr>
          <p:cNvPr id="2280" name="picture 2280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3519271" y="2087550"/>
            <a:ext cx="122986" cy="168859"/>
          </a:xfrm>
          <a:prstGeom prst="rect">
            <a:avLst/>
          </a:prstGeom>
        </p:spPr>
      </p:pic>
      <p:pic>
        <p:nvPicPr>
          <p:cNvPr id="2282" name="picture 2282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3519271" y="1284909"/>
            <a:ext cx="122986" cy="168859"/>
          </a:xfrm>
          <a:prstGeom prst="rect">
            <a:avLst/>
          </a:prstGeom>
        </p:spPr>
      </p:pic>
      <p:pic>
        <p:nvPicPr>
          <p:cNvPr id="2284" name="picture 2284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286" name="textbox 2286"/>
          <p:cNvSpPr/>
          <p:nvPr/>
        </p:nvSpPr>
        <p:spPr>
          <a:xfrm>
            <a:off x="580491" y="4263694"/>
            <a:ext cx="2350135" cy="982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6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05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智能问诊多轮追问症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状提供初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步判断，提供24小时服务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，语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音问答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、拍照识图解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读医疗报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告/药盒/皮肤问题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、多模态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分析追踪健康趋势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88" name="picture 2288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593191" y="4276394"/>
            <a:ext cx="122986" cy="168859"/>
          </a:xfrm>
          <a:prstGeom prst="rect">
            <a:avLst/>
          </a:prstGeom>
        </p:spPr>
      </p:pic>
      <p:sp>
        <p:nvSpPr>
          <p:cNvPr id="2290" name="textbox 2290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AI老年看护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4"/>
          <p:cNvGrpSpPr/>
          <p:nvPr/>
        </p:nvGrpSpPr>
        <p:grpSpPr>
          <a:xfrm rot="21600000">
            <a:off x="9180576" y="3712463"/>
            <a:ext cx="2699004" cy="2735580"/>
            <a:chOff x="0" y="0"/>
            <a:chExt cx="2699004" cy="2735580"/>
          </a:xfrm>
        </p:grpSpPr>
        <p:pic>
          <p:nvPicPr>
            <p:cNvPr id="2292" name="picture 22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574548"/>
              <a:ext cx="2699004" cy="2161032"/>
            </a:xfrm>
            <a:prstGeom prst="rect">
              <a:avLst/>
            </a:prstGeom>
          </p:spPr>
        </p:pic>
        <p:sp>
          <p:nvSpPr>
            <p:cNvPr id="2294" name="textbox 2294"/>
            <p:cNvSpPr/>
            <p:nvPr/>
          </p:nvSpPr>
          <p:spPr>
            <a:xfrm>
              <a:off x="180695" y="-12700"/>
              <a:ext cx="2350135" cy="26193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15595" algn="l" rtl="0" eaLnBrk="0">
                <a:lnSpc>
                  <a:spcPts val="4248"/>
                </a:lnSpc>
                <a:tabLst/>
              </a:pPr>
              <a:r>
                <a:rPr sz="3400" kern="0" spc="8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  <a:r>
                <a:rPr sz="3400" kern="0" spc="5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Recra</a:t>
              </a:r>
              <a:r>
                <a:rPr sz="2700" b="1" kern="0" spc="0" baseline="13387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f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278129" algn="l" rtl="0" eaLnBrk="0">
                <a:lnSpc>
                  <a:spcPct val="107000"/>
                </a:lnSpc>
                <a:spcBef>
                  <a:spcPts val="513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更适合设计辅助工具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，满足专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业用户的需求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几乎全类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型设计资产以及精细的图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层编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辑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，并能将位图转换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成矢量格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式 ，可以创建专属风格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、批量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生成素材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，也能快速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生成产品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包装和海报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302895" indent="-290829" algn="l" rtl="0" eaLnBrk="0">
                <a:lnSpc>
                  <a:spcPct val="96000"/>
                </a:lnSpc>
                <a:spcBef>
                  <a:spcPts val="25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唯一问题是中文渲染有时候会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出错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05000"/>
                </a:lnSpc>
                <a:spcBef>
                  <a:spcPts val="244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https://www.rec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raft.ai/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296" name="picture 229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3395" y="2406701"/>
              <a:ext cx="122987" cy="168859"/>
            </a:xfrm>
            <a:prstGeom prst="rect">
              <a:avLst/>
            </a:prstGeom>
          </p:spPr>
        </p:pic>
        <p:pic>
          <p:nvPicPr>
            <p:cNvPr id="2298" name="picture 229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3395" y="2005381"/>
              <a:ext cx="122987" cy="168859"/>
            </a:xfrm>
            <a:prstGeom prst="rect">
              <a:avLst/>
            </a:prstGeom>
          </p:spPr>
        </p:pic>
        <p:pic>
          <p:nvPicPr>
            <p:cNvPr id="2300" name="picture 23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3395" y="600761"/>
              <a:ext cx="122987" cy="168859"/>
            </a:xfrm>
            <a:prstGeom prst="rect">
              <a:avLst/>
            </a:prstGeom>
          </p:spPr>
        </p:pic>
      </p:grpSp>
      <p:grpSp>
        <p:nvGrpSpPr>
          <p:cNvPr id="96" name="group 96"/>
          <p:cNvGrpSpPr/>
          <p:nvPr/>
        </p:nvGrpSpPr>
        <p:grpSpPr>
          <a:xfrm rot="21600000">
            <a:off x="457200" y="754379"/>
            <a:ext cx="2700527" cy="2726436"/>
            <a:chOff x="0" y="0"/>
            <a:chExt cx="2700527" cy="2726436"/>
          </a:xfrm>
        </p:grpSpPr>
        <p:pic>
          <p:nvPicPr>
            <p:cNvPr id="2302" name="picture 230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700527" cy="2726436"/>
            </a:xfrm>
            <a:prstGeom prst="rect">
              <a:avLst/>
            </a:prstGeom>
          </p:spPr>
        </p:pic>
        <p:sp>
          <p:nvSpPr>
            <p:cNvPr id="2304" name="textbox 2304"/>
            <p:cNvSpPr/>
            <p:nvPr/>
          </p:nvSpPr>
          <p:spPr>
            <a:xfrm>
              <a:off x="-12700" y="-12700"/>
              <a:ext cx="2726054" cy="27635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5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0694" indent="-273684" algn="l" rtl="0" eaLnBrk="0">
                <a:lnSpc>
                  <a:spcPct val="113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专注于品牌视觉与印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刷物料的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设计平台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，用户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可快速生成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海报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、T-恤图案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、名片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、社媒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图片等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6225" algn="l" rtl="0" eaLnBrk="0">
                <a:lnSpc>
                  <a:spcPct val="113000"/>
                </a:lnSpc>
                <a:spcBef>
                  <a:spcPts val="98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内置大量字体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、矢量图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、风格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模板，AI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功能支持生成图形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抽象背景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、样式迁移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，亦能快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速去背景与处理细节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.kittl.com/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306" name="picture 230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4411" y="2466009"/>
              <a:ext cx="122986" cy="168859"/>
            </a:xfrm>
            <a:prstGeom prst="rect">
              <a:avLst/>
            </a:prstGeom>
          </p:spPr>
        </p:pic>
        <p:pic>
          <p:nvPicPr>
            <p:cNvPr id="2308" name="picture 230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4411" y="1513509"/>
              <a:ext cx="122986" cy="168859"/>
            </a:xfrm>
            <a:prstGeom prst="rect">
              <a:avLst/>
            </a:prstGeom>
          </p:spPr>
        </p:pic>
        <p:pic>
          <p:nvPicPr>
            <p:cNvPr id="2310" name="picture 231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4411" y="561009"/>
              <a:ext cx="122986" cy="168859"/>
            </a:xfrm>
            <a:prstGeom prst="rect">
              <a:avLst/>
            </a:prstGeom>
          </p:spPr>
        </p:pic>
      </p:grpSp>
      <p:grpSp>
        <p:nvGrpSpPr>
          <p:cNvPr id="98" name="group 98"/>
          <p:cNvGrpSpPr/>
          <p:nvPr/>
        </p:nvGrpSpPr>
        <p:grpSpPr>
          <a:xfrm rot="21600000">
            <a:off x="3361944" y="783336"/>
            <a:ext cx="2706624" cy="2700527"/>
            <a:chOff x="0" y="0"/>
            <a:chExt cx="2706624" cy="2700527"/>
          </a:xfrm>
        </p:grpSpPr>
        <p:pic>
          <p:nvPicPr>
            <p:cNvPr id="2312" name="picture 231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2706624" cy="2700527"/>
            </a:xfrm>
            <a:prstGeom prst="rect">
              <a:avLst/>
            </a:prstGeom>
          </p:spPr>
        </p:pic>
        <p:sp>
          <p:nvSpPr>
            <p:cNvPr id="2314" name="textbox 2314"/>
            <p:cNvSpPr/>
            <p:nvPr/>
          </p:nvSpPr>
          <p:spPr>
            <a:xfrm>
              <a:off x="-12700" y="-12700"/>
              <a:ext cx="2732404" cy="27374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91490" indent="-281940" algn="l" rtl="0" eaLnBrk="0">
                <a:lnSpc>
                  <a:spcPct val="112000"/>
                </a:lnSpc>
                <a:spcBef>
                  <a:spcPts val="5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融合“设计工具 +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数据可视化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能力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，用户不仅能制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作海报 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90855" indent="-1905" algn="l" rtl="0" eaLnBrk="0">
                <a:lnSpc>
                  <a:spcPct val="99000"/>
                </a:lnSpc>
                <a:spcBef>
                  <a:spcPts val="315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演示，还能创建交互式信息图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动态图表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、报告页面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315" indent="-278765" algn="l" rtl="0" eaLnBrk="0">
                <a:lnSpc>
                  <a:spcPct val="113000"/>
                </a:lnSpc>
                <a:spcBef>
                  <a:spcPts val="1110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提供模板涵盖市场报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告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、培训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课件 、企业年报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、教育幻灯片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等，AI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可自动推荐版式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、配色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图形布局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https://www.visme.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co/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316" name="picture 231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7332" y="2437053"/>
              <a:ext cx="122986" cy="168859"/>
            </a:xfrm>
            <a:prstGeom prst="rect">
              <a:avLst/>
            </a:prstGeom>
          </p:spPr>
        </p:pic>
        <p:pic>
          <p:nvPicPr>
            <p:cNvPr id="2318" name="picture 231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7332" y="1484553"/>
              <a:ext cx="122986" cy="168859"/>
            </a:xfrm>
            <a:prstGeom prst="rect">
              <a:avLst/>
            </a:prstGeom>
          </p:spPr>
        </p:pic>
        <p:pic>
          <p:nvPicPr>
            <p:cNvPr id="2320" name="picture 232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7332" y="532053"/>
              <a:ext cx="122986" cy="168859"/>
            </a:xfrm>
            <a:prstGeom prst="rect">
              <a:avLst/>
            </a:prstGeom>
          </p:spPr>
        </p:pic>
      </p:grpSp>
      <p:grpSp>
        <p:nvGrpSpPr>
          <p:cNvPr id="100" name="group 100"/>
          <p:cNvGrpSpPr/>
          <p:nvPr/>
        </p:nvGrpSpPr>
        <p:grpSpPr>
          <a:xfrm rot="21600000">
            <a:off x="9180576" y="792479"/>
            <a:ext cx="2699004" cy="2688336"/>
            <a:chOff x="0" y="0"/>
            <a:chExt cx="2699004" cy="2688336"/>
          </a:xfrm>
        </p:grpSpPr>
        <p:pic>
          <p:nvPicPr>
            <p:cNvPr id="2322" name="picture 2322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2699004" cy="2688336"/>
            </a:xfrm>
            <a:prstGeom prst="rect">
              <a:avLst/>
            </a:prstGeom>
          </p:spPr>
        </p:pic>
        <p:sp>
          <p:nvSpPr>
            <p:cNvPr id="2324" name="textbox 2324"/>
            <p:cNvSpPr/>
            <p:nvPr/>
          </p:nvSpPr>
          <p:spPr>
            <a:xfrm>
              <a:off x="-12700" y="-12700"/>
              <a:ext cx="2724785" cy="27254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234" indent="-276859" algn="l" rtl="0" eaLnBrk="0">
                <a:lnSpc>
                  <a:spcPct val="104000"/>
                </a:lnSpc>
                <a:spcBef>
                  <a:spcPts val="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句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话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示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即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海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报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PPT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、社媒视觉，AI</a:t>
              </a:r>
              <a:r>
                <a:rPr sz="1200" kern="0" spc="2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自动匹配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布局与配色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6859" algn="l" rtl="0" eaLnBrk="0">
                <a:lnSpc>
                  <a:spcPct val="107000"/>
                </a:lnSpc>
                <a:spcBef>
                  <a:spcPts val="115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Magic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Edit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能让你上传图片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后一句话改图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，极大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提升设计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8765" algn="l" rtl="0" eaLnBrk="0">
                <a:lnSpc>
                  <a:spcPct val="107000"/>
                </a:lnSpc>
                <a:spcBef>
                  <a:spcPts val="119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跨平台（ 网页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、手机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、桌面）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同步，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中文界面完善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，适合零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设计经验用户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0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://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canva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cn</a:t>
              </a:r>
              <a:r>
                <a:rPr sz="1200" u="sng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326" name="picture 232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4030" y="2313609"/>
              <a:ext cx="122987" cy="168859"/>
            </a:xfrm>
            <a:prstGeom prst="rect">
              <a:avLst/>
            </a:prstGeom>
          </p:spPr>
        </p:pic>
        <p:pic>
          <p:nvPicPr>
            <p:cNvPr id="2328" name="picture 232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4030" y="1711630"/>
              <a:ext cx="122987" cy="168859"/>
            </a:xfrm>
            <a:prstGeom prst="rect">
              <a:avLst/>
            </a:prstGeom>
          </p:spPr>
        </p:pic>
        <p:pic>
          <p:nvPicPr>
            <p:cNvPr id="2330" name="picture 233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4030" y="1109649"/>
              <a:ext cx="122987" cy="168859"/>
            </a:xfrm>
            <a:prstGeom prst="rect">
              <a:avLst/>
            </a:prstGeom>
          </p:spPr>
        </p:pic>
        <p:pic>
          <p:nvPicPr>
            <p:cNvPr id="2332" name="picture 2332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4030" y="507669"/>
              <a:ext cx="122987" cy="168859"/>
            </a:xfrm>
            <a:prstGeom prst="rect">
              <a:avLst/>
            </a:prstGeom>
          </p:spPr>
        </p:pic>
      </p:grpSp>
      <p:grpSp>
        <p:nvGrpSpPr>
          <p:cNvPr id="102" name="group 102"/>
          <p:cNvGrpSpPr/>
          <p:nvPr/>
        </p:nvGrpSpPr>
        <p:grpSpPr>
          <a:xfrm rot="21600000">
            <a:off x="6269735" y="1275702"/>
            <a:ext cx="2706623" cy="2208161"/>
            <a:chOff x="0" y="0"/>
            <a:chExt cx="2706623" cy="2208161"/>
          </a:xfrm>
        </p:grpSpPr>
        <p:pic>
          <p:nvPicPr>
            <p:cNvPr id="2334" name="picture 2334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0" y="0"/>
              <a:ext cx="2706623" cy="2208161"/>
            </a:xfrm>
            <a:prstGeom prst="rect">
              <a:avLst/>
            </a:prstGeom>
          </p:spPr>
        </p:pic>
        <p:sp>
          <p:nvSpPr>
            <p:cNvPr id="2336" name="textbox 2336"/>
            <p:cNvSpPr/>
            <p:nvPr/>
          </p:nvSpPr>
          <p:spPr>
            <a:xfrm>
              <a:off x="-12700" y="-12700"/>
              <a:ext cx="2732404" cy="22453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1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488950" indent="-279400" algn="l" rtl="0" eaLnBrk="0">
                <a:lnSpc>
                  <a:spcPct val="115000"/>
                </a:lnSpc>
                <a:spcBef>
                  <a:spcPts val="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社交／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移动优先的视觉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设计平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集成了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图像生成 、照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片编辑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、动画贴纸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、短视频封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面等多功能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115000"/>
                </a:lnSpc>
                <a:spcBef>
                  <a:spcPts val="884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用户可在手机／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网页端快速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作社媒图片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、短视频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素材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、故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事配图，支持提示语生成图像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图像风格转换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、背景抠图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https://picsart.co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338" name="picture 2338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7205" y="1944687"/>
              <a:ext cx="122987" cy="168859"/>
            </a:xfrm>
            <a:prstGeom prst="rect">
              <a:avLst/>
            </a:prstGeom>
          </p:spPr>
        </p:pic>
        <p:pic>
          <p:nvPicPr>
            <p:cNvPr id="2340" name="picture 234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7205" y="992187"/>
              <a:ext cx="122987" cy="168859"/>
            </a:xfrm>
            <a:prstGeom prst="rect">
              <a:avLst/>
            </a:prstGeom>
          </p:spPr>
        </p:pic>
        <p:pic>
          <p:nvPicPr>
            <p:cNvPr id="2342" name="picture 2342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7205" y="39687"/>
              <a:ext cx="122987" cy="168859"/>
            </a:xfrm>
            <a:prstGeom prst="rect">
              <a:avLst/>
            </a:prstGeom>
          </p:spPr>
        </p:pic>
      </p:grpSp>
      <p:grpSp>
        <p:nvGrpSpPr>
          <p:cNvPr id="104" name="group 104"/>
          <p:cNvGrpSpPr/>
          <p:nvPr/>
        </p:nvGrpSpPr>
        <p:grpSpPr>
          <a:xfrm rot="21600000">
            <a:off x="457200" y="4293108"/>
            <a:ext cx="2700527" cy="2161032"/>
            <a:chOff x="0" y="0"/>
            <a:chExt cx="2700527" cy="2161032"/>
          </a:xfrm>
        </p:grpSpPr>
        <p:pic>
          <p:nvPicPr>
            <p:cNvPr id="2344" name="picture 234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0" y="0"/>
              <a:ext cx="2700527" cy="2161032"/>
            </a:xfrm>
            <a:prstGeom prst="rect">
              <a:avLst/>
            </a:prstGeom>
          </p:spPr>
        </p:pic>
        <p:sp>
          <p:nvSpPr>
            <p:cNvPr id="2346" name="textbox 2346"/>
            <p:cNvSpPr/>
            <p:nvPr/>
          </p:nvSpPr>
          <p:spPr>
            <a:xfrm>
              <a:off x="-12700" y="-12700"/>
              <a:ext cx="2726054" cy="21971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483234" indent="-276225" algn="l" rtl="0" eaLnBrk="0">
                <a:lnSpc>
                  <a:spcPct val="115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集“AI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文生图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文案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素材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”一体化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，用户可一键从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关键词生成海报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、商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品图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媒图等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7495" algn="l" rtl="0" eaLnBrk="0">
                <a:lnSpc>
                  <a:spcPct val="113000"/>
                </a:lnSpc>
                <a:spcBef>
                  <a:spcPts val="98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支持批量套版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、尺寸延展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抠背景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、图像变清晰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、场景变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换等实用功能，极大提升电商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/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运营设计效率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4000"/>
                </a:lnSpc>
                <a:spcBef>
                  <a:spcPts val="5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https://www.gaoding.c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348" name="picture 2348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4411" y="1940356"/>
              <a:ext cx="122986" cy="168859"/>
            </a:xfrm>
            <a:prstGeom prst="rect">
              <a:avLst/>
            </a:prstGeom>
          </p:spPr>
        </p:pic>
        <p:pic>
          <p:nvPicPr>
            <p:cNvPr id="2350" name="picture 2350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4411" y="987856"/>
              <a:ext cx="122986" cy="168859"/>
            </a:xfrm>
            <a:prstGeom prst="rect">
              <a:avLst/>
            </a:prstGeom>
          </p:spPr>
        </p:pic>
        <p:pic>
          <p:nvPicPr>
            <p:cNvPr id="2352" name="picture 235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4411" y="35356"/>
              <a:ext cx="122986" cy="168859"/>
            </a:xfrm>
            <a:prstGeom prst="rect">
              <a:avLst/>
            </a:prstGeom>
          </p:spPr>
        </p:pic>
      </p:grpSp>
      <p:grpSp>
        <p:nvGrpSpPr>
          <p:cNvPr id="106" name="group 106"/>
          <p:cNvGrpSpPr/>
          <p:nvPr/>
        </p:nvGrpSpPr>
        <p:grpSpPr>
          <a:xfrm rot="21600000">
            <a:off x="6269735" y="4328464"/>
            <a:ext cx="2706623" cy="2131770"/>
            <a:chOff x="0" y="0"/>
            <a:chExt cx="2706623" cy="2131770"/>
          </a:xfrm>
        </p:grpSpPr>
        <p:pic>
          <p:nvPicPr>
            <p:cNvPr id="2354" name="picture 2354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0" y="92810"/>
              <a:ext cx="2706623" cy="2038960"/>
            </a:xfrm>
            <a:prstGeom prst="rect">
              <a:avLst/>
            </a:prstGeom>
          </p:spPr>
        </p:pic>
        <p:sp>
          <p:nvSpPr>
            <p:cNvPr id="2356" name="textbox 2356"/>
            <p:cNvSpPr/>
            <p:nvPr/>
          </p:nvSpPr>
          <p:spPr>
            <a:xfrm>
              <a:off x="-12700" y="-12700"/>
              <a:ext cx="2732404" cy="21691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95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7044" indent="-278129" algn="l" rtl="0" eaLnBrk="0">
                <a:lnSpc>
                  <a:spcPct val="115000"/>
                </a:lnSpc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是面向设计师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产品经理等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业需求的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，主攻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线稿转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、icon生成等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设计类功能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315" indent="-279400" algn="l" rtl="0" eaLnBrk="0">
                <a:lnSpc>
                  <a:spcPct val="113000"/>
                </a:lnSpc>
                <a:spcBef>
                  <a:spcPts val="83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优点是生成速度快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缺点是适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用场景有限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，偶尔细节模糊或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元素混乱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，对复杂提示词解析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能力也较弱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8915" algn="l" rtl="0" eaLnBrk="0">
                <a:lnSpc>
                  <a:spcPct val="105000"/>
                </a:lnSpc>
                <a:spcBef>
                  <a:spcPts val="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https://pixso.cn/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358" name="picture 2358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196570" y="1685924"/>
              <a:ext cx="122986" cy="168859"/>
            </a:xfrm>
            <a:prstGeom prst="rect">
              <a:avLst/>
            </a:prstGeom>
          </p:spPr>
        </p:pic>
        <p:pic>
          <p:nvPicPr>
            <p:cNvPr id="2360" name="picture 2360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196570" y="733424"/>
              <a:ext cx="122986" cy="168859"/>
            </a:xfrm>
            <a:prstGeom prst="rect">
              <a:avLst/>
            </a:prstGeom>
          </p:spPr>
        </p:pic>
        <p:pic>
          <p:nvPicPr>
            <p:cNvPr id="2362" name="picture 2362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196570" y="0"/>
              <a:ext cx="122986" cy="168859"/>
            </a:xfrm>
            <a:prstGeom prst="rect">
              <a:avLst/>
            </a:prstGeom>
          </p:spPr>
        </p:pic>
      </p:grpSp>
      <p:grpSp>
        <p:nvGrpSpPr>
          <p:cNvPr id="108" name="group 108"/>
          <p:cNvGrpSpPr/>
          <p:nvPr/>
        </p:nvGrpSpPr>
        <p:grpSpPr>
          <a:xfrm rot="21600000">
            <a:off x="3361944" y="4328464"/>
            <a:ext cx="2706624" cy="2128723"/>
            <a:chOff x="0" y="0"/>
            <a:chExt cx="2706624" cy="2128723"/>
          </a:xfrm>
        </p:grpSpPr>
        <p:pic>
          <p:nvPicPr>
            <p:cNvPr id="2364" name="picture 2364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 rot="21600000">
              <a:off x="0" y="87590"/>
              <a:ext cx="2706624" cy="2041132"/>
            </a:xfrm>
            <a:prstGeom prst="rect">
              <a:avLst/>
            </a:prstGeom>
          </p:spPr>
        </p:pic>
        <p:sp>
          <p:nvSpPr>
            <p:cNvPr id="2366" name="textbox 2366"/>
            <p:cNvSpPr/>
            <p:nvPr/>
          </p:nvSpPr>
          <p:spPr>
            <a:xfrm>
              <a:off x="-12700" y="-12700"/>
              <a:ext cx="2732404" cy="21647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65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90219" indent="-280670" algn="l" rtl="0" eaLnBrk="0">
                <a:lnSpc>
                  <a:spcPct val="111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 能 设 计 平 台 覆 盖 海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报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LOGO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、社媒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、活动物料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步生成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5590" algn="l" rtl="0" eaLnBrk="0">
                <a:lnSpc>
                  <a:spcPct val="111000"/>
                </a:lnSpc>
                <a:spcBef>
                  <a:spcPts val="983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支持图像生成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、背景移除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板应用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，对运营者／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社媒内容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创作者友好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5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4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https://aiart.c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huangkit.com/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368" name="picture 236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 rot="21600000">
              <a:off x="197332" y="1466850"/>
              <a:ext cx="122986" cy="168859"/>
            </a:xfrm>
            <a:prstGeom prst="rect">
              <a:avLst/>
            </a:prstGeom>
          </p:spPr>
        </p:pic>
        <p:pic>
          <p:nvPicPr>
            <p:cNvPr id="2370" name="picture 2370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21600000">
              <a:off x="197332" y="733424"/>
              <a:ext cx="122986" cy="168859"/>
            </a:xfrm>
            <a:prstGeom prst="rect">
              <a:avLst/>
            </a:prstGeom>
          </p:spPr>
        </p:pic>
        <p:pic>
          <p:nvPicPr>
            <p:cNvPr id="2372" name="picture 2372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 rot="21600000">
              <a:off x="197332" y="0"/>
              <a:ext cx="122986" cy="168859"/>
            </a:xfrm>
            <a:prstGeom prst="rect">
              <a:avLst/>
            </a:prstGeom>
          </p:spPr>
        </p:pic>
      </p:grpSp>
      <p:pic>
        <p:nvPicPr>
          <p:cNvPr id="2374" name="picture 237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376" name="textbox 2376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78" name="picture 237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159763" y="3697223"/>
            <a:ext cx="1295400" cy="571500"/>
          </a:xfrm>
          <a:prstGeom prst="rect">
            <a:avLst/>
          </a:prstGeom>
        </p:spPr>
      </p:pic>
      <p:pic>
        <p:nvPicPr>
          <p:cNvPr id="2380" name="picture 238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6990588" y="804671"/>
            <a:ext cx="1264919" cy="464820"/>
          </a:xfrm>
          <a:prstGeom prst="rect">
            <a:avLst/>
          </a:prstGeom>
        </p:spPr>
      </p:pic>
      <p:pic>
        <p:nvPicPr>
          <p:cNvPr id="2382" name="picture 238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6812280" y="3712463"/>
            <a:ext cx="539495" cy="539496"/>
          </a:xfrm>
          <a:prstGeom prst="rect">
            <a:avLst/>
          </a:prstGeom>
        </p:spPr>
      </p:pic>
      <p:sp>
        <p:nvSpPr>
          <p:cNvPr id="2384" name="textbox 2384"/>
          <p:cNvSpPr/>
          <p:nvPr/>
        </p:nvSpPr>
        <p:spPr>
          <a:xfrm>
            <a:off x="4422876" y="3802760"/>
            <a:ext cx="925830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282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创客贴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86" name="textbox 2386"/>
          <p:cNvSpPr/>
          <p:nvPr/>
        </p:nvSpPr>
        <p:spPr>
          <a:xfrm>
            <a:off x="7450835" y="3802760"/>
            <a:ext cx="584200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82"/>
              </a:lnSpc>
              <a:tabLst/>
            </a:pP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Pixso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88" name="picture 238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3883152" y="3773423"/>
            <a:ext cx="3810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10"/>
          <p:cNvGrpSpPr/>
          <p:nvPr/>
        </p:nvGrpSpPr>
        <p:grpSpPr>
          <a:xfrm rot="21600000">
            <a:off x="6239255" y="717803"/>
            <a:ext cx="2706624" cy="2970276"/>
            <a:chOff x="0" y="0"/>
            <a:chExt cx="2706624" cy="2970276"/>
          </a:xfrm>
        </p:grpSpPr>
        <p:pic>
          <p:nvPicPr>
            <p:cNvPr id="2390" name="picture 239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6624" cy="2970276"/>
            </a:xfrm>
            <a:prstGeom prst="rect">
              <a:avLst/>
            </a:prstGeom>
          </p:spPr>
        </p:pic>
        <p:sp>
          <p:nvSpPr>
            <p:cNvPr id="2392" name="textbox 2392"/>
            <p:cNvSpPr/>
            <p:nvPr/>
          </p:nvSpPr>
          <p:spPr>
            <a:xfrm>
              <a:off x="-12700" y="-12700"/>
              <a:ext cx="2732404" cy="30073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24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6225" algn="l" rtl="0" eaLnBrk="0">
                <a:lnSpc>
                  <a:spcPct val="106000"/>
                </a:lnSpc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一个面向游戏创意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、原型生成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与视觉表现的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驱动平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 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为“创意发想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原型构建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视觉化演示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”这一链条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225" algn="l" rtl="0" eaLnBrk="0">
                <a:lnSpc>
                  <a:spcPct val="105000"/>
                </a:lnSpc>
                <a:spcBef>
                  <a:spcPts val="881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适用于创意初期阶段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，快速将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模糊想法转化为可视化的企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划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草案与原型素材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，提升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构思效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10184" algn="l" rtl="0" eaLnBrk="0">
                <a:lnSpc>
                  <a:spcPct val="105000"/>
                </a:lnSpc>
                <a:spcBef>
                  <a:spcPts val="3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https://ludo.ai/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394" name="picture 239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7840" y="2634665"/>
              <a:ext cx="122987" cy="168859"/>
            </a:xfrm>
            <a:prstGeom prst="rect">
              <a:avLst/>
            </a:prstGeom>
          </p:spPr>
        </p:pic>
        <p:pic>
          <p:nvPicPr>
            <p:cNvPr id="2396" name="picture 239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7840" y="1755825"/>
              <a:ext cx="122987" cy="168859"/>
            </a:xfrm>
            <a:prstGeom prst="rect">
              <a:avLst/>
            </a:prstGeom>
          </p:spPr>
        </p:pic>
        <p:pic>
          <p:nvPicPr>
            <p:cNvPr id="2398" name="picture 239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7840" y="676325"/>
              <a:ext cx="122987" cy="168859"/>
            </a:xfrm>
            <a:prstGeom prst="rect">
              <a:avLst/>
            </a:prstGeom>
          </p:spPr>
        </p:pic>
      </p:grpSp>
      <p:grpSp>
        <p:nvGrpSpPr>
          <p:cNvPr id="112" name="group 112"/>
          <p:cNvGrpSpPr/>
          <p:nvPr/>
        </p:nvGrpSpPr>
        <p:grpSpPr>
          <a:xfrm rot="21600000">
            <a:off x="457200" y="728471"/>
            <a:ext cx="2700527" cy="2967228"/>
            <a:chOff x="0" y="0"/>
            <a:chExt cx="2700527" cy="2967228"/>
          </a:xfrm>
        </p:grpSpPr>
        <p:pic>
          <p:nvPicPr>
            <p:cNvPr id="2400" name="picture 24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700527" cy="2967228"/>
            </a:xfrm>
            <a:prstGeom prst="rect">
              <a:avLst/>
            </a:prstGeom>
          </p:spPr>
        </p:pic>
        <p:sp>
          <p:nvSpPr>
            <p:cNvPr id="2402" name="textbox 2402"/>
            <p:cNvSpPr/>
            <p:nvPr/>
          </p:nvSpPr>
          <p:spPr>
            <a:xfrm>
              <a:off x="-12700" y="-12700"/>
              <a:ext cx="2726054" cy="3003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140" indent="-277495" algn="l" rtl="0" eaLnBrk="0">
                <a:lnSpc>
                  <a:spcPct val="106000"/>
                </a:lnSpc>
                <a:spcBef>
                  <a:spcPts val="2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基于其专为游戏场景训练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的游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戏行业专精模型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持从游戏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创意概念到成品的智能化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游戏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开发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8129" algn="l" rtl="0" eaLnBrk="0">
                <a:lnSpc>
                  <a:spcPct val="108000"/>
                </a:lnSpc>
                <a:spcBef>
                  <a:spcPts val="688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自动生成角色动画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、游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戏特效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、场景地图与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UI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界面等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全套美术资源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步完成底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层代码与数值系统的构建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7645" algn="l" rtl="0" eaLnBrk="0">
                <a:lnSpc>
                  <a:spcPct val="104000"/>
                </a:lnSpc>
                <a:spcBef>
                  <a:spcPts val="3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http://www.soonjy.co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04" name="picture 240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5046" y="2423337"/>
              <a:ext cx="122986" cy="168859"/>
            </a:xfrm>
            <a:prstGeom prst="rect">
              <a:avLst/>
            </a:prstGeom>
          </p:spPr>
        </p:pic>
        <p:pic>
          <p:nvPicPr>
            <p:cNvPr id="2406" name="picture 240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5046" y="1544497"/>
              <a:ext cx="122986" cy="168859"/>
            </a:xfrm>
            <a:prstGeom prst="rect">
              <a:avLst/>
            </a:prstGeom>
          </p:spPr>
        </p:pic>
        <p:pic>
          <p:nvPicPr>
            <p:cNvPr id="2408" name="picture 240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5046" y="665657"/>
              <a:ext cx="122986" cy="168859"/>
            </a:xfrm>
            <a:prstGeom prst="rect">
              <a:avLst/>
            </a:prstGeom>
          </p:spPr>
        </p:pic>
      </p:grpSp>
      <p:grpSp>
        <p:nvGrpSpPr>
          <p:cNvPr id="114" name="group 114"/>
          <p:cNvGrpSpPr/>
          <p:nvPr/>
        </p:nvGrpSpPr>
        <p:grpSpPr>
          <a:xfrm rot="21600000">
            <a:off x="3346703" y="748283"/>
            <a:ext cx="2706624" cy="2947416"/>
            <a:chOff x="0" y="0"/>
            <a:chExt cx="2706624" cy="2947416"/>
          </a:xfrm>
        </p:grpSpPr>
        <p:pic>
          <p:nvPicPr>
            <p:cNvPr id="2410" name="picture 241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2706624" cy="2947416"/>
            </a:xfrm>
            <a:prstGeom prst="rect">
              <a:avLst/>
            </a:prstGeom>
          </p:spPr>
        </p:pic>
        <p:pic>
          <p:nvPicPr>
            <p:cNvPr id="2412" name="picture 2412">
              <a:hlinkClick r:id="rId14" action="ppaction://hlinkfile"/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85166" y="2389886"/>
              <a:ext cx="2337434" cy="502919"/>
            </a:xfrm>
            <a:prstGeom prst="rect">
              <a:avLst/>
            </a:prstGeom>
          </p:spPr>
        </p:pic>
        <p:sp>
          <p:nvSpPr>
            <p:cNvPr id="2414" name="textbox 2414"/>
            <p:cNvSpPr/>
            <p:nvPr/>
          </p:nvSpPr>
          <p:spPr>
            <a:xfrm>
              <a:off x="183080" y="135382"/>
              <a:ext cx="2431414" cy="27743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11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71219" algn="l" rtl="0" eaLnBrk="0">
                <a:lnSpc>
                  <a:spcPct val="87000"/>
                </a:lnSpc>
                <a:tabLst/>
              </a:pPr>
              <a:r>
                <a:rPr sz="1700" b="1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微软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muse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0829" indent="-276225" algn="l" rtl="0" eaLnBrk="0">
                <a:lnSpc>
                  <a:spcPct val="104000"/>
                </a:lnSpc>
                <a:spcBef>
                  <a:spcPts val="361"/>
                </a:spcBef>
                <a:tabLst>
                  <a:tab pos="1377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功能可以概括为画面生成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和动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作模拟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。用户提供一张截图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就能生成连续的后续游戏场景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1465" indent="-276859" algn="l" rtl="0" eaLnBrk="0">
                <a:lnSpc>
                  <a:spcPct val="106000"/>
                </a:lnSpc>
                <a:spcBef>
                  <a:spcPts val="866"/>
                </a:spcBef>
                <a:tabLst>
                  <a:tab pos="1377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根据玩家的控制器指令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，预测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角色动作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，并确保符合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游戏中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的物理规律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。这意味着同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一个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起点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，玩家会面临多种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不同的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情节发展路径和画面场景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95275" indent="-283209" algn="l" rtl="0" eaLnBrk="0">
                <a:lnSpc>
                  <a:spcPct val="121000"/>
                </a:lnSpc>
                <a:spcBef>
                  <a:spcPts val="1"/>
                </a:spcBef>
                <a:tabLst>
                  <a:tab pos="114300" algn="l"/>
                </a:tabLst>
              </a:pPr>
              <a:r>
                <a:rPr sz="9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9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  </a:t>
              </a:r>
              <a:r>
                <a:rPr sz="900" u="sng" kern="0" spc="-1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900" u="sng" kern="0" spc="9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https://www.micr</a:t>
              </a:r>
              <a:r>
                <a:rPr sz="900" u="sng" kern="0" spc="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osoft.com/en</a:t>
              </a:r>
              <a:r>
                <a:rPr sz="900" u="sng" kern="0" spc="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-</a:t>
              </a:r>
              <a:r>
                <a:rPr sz="9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900" u="sng" kern="0" spc="9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us/</a:t>
              </a:r>
              <a:r>
                <a:rPr sz="900" u="sng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900" u="sng" kern="0" spc="9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research/blog/introducing</a:t>
              </a:r>
              <a:r>
                <a:rPr sz="900" u="sng" kern="0" spc="-1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900" u="sng" kern="0" spc="9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-</a:t>
              </a:r>
              <a:r>
                <a:rPr sz="9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900" u="sng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muse</a:t>
              </a:r>
              <a:endParaRPr sz="9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16" name="picture 241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5780" y="2402140"/>
              <a:ext cx="101976" cy="140012"/>
            </a:xfrm>
            <a:prstGeom prst="rect">
              <a:avLst/>
            </a:prstGeom>
          </p:spPr>
        </p:pic>
        <p:pic>
          <p:nvPicPr>
            <p:cNvPr id="2418" name="picture 241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7967" y="1324026"/>
              <a:ext cx="122986" cy="168859"/>
            </a:xfrm>
            <a:prstGeom prst="rect">
              <a:avLst/>
            </a:prstGeom>
          </p:spPr>
        </p:pic>
        <p:pic>
          <p:nvPicPr>
            <p:cNvPr id="2420" name="picture 242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7967" y="645845"/>
              <a:ext cx="122986" cy="168859"/>
            </a:xfrm>
            <a:prstGeom prst="rect">
              <a:avLst/>
            </a:prstGeom>
          </p:spPr>
        </p:pic>
      </p:grpSp>
      <p:grpSp>
        <p:nvGrpSpPr>
          <p:cNvPr id="116" name="group 116"/>
          <p:cNvGrpSpPr/>
          <p:nvPr/>
        </p:nvGrpSpPr>
        <p:grpSpPr>
          <a:xfrm rot="21600000">
            <a:off x="9134856" y="812291"/>
            <a:ext cx="2700528" cy="2872739"/>
            <a:chOff x="0" y="0"/>
            <a:chExt cx="2700528" cy="2872739"/>
          </a:xfrm>
        </p:grpSpPr>
        <p:pic>
          <p:nvPicPr>
            <p:cNvPr id="2422" name="picture 242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2700528" cy="2872739"/>
            </a:xfrm>
            <a:prstGeom prst="rect">
              <a:avLst/>
            </a:prstGeom>
          </p:spPr>
        </p:pic>
        <p:sp>
          <p:nvSpPr>
            <p:cNvPr id="2424" name="textbox 2424"/>
            <p:cNvSpPr/>
            <p:nvPr/>
          </p:nvSpPr>
          <p:spPr>
            <a:xfrm>
              <a:off x="-12700" y="-12700"/>
              <a:ext cx="2726054" cy="29089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140" indent="-278129" algn="l" rtl="0" eaLnBrk="0">
                <a:lnSpc>
                  <a:spcPct val="108000"/>
                </a:lnSpc>
                <a:spcBef>
                  <a:spcPts val="6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这是一个基于文本的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叙事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冒险游戏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，玩家输入命令／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叙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述，AI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实时生成剧情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、角色与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世界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6225" algn="l" rtl="0" eaLnBrk="0">
                <a:lnSpc>
                  <a:spcPct val="105000"/>
                </a:lnSpc>
                <a:spcBef>
                  <a:spcPts val="851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几乎“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无限可能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——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你可以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做任何事情（成为国王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、探索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外星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、做企业家等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），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立即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适应你的输入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4000"/>
                </a:lnSpc>
                <a:spcBef>
                  <a:spcPts val="2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https://aidungeon.com/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26" name="picture 2426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4664" y="2339517"/>
              <a:ext cx="122987" cy="168859"/>
            </a:xfrm>
            <a:prstGeom prst="rect">
              <a:avLst/>
            </a:prstGeom>
          </p:spPr>
        </p:pic>
        <p:pic>
          <p:nvPicPr>
            <p:cNvPr id="2428" name="picture 242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4664" y="1460677"/>
              <a:ext cx="122987" cy="168859"/>
            </a:xfrm>
            <a:prstGeom prst="rect">
              <a:avLst/>
            </a:prstGeom>
          </p:spPr>
        </p:pic>
        <p:pic>
          <p:nvPicPr>
            <p:cNvPr id="2430" name="picture 243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4664" y="581837"/>
              <a:ext cx="122987" cy="168859"/>
            </a:xfrm>
            <a:prstGeom prst="rect">
              <a:avLst/>
            </a:prstGeom>
          </p:spPr>
        </p:pic>
      </p:grpSp>
      <p:grpSp>
        <p:nvGrpSpPr>
          <p:cNvPr id="118" name="group 118"/>
          <p:cNvGrpSpPr/>
          <p:nvPr/>
        </p:nvGrpSpPr>
        <p:grpSpPr>
          <a:xfrm rot="21600000">
            <a:off x="9134856" y="4398263"/>
            <a:ext cx="2700528" cy="2339339"/>
            <a:chOff x="0" y="0"/>
            <a:chExt cx="2700528" cy="2339339"/>
          </a:xfrm>
        </p:grpSpPr>
        <p:pic>
          <p:nvPicPr>
            <p:cNvPr id="2432" name="picture 243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0" y="0"/>
              <a:ext cx="2700528" cy="2339339"/>
            </a:xfrm>
            <a:prstGeom prst="rect">
              <a:avLst/>
            </a:prstGeom>
          </p:spPr>
        </p:pic>
        <p:sp>
          <p:nvSpPr>
            <p:cNvPr id="2434" name="textbox 2434"/>
            <p:cNvSpPr/>
            <p:nvPr/>
          </p:nvSpPr>
          <p:spPr>
            <a:xfrm>
              <a:off x="-12700" y="-12700"/>
              <a:ext cx="2726054" cy="2375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85140" indent="-278129" algn="l" rtl="0" eaLnBrk="0">
                <a:lnSpc>
                  <a:spcPct val="106000"/>
                </a:lnSpc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适合以选择的风格和美学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人工智能美术作品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。可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以选择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美术风格，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生成游戏素材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、环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境和营销材料快速扩展规模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6859" algn="l" rtl="0" eaLnBrk="0">
                <a:lnSpc>
                  <a:spcPct val="108000"/>
                </a:lnSpc>
                <a:spcBef>
                  <a:spcPts val="97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从逼真的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D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模型到复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古像素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艺术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，只需设定风格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、输入提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示或上传您的设计稿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在几分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钟内生成精准细致的结果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7009" algn="l" rtl="0" eaLnBrk="0">
                <a:lnSpc>
                  <a:spcPct val="104000"/>
                </a:lnSpc>
                <a:spcBef>
                  <a:spcPts val="110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https://www.layer.ai/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36" name="picture 2436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4664" y="1678990"/>
              <a:ext cx="122987" cy="168859"/>
            </a:xfrm>
            <a:prstGeom prst="rect">
              <a:avLst/>
            </a:prstGeom>
          </p:spPr>
        </p:pic>
        <p:pic>
          <p:nvPicPr>
            <p:cNvPr id="2438" name="picture 2438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4664" y="876351"/>
              <a:ext cx="122987" cy="168859"/>
            </a:xfrm>
            <a:prstGeom prst="rect">
              <a:avLst/>
            </a:prstGeom>
          </p:spPr>
        </p:pic>
        <p:pic>
          <p:nvPicPr>
            <p:cNvPr id="2440" name="picture 2440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94664" y="73711"/>
              <a:ext cx="122987" cy="168859"/>
            </a:xfrm>
            <a:prstGeom prst="rect">
              <a:avLst/>
            </a:prstGeom>
          </p:spPr>
        </p:pic>
      </p:grpSp>
      <p:grpSp>
        <p:nvGrpSpPr>
          <p:cNvPr id="120" name="group 120"/>
          <p:cNvGrpSpPr/>
          <p:nvPr/>
        </p:nvGrpSpPr>
        <p:grpSpPr>
          <a:xfrm rot="21600000">
            <a:off x="457200" y="4398263"/>
            <a:ext cx="2700527" cy="2339339"/>
            <a:chOff x="0" y="0"/>
            <a:chExt cx="2700527" cy="2339339"/>
          </a:xfrm>
        </p:grpSpPr>
        <p:pic>
          <p:nvPicPr>
            <p:cNvPr id="2442" name="picture 2442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0" y="0"/>
              <a:ext cx="2700527" cy="2339339"/>
            </a:xfrm>
            <a:prstGeom prst="rect">
              <a:avLst/>
            </a:prstGeom>
          </p:spPr>
        </p:pic>
        <p:sp>
          <p:nvSpPr>
            <p:cNvPr id="2444" name="textbox 2444"/>
            <p:cNvSpPr/>
            <p:nvPr/>
          </p:nvSpPr>
          <p:spPr>
            <a:xfrm>
              <a:off x="-12700" y="-12700"/>
              <a:ext cx="2726054" cy="2376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2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487044" indent="-279400" algn="l" rtl="0" eaLnBrk="0">
                <a:lnSpc>
                  <a:spcPct val="107000"/>
                </a:lnSpc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款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 向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线 、浏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览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器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端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“零代码／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少代码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”游戏创作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，可以生成视觉资产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可生成游戏逻辑代码或结构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99109" indent="-291465" algn="l" rtl="0" eaLnBrk="0">
                <a:lnSpc>
                  <a:spcPct val="97000"/>
                </a:lnSpc>
                <a:spcBef>
                  <a:spcPts val="246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适合做玩法概念验证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、或用于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内部讨论的原型展示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7645" algn="l" rtl="0" eaLnBrk="0">
                <a:lnSpc>
                  <a:spcPct val="105000"/>
                </a:lnSpc>
                <a:spcBef>
                  <a:spcPts val="232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https://l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ab.rosebud.ai/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46" name="picture 2446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5046" y="1277671"/>
              <a:ext cx="122986" cy="168859"/>
            </a:xfrm>
            <a:prstGeom prst="rect">
              <a:avLst/>
            </a:prstGeom>
          </p:spPr>
        </p:pic>
        <p:pic>
          <p:nvPicPr>
            <p:cNvPr id="2448" name="picture 2448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5046" y="876351"/>
              <a:ext cx="122986" cy="168859"/>
            </a:xfrm>
            <a:prstGeom prst="rect">
              <a:avLst/>
            </a:prstGeom>
          </p:spPr>
        </p:pic>
        <p:pic>
          <p:nvPicPr>
            <p:cNvPr id="2450" name="picture 245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95046" y="73711"/>
              <a:ext cx="122986" cy="168859"/>
            </a:xfrm>
            <a:prstGeom prst="rect">
              <a:avLst/>
            </a:prstGeom>
          </p:spPr>
        </p:pic>
      </p:grpSp>
      <p:grpSp>
        <p:nvGrpSpPr>
          <p:cNvPr id="122" name="group 122"/>
          <p:cNvGrpSpPr/>
          <p:nvPr/>
        </p:nvGrpSpPr>
        <p:grpSpPr>
          <a:xfrm rot="21600000">
            <a:off x="3346703" y="4454144"/>
            <a:ext cx="2706624" cy="2286508"/>
            <a:chOff x="0" y="0"/>
            <a:chExt cx="2706624" cy="2286508"/>
          </a:xfrm>
        </p:grpSpPr>
        <p:pic>
          <p:nvPicPr>
            <p:cNvPr id="2452" name="picture 2452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0" y="80530"/>
              <a:ext cx="2706624" cy="2205977"/>
            </a:xfrm>
            <a:prstGeom prst="rect">
              <a:avLst/>
            </a:prstGeom>
          </p:spPr>
        </p:pic>
        <p:sp>
          <p:nvSpPr>
            <p:cNvPr id="2454" name="textbox 2454"/>
            <p:cNvSpPr/>
            <p:nvPr/>
          </p:nvSpPr>
          <p:spPr>
            <a:xfrm>
              <a:off x="-12700" y="-12700"/>
              <a:ext cx="2732404" cy="23228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81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7044" indent="-276859" algn="l" rtl="0" eaLnBrk="0">
                <a:lnSpc>
                  <a:spcPct val="107000"/>
                </a:lnSpc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由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参与与玩家协作完成画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画猜词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，这个游戏突出“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 +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机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”协同而非对抗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91490" indent="-281304" algn="l" rtl="0" eaLnBrk="0">
                <a:lnSpc>
                  <a:spcPct val="110000"/>
                </a:lnSpc>
                <a:spcBef>
                  <a:spcPts val="100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玩家画图或猜图，AI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同时参与，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强调创意与协作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，是少见注重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陪玩/联机式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”AI游戏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225" algn="l" rtl="0" eaLnBrk="0">
                <a:lnSpc>
                  <a:spcPct val="107000"/>
                </a:lnSpc>
                <a:spcBef>
                  <a:spcPts val="2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比较适合社交性强／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想要与朋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友一起“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尝试与 AI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”互动的场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10184" algn="l" rtl="0" eaLnBrk="0">
                <a:lnSpc>
                  <a:spcPct val="104000"/>
                </a:lnSpc>
                <a:spcBef>
                  <a:spcPts val="122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https://iconary.allenai.org/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56" name="picture 2456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197967" y="1823770"/>
              <a:ext cx="122986" cy="168859"/>
            </a:xfrm>
            <a:prstGeom prst="rect">
              <a:avLst/>
            </a:prstGeom>
          </p:spPr>
        </p:pic>
        <p:pic>
          <p:nvPicPr>
            <p:cNvPr id="2458" name="picture 2458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197967" y="1221790"/>
              <a:ext cx="122986" cy="168859"/>
            </a:xfrm>
            <a:prstGeom prst="rect">
              <a:avLst/>
            </a:prstGeom>
          </p:spPr>
        </p:pic>
        <p:pic>
          <p:nvPicPr>
            <p:cNvPr id="2460" name="picture 2460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 rot="21600000">
              <a:off x="197967" y="619810"/>
              <a:ext cx="122986" cy="168859"/>
            </a:xfrm>
            <a:prstGeom prst="rect">
              <a:avLst/>
            </a:prstGeom>
          </p:spPr>
        </p:pic>
        <p:pic>
          <p:nvPicPr>
            <p:cNvPr id="2462" name="picture 2462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 rot="21600000">
              <a:off x="197967" y="17830"/>
              <a:ext cx="122986" cy="168859"/>
            </a:xfrm>
            <a:prstGeom prst="rect">
              <a:avLst/>
            </a:prstGeom>
          </p:spPr>
        </p:pic>
      </p:grpSp>
      <p:pic>
        <p:nvPicPr>
          <p:cNvPr id="2464" name="picture 246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6239255" y="4534674"/>
            <a:ext cx="2706624" cy="2205977"/>
          </a:xfrm>
          <a:prstGeom prst="rect">
            <a:avLst/>
          </a:prstGeom>
        </p:spPr>
      </p:pic>
      <p:pic>
        <p:nvPicPr>
          <p:cNvPr id="2466" name="picture 2466">
            <a:hlinkClick r:id="rId42" action="ppaction://hlinkfile"/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6424294" y="6264275"/>
            <a:ext cx="2337435" cy="401319"/>
          </a:xfrm>
          <a:prstGeom prst="rect">
            <a:avLst/>
          </a:prstGeom>
        </p:spPr>
      </p:pic>
      <p:sp>
        <p:nvSpPr>
          <p:cNvPr id="2468" name="textbox 2468"/>
          <p:cNvSpPr/>
          <p:nvPr/>
        </p:nvSpPr>
        <p:spPr>
          <a:xfrm>
            <a:off x="6424396" y="4441444"/>
            <a:ext cx="2399664" cy="2255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玩家通过对话式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"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国王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"共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创故事，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引导其说出关键词以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生成武器卡牌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，实现"语言具象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化"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97000"/>
              </a:lnSpc>
              <a:spcBef>
                <a:spcPts val="25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实时生成动态文本与场景图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每局游戏均产生独特剧情分支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7000"/>
              </a:lnSpc>
              <a:spcBef>
                <a:spcPts val="23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重塑《一千零一夜》经典叙事，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探讨故事如何通过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交互重构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现实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0" indent="-273684" algn="l" rtl="0" eaLnBrk="0">
              <a:lnSpc>
                <a:spcPct val="112000"/>
              </a:lnSpc>
              <a:spcBef>
                <a:spcPts val="12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.1001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nightssho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70" name="picture 247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6437096" y="6277914"/>
            <a:ext cx="122987" cy="168859"/>
          </a:xfrm>
          <a:prstGeom prst="rect">
            <a:avLst/>
          </a:prstGeom>
        </p:spPr>
      </p:pic>
      <p:pic>
        <p:nvPicPr>
          <p:cNvPr id="2472" name="picture 247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6437096" y="5675934"/>
            <a:ext cx="122987" cy="168859"/>
          </a:xfrm>
          <a:prstGeom prst="rect">
            <a:avLst/>
          </a:prstGeom>
        </p:spPr>
      </p:pic>
      <p:pic>
        <p:nvPicPr>
          <p:cNvPr id="2474" name="picture 247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6437096" y="5274614"/>
            <a:ext cx="122987" cy="168859"/>
          </a:xfrm>
          <a:prstGeom prst="rect">
            <a:avLst/>
          </a:prstGeom>
        </p:spPr>
      </p:pic>
      <p:pic>
        <p:nvPicPr>
          <p:cNvPr id="2476" name="picture 247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6437096" y="4471974"/>
            <a:ext cx="122987" cy="168859"/>
          </a:xfrm>
          <a:prstGeom prst="rect">
            <a:avLst/>
          </a:prstGeom>
        </p:spPr>
      </p:pic>
      <p:pic>
        <p:nvPicPr>
          <p:cNvPr id="2478" name="picture 247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480" name="textbox 2480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游戏工具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82" name="picture 248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3794759" y="3784091"/>
            <a:ext cx="1810511" cy="530352"/>
          </a:xfrm>
          <a:prstGeom prst="rect">
            <a:avLst/>
          </a:prstGeom>
        </p:spPr>
      </p:pic>
      <p:pic>
        <p:nvPicPr>
          <p:cNvPr id="2484" name="picture 248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946403" y="3796284"/>
            <a:ext cx="1723644" cy="504444"/>
          </a:xfrm>
          <a:prstGeom prst="rect">
            <a:avLst/>
          </a:prstGeom>
        </p:spPr>
      </p:pic>
      <p:pic>
        <p:nvPicPr>
          <p:cNvPr id="2486" name="picture 2486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6900671" y="3770376"/>
            <a:ext cx="1386840" cy="556260"/>
          </a:xfrm>
          <a:prstGeom prst="rect">
            <a:avLst/>
          </a:prstGeom>
        </p:spPr>
      </p:pic>
      <p:pic>
        <p:nvPicPr>
          <p:cNvPr id="2488" name="picture 248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9796271" y="3791711"/>
            <a:ext cx="1379219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4"/>
          <p:cNvGrpSpPr/>
          <p:nvPr/>
        </p:nvGrpSpPr>
        <p:grpSpPr>
          <a:xfrm rot="21600000">
            <a:off x="411480" y="769620"/>
            <a:ext cx="2700528" cy="3142488"/>
            <a:chOff x="0" y="0"/>
            <a:chExt cx="2700528" cy="3142488"/>
          </a:xfrm>
        </p:grpSpPr>
        <p:pic>
          <p:nvPicPr>
            <p:cNvPr id="2490" name="picture 249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0528" cy="3142488"/>
            </a:xfrm>
            <a:prstGeom prst="rect">
              <a:avLst/>
            </a:prstGeom>
          </p:spPr>
        </p:pic>
        <p:sp>
          <p:nvSpPr>
            <p:cNvPr id="2492" name="textbox 2492"/>
            <p:cNvSpPr/>
            <p:nvPr/>
          </p:nvSpPr>
          <p:spPr>
            <a:xfrm>
              <a:off x="-12700" y="-12700"/>
              <a:ext cx="2726054" cy="3179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869" indent="-276859" algn="l" rtl="0" eaLnBrk="0">
                <a:lnSpc>
                  <a:spcPct val="108000"/>
                </a:lnSpc>
                <a:spcBef>
                  <a:spcPts val="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Replika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是一款聊天机器人程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序，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它不仅可以与人交谈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，还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可以学习他们的短信风格并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仿他们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8129" algn="l" rtl="0" eaLnBrk="0">
                <a:lnSpc>
                  <a:spcPct val="109000"/>
                </a:lnSpc>
                <a:spcBef>
                  <a:spcPts val="66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在某些方面，使用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Replika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也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具有疗愈作用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。这款应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用提供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了一个可以毫无愧疚地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倾诉的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空间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，让你能够梳理复杂的情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绪，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畅所欲言地表达任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何想法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而无需担心受到评判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https://replika.a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94" name="picture 249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4411" y="2802559"/>
              <a:ext cx="122986" cy="168859"/>
            </a:xfrm>
            <a:prstGeom prst="rect">
              <a:avLst/>
            </a:prstGeom>
          </p:spPr>
        </p:pic>
        <p:pic>
          <p:nvPicPr>
            <p:cNvPr id="2496" name="picture 249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4411" y="1522399"/>
              <a:ext cx="122986" cy="168859"/>
            </a:xfrm>
            <a:prstGeom prst="rect">
              <a:avLst/>
            </a:prstGeom>
          </p:spPr>
        </p:pic>
        <p:pic>
          <p:nvPicPr>
            <p:cNvPr id="2498" name="picture 249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4411" y="643559"/>
              <a:ext cx="122986" cy="168859"/>
            </a:xfrm>
            <a:prstGeom prst="rect">
              <a:avLst/>
            </a:prstGeom>
          </p:spPr>
        </p:pic>
      </p:grpSp>
      <p:grpSp>
        <p:nvGrpSpPr>
          <p:cNvPr id="126" name="group 126"/>
          <p:cNvGrpSpPr/>
          <p:nvPr/>
        </p:nvGrpSpPr>
        <p:grpSpPr>
          <a:xfrm rot="21600000">
            <a:off x="6224015" y="4035552"/>
            <a:ext cx="2706624" cy="2677667"/>
            <a:chOff x="0" y="0"/>
            <a:chExt cx="2706624" cy="2677667"/>
          </a:xfrm>
        </p:grpSpPr>
        <p:pic>
          <p:nvPicPr>
            <p:cNvPr id="2500" name="picture 25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706624" cy="2677667"/>
            </a:xfrm>
            <a:prstGeom prst="rect">
              <a:avLst/>
            </a:prstGeom>
          </p:spPr>
        </p:pic>
        <p:sp>
          <p:nvSpPr>
            <p:cNvPr id="2502" name="textbox 2502"/>
            <p:cNvSpPr/>
            <p:nvPr/>
          </p:nvSpPr>
          <p:spPr>
            <a:xfrm>
              <a:off x="-12700" y="-12700"/>
              <a:ext cx="2732404" cy="27139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55725" algn="l" rtl="0" eaLnBrk="0">
                <a:lnSpc>
                  <a:spcPct val="87000"/>
                </a:lnSpc>
                <a:spcBef>
                  <a:spcPts val="7"/>
                </a:spcBef>
                <a:tabLst/>
              </a:pPr>
              <a:r>
                <a:rPr sz="17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猫箱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90219" indent="-280670" algn="l" rtl="0" eaLnBrk="0">
                <a:lnSpc>
                  <a:spcPct val="106000"/>
                </a:lnSpc>
                <a:spcBef>
                  <a:spcPts val="36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作为创作AI角色和故事的平台，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主打沉浸式聊天和情感陪伴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09000"/>
                </a:lnSpc>
                <a:spcBef>
                  <a:spcPts val="815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最大特点是融合抖音生态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简的界面和较低的上手难度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通过引导让用户自己发挥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想象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力 ，根据对话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，创建出专属的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独特AI角色和故事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4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https://mao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xiangai.com/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504" name="picture 250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7205" y="2228392"/>
              <a:ext cx="122986" cy="168859"/>
            </a:xfrm>
            <a:prstGeom prst="rect">
              <a:avLst/>
            </a:prstGeom>
          </p:spPr>
        </p:pic>
        <p:pic>
          <p:nvPicPr>
            <p:cNvPr id="2506" name="picture 250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7205" y="1148892"/>
              <a:ext cx="122986" cy="168859"/>
            </a:xfrm>
            <a:prstGeom prst="rect">
              <a:avLst/>
            </a:prstGeom>
          </p:spPr>
        </p:pic>
        <p:pic>
          <p:nvPicPr>
            <p:cNvPr id="2508" name="picture 250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7205" y="671372"/>
              <a:ext cx="122986" cy="168859"/>
            </a:xfrm>
            <a:prstGeom prst="rect">
              <a:avLst/>
            </a:prstGeom>
          </p:spPr>
        </p:pic>
      </p:grpSp>
      <p:grpSp>
        <p:nvGrpSpPr>
          <p:cNvPr id="128" name="group 128"/>
          <p:cNvGrpSpPr/>
          <p:nvPr/>
        </p:nvGrpSpPr>
        <p:grpSpPr>
          <a:xfrm rot="21600000">
            <a:off x="9134856" y="4035552"/>
            <a:ext cx="2699004" cy="2674619"/>
            <a:chOff x="0" y="0"/>
            <a:chExt cx="2699004" cy="2674619"/>
          </a:xfrm>
        </p:grpSpPr>
        <p:pic>
          <p:nvPicPr>
            <p:cNvPr id="2510" name="picture 251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2699004" cy="2674619"/>
            </a:xfrm>
            <a:prstGeom prst="rect">
              <a:avLst/>
            </a:prstGeom>
          </p:spPr>
        </p:pic>
        <p:sp>
          <p:nvSpPr>
            <p:cNvPr id="2512" name="textbox 2512"/>
            <p:cNvSpPr/>
            <p:nvPr/>
          </p:nvSpPr>
          <p:spPr>
            <a:xfrm>
              <a:off x="-12700" y="-12700"/>
              <a:ext cx="2724785" cy="27108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25575" algn="l" rtl="0" eaLnBrk="0">
                <a:lnSpc>
                  <a:spcPct val="82000"/>
                </a:lnSpc>
                <a:spcBef>
                  <a:spcPts val="6"/>
                </a:spcBef>
                <a:tabLst/>
              </a:pPr>
              <a:r>
                <a:rPr sz="1700" b="1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星野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869" indent="-278129" algn="l" rtl="0" eaLnBrk="0">
                <a:lnSpc>
                  <a:spcPct val="107000"/>
                </a:lnSpc>
                <a:spcBef>
                  <a:spcPts val="369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mini</a:t>
              </a:r>
              <a:r>
                <a:rPr sz="1200" kern="0" spc="-2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max基于大模型打造的AI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Character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类似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，用户可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以自定义形象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、性格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、音色等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8129" algn="l" rtl="0" eaLnBrk="0">
                <a:lnSpc>
                  <a:spcPct val="108000"/>
                </a:lnSpc>
                <a:spcBef>
                  <a:spcPts val="701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最大特点是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内容社区，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不同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拟人角色都富有共情力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且贴近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，可以深度理解喜怒哀乐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等情绪色彩和隐含意图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5740" algn="l" rtl="0" eaLnBrk="0">
                <a:lnSpc>
                  <a:spcPct val="104000"/>
                </a:lnSpc>
                <a:spcBef>
                  <a:spcPts val="4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https://www.xingyeai.com/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514" name="picture 251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3395" y="2228392"/>
              <a:ext cx="122987" cy="168859"/>
            </a:xfrm>
            <a:prstGeom prst="rect">
              <a:avLst/>
            </a:prstGeom>
          </p:spPr>
        </p:pic>
        <p:pic>
          <p:nvPicPr>
            <p:cNvPr id="2516" name="picture 251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3395" y="1349552"/>
              <a:ext cx="122987" cy="168859"/>
            </a:xfrm>
            <a:prstGeom prst="rect">
              <a:avLst/>
            </a:prstGeom>
          </p:spPr>
        </p:pic>
        <p:pic>
          <p:nvPicPr>
            <p:cNvPr id="2518" name="picture 251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3395" y="671372"/>
              <a:ext cx="122987" cy="168859"/>
            </a:xfrm>
            <a:prstGeom prst="rect">
              <a:avLst/>
            </a:prstGeom>
          </p:spPr>
        </p:pic>
      </p:grpSp>
      <p:grpSp>
        <p:nvGrpSpPr>
          <p:cNvPr id="130" name="group 130"/>
          <p:cNvGrpSpPr/>
          <p:nvPr/>
        </p:nvGrpSpPr>
        <p:grpSpPr>
          <a:xfrm rot="21600000">
            <a:off x="3316223" y="4050792"/>
            <a:ext cx="2706623" cy="2662427"/>
            <a:chOff x="0" y="0"/>
            <a:chExt cx="2706623" cy="2662427"/>
          </a:xfrm>
        </p:grpSpPr>
        <p:pic>
          <p:nvPicPr>
            <p:cNvPr id="2520" name="picture 252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2706623" cy="2662427"/>
            </a:xfrm>
            <a:prstGeom prst="rect">
              <a:avLst/>
            </a:prstGeom>
          </p:spPr>
        </p:pic>
        <p:sp>
          <p:nvSpPr>
            <p:cNvPr id="2522" name="textbox 2522"/>
            <p:cNvSpPr/>
            <p:nvPr/>
          </p:nvSpPr>
          <p:spPr>
            <a:xfrm>
              <a:off x="-12700" y="-12700"/>
              <a:ext cx="2732404" cy="26993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176655" algn="l" rtl="0" eaLnBrk="0">
                <a:lnSpc>
                  <a:spcPts val="2282"/>
                </a:lnSpc>
                <a:tabLst/>
              </a:pPr>
              <a:r>
                <a:rPr sz="17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Elomia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044" indent="-277495" algn="l" rtl="0" eaLnBrk="0">
                <a:lnSpc>
                  <a:spcPct val="106000"/>
                </a:lnSpc>
                <a:spcBef>
                  <a:spcPts val="361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专注于情绪支持对话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，结合认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知行为疗法（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CBT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）提示，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助用户处理负向情绪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焦虑与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压力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07000"/>
                </a:lnSpc>
                <a:spcBef>
                  <a:spcPts val="697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24/7</a:t>
              </a:r>
              <a:r>
                <a:rPr sz="1200" kern="0" spc="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随时可聊，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隐私保护设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计突出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，适合随时倾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诉而非纯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信息检索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https://elomia.com/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524" name="picture 252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7332" y="2213152"/>
              <a:ext cx="122986" cy="168859"/>
            </a:xfrm>
            <a:prstGeom prst="rect">
              <a:avLst/>
            </a:prstGeom>
          </p:spPr>
        </p:pic>
        <p:pic>
          <p:nvPicPr>
            <p:cNvPr id="2526" name="picture 2526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7332" y="1534972"/>
              <a:ext cx="122986" cy="168859"/>
            </a:xfrm>
            <a:prstGeom prst="rect">
              <a:avLst/>
            </a:prstGeom>
          </p:spPr>
        </p:pic>
        <p:pic>
          <p:nvPicPr>
            <p:cNvPr id="2528" name="picture 2528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7332" y="656132"/>
              <a:ext cx="122986" cy="168859"/>
            </a:xfrm>
            <a:prstGeom prst="rect">
              <a:avLst/>
            </a:prstGeom>
          </p:spPr>
        </p:pic>
      </p:grpSp>
      <p:grpSp>
        <p:nvGrpSpPr>
          <p:cNvPr id="132" name="group 132"/>
          <p:cNvGrpSpPr/>
          <p:nvPr/>
        </p:nvGrpSpPr>
        <p:grpSpPr>
          <a:xfrm rot="21600000">
            <a:off x="411480" y="4078223"/>
            <a:ext cx="2700528" cy="2631947"/>
            <a:chOff x="0" y="0"/>
            <a:chExt cx="2700528" cy="2631947"/>
          </a:xfrm>
        </p:grpSpPr>
        <p:pic>
          <p:nvPicPr>
            <p:cNvPr id="2530" name="picture 2530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0"/>
              <a:ext cx="2700528" cy="2631947"/>
            </a:xfrm>
            <a:prstGeom prst="rect">
              <a:avLst/>
            </a:prstGeom>
          </p:spPr>
        </p:pic>
        <p:sp>
          <p:nvSpPr>
            <p:cNvPr id="2532" name="textbox 2532"/>
            <p:cNvSpPr/>
            <p:nvPr/>
          </p:nvSpPr>
          <p:spPr>
            <a:xfrm>
              <a:off x="-12700" y="-12700"/>
              <a:ext cx="2726054" cy="2668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970280" algn="l" rtl="0" eaLnBrk="0">
                <a:lnSpc>
                  <a:spcPts val="2022"/>
                </a:lnSpc>
                <a:spcBef>
                  <a:spcPts val="2"/>
                </a:spcBef>
                <a:tabLst/>
              </a:pPr>
              <a:r>
                <a:rPr sz="15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Character</a:t>
              </a:r>
              <a:r>
                <a:rPr sz="1500" b="1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140" indent="-278129" algn="l" rtl="0" eaLnBrk="0">
                <a:lnSpc>
                  <a:spcPct val="109000"/>
                </a:lnSpc>
                <a:spcBef>
                  <a:spcPts val="37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全球用户最多的情感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户可以创建并分享自己的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角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色，共同组成独特的社区生态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6859" algn="l" rtl="0" eaLnBrk="0">
                <a:lnSpc>
                  <a:spcPct val="106000"/>
                </a:lnSpc>
                <a:spcBef>
                  <a:spcPts val="779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主打的是娱乐和模拟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真实社交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或者提供多种对话风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格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，让用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户在低风险环境下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反复练习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社交策略，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中文角色较少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，社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区生态也不如其他语言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https://character.ai/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534" name="picture 2534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4411" y="2386380"/>
              <a:ext cx="122986" cy="168859"/>
            </a:xfrm>
            <a:prstGeom prst="rect">
              <a:avLst/>
            </a:prstGeom>
          </p:spPr>
        </p:pic>
        <p:pic>
          <p:nvPicPr>
            <p:cNvPr id="2536" name="picture 2536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4411" y="1306880"/>
              <a:ext cx="122986" cy="168859"/>
            </a:xfrm>
            <a:prstGeom prst="rect">
              <a:avLst/>
            </a:prstGeom>
          </p:spPr>
        </p:pic>
        <p:pic>
          <p:nvPicPr>
            <p:cNvPr id="2538" name="picture 2538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4411" y="628700"/>
              <a:ext cx="122986" cy="168859"/>
            </a:xfrm>
            <a:prstGeom prst="rect">
              <a:avLst/>
            </a:prstGeom>
          </p:spPr>
        </p:pic>
      </p:grpSp>
      <p:grpSp>
        <p:nvGrpSpPr>
          <p:cNvPr id="134" name="group 134"/>
          <p:cNvGrpSpPr/>
          <p:nvPr/>
        </p:nvGrpSpPr>
        <p:grpSpPr>
          <a:xfrm rot="21600000">
            <a:off x="9134856" y="1322832"/>
            <a:ext cx="2699004" cy="2577083"/>
            <a:chOff x="0" y="0"/>
            <a:chExt cx="2699004" cy="2577083"/>
          </a:xfrm>
        </p:grpSpPr>
        <p:pic>
          <p:nvPicPr>
            <p:cNvPr id="2540" name="picture 2540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0" y="0"/>
              <a:ext cx="2699004" cy="2577083"/>
            </a:xfrm>
            <a:prstGeom prst="rect">
              <a:avLst/>
            </a:prstGeom>
          </p:spPr>
        </p:pic>
        <p:sp>
          <p:nvSpPr>
            <p:cNvPr id="2542" name="textbox 2542"/>
            <p:cNvSpPr/>
            <p:nvPr/>
          </p:nvSpPr>
          <p:spPr>
            <a:xfrm>
              <a:off x="-12700" y="-12700"/>
              <a:ext cx="2724785" cy="2614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82600" indent="-276225" algn="l" rtl="0" eaLnBrk="0">
                <a:lnSpc>
                  <a:spcPct val="107000"/>
                </a:lnSpc>
                <a:spcBef>
                  <a:spcPts val="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可以自定义AI外貌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、性格特征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价值观等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，角色具备相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对长期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的记忆能力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7495" algn="l" rtl="0" eaLnBrk="0">
                <a:lnSpc>
                  <a:spcPct val="104000"/>
                </a:lnSpc>
                <a:spcBef>
                  <a:spcPts val="84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可以从实时新闻和对话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中发掘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新话题，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Character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更强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调实时情感连接和实用属性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https://paradot.a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544" name="picture 2544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194030" y="1446707"/>
              <a:ext cx="122987" cy="168859"/>
            </a:xfrm>
            <a:prstGeom prst="rect">
              <a:avLst/>
            </a:prstGeom>
          </p:spPr>
        </p:pic>
        <p:pic>
          <p:nvPicPr>
            <p:cNvPr id="2546" name="picture 2546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4030" y="768527"/>
              <a:ext cx="122987" cy="168859"/>
            </a:xfrm>
            <a:prstGeom prst="rect">
              <a:avLst/>
            </a:prstGeom>
          </p:spPr>
        </p:pic>
        <p:pic>
          <p:nvPicPr>
            <p:cNvPr id="2548" name="picture 254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4030" y="90347"/>
              <a:ext cx="122987" cy="168859"/>
            </a:xfrm>
            <a:prstGeom prst="rect">
              <a:avLst/>
            </a:prstGeom>
          </p:spPr>
        </p:pic>
      </p:grpSp>
      <p:grpSp>
        <p:nvGrpSpPr>
          <p:cNvPr id="136" name="group 136"/>
          <p:cNvGrpSpPr/>
          <p:nvPr/>
        </p:nvGrpSpPr>
        <p:grpSpPr>
          <a:xfrm rot="21600000">
            <a:off x="6224015" y="1395348"/>
            <a:ext cx="2706624" cy="2507614"/>
            <a:chOff x="0" y="0"/>
            <a:chExt cx="2706624" cy="2507614"/>
          </a:xfrm>
        </p:grpSpPr>
        <p:pic>
          <p:nvPicPr>
            <p:cNvPr id="2550" name="picture 2550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0" y="75645"/>
              <a:ext cx="2706624" cy="2431969"/>
            </a:xfrm>
            <a:prstGeom prst="rect">
              <a:avLst/>
            </a:prstGeom>
          </p:spPr>
        </p:pic>
        <p:sp>
          <p:nvSpPr>
            <p:cNvPr id="2552" name="textbox 2552"/>
            <p:cNvSpPr/>
            <p:nvPr/>
          </p:nvSpPr>
          <p:spPr>
            <a:xfrm>
              <a:off x="-12700" y="-12700"/>
              <a:ext cx="2732404" cy="25438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683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6859" algn="l" rtl="0" eaLnBrk="0">
                <a:lnSpc>
                  <a:spcPct val="107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提供多个“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专家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”角色（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不同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风格人格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用户可根据情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绪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状态选一个陪聊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4000"/>
                </a:lnSpc>
                <a:spcBef>
                  <a:spcPts val="835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强调隐私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+个人化记忆，</a:t>
              </a:r>
              <a:r>
                <a:rPr sz="1200" kern="0" spc="-2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对话时建立“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你与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的关系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感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11000"/>
                </a:lnSpc>
                <a:spcBef>
                  <a:spcPts val="720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适合把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作为“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私人思考助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手＋情绪出口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”，特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别在决策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焦虑／职场压力大时使用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4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https://myki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n.ai/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554" name="picture 2554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197205" y="2052370"/>
              <a:ext cx="122986" cy="168859"/>
            </a:xfrm>
            <a:prstGeom prst="rect">
              <a:avLst/>
            </a:prstGeom>
          </p:spPr>
        </p:pic>
        <p:pic>
          <p:nvPicPr>
            <p:cNvPr id="2556" name="picture 2556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197205" y="1374190"/>
              <a:ext cx="122986" cy="168859"/>
            </a:xfrm>
            <a:prstGeom prst="rect">
              <a:avLst/>
            </a:prstGeom>
          </p:spPr>
        </p:pic>
        <p:pic>
          <p:nvPicPr>
            <p:cNvPr id="2558" name="picture 2558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197205" y="696011"/>
              <a:ext cx="122986" cy="168859"/>
            </a:xfrm>
            <a:prstGeom prst="rect">
              <a:avLst/>
            </a:prstGeom>
          </p:spPr>
        </p:pic>
        <p:pic>
          <p:nvPicPr>
            <p:cNvPr id="2560" name="picture 2560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197205" y="17830"/>
              <a:ext cx="122986" cy="168859"/>
            </a:xfrm>
            <a:prstGeom prst="rect">
              <a:avLst/>
            </a:prstGeom>
          </p:spPr>
        </p:pic>
      </p:grpSp>
      <p:grpSp>
        <p:nvGrpSpPr>
          <p:cNvPr id="138" name="group 138"/>
          <p:cNvGrpSpPr/>
          <p:nvPr/>
        </p:nvGrpSpPr>
        <p:grpSpPr>
          <a:xfrm rot="21600000">
            <a:off x="3316223" y="1413179"/>
            <a:ext cx="2706623" cy="2497404"/>
            <a:chOff x="0" y="0"/>
            <a:chExt cx="2706623" cy="2497404"/>
          </a:xfrm>
        </p:grpSpPr>
        <p:pic>
          <p:nvPicPr>
            <p:cNvPr id="2562" name="picture 2562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 rot="21600000">
              <a:off x="0" y="58260"/>
              <a:ext cx="2706623" cy="2439143"/>
            </a:xfrm>
            <a:prstGeom prst="rect">
              <a:avLst/>
            </a:prstGeom>
          </p:spPr>
        </p:pic>
        <p:sp>
          <p:nvSpPr>
            <p:cNvPr id="2564" name="textbox 2564"/>
            <p:cNvSpPr/>
            <p:nvPr/>
          </p:nvSpPr>
          <p:spPr>
            <a:xfrm>
              <a:off x="-12700" y="-12700"/>
              <a:ext cx="2732404" cy="2533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80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7680" indent="-278129" algn="l" rtl="0" eaLnBrk="0">
                <a:lnSpc>
                  <a:spcPct val="104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定位“你的情感伙伴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随时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记录心情 、倾听思绪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、提供情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绪反思练习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315" indent="-278765" algn="l" rtl="0" eaLnBrk="0">
                <a:lnSpc>
                  <a:spcPct val="104000"/>
                </a:lnSpc>
                <a:spcBef>
                  <a:spcPts val="846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亮点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：界面简洁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、语气比较温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，适合作为日常情绪维护工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05000"/>
                </a:lnSpc>
                <a:spcBef>
                  <a:spcPts val="879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用户可在日常低落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、犹豫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要鼓励时打开</a:t>
              </a:r>
              <a:r>
                <a:rPr sz="1200" kern="0" spc="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Yana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，对话感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觉比一般工具更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安静 ”与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陪伴感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https://yanatal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k.com/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566" name="picture 2566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 rot="21600000">
              <a:off x="197332" y="2235200"/>
              <a:ext cx="122986" cy="168859"/>
            </a:xfrm>
            <a:prstGeom prst="rect">
              <a:avLst/>
            </a:prstGeom>
          </p:spPr>
        </p:pic>
        <p:pic>
          <p:nvPicPr>
            <p:cNvPr id="2568" name="picture 2568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21600000">
              <a:off x="197332" y="1356360"/>
              <a:ext cx="122986" cy="168859"/>
            </a:xfrm>
            <a:prstGeom prst="rect">
              <a:avLst/>
            </a:prstGeom>
          </p:spPr>
        </p:pic>
        <p:pic>
          <p:nvPicPr>
            <p:cNvPr id="2570" name="picture 2570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 rot="21600000">
              <a:off x="197332" y="678180"/>
              <a:ext cx="122986" cy="168859"/>
            </a:xfrm>
            <a:prstGeom prst="rect">
              <a:avLst/>
            </a:prstGeom>
          </p:spPr>
        </p:pic>
        <p:pic>
          <p:nvPicPr>
            <p:cNvPr id="2572" name="picture 2572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 rot="21600000">
              <a:off x="197332" y="0"/>
              <a:ext cx="122986" cy="168859"/>
            </a:xfrm>
            <a:prstGeom prst="rect">
              <a:avLst/>
            </a:prstGeom>
          </p:spPr>
        </p:pic>
      </p:grpSp>
      <p:pic>
        <p:nvPicPr>
          <p:cNvPr id="2574" name="picture 257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576" name="textbox 2576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情感陪伴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78" name="textbox 2578"/>
          <p:cNvSpPr/>
          <p:nvPr/>
        </p:nvSpPr>
        <p:spPr>
          <a:xfrm>
            <a:off x="9599167" y="764539"/>
            <a:ext cx="1618614" cy="565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ts val="2282"/>
              </a:lnSpc>
              <a:spcBef>
                <a:spcPts val="4"/>
              </a:spcBef>
              <a:tabLst>
                <a:tab pos="76771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Paradot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80" name="picture 258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9611867" y="777239"/>
            <a:ext cx="539495" cy="539496"/>
          </a:xfrm>
          <a:prstGeom prst="rect">
            <a:avLst/>
          </a:prstGeom>
        </p:spPr>
      </p:pic>
      <p:pic>
        <p:nvPicPr>
          <p:cNvPr id="2582" name="picture 258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3945635" y="780288"/>
            <a:ext cx="1447800" cy="533400"/>
          </a:xfrm>
          <a:prstGeom prst="rect">
            <a:avLst/>
          </a:prstGeom>
        </p:spPr>
      </p:pic>
      <p:pic>
        <p:nvPicPr>
          <p:cNvPr id="2584" name="picture 258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7120127" y="760476"/>
            <a:ext cx="9144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40"/>
          <p:cNvGrpSpPr/>
          <p:nvPr/>
        </p:nvGrpSpPr>
        <p:grpSpPr>
          <a:xfrm rot="21600000">
            <a:off x="419100" y="795527"/>
            <a:ext cx="2700527" cy="2886455"/>
            <a:chOff x="0" y="0"/>
            <a:chExt cx="2700527" cy="2886455"/>
          </a:xfrm>
        </p:grpSpPr>
        <p:pic>
          <p:nvPicPr>
            <p:cNvPr id="2586" name="picture 258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0527" cy="2886455"/>
            </a:xfrm>
            <a:prstGeom prst="rect">
              <a:avLst/>
            </a:prstGeom>
          </p:spPr>
        </p:pic>
        <p:sp>
          <p:nvSpPr>
            <p:cNvPr id="2588" name="textbox 2588"/>
            <p:cNvSpPr/>
            <p:nvPr/>
          </p:nvSpPr>
          <p:spPr>
            <a:xfrm>
              <a:off x="-12700" y="-12700"/>
              <a:ext cx="2726054" cy="2923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869" indent="-276859" algn="l" rtl="0" eaLnBrk="0">
                <a:lnSpc>
                  <a:spcPct val="107000"/>
                </a:lnSpc>
                <a:spcBef>
                  <a:spcPts val="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驱动的一体化招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聘平台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持从“候选人挖掘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r>
                <a:rPr sz="1200" kern="0" spc="2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匹配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接触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”全流程自动化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6225" algn="l" rtl="0" eaLnBrk="0">
                <a:lnSpc>
                  <a:spcPct val="106000"/>
                </a:lnSpc>
                <a:spcBef>
                  <a:spcPts val="54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能够自动化简历筛选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、识别潜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在匹配候选人+生成候选人推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荐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，大幅节省招聘方时间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7495" algn="l" rtl="0" eaLnBrk="0">
                <a:lnSpc>
                  <a:spcPct val="106000"/>
                </a:lnSpc>
                <a:spcBef>
                  <a:spcPts val="32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招聘团队／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猎头公司希望提升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效率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、扩大候选池的时候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https://www.h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ireez.com/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590" name="picture 25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4411" y="2356281"/>
              <a:ext cx="122986" cy="168859"/>
            </a:xfrm>
            <a:prstGeom prst="rect">
              <a:avLst/>
            </a:prstGeom>
          </p:spPr>
        </p:pic>
        <p:pic>
          <p:nvPicPr>
            <p:cNvPr id="2592" name="picture 259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4411" y="1916862"/>
              <a:ext cx="122986" cy="168859"/>
            </a:xfrm>
            <a:prstGeom prst="rect">
              <a:avLst/>
            </a:prstGeom>
          </p:spPr>
        </p:pic>
        <p:pic>
          <p:nvPicPr>
            <p:cNvPr id="2594" name="picture 259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4411" y="1276782"/>
              <a:ext cx="122986" cy="168859"/>
            </a:xfrm>
            <a:prstGeom prst="rect">
              <a:avLst/>
            </a:prstGeom>
          </p:spPr>
        </p:pic>
        <p:pic>
          <p:nvPicPr>
            <p:cNvPr id="2596" name="picture 259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4411" y="636701"/>
              <a:ext cx="122986" cy="168859"/>
            </a:xfrm>
            <a:prstGeom prst="rect">
              <a:avLst/>
            </a:prstGeom>
          </p:spPr>
        </p:pic>
      </p:grpSp>
      <p:grpSp>
        <p:nvGrpSpPr>
          <p:cNvPr id="142" name="group 142"/>
          <p:cNvGrpSpPr/>
          <p:nvPr/>
        </p:nvGrpSpPr>
        <p:grpSpPr>
          <a:xfrm rot="21600000">
            <a:off x="9142476" y="804671"/>
            <a:ext cx="2699004" cy="2877311"/>
            <a:chOff x="0" y="0"/>
            <a:chExt cx="2699004" cy="2877311"/>
          </a:xfrm>
        </p:grpSpPr>
        <p:pic>
          <p:nvPicPr>
            <p:cNvPr id="2598" name="picture 259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699004" cy="2877311"/>
            </a:xfrm>
            <a:prstGeom prst="rect">
              <a:avLst/>
            </a:prstGeom>
          </p:spPr>
        </p:pic>
        <p:sp>
          <p:nvSpPr>
            <p:cNvPr id="2600" name="textbox 2600"/>
            <p:cNvSpPr/>
            <p:nvPr/>
          </p:nvSpPr>
          <p:spPr>
            <a:xfrm>
              <a:off x="-12700" y="-12700"/>
              <a:ext cx="2724785" cy="2914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84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4505" indent="-278129" algn="l" rtl="0" eaLnBrk="0">
                <a:lnSpc>
                  <a:spcPct val="104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语义搜索超越传统关键词，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理解候选人的职业轨迹与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成长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潜力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6859" algn="l" rtl="0" eaLnBrk="0">
                <a:lnSpc>
                  <a:spcPct val="108000"/>
                </a:lnSpc>
                <a:spcBef>
                  <a:spcPts val="53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快速配置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、无需复杂技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术即可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上手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。「填职位</a:t>
              </a:r>
              <a:r>
                <a:rPr sz="1200" kern="0" spc="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r>
                <a:rPr sz="1200" kern="0" spc="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匹配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候选人」速度快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93394" indent="-287020" algn="l" rtl="0" eaLnBrk="0">
                <a:lnSpc>
                  <a:spcPct val="97000"/>
                </a:lnSpc>
                <a:spcBef>
                  <a:spcPts val="37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快速招聘周期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、对技术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壁垒低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的招聘团队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https://www.perfects.a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02" name="picture 260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4030" y="2347137"/>
              <a:ext cx="122987" cy="168859"/>
            </a:xfrm>
            <a:prstGeom prst="rect">
              <a:avLst/>
            </a:prstGeom>
          </p:spPr>
        </p:pic>
        <p:pic>
          <p:nvPicPr>
            <p:cNvPr id="2604" name="picture 260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4030" y="1907718"/>
              <a:ext cx="122987" cy="168859"/>
            </a:xfrm>
            <a:prstGeom prst="rect">
              <a:avLst/>
            </a:prstGeom>
          </p:spPr>
        </p:pic>
        <p:pic>
          <p:nvPicPr>
            <p:cNvPr id="2606" name="picture 260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4030" y="1267638"/>
              <a:ext cx="122987" cy="168859"/>
            </a:xfrm>
            <a:prstGeom prst="rect">
              <a:avLst/>
            </a:prstGeom>
          </p:spPr>
        </p:pic>
        <p:pic>
          <p:nvPicPr>
            <p:cNvPr id="2608" name="picture 260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030" y="627557"/>
              <a:ext cx="122987" cy="168859"/>
            </a:xfrm>
            <a:prstGeom prst="rect">
              <a:avLst/>
            </a:prstGeom>
          </p:spPr>
        </p:pic>
      </p:grpSp>
      <p:grpSp>
        <p:nvGrpSpPr>
          <p:cNvPr id="144" name="group 144"/>
          <p:cNvGrpSpPr/>
          <p:nvPr/>
        </p:nvGrpSpPr>
        <p:grpSpPr>
          <a:xfrm rot="21600000">
            <a:off x="3323844" y="827532"/>
            <a:ext cx="2706624" cy="2857500"/>
            <a:chOff x="0" y="0"/>
            <a:chExt cx="2706624" cy="2857500"/>
          </a:xfrm>
        </p:grpSpPr>
        <p:pic>
          <p:nvPicPr>
            <p:cNvPr id="2610" name="picture 261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2706624" cy="2857500"/>
            </a:xfrm>
            <a:prstGeom prst="rect">
              <a:avLst/>
            </a:prstGeom>
          </p:spPr>
        </p:pic>
        <p:sp>
          <p:nvSpPr>
            <p:cNvPr id="2612" name="textbox 2612"/>
            <p:cNvSpPr/>
            <p:nvPr/>
          </p:nvSpPr>
          <p:spPr>
            <a:xfrm>
              <a:off x="-12700" y="-12700"/>
              <a:ext cx="2732404" cy="28936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33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3234" indent="-273684" algn="l" rtl="0" eaLnBrk="0">
                <a:lnSpc>
                  <a:spcPct val="108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first</a:t>
              </a:r>
              <a:r>
                <a:rPr sz="1200" kern="0" spc="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的招聘平台，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整合了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ATS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、CRM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、候选人搜索与数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据分析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，构建候选人关系管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池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129" algn="l" rtl="0" eaLnBrk="0">
                <a:lnSpc>
                  <a:spcPct val="107000"/>
                </a:lnSpc>
                <a:spcBef>
                  <a:spcPts val="427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拥有超</a:t>
              </a:r>
              <a:r>
                <a:rPr sz="1200" kern="0" spc="2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650</a:t>
              </a:r>
              <a:r>
                <a:rPr sz="1200" kern="0" spc="2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百万候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选人资料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库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可快速从大量数据中筛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-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选匹配人才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w.gem.com/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14" name="picture 261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7332" y="2085518"/>
              <a:ext cx="122986" cy="168859"/>
            </a:xfrm>
            <a:prstGeom prst="rect">
              <a:avLst/>
            </a:prstGeom>
          </p:spPr>
        </p:pic>
        <p:pic>
          <p:nvPicPr>
            <p:cNvPr id="2616" name="picture 2616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7332" y="1445437"/>
              <a:ext cx="122986" cy="168859"/>
            </a:xfrm>
            <a:prstGeom prst="rect">
              <a:avLst/>
            </a:prstGeom>
          </p:spPr>
        </p:pic>
        <p:pic>
          <p:nvPicPr>
            <p:cNvPr id="2618" name="picture 2618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7332" y="604697"/>
              <a:ext cx="122986" cy="168859"/>
            </a:xfrm>
            <a:prstGeom prst="rect">
              <a:avLst/>
            </a:prstGeom>
          </p:spPr>
        </p:pic>
      </p:grpSp>
      <p:grpSp>
        <p:nvGrpSpPr>
          <p:cNvPr id="146" name="group 146"/>
          <p:cNvGrpSpPr/>
          <p:nvPr/>
        </p:nvGrpSpPr>
        <p:grpSpPr>
          <a:xfrm rot="21600000">
            <a:off x="9142476" y="3901439"/>
            <a:ext cx="2699004" cy="2782824"/>
            <a:chOff x="0" y="0"/>
            <a:chExt cx="2699004" cy="2782824"/>
          </a:xfrm>
        </p:grpSpPr>
        <p:pic>
          <p:nvPicPr>
            <p:cNvPr id="2620" name="picture 262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2699004" cy="2782824"/>
            </a:xfrm>
            <a:prstGeom prst="rect">
              <a:avLst/>
            </a:prstGeom>
          </p:spPr>
        </p:pic>
        <p:sp>
          <p:nvSpPr>
            <p:cNvPr id="2622" name="textbox 2622"/>
            <p:cNvSpPr/>
            <p:nvPr/>
          </p:nvSpPr>
          <p:spPr>
            <a:xfrm>
              <a:off x="-12700" y="-12700"/>
              <a:ext cx="2724785" cy="28200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08430" algn="l" rtl="0" eaLnBrk="0">
                <a:lnSpc>
                  <a:spcPts val="2282"/>
                </a:lnSpc>
                <a:spcBef>
                  <a:spcPts val="6"/>
                </a:spcBef>
                <a:tabLst/>
              </a:pPr>
              <a:r>
                <a:rPr sz="17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Moka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775" indent="-280034" algn="l" rtl="0" eaLnBrk="0">
                <a:lnSpc>
                  <a:spcPct val="97000"/>
                </a:lnSpc>
                <a:spcBef>
                  <a:spcPts val="365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在海报生成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、二次元风格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优化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上表属于招聘类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SARS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1965" indent="-276225" algn="l" rtl="0" eaLnBrk="0">
                <a:lnSpc>
                  <a:spcPct val="108000"/>
                </a:lnSpc>
                <a:spcBef>
                  <a:spcPts val="548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主要为企业提供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服务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，包括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职位发布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、简历收集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、视频面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试等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，各个环节都由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来，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测可以代替70%以上的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HR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5740" algn="l" rtl="0" eaLnBrk="0">
                <a:lnSpc>
                  <a:spcPct val="105000"/>
                </a:lnSpc>
                <a:spcBef>
                  <a:spcPts val="2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https://www.mokahr.com/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24" name="picture 2624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3395" y="2278684"/>
              <a:ext cx="122987" cy="168859"/>
            </a:xfrm>
            <a:prstGeom prst="rect">
              <a:avLst/>
            </a:prstGeom>
          </p:spPr>
        </p:pic>
        <p:pic>
          <p:nvPicPr>
            <p:cNvPr id="2626" name="picture 262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3395" y="1237284"/>
              <a:ext cx="122987" cy="168859"/>
            </a:xfrm>
            <a:prstGeom prst="rect">
              <a:avLst/>
            </a:prstGeom>
          </p:spPr>
        </p:pic>
        <p:pic>
          <p:nvPicPr>
            <p:cNvPr id="2628" name="picture 2628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3395" y="797864"/>
              <a:ext cx="122987" cy="168859"/>
            </a:xfrm>
            <a:prstGeom prst="rect">
              <a:avLst/>
            </a:prstGeom>
          </p:spPr>
        </p:pic>
      </p:grpSp>
      <p:grpSp>
        <p:nvGrpSpPr>
          <p:cNvPr id="148" name="group 148"/>
          <p:cNvGrpSpPr/>
          <p:nvPr/>
        </p:nvGrpSpPr>
        <p:grpSpPr>
          <a:xfrm rot="21600000">
            <a:off x="419100" y="3944111"/>
            <a:ext cx="2700527" cy="2740152"/>
            <a:chOff x="0" y="0"/>
            <a:chExt cx="2700527" cy="2740152"/>
          </a:xfrm>
        </p:grpSpPr>
        <p:pic>
          <p:nvPicPr>
            <p:cNvPr id="2630" name="picture 2630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0" y="400811"/>
              <a:ext cx="2700527" cy="2339340"/>
            </a:xfrm>
            <a:prstGeom prst="rect">
              <a:avLst/>
            </a:prstGeom>
          </p:spPr>
        </p:pic>
        <p:sp>
          <p:nvSpPr>
            <p:cNvPr id="2632" name="textbox 2632"/>
            <p:cNvSpPr/>
            <p:nvPr/>
          </p:nvSpPr>
          <p:spPr>
            <a:xfrm>
              <a:off x="-12700" y="-12700"/>
              <a:ext cx="2726054" cy="2776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62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61694" algn="l" rtl="0" eaLnBrk="0">
                <a:lnSpc>
                  <a:spcPct val="68000"/>
                </a:lnSpc>
                <a:tabLst/>
              </a:pPr>
              <a:r>
                <a:rPr sz="4400" kern="0" spc="10" dirty="0">
                  <a:solidFill>
                    <a:srgbClr val="29285D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ivva</a:t>
              </a:r>
              <a:endParaRPr sz="44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775" indent="-278765" algn="l" rtl="0" eaLnBrk="0">
                <a:lnSpc>
                  <a:spcPct val="104000"/>
                </a:lnSpc>
                <a:spcBef>
                  <a:spcPts val="36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从简历筛选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、人才测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评到数据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分析全流程，AI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驱动匹配人才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与岗位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8129" algn="l" rtl="0" eaLnBrk="0">
                <a:lnSpc>
                  <a:spcPct val="107000"/>
                </a:lnSpc>
                <a:spcBef>
                  <a:spcPts val="565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测评体系内置行业能力模型，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适合技术岗／专业岗招聘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9400" algn="l" rtl="0" eaLnBrk="0">
                <a:lnSpc>
                  <a:spcPct val="97000"/>
                </a:lnSpc>
                <a:spcBef>
                  <a:spcPts val="36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能提升招聘精准度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、降低“错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配率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07009" algn="l" rtl="0" eaLnBrk="0">
                <a:lnSpc>
                  <a:spcPct val="104000"/>
                </a:lnSpc>
                <a:spcBef>
                  <a:spcPts val="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https://www.ivvajob.com/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34" name="picture 2634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4411" y="2274112"/>
              <a:ext cx="122986" cy="168859"/>
            </a:xfrm>
            <a:prstGeom prst="rect">
              <a:avLst/>
            </a:prstGeom>
          </p:spPr>
        </p:pic>
        <p:pic>
          <p:nvPicPr>
            <p:cNvPr id="2636" name="picture 2636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4411" y="1834692"/>
              <a:ext cx="122986" cy="168859"/>
            </a:xfrm>
            <a:prstGeom prst="rect">
              <a:avLst/>
            </a:prstGeom>
          </p:spPr>
        </p:pic>
        <p:pic>
          <p:nvPicPr>
            <p:cNvPr id="2638" name="picture 2638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94411" y="1395272"/>
              <a:ext cx="122986" cy="168859"/>
            </a:xfrm>
            <a:prstGeom prst="rect">
              <a:avLst/>
            </a:prstGeom>
          </p:spPr>
        </p:pic>
        <p:pic>
          <p:nvPicPr>
            <p:cNvPr id="2640" name="picture 2640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194411" y="755192"/>
              <a:ext cx="122986" cy="168859"/>
            </a:xfrm>
            <a:prstGeom prst="rect">
              <a:avLst/>
            </a:prstGeom>
          </p:spPr>
        </p:pic>
      </p:grpSp>
      <p:grpSp>
        <p:nvGrpSpPr>
          <p:cNvPr id="150" name="group 150"/>
          <p:cNvGrpSpPr/>
          <p:nvPr/>
        </p:nvGrpSpPr>
        <p:grpSpPr>
          <a:xfrm rot="21600000">
            <a:off x="6231635" y="1309847"/>
            <a:ext cx="2706623" cy="2375184"/>
            <a:chOff x="0" y="0"/>
            <a:chExt cx="2706623" cy="2375184"/>
          </a:xfrm>
        </p:grpSpPr>
        <p:pic>
          <p:nvPicPr>
            <p:cNvPr id="2642" name="picture 2642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0" y="0"/>
              <a:ext cx="2706623" cy="2375184"/>
            </a:xfrm>
            <a:prstGeom prst="rect">
              <a:avLst/>
            </a:prstGeom>
          </p:spPr>
        </p:pic>
        <p:sp>
          <p:nvSpPr>
            <p:cNvPr id="2644" name="textbox 2644"/>
            <p:cNvSpPr/>
            <p:nvPr/>
          </p:nvSpPr>
          <p:spPr>
            <a:xfrm>
              <a:off x="-12700" y="-12700"/>
              <a:ext cx="2732404" cy="24123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58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7680" indent="-278129" algn="l" rtl="0" eaLnBrk="0">
                <a:lnSpc>
                  <a:spcPct val="106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智能候选人来源工具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，可在候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选人充足时筛选 ，在候选人稀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缺时启动主动“</a:t>
              </a:r>
              <a:r>
                <a:rPr sz="1200" kern="0" spc="-2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外呼挖人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机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制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129" algn="l" rtl="0" eaLnBrk="0">
                <a:lnSpc>
                  <a:spcPct val="104000"/>
                </a:lnSpc>
                <a:spcBef>
                  <a:spcPts val="541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可自动化追踪招聘进度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、向合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适候选人发起触达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减少人工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运维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94030" indent="-284479" algn="l" rtl="0" eaLnBrk="0">
                <a:lnSpc>
                  <a:spcPct val="97000"/>
                </a:lnSpc>
                <a:spcBef>
                  <a:spcPts val="55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技术难招岗位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、被动候选人少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需要主动挖潜的岗位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https://www.fe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tcher.ai/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46" name="picture 2646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7205" y="2042622"/>
              <a:ext cx="122987" cy="168859"/>
            </a:xfrm>
            <a:prstGeom prst="rect">
              <a:avLst/>
            </a:prstGeom>
          </p:spPr>
        </p:pic>
        <p:pic>
          <p:nvPicPr>
            <p:cNvPr id="2648" name="picture 2648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97205" y="1603202"/>
              <a:ext cx="122987" cy="168859"/>
            </a:xfrm>
            <a:prstGeom prst="rect">
              <a:avLst/>
            </a:prstGeom>
          </p:spPr>
        </p:pic>
        <p:pic>
          <p:nvPicPr>
            <p:cNvPr id="2650" name="picture 2650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197205" y="963122"/>
              <a:ext cx="122987" cy="168859"/>
            </a:xfrm>
            <a:prstGeom prst="rect">
              <a:avLst/>
            </a:prstGeom>
          </p:spPr>
        </p:pic>
        <p:pic>
          <p:nvPicPr>
            <p:cNvPr id="2652" name="picture 265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197205" y="122382"/>
              <a:ext cx="122987" cy="168859"/>
            </a:xfrm>
            <a:prstGeom prst="rect">
              <a:avLst/>
            </a:prstGeom>
          </p:spPr>
        </p:pic>
      </p:grpSp>
      <p:grpSp>
        <p:nvGrpSpPr>
          <p:cNvPr id="152" name="group 152"/>
          <p:cNvGrpSpPr/>
          <p:nvPr/>
        </p:nvGrpSpPr>
        <p:grpSpPr>
          <a:xfrm rot="21600000">
            <a:off x="3323844" y="4480584"/>
            <a:ext cx="2706624" cy="2206727"/>
            <a:chOff x="0" y="0"/>
            <a:chExt cx="2706624" cy="2206727"/>
          </a:xfrm>
        </p:grpSpPr>
        <p:pic>
          <p:nvPicPr>
            <p:cNvPr id="2654" name="picture 2654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0" y="0"/>
              <a:ext cx="2706624" cy="2206727"/>
            </a:xfrm>
            <a:prstGeom prst="rect">
              <a:avLst/>
            </a:prstGeom>
          </p:spPr>
        </p:pic>
        <p:sp>
          <p:nvSpPr>
            <p:cNvPr id="2656" name="textbox 2656"/>
            <p:cNvSpPr/>
            <p:nvPr/>
          </p:nvSpPr>
          <p:spPr>
            <a:xfrm>
              <a:off x="-12700" y="-12700"/>
              <a:ext cx="2732404" cy="2244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6409" indent="-277495" algn="l" rtl="0" eaLnBrk="0">
                <a:lnSpc>
                  <a:spcPct val="108000"/>
                </a:lnSpc>
                <a:spcBef>
                  <a:spcPts val="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自动化求职简历应用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，用AI深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入分析招聘需求的同时，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从简历制作到面试准备的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程优化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7495" algn="l" rtl="0" eaLnBrk="0">
                <a:lnSpc>
                  <a:spcPct val="104000"/>
                </a:lnSpc>
                <a:spcBef>
                  <a:spcPts val="55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提供精心设计的简历模板和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试助手，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比传统的简历模板的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工具要好用不少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8915" algn="l" rtl="0" eaLnBrk="0">
                <a:lnSpc>
                  <a:spcPct val="105000"/>
                </a:lnSpc>
                <a:spcBef>
                  <a:spcPts val="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https://futurecv.c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58" name="picture 2658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 rot="21600000">
              <a:off x="196697" y="1699540"/>
              <a:ext cx="122986" cy="168859"/>
            </a:xfrm>
            <a:prstGeom prst="rect">
              <a:avLst/>
            </a:prstGeom>
          </p:spPr>
        </p:pic>
        <p:pic>
          <p:nvPicPr>
            <p:cNvPr id="2660" name="picture 2660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 rot="21600000">
              <a:off x="196697" y="1059460"/>
              <a:ext cx="122986" cy="168859"/>
            </a:xfrm>
            <a:prstGeom prst="rect">
              <a:avLst/>
            </a:prstGeom>
          </p:spPr>
        </p:pic>
        <p:pic>
          <p:nvPicPr>
            <p:cNvPr id="2662" name="picture 2662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 rot="21600000">
              <a:off x="196697" y="218720"/>
              <a:ext cx="122986" cy="168859"/>
            </a:xfrm>
            <a:prstGeom prst="rect">
              <a:avLst/>
            </a:prstGeom>
          </p:spPr>
        </p:pic>
      </p:grpSp>
      <p:grpSp>
        <p:nvGrpSpPr>
          <p:cNvPr id="154" name="group 154"/>
          <p:cNvGrpSpPr/>
          <p:nvPr/>
        </p:nvGrpSpPr>
        <p:grpSpPr>
          <a:xfrm rot="21600000">
            <a:off x="6231635" y="4480584"/>
            <a:ext cx="2706623" cy="2206727"/>
            <a:chOff x="0" y="0"/>
            <a:chExt cx="2706623" cy="2206727"/>
          </a:xfrm>
        </p:grpSpPr>
        <p:pic>
          <p:nvPicPr>
            <p:cNvPr id="2664" name="picture 2664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21600000">
              <a:off x="0" y="0"/>
              <a:ext cx="2706623" cy="2206727"/>
            </a:xfrm>
            <a:prstGeom prst="rect">
              <a:avLst/>
            </a:prstGeom>
          </p:spPr>
        </p:pic>
        <p:sp>
          <p:nvSpPr>
            <p:cNvPr id="2666" name="textbox 2666"/>
            <p:cNvSpPr/>
            <p:nvPr/>
          </p:nvSpPr>
          <p:spPr>
            <a:xfrm>
              <a:off x="-12700" y="-12700"/>
              <a:ext cx="2732404" cy="2242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1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7495" algn="l" rtl="0" eaLnBrk="0">
                <a:lnSpc>
                  <a:spcPct val="107000"/>
                </a:lnSpc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一款面试训练神器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，包括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拟面试 、岗位押题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、深度复盘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和多语言支持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7495" algn="l" rtl="0" eaLnBrk="0">
                <a:lnSpc>
                  <a:spcPct val="106000"/>
                </a:lnSpc>
                <a:spcBef>
                  <a:spcPts val="571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多面鹅的真实场景模拟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，有视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频对话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、语音分析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、虚拟面试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官互动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，可以模拟企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业真实面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试流程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，帮助用户适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应紧张氛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围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8915" algn="l" rtl="0" eaLnBrk="0">
                <a:lnSpc>
                  <a:spcPct val="104000"/>
                </a:lnSpc>
                <a:spcBef>
                  <a:spcPts val="1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https://www.offer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goose.cn/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68" name="picture 2668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 rot="21600000">
              <a:off x="196570" y="1900200"/>
              <a:ext cx="122986" cy="168859"/>
            </a:xfrm>
            <a:prstGeom prst="rect">
              <a:avLst/>
            </a:prstGeom>
          </p:spPr>
        </p:pic>
        <p:pic>
          <p:nvPicPr>
            <p:cNvPr id="2670" name="picture 267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 rot="21600000">
              <a:off x="196570" y="858800"/>
              <a:ext cx="122986" cy="168859"/>
            </a:xfrm>
            <a:prstGeom prst="rect">
              <a:avLst/>
            </a:prstGeom>
          </p:spPr>
        </p:pic>
        <p:pic>
          <p:nvPicPr>
            <p:cNvPr id="2672" name="picture 2672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 rot="21600000">
              <a:off x="196570" y="218720"/>
              <a:ext cx="122986" cy="168859"/>
            </a:xfrm>
            <a:prstGeom prst="rect">
              <a:avLst/>
            </a:prstGeom>
          </p:spPr>
        </p:pic>
      </p:grpSp>
      <p:pic>
        <p:nvPicPr>
          <p:cNvPr id="2674" name="picture 267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676" name="textbox 2676"/>
          <p:cNvSpPr/>
          <p:nvPr/>
        </p:nvSpPr>
        <p:spPr>
          <a:xfrm>
            <a:off x="80386" y="-36820"/>
            <a:ext cx="27336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3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求职招聘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78" name="textbox 2678"/>
          <p:cNvSpPr/>
          <p:nvPr/>
        </p:nvSpPr>
        <p:spPr>
          <a:xfrm>
            <a:off x="3649471" y="3888739"/>
            <a:ext cx="1622425" cy="577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7000"/>
              </a:lnSpc>
              <a:tabLst>
                <a:tab pos="70167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未来简历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80" name="picture 268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3662171" y="3901439"/>
            <a:ext cx="539496" cy="539496"/>
          </a:xfrm>
          <a:prstGeom prst="rect">
            <a:avLst/>
          </a:prstGeom>
        </p:spPr>
      </p:pic>
      <p:sp>
        <p:nvSpPr>
          <p:cNvPr id="2682" name="textbox 2682"/>
          <p:cNvSpPr/>
          <p:nvPr/>
        </p:nvSpPr>
        <p:spPr>
          <a:xfrm>
            <a:off x="6773671" y="3888739"/>
            <a:ext cx="1458594" cy="577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6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7000"/>
              </a:lnSpc>
              <a:tabLst>
                <a:tab pos="77089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多面鹅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84" name="picture 2684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6786371" y="3901439"/>
            <a:ext cx="539495" cy="539496"/>
          </a:xfrm>
          <a:prstGeom prst="rect">
            <a:avLst/>
          </a:prstGeom>
        </p:spPr>
      </p:pic>
      <p:pic>
        <p:nvPicPr>
          <p:cNvPr id="2686" name="picture 2686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6922007" y="865632"/>
            <a:ext cx="132588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6"/>
          <p:cNvGrpSpPr/>
          <p:nvPr/>
        </p:nvGrpSpPr>
        <p:grpSpPr>
          <a:xfrm rot="21600000">
            <a:off x="3285744" y="990600"/>
            <a:ext cx="2706624" cy="2648711"/>
            <a:chOff x="0" y="0"/>
            <a:chExt cx="2706624" cy="2648711"/>
          </a:xfrm>
        </p:grpSpPr>
        <p:pic>
          <p:nvPicPr>
            <p:cNvPr id="2688" name="picture 26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6624" cy="2648711"/>
            </a:xfrm>
            <a:prstGeom prst="rect">
              <a:avLst/>
            </a:prstGeom>
          </p:spPr>
        </p:pic>
        <p:sp>
          <p:nvSpPr>
            <p:cNvPr id="2690" name="textbox 2690"/>
            <p:cNvSpPr/>
            <p:nvPr/>
          </p:nvSpPr>
          <p:spPr>
            <a:xfrm>
              <a:off x="-12700" y="-12700"/>
              <a:ext cx="2732404" cy="26847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8315" indent="-278129" algn="l" rtl="0" eaLnBrk="0">
                <a:lnSpc>
                  <a:spcPct val="106000"/>
                </a:lnSpc>
                <a:spcBef>
                  <a:spcPts val="3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讯飞旗下的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智能会议系统，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打造智慧办公服务平台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3684" algn="l" rtl="0" eaLnBrk="0">
                <a:lnSpc>
                  <a:spcPct val="106000"/>
                </a:lnSpc>
                <a:spcBef>
                  <a:spcPts val="268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提供语音转文字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、录音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转文字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AI写作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、视频会议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、视频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字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、视频加字幕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、同声翻译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语音翻译等功能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。并能自动生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成会议记录和思维导图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10184" algn="l" rtl="0" eaLnBrk="0">
                <a:lnSpc>
                  <a:spcPct val="104000"/>
                </a:lnSpc>
                <a:spcBef>
                  <a:spcPts val="122"/>
                </a:spcBef>
                <a:tabLst>
                  <a:tab pos="33337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https://www.if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lyrec.com/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92" name="picture 269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7967" y="2087550"/>
              <a:ext cx="122986" cy="168859"/>
            </a:xfrm>
            <a:prstGeom prst="rect">
              <a:avLst/>
            </a:prstGeom>
          </p:spPr>
        </p:pic>
        <p:pic>
          <p:nvPicPr>
            <p:cNvPr id="2694" name="picture 269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7967" y="1084250"/>
              <a:ext cx="122986" cy="168859"/>
            </a:xfrm>
            <a:prstGeom prst="rect">
              <a:avLst/>
            </a:prstGeom>
          </p:spPr>
        </p:pic>
        <p:pic>
          <p:nvPicPr>
            <p:cNvPr id="2696" name="picture 269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7967" y="682929"/>
              <a:ext cx="122986" cy="168859"/>
            </a:xfrm>
            <a:prstGeom prst="rect">
              <a:avLst/>
            </a:prstGeom>
          </p:spPr>
        </p:pic>
      </p:grpSp>
      <p:grpSp>
        <p:nvGrpSpPr>
          <p:cNvPr id="158" name="group 158"/>
          <p:cNvGrpSpPr/>
          <p:nvPr/>
        </p:nvGrpSpPr>
        <p:grpSpPr>
          <a:xfrm rot="21600000">
            <a:off x="374904" y="995172"/>
            <a:ext cx="2700527" cy="2641091"/>
            <a:chOff x="0" y="0"/>
            <a:chExt cx="2700527" cy="2641091"/>
          </a:xfrm>
        </p:grpSpPr>
        <p:pic>
          <p:nvPicPr>
            <p:cNvPr id="2698" name="picture 269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700527" cy="2641091"/>
            </a:xfrm>
            <a:prstGeom prst="rect">
              <a:avLst/>
            </a:prstGeom>
          </p:spPr>
        </p:pic>
        <p:sp>
          <p:nvSpPr>
            <p:cNvPr id="2700" name="textbox 2700"/>
            <p:cNvSpPr/>
            <p:nvPr/>
          </p:nvSpPr>
          <p:spPr>
            <a:xfrm>
              <a:off x="-12700" y="-12700"/>
              <a:ext cx="2726054" cy="26771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65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7044" indent="-280670" algn="l" rtl="0" eaLnBrk="0">
                <a:lnSpc>
                  <a:spcPct val="109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阿里推出的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会议转录与总结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工具，支持实时双语翻译字幕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225" algn="l" rtl="0" eaLnBrk="0">
                <a:lnSpc>
                  <a:spcPct val="105000"/>
                </a:lnSpc>
                <a:spcBef>
                  <a:spcPts val="18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能一键高亮关键要点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、智能提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炼内容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，并区分发言人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提取关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键词 、议程和待办事项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一键导出和分享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4000"/>
                </a:lnSpc>
                <a:spcBef>
                  <a:spcPts val="11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https://tingwu.aliyun.com/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702" name="picture 270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4157" y="1882317"/>
              <a:ext cx="122986" cy="168859"/>
            </a:xfrm>
            <a:prstGeom prst="rect">
              <a:avLst/>
            </a:prstGeom>
          </p:spPr>
        </p:pic>
        <p:pic>
          <p:nvPicPr>
            <p:cNvPr id="2704" name="picture 270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4157" y="1079677"/>
              <a:ext cx="122986" cy="168859"/>
            </a:xfrm>
            <a:prstGeom prst="rect">
              <a:avLst/>
            </a:prstGeom>
          </p:spPr>
        </p:pic>
        <p:pic>
          <p:nvPicPr>
            <p:cNvPr id="2706" name="picture 270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4157" y="678357"/>
              <a:ext cx="122986" cy="168859"/>
            </a:xfrm>
            <a:prstGeom prst="rect">
              <a:avLst/>
            </a:prstGeom>
          </p:spPr>
        </p:pic>
      </p:grpSp>
      <p:grpSp>
        <p:nvGrpSpPr>
          <p:cNvPr id="160" name="group 160"/>
          <p:cNvGrpSpPr/>
          <p:nvPr/>
        </p:nvGrpSpPr>
        <p:grpSpPr>
          <a:xfrm rot="21600000">
            <a:off x="9151619" y="1027176"/>
            <a:ext cx="2700528" cy="2609088"/>
            <a:chOff x="0" y="0"/>
            <a:chExt cx="2700528" cy="2609088"/>
          </a:xfrm>
        </p:grpSpPr>
        <p:pic>
          <p:nvPicPr>
            <p:cNvPr id="2708" name="picture 27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2700528" cy="2609088"/>
            </a:xfrm>
            <a:prstGeom prst="rect">
              <a:avLst/>
            </a:prstGeom>
          </p:spPr>
        </p:pic>
        <p:sp>
          <p:nvSpPr>
            <p:cNvPr id="2710" name="textbox 2710"/>
            <p:cNvSpPr/>
            <p:nvPr/>
          </p:nvSpPr>
          <p:spPr>
            <a:xfrm>
              <a:off x="-12700" y="-12700"/>
              <a:ext cx="2726054" cy="26460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02689" algn="l" rtl="0" eaLnBrk="0">
                <a:lnSpc>
                  <a:spcPct val="88000"/>
                </a:lnSpc>
                <a:spcBef>
                  <a:spcPts val="2"/>
                </a:spcBef>
                <a:tabLst/>
              </a:pPr>
              <a:r>
                <a:rPr sz="17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话袋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7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笔记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4505" indent="-276859" algn="l" rtl="0" eaLnBrk="0">
                <a:lnSpc>
                  <a:spcPct val="108000"/>
                </a:lnSpc>
                <a:spcBef>
                  <a:spcPts val="366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一款强调效率的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笔记工具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特色在于能实时录音转写并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步生成结构化会议总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，如讨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论重点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、待办事项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8129" algn="l" rtl="0" eaLnBrk="0">
                <a:lnSpc>
                  <a:spcPct val="107000"/>
                </a:lnSpc>
                <a:spcBef>
                  <a:spcPts val="130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可以进行AI搜索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、问答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、头脑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风暴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。并支持将任务自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动同步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至团队协作平台和个人日程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7645" algn="l" rtl="0" eaLnBrk="0">
                <a:lnSpc>
                  <a:spcPct val="105000"/>
                </a:lnSpc>
                <a:spcBef>
                  <a:spcPts val="106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https://ihuadai.cn/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712" name="picture 271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5047" y="2050974"/>
              <a:ext cx="122987" cy="168859"/>
            </a:xfrm>
            <a:prstGeom prst="rect">
              <a:avLst/>
            </a:prstGeom>
          </p:spPr>
        </p:pic>
        <p:pic>
          <p:nvPicPr>
            <p:cNvPr id="2714" name="picture 271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5047" y="1448993"/>
              <a:ext cx="122987" cy="168859"/>
            </a:xfrm>
            <a:prstGeom prst="rect">
              <a:avLst/>
            </a:prstGeom>
          </p:spPr>
        </p:pic>
        <p:pic>
          <p:nvPicPr>
            <p:cNvPr id="2716" name="picture 271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5047" y="646353"/>
              <a:ext cx="122987" cy="168859"/>
            </a:xfrm>
            <a:prstGeom prst="rect">
              <a:avLst/>
            </a:prstGeom>
          </p:spPr>
        </p:pic>
      </p:grpSp>
      <p:grpSp>
        <p:nvGrpSpPr>
          <p:cNvPr id="162" name="group 162"/>
          <p:cNvGrpSpPr/>
          <p:nvPr/>
        </p:nvGrpSpPr>
        <p:grpSpPr>
          <a:xfrm rot="21600000">
            <a:off x="6227063" y="3837432"/>
            <a:ext cx="2700527" cy="2599944"/>
            <a:chOff x="0" y="0"/>
            <a:chExt cx="2700527" cy="2599944"/>
          </a:xfrm>
        </p:grpSpPr>
        <p:pic>
          <p:nvPicPr>
            <p:cNvPr id="2718" name="picture 271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79247"/>
              <a:ext cx="2700527" cy="2520696"/>
            </a:xfrm>
            <a:prstGeom prst="rect">
              <a:avLst/>
            </a:prstGeom>
          </p:spPr>
        </p:pic>
        <p:sp>
          <p:nvSpPr>
            <p:cNvPr id="2720" name="textbox 2720"/>
            <p:cNvSpPr/>
            <p:nvPr/>
          </p:nvSpPr>
          <p:spPr>
            <a:xfrm>
              <a:off x="180822" y="82168"/>
              <a:ext cx="2399664" cy="2371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05484" algn="l" rtl="0" eaLnBrk="0">
                <a:lnSpc>
                  <a:spcPts val="2282"/>
                </a:lnSpc>
                <a:tabLst/>
              </a:pPr>
              <a:r>
                <a:rPr sz="17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Zendesk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1465" indent="-278765" algn="l" rtl="0" eaLnBrk="0">
                <a:lnSpc>
                  <a:spcPct val="107000"/>
                </a:lnSpc>
                <a:spcBef>
                  <a:spcPts val="363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Fireflies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.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使用生成式人工智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能技术转录 、总结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、分析和搜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索会议的音对话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5750" indent="-273684" algn="l" rtl="0" eaLnBrk="0">
                <a:lnSpc>
                  <a:spcPct val="106000"/>
                </a:lnSpc>
                <a:spcBef>
                  <a:spcPts val="27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专注于会议转录和纪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要生成的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，可以自动录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制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、转录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会议内容，并对讨论进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行分析，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帮助用户快速捕获对话中的决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策和行动项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05000"/>
                </a:lnSpc>
                <a:spcBef>
                  <a:spcPts val="108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https://fireflies.ai/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722" name="picture 272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3522" y="2253157"/>
              <a:ext cx="122987" cy="168859"/>
            </a:xfrm>
            <a:prstGeom prst="rect">
              <a:avLst/>
            </a:prstGeom>
          </p:spPr>
        </p:pic>
        <p:pic>
          <p:nvPicPr>
            <p:cNvPr id="2724" name="picture 272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3522" y="1249857"/>
              <a:ext cx="122987" cy="168859"/>
            </a:xfrm>
            <a:prstGeom prst="rect">
              <a:avLst/>
            </a:prstGeom>
          </p:spPr>
        </p:pic>
        <p:pic>
          <p:nvPicPr>
            <p:cNvPr id="2726" name="picture 2726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3522" y="647877"/>
              <a:ext cx="122987" cy="168859"/>
            </a:xfrm>
            <a:prstGeom prst="rect">
              <a:avLst/>
            </a:prstGeom>
          </p:spPr>
        </p:pic>
        <p:pic>
          <p:nvPicPr>
            <p:cNvPr id="2728" name="picture 272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534924" y="0"/>
              <a:ext cx="1629155" cy="524255"/>
            </a:xfrm>
            <a:prstGeom prst="rect">
              <a:avLst/>
            </a:prstGeom>
          </p:spPr>
        </p:pic>
      </p:grpSp>
      <p:pic>
        <p:nvPicPr>
          <p:cNvPr id="2730" name="picture 273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6262115" y="1045463"/>
            <a:ext cx="2706624" cy="2593848"/>
          </a:xfrm>
          <a:prstGeom prst="rect">
            <a:avLst/>
          </a:prstGeom>
        </p:spPr>
      </p:pic>
      <p:pic>
        <p:nvPicPr>
          <p:cNvPr id="2732" name="picture 273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371856" y="3899916"/>
            <a:ext cx="2706624" cy="2538983"/>
          </a:xfrm>
          <a:prstGeom prst="rect">
            <a:avLst/>
          </a:prstGeom>
        </p:spPr>
      </p:pic>
      <p:grpSp>
        <p:nvGrpSpPr>
          <p:cNvPr id="164" name="group 164"/>
          <p:cNvGrpSpPr/>
          <p:nvPr/>
        </p:nvGrpSpPr>
        <p:grpSpPr>
          <a:xfrm rot="21600000">
            <a:off x="3300983" y="3915155"/>
            <a:ext cx="2700528" cy="2520696"/>
            <a:chOff x="0" y="0"/>
            <a:chExt cx="2700528" cy="2520696"/>
          </a:xfrm>
        </p:grpSpPr>
        <p:pic>
          <p:nvPicPr>
            <p:cNvPr id="2734" name="picture 273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0" y="1523"/>
              <a:ext cx="2700528" cy="2519172"/>
            </a:xfrm>
            <a:prstGeom prst="rect">
              <a:avLst/>
            </a:prstGeom>
          </p:spPr>
        </p:pic>
        <p:sp>
          <p:nvSpPr>
            <p:cNvPr id="2736" name="textbox 2736"/>
            <p:cNvSpPr/>
            <p:nvPr/>
          </p:nvSpPr>
          <p:spPr>
            <a:xfrm>
              <a:off x="-12700" y="-12700"/>
              <a:ext cx="2726054" cy="25577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98500" algn="l" rtl="0" eaLnBrk="0">
                <a:lnSpc>
                  <a:spcPts val="2916"/>
                </a:lnSpc>
                <a:tabLst/>
              </a:pPr>
              <a:r>
                <a:rPr sz="2300" kern="0" spc="-80" dirty="0">
                  <a:solidFill>
                    <a:srgbClr val="CDE0FB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C麦耳会记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marL="480059" indent="-273684" algn="l" rtl="0" eaLnBrk="0">
                <a:lnSpc>
                  <a:spcPct val="111000"/>
                </a:lnSpc>
                <a:spcBef>
                  <a:spcPts val="144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由思必驰推出的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会议助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手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支持语音转文字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、字幕同传和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AI摘要等功能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9400" algn="l" rtl="0" eaLnBrk="0">
                <a:lnSpc>
                  <a:spcPct val="104000"/>
                </a:lnSpc>
                <a:spcBef>
                  <a:spcPts val="7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能够识别多国语言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，过滤语气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词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，并区分会议发言人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，使会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议记录条理清晰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0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https://work.duiopen.com/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738" name="picture 2738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4157" y="1774113"/>
              <a:ext cx="122986" cy="168859"/>
            </a:xfrm>
            <a:prstGeom prst="rect">
              <a:avLst/>
            </a:prstGeom>
          </p:spPr>
        </p:pic>
        <p:pic>
          <p:nvPicPr>
            <p:cNvPr id="2740" name="picture 2740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94157" y="1172133"/>
              <a:ext cx="122986" cy="168859"/>
            </a:xfrm>
            <a:prstGeom prst="rect">
              <a:avLst/>
            </a:prstGeom>
          </p:spPr>
        </p:pic>
        <p:pic>
          <p:nvPicPr>
            <p:cNvPr id="2742" name="picture 2742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194157" y="570153"/>
              <a:ext cx="122986" cy="168859"/>
            </a:xfrm>
            <a:prstGeom prst="rect">
              <a:avLst/>
            </a:prstGeom>
          </p:spPr>
        </p:pic>
      </p:grpSp>
      <p:grpSp>
        <p:nvGrpSpPr>
          <p:cNvPr id="166" name="group 166"/>
          <p:cNvGrpSpPr/>
          <p:nvPr/>
        </p:nvGrpSpPr>
        <p:grpSpPr>
          <a:xfrm rot="21600000">
            <a:off x="9150096" y="3932301"/>
            <a:ext cx="2706623" cy="2508123"/>
            <a:chOff x="0" y="0"/>
            <a:chExt cx="2706623" cy="2508123"/>
          </a:xfrm>
        </p:grpSpPr>
        <p:pic>
          <p:nvPicPr>
            <p:cNvPr id="2744" name="picture 2744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0" y="132938"/>
              <a:ext cx="2706623" cy="2375184"/>
            </a:xfrm>
            <a:prstGeom prst="rect">
              <a:avLst/>
            </a:prstGeom>
          </p:spPr>
        </p:pic>
        <p:sp>
          <p:nvSpPr>
            <p:cNvPr id="2746" name="textbox 2746"/>
            <p:cNvSpPr/>
            <p:nvPr/>
          </p:nvSpPr>
          <p:spPr>
            <a:xfrm>
              <a:off x="-12700" y="-12700"/>
              <a:ext cx="2732404" cy="25450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98855" algn="l" rtl="0" eaLnBrk="0">
                <a:lnSpc>
                  <a:spcPts val="2282"/>
                </a:lnSpc>
                <a:tabLst/>
              </a:pPr>
              <a:r>
                <a:rPr sz="1700" b="1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otter.ai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234" indent="-273684" algn="l" rtl="0" eaLnBrk="0">
                <a:lnSpc>
                  <a:spcPct val="106000"/>
                </a:lnSpc>
                <a:spcBef>
                  <a:spcPts val="36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一款在国际市场上较为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知名的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会议助手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，核心功能是实时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转录会议内容并自动生成会议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笔记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，适用于需要记录和回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英语会议讨论的场景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104000"/>
                </a:lnSpc>
                <a:spcBef>
                  <a:spcPts val="258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可构建知识库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，并通过转录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自动摘要，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聊天等为您的工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作流程提供支持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99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https://otter.ai/author/otte</a:t>
              </a:r>
              <a:r>
                <a:rPr sz="1200" u="sng" kern="0" spc="-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r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748" name="picture 2748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7205" y="2158288"/>
              <a:ext cx="122987" cy="168859"/>
            </a:xfrm>
            <a:prstGeom prst="rect">
              <a:avLst/>
            </a:prstGeom>
          </p:spPr>
        </p:pic>
        <p:pic>
          <p:nvPicPr>
            <p:cNvPr id="2750" name="picture 275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97205" y="1556308"/>
              <a:ext cx="122987" cy="168859"/>
            </a:xfrm>
            <a:prstGeom prst="rect">
              <a:avLst/>
            </a:prstGeom>
          </p:spPr>
        </p:pic>
        <p:pic>
          <p:nvPicPr>
            <p:cNvPr id="2752" name="picture 2752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197205" y="553008"/>
              <a:ext cx="122987" cy="168859"/>
            </a:xfrm>
            <a:prstGeom prst="rect">
              <a:avLst/>
            </a:prstGeom>
          </p:spPr>
        </p:pic>
      </p:grpSp>
      <p:pic>
        <p:nvPicPr>
          <p:cNvPr id="2754" name="picture 2754">
            <a:hlinkClick r:id="rId36" action="ppaction://hlinkfil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447154" y="2863850"/>
            <a:ext cx="2337435" cy="601979"/>
          </a:xfrm>
          <a:prstGeom prst="rect">
            <a:avLst/>
          </a:prstGeom>
        </p:spPr>
      </p:pic>
      <p:sp>
        <p:nvSpPr>
          <p:cNvPr id="2756" name="textbox 2756"/>
          <p:cNvSpPr/>
          <p:nvPr/>
        </p:nvSpPr>
        <p:spPr>
          <a:xfrm>
            <a:off x="6447256" y="1089583"/>
            <a:ext cx="2393314" cy="2425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89025" algn="l" rtl="0" eaLnBrk="0">
              <a:lnSpc>
                <a:spcPct val="86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飞书妙记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8000"/>
              </a:lnSpc>
              <a:spcBef>
                <a:spcPts val="36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飞书套件中的AI智能会议工具，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能精准区分不同发言人并记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时间戳，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自动生成会议纪要和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待办事项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97000"/>
              </a:lnSpc>
              <a:spcBef>
                <a:spcPts val="25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支持对会议内容进行结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构化呈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现和便捷的在线评论协作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5000"/>
              </a:lnSpc>
              <a:spcBef>
                <a:spcPts val="2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feishu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prod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uct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minutes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?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ref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=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faxia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nai.com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58" name="picture 275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6459956" y="2877489"/>
            <a:ext cx="122986" cy="168859"/>
          </a:xfrm>
          <a:prstGeom prst="rect">
            <a:avLst/>
          </a:prstGeom>
        </p:spPr>
      </p:pic>
      <p:pic>
        <p:nvPicPr>
          <p:cNvPr id="2760" name="picture 276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6459956" y="2476169"/>
            <a:ext cx="122986" cy="168859"/>
          </a:xfrm>
          <a:prstGeom prst="rect">
            <a:avLst/>
          </a:prstGeom>
        </p:spPr>
      </p:pic>
      <p:pic>
        <p:nvPicPr>
          <p:cNvPr id="2762" name="picture 276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6459956" y="1673529"/>
            <a:ext cx="122986" cy="168859"/>
          </a:xfrm>
          <a:prstGeom prst="rect">
            <a:avLst/>
          </a:prstGeom>
        </p:spPr>
      </p:pic>
      <p:pic>
        <p:nvPicPr>
          <p:cNvPr id="2764" name="picture 2764">
            <a:hlinkClick r:id="rId41" action="ppaction://hlinkfile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556259" y="5675629"/>
            <a:ext cx="2337435" cy="401319"/>
          </a:xfrm>
          <a:prstGeom prst="rect">
            <a:avLst/>
          </a:prstGeom>
        </p:spPr>
      </p:pic>
      <p:sp>
        <p:nvSpPr>
          <p:cNvPr id="2766" name="textbox 2766"/>
          <p:cNvSpPr/>
          <p:nvPr/>
        </p:nvSpPr>
        <p:spPr>
          <a:xfrm>
            <a:off x="556361" y="4454778"/>
            <a:ext cx="2350135" cy="1653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高效音视频转文字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持高精度的语音/视频转文字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实时翻译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81304" algn="l" rtl="0" eaLnBrk="0">
              <a:lnSpc>
                <a:spcPct val="94000"/>
              </a:lnSpc>
              <a:spcBef>
                <a:spcPts val="137"/>
              </a:spcBef>
              <a:tabLst>
                <a:tab pos="135254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适用于      议        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、访谈记录等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多种场景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，可方便地处理网盘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内的音视频文件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24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https://tingji.baidu.com/e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mb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ed/listennote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68" name="picture 276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569061" y="5689269"/>
            <a:ext cx="122986" cy="168859"/>
          </a:xfrm>
          <a:prstGeom prst="rect">
            <a:avLst/>
          </a:prstGeom>
        </p:spPr>
      </p:pic>
      <p:pic>
        <p:nvPicPr>
          <p:cNvPr id="2770" name="picture 277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569061" y="5087289"/>
            <a:ext cx="122986" cy="168859"/>
          </a:xfrm>
          <a:prstGeom prst="rect">
            <a:avLst/>
          </a:prstGeom>
        </p:spPr>
      </p:pic>
      <p:pic>
        <p:nvPicPr>
          <p:cNvPr id="2772" name="picture 277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779371" y="5072557"/>
            <a:ext cx="154939" cy="167436"/>
          </a:xfrm>
          <a:prstGeom prst="rect">
            <a:avLst/>
          </a:prstGeom>
        </p:spPr>
      </p:pic>
      <p:pic>
        <p:nvPicPr>
          <p:cNvPr id="2774" name="picture 277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1559915" y="5052212"/>
            <a:ext cx="219455" cy="209169"/>
          </a:xfrm>
          <a:prstGeom prst="rect">
            <a:avLst/>
          </a:prstGeom>
        </p:spPr>
      </p:pic>
      <p:pic>
        <p:nvPicPr>
          <p:cNvPr id="2776" name="picture 277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1269517" y="5054498"/>
            <a:ext cx="236804" cy="203225"/>
          </a:xfrm>
          <a:prstGeom prst="rect">
            <a:avLst/>
          </a:prstGeom>
        </p:spPr>
      </p:pic>
      <p:pic>
        <p:nvPicPr>
          <p:cNvPr id="2778" name="picture 277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569061" y="4485309"/>
            <a:ext cx="122986" cy="168859"/>
          </a:xfrm>
          <a:prstGeom prst="rect">
            <a:avLst/>
          </a:prstGeom>
        </p:spPr>
      </p:pic>
      <p:pic>
        <p:nvPicPr>
          <p:cNvPr id="2780" name="picture 278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782" name="textbox 2782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AI会议辅助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4" name="picture 27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0520" y="3884675"/>
            <a:ext cx="2705100" cy="2767584"/>
          </a:xfrm>
          <a:prstGeom prst="rect">
            <a:avLst/>
          </a:prstGeom>
        </p:spPr>
      </p:pic>
      <p:pic>
        <p:nvPicPr>
          <p:cNvPr id="2786" name="picture 27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79648" y="3884675"/>
            <a:ext cx="2699003" cy="2764536"/>
          </a:xfrm>
          <a:prstGeom prst="rect">
            <a:avLst/>
          </a:prstGeom>
        </p:spPr>
      </p:pic>
      <p:grpSp>
        <p:nvGrpSpPr>
          <p:cNvPr id="168" name="group 168"/>
          <p:cNvGrpSpPr/>
          <p:nvPr/>
        </p:nvGrpSpPr>
        <p:grpSpPr>
          <a:xfrm rot="21600000">
            <a:off x="9128759" y="3898391"/>
            <a:ext cx="2705100" cy="2753868"/>
            <a:chOff x="0" y="0"/>
            <a:chExt cx="2705100" cy="2753868"/>
          </a:xfrm>
        </p:grpSpPr>
        <p:pic>
          <p:nvPicPr>
            <p:cNvPr id="2788" name="picture 27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705100" cy="2753868"/>
            </a:xfrm>
            <a:prstGeom prst="rect">
              <a:avLst/>
            </a:prstGeom>
          </p:spPr>
        </p:pic>
        <p:sp>
          <p:nvSpPr>
            <p:cNvPr id="2790" name="textbox 2790"/>
            <p:cNvSpPr/>
            <p:nvPr/>
          </p:nvSpPr>
          <p:spPr>
            <a:xfrm>
              <a:off x="-12700" y="-12700"/>
              <a:ext cx="2730500" cy="27901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044" indent="-277495" algn="l" rtl="0" eaLnBrk="0">
                <a:lnSpc>
                  <a:spcPct val="105000"/>
                </a:lnSpc>
                <a:spcBef>
                  <a:spcPts val="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利用百度的大模型 +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知识图谱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丰富的法律数据，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它提供免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费的入口，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降低了普通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取法律服务的门槛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7000"/>
                </a:lnSpc>
                <a:spcBef>
                  <a:spcPts val="271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标称覆盖民事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、刑事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、行政等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多个法律领域，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子领域数量也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很多（如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52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个一级领域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130+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子领域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”）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7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ilegal.baidu.com/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792" name="picture 27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6951" y="2267127"/>
              <a:ext cx="122987" cy="168859"/>
            </a:xfrm>
            <a:prstGeom prst="rect">
              <a:avLst/>
            </a:prstGeom>
          </p:spPr>
        </p:pic>
        <p:pic>
          <p:nvPicPr>
            <p:cNvPr id="2794" name="picture 27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6951" y="1464487"/>
              <a:ext cx="122987" cy="168859"/>
            </a:xfrm>
            <a:prstGeom prst="rect">
              <a:avLst/>
            </a:prstGeom>
          </p:spPr>
        </p:pic>
        <p:pic>
          <p:nvPicPr>
            <p:cNvPr id="2796" name="picture 27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96951" y="661847"/>
              <a:ext cx="122987" cy="168859"/>
            </a:xfrm>
            <a:prstGeom prst="rect">
              <a:avLst/>
            </a:prstGeom>
          </p:spPr>
        </p:pic>
      </p:grpSp>
      <p:grpSp>
        <p:nvGrpSpPr>
          <p:cNvPr id="170" name="group 170"/>
          <p:cNvGrpSpPr/>
          <p:nvPr/>
        </p:nvGrpSpPr>
        <p:grpSpPr>
          <a:xfrm rot="21600000">
            <a:off x="6205728" y="3892296"/>
            <a:ext cx="2699004" cy="2756915"/>
            <a:chOff x="0" y="0"/>
            <a:chExt cx="2699004" cy="2756915"/>
          </a:xfrm>
        </p:grpSpPr>
        <p:pic>
          <p:nvPicPr>
            <p:cNvPr id="2798" name="picture 279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699004" cy="2756915"/>
            </a:xfrm>
            <a:prstGeom prst="rect">
              <a:avLst/>
            </a:prstGeom>
          </p:spPr>
        </p:pic>
        <p:sp>
          <p:nvSpPr>
            <p:cNvPr id="2800" name="textbox 2800"/>
            <p:cNvSpPr/>
            <p:nvPr/>
          </p:nvSpPr>
          <p:spPr>
            <a:xfrm>
              <a:off x="-12700" y="-12700"/>
              <a:ext cx="2724785" cy="279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2600" indent="-276225" algn="l" rtl="0" eaLnBrk="0">
                <a:lnSpc>
                  <a:spcPct val="108000"/>
                </a:lnSpc>
                <a:spcBef>
                  <a:spcPts val="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基于本土法规/案例大库；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智能问答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、模拟法庭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、智能写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、法规起草辅助与企业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法务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管理套件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80670" algn="l" rtl="0" eaLnBrk="0">
                <a:lnSpc>
                  <a:spcPct val="97000"/>
                </a:lnSpc>
                <a:spcBef>
                  <a:spcPts val="24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在政法与企业法务侧重知识+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管理整合与本土化适配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23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pkulaw.com/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02" name="picture 280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3903" y="1871903"/>
              <a:ext cx="122986" cy="168859"/>
            </a:xfrm>
            <a:prstGeom prst="rect">
              <a:avLst/>
            </a:prstGeom>
          </p:spPr>
        </p:pic>
        <p:pic>
          <p:nvPicPr>
            <p:cNvPr id="2804" name="picture 280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3903" y="1470583"/>
              <a:ext cx="122986" cy="168859"/>
            </a:xfrm>
            <a:prstGeom prst="rect">
              <a:avLst/>
            </a:prstGeom>
          </p:spPr>
        </p:pic>
        <p:pic>
          <p:nvPicPr>
            <p:cNvPr id="2806" name="picture 280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3903" y="667943"/>
              <a:ext cx="122986" cy="168859"/>
            </a:xfrm>
            <a:prstGeom prst="rect">
              <a:avLst/>
            </a:prstGeom>
          </p:spPr>
        </p:pic>
      </p:grpSp>
      <p:pic>
        <p:nvPicPr>
          <p:cNvPr id="2808" name="picture 280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131807" y="1255776"/>
            <a:ext cx="2699004" cy="2520695"/>
          </a:xfrm>
          <a:prstGeom prst="rect">
            <a:avLst/>
          </a:prstGeom>
        </p:spPr>
      </p:pic>
      <p:grpSp>
        <p:nvGrpSpPr>
          <p:cNvPr id="172" name="group 172"/>
          <p:cNvGrpSpPr/>
          <p:nvPr/>
        </p:nvGrpSpPr>
        <p:grpSpPr>
          <a:xfrm rot="21600000">
            <a:off x="353568" y="1255776"/>
            <a:ext cx="2699004" cy="2520695"/>
            <a:chOff x="0" y="0"/>
            <a:chExt cx="2699004" cy="2520695"/>
          </a:xfrm>
        </p:grpSpPr>
        <p:pic>
          <p:nvPicPr>
            <p:cNvPr id="2810" name="picture 281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699004" cy="2520695"/>
            </a:xfrm>
            <a:prstGeom prst="rect">
              <a:avLst/>
            </a:prstGeom>
          </p:spPr>
        </p:pic>
        <p:sp>
          <p:nvSpPr>
            <p:cNvPr id="2812" name="textbox 2812"/>
            <p:cNvSpPr/>
            <p:nvPr/>
          </p:nvSpPr>
          <p:spPr>
            <a:xfrm>
              <a:off x="-12700" y="-12700"/>
              <a:ext cx="2724785" cy="25577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482600" indent="-276859" algn="l" rtl="0" eaLnBrk="0">
                <a:lnSpc>
                  <a:spcPct val="107000"/>
                </a:lnSpc>
                <a:spcBef>
                  <a:spcPts val="1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深度整合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Lexis 权威一手内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容；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起草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、总结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、问答与引用回链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支持“可信来源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”可核验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1965" indent="-276225" algn="l" rtl="0" eaLnBrk="0">
                <a:lnSpc>
                  <a:spcPct val="107000"/>
                </a:lnSpc>
                <a:spcBef>
                  <a:spcPts val="236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法学院与法律科技媒体评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测普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遍认可其可验证性和权威内容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但也有用户认为目前与传统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布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尔检索相比优势仍在“指路/聚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”，对复杂问题需要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人类复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核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5740" algn="l" rtl="0" eaLnBrk="0">
                <a:lnSpc>
                  <a:spcPct val="105000"/>
                </a:lnSpc>
                <a:spcBef>
                  <a:spcPts val="106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https://www.lexisn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exis.com/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14" name="picture 281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3268" y="1863648"/>
              <a:ext cx="122986" cy="168859"/>
            </a:xfrm>
            <a:prstGeom prst="rect">
              <a:avLst/>
            </a:prstGeom>
          </p:spPr>
        </p:pic>
        <p:pic>
          <p:nvPicPr>
            <p:cNvPr id="2816" name="picture 281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3268" y="659688"/>
              <a:ext cx="122986" cy="168859"/>
            </a:xfrm>
            <a:prstGeom prst="rect">
              <a:avLst/>
            </a:prstGeom>
          </p:spPr>
        </p:pic>
        <p:pic>
          <p:nvPicPr>
            <p:cNvPr id="2818" name="picture 281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3268" y="57708"/>
              <a:ext cx="122986" cy="168859"/>
            </a:xfrm>
            <a:prstGeom prst="rect">
              <a:avLst/>
            </a:prstGeom>
          </p:spPr>
        </p:pic>
      </p:grpSp>
      <p:pic>
        <p:nvPicPr>
          <p:cNvPr id="2820" name="picture 28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6202679" y="1404335"/>
            <a:ext cx="2705100" cy="2375184"/>
          </a:xfrm>
          <a:prstGeom prst="rect">
            <a:avLst/>
          </a:prstGeom>
        </p:spPr>
      </p:pic>
      <p:pic>
        <p:nvPicPr>
          <p:cNvPr id="2822" name="picture 28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276600" y="1404335"/>
            <a:ext cx="2705100" cy="2375184"/>
          </a:xfrm>
          <a:prstGeom prst="rect">
            <a:avLst/>
          </a:prstGeom>
        </p:spPr>
      </p:pic>
      <p:pic>
        <p:nvPicPr>
          <p:cNvPr id="2824" name="picture 2824">
            <a:hlinkClick r:id="rId23" action="ppaction://hlinkfile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386829" y="3306445"/>
            <a:ext cx="2337435" cy="401319"/>
          </a:xfrm>
          <a:prstGeom prst="rect">
            <a:avLst/>
          </a:prstGeom>
        </p:spPr>
      </p:pic>
      <p:sp>
        <p:nvSpPr>
          <p:cNvPr id="2826" name="textbox 2826"/>
          <p:cNvSpPr/>
          <p:nvPr/>
        </p:nvSpPr>
        <p:spPr>
          <a:xfrm>
            <a:off x="6386931" y="1300784"/>
            <a:ext cx="2350135" cy="2438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面向法律工作流的“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深度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Deep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Research）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”、证据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诉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讼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档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Westlaw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Practical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Law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资料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库联动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6000"/>
              </a:lnSpc>
              <a:spcBef>
                <a:spcPts val="26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它与您日常使用的解决方案无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缝连接；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它理解跨产品和工作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流程的背景和细微差别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，使您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能够比以往任何时候都更快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获得更深入的见解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12000"/>
              </a:lnSpc>
              <a:spcBef>
                <a:spcPts val="1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https://www.thomsonreuter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en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cocounsel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28" name="picture 282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399631" y="3320084"/>
            <a:ext cx="122986" cy="168859"/>
          </a:xfrm>
          <a:prstGeom prst="rect">
            <a:avLst/>
          </a:prstGeom>
        </p:spPr>
      </p:pic>
      <p:pic>
        <p:nvPicPr>
          <p:cNvPr id="2830" name="picture 283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399631" y="2316784"/>
            <a:ext cx="122986" cy="168859"/>
          </a:xfrm>
          <a:prstGeom prst="rect">
            <a:avLst/>
          </a:prstGeom>
        </p:spPr>
      </p:pic>
      <p:pic>
        <p:nvPicPr>
          <p:cNvPr id="2832" name="picture 283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399631" y="1313484"/>
            <a:ext cx="122986" cy="168859"/>
          </a:xfrm>
          <a:prstGeom prst="rect">
            <a:avLst/>
          </a:prstGeom>
        </p:spPr>
      </p:pic>
      <p:pic>
        <p:nvPicPr>
          <p:cNvPr id="2834" name="picture 2834">
            <a:hlinkClick r:id="rId29" action="ppaction://hlinkfile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9312909" y="2905125"/>
            <a:ext cx="2337434" cy="401320"/>
          </a:xfrm>
          <a:prstGeom prst="rect">
            <a:avLst/>
          </a:prstGeom>
        </p:spPr>
      </p:pic>
      <p:sp>
        <p:nvSpPr>
          <p:cNvPr id="2836" name="textbox 2836"/>
          <p:cNvSpPr/>
          <p:nvPr/>
        </p:nvSpPr>
        <p:spPr>
          <a:xfrm>
            <a:off x="9313011" y="1282954"/>
            <a:ext cx="2372995" cy="2054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7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全球法域覆盖（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100+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国家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跨法域对比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、生成带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引用的研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究备忘录等工作流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6000"/>
              </a:lnSpc>
              <a:spcBef>
                <a:spcPts val="26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将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vLex</a:t>
            </a:r>
            <a:r>
              <a:rPr sz="1200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的全球法律数据库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尖端人工智能技术相结合，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够处理复杂的法律工作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适应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个人工作流程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，提供量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身定制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的洞察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、研究和自动化服务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12000"/>
              </a:lnSpc>
              <a:spcBef>
                <a:spcPts val="1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us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vlex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product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s/vincent-ai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38" name="picture 283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325711" y="2918764"/>
            <a:ext cx="122987" cy="168859"/>
          </a:xfrm>
          <a:prstGeom prst="rect">
            <a:avLst/>
          </a:prstGeom>
        </p:spPr>
      </p:pic>
      <p:pic>
        <p:nvPicPr>
          <p:cNvPr id="2840" name="picture 284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9325711" y="1915464"/>
            <a:ext cx="122987" cy="168859"/>
          </a:xfrm>
          <a:prstGeom prst="rect">
            <a:avLst/>
          </a:prstGeom>
        </p:spPr>
      </p:pic>
      <p:pic>
        <p:nvPicPr>
          <p:cNvPr id="2842" name="picture 284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325711" y="1313484"/>
            <a:ext cx="122987" cy="168859"/>
          </a:xfrm>
          <a:prstGeom prst="rect">
            <a:avLst/>
          </a:prstGeom>
        </p:spPr>
      </p:pic>
      <p:pic>
        <p:nvPicPr>
          <p:cNvPr id="2844" name="picture 2844">
            <a:hlinkClick r:id="rId34" action="ppaction://hlinkfile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3460750" y="2905125"/>
            <a:ext cx="2337434" cy="401320"/>
          </a:xfrm>
          <a:prstGeom prst="rect">
            <a:avLst/>
          </a:prstGeom>
        </p:spPr>
      </p:pic>
      <p:sp>
        <p:nvSpPr>
          <p:cNvPr id="2846" name="textbox 2846"/>
          <p:cNvSpPr/>
          <p:nvPr/>
        </p:nvSpPr>
        <p:spPr>
          <a:xfrm>
            <a:off x="3460851" y="1282954"/>
            <a:ext cx="2350135" cy="2054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辅助检索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、Quick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Check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KeyCite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风险提示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、AI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版“跨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辖区调查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80034" algn="l" rtl="0" eaLnBrk="0">
              <a:lnSpc>
                <a:spcPct val="106000"/>
              </a:lnSpc>
              <a:spcBef>
                <a:spcPts val="26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法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书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馆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员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 比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试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显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示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Lexis</a:t>
            </a:r>
            <a:r>
              <a:rPr sz="1200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表现相近；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200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等平台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长期口碑强调界面清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晰与筛选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但仍需严格核验以避免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“幻觉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12000"/>
              </a:lnSpc>
              <a:spcBef>
                <a:spcPts val="12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https://www.thomsonreuter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en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us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westlaw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48" name="picture 284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3473551" y="2918764"/>
            <a:ext cx="122986" cy="168859"/>
          </a:xfrm>
          <a:prstGeom prst="rect">
            <a:avLst/>
          </a:prstGeom>
        </p:spPr>
      </p:pic>
      <p:pic>
        <p:nvPicPr>
          <p:cNvPr id="2850" name="picture 285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3473551" y="1915464"/>
            <a:ext cx="122986" cy="168859"/>
          </a:xfrm>
          <a:prstGeom prst="rect">
            <a:avLst/>
          </a:prstGeom>
        </p:spPr>
      </p:pic>
      <p:pic>
        <p:nvPicPr>
          <p:cNvPr id="2852" name="picture 285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473551" y="1313484"/>
            <a:ext cx="122986" cy="168859"/>
          </a:xfrm>
          <a:prstGeom prst="rect">
            <a:avLst/>
          </a:prstGeom>
        </p:spPr>
      </p:pic>
      <p:pic>
        <p:nvPicPr>
          <p:cNvPr id="2854" name="picture 2854">
            <a:hlinkClick r:id="rId39" action="ppaction://hlinkfile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460750" y="6151879"/>
            <a:ext cx="2337434" cy="401319"/>
          </a:xfrm>
          <a:prstGeom prst="rect">
            <a:avLst/>
          </a:prstGeom>
        </p:spPr>
      </p:pic>
      <p:sp>
        <p:nvSpPr>
          <p:cNvPr id="2856" name="textbox 2856"/>
          <p:cNvSpPr/>
          <p:nvPr/>
        </p:nvSpPr>
        <p:spPr>
          <a:xfrm>
            <a:off x="3460851" y="4547539"/>
            <a:ext cx="2350135" cy="2035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主打智能对话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，一键生成专属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法律文书，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智能化检索法律和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案例等功能，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自带法律法规和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裁判案例库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，具备多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模态解析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4000"/>
              </a:lnSpc>
              <a:spcBef>
                <a:spcPts val="24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特点是凭借阿里生态政企联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优势，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实现了司法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、政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业三端协同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7000"/>
              </a:lnSpc>
              <a:spcBef>
                <a:spcPts val="10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https://ton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gyi.aliyun.com/far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ui/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58" name="picture 285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3473551" y="6165519"/>
            <a:ext cx="122986" cy="168859"/>
          </a:xfrm>
          <a:prstGeom prst="rect">
            <a:avLst/>
          </a:prstGeom>
        </p:spPr>
      </p:pic>
      <p:pic>
        <p:nvPicPr>
          <p:cNvPr id="2860" name="picture 286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3473551" y="5563539"/>
            <a:ext cx="122986" cy="168859"/>
          </a:xfrm>
          <a:prstGeom prst="rect">
            <a:avLst/>
          </a:prstGeom>
        </p:spPr>
      </p:pic>
      <p:pic>
        <p:nvPicPr>
          <p:cNvPr id="2862" name="picture 286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3473551" y="4560239"/>
            <a:ext cx="122986" cy="168859"/>
          </a:xfrm>
          <a:prstGeom prst="rect">
            <a:avLst/>
          </a:prstGeom>
        </p:spPr>
      </p:pic>
      <p:pic>
        <p:nvPicPr>
          <p:cNvPr id="2864" name="picture 2864">
            <a:hlinkClick r:id="rId24" action="ppaction://hlinkfile"/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534669" y="5951220"/>
            <a:ext cx="2337435" cy="401320"/>
          </a:xfrm>
          <a:prstGeom prst="rect">
            <a:avLst/>
          </a:prstGeom>
        </p:spPr>
      </p:pic>
      <p:sp>
        <p:nvSpPr>
          <p:cNvPr id="2866" name="textbox 2866"/>
          <p:cNvSpPr/>
          <p:nvPr/>
        </p:nvSpPr>
        <p:spPr>
          <a:xfrm>
            <a:off x="534771" y="4547539"/>
            <a:ext cx="2350770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通过深度推理引擎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可以用三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段论推演案情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、赔偿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金多维度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，实现法律逻辑闭环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05000"/>
              </a:lnSpc>
              <a:spcBef>
                <a:spcPts val="18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有主动式交互功能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可以通过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智能访问机制，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自动补全案情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要素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，还能将风险可视化生成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一个风险气泡矩阵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80034" algn="l" rtl="0" eaLnBrk="0">
              <a:lnSpc>
                <a:spcPct val="112000"/>
              </a:lnSpc>
              <a:spcBef>
                <a:spcPts val="12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https://www.grower.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net.cn/l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aws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68" name="picture 286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547471" y="5964859"/>
            <a:ext cx="122986" cy="168859"/>
          </a:xfrm>
          <a:prstGeom prst="rect">
            <a:avLst/>
          </a:prstGeom>
        </p:spPr>
      </p:pic>
      <p:pic>
        <p:nvPicPr>
          <p:cNvPr id="2870" name="picture 287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547471" y="5162219"/>
            <a:ext cx="122986" cy="168859"/>
          </a:xfrm>
          <a:prstGeom prst="rect">
            <a:avLst/>
          </a:prstGeom>
        </p:spPr>
      </p:pic>
      <p:pic>
        <p:nvPicPr>
          <p:cNvPr id="2872" name="picture 287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547471" y="4560239"/>
            <a:ext cx="122986" cy="168859"/>
          </a:xfrm>
          <a:prstGeom prst="rect">
            <a:avLst/>
          </a:prstGeom>
        </p:spPr>
      </p:pic>
      <p:pic>
        <p:nvPicPr>
          <p:cNvPr id="2874" name="picture 287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118092" y="0"/>
            <a:ext cx="3073907" cy="1229867"/>
          </a:xfrm>
          <a:prstGeom prst="rect">
            <a:avLst/>
          </a:prstGeom>
        </p:spPr>
      </p:pic>
      <p:sp>
        <p:nvSpPr>
          <p:cNvPr id="2876" name="textbox 2876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AI法律助手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78" name="picture 287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3692652" y="742188"/>
            <a:ext cx="1872995" cy="507491"/>
          </a:xfrm>
          <a:prstGeom prst="rect">
            <a:avLst/>
          </a:prstGeom>
        </p:spPr>
      </p:pic>
      <p:pic>
        <p:nvPicPr>
          <p:cNvPr id="2880" name="picture 288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6650735" y="787907"/>
            <a:ext cx="1808988" cy="417576"/>
          </a:xfrm>
          <a:prstGeom prst="rect">
            <a:avLst/>
          </a:prstGeom>
        </p:spPr>
      </p:pic>
      <p:pic>
        <p:nvPicPr>
          <p:cNvPr id="2882" name="picture 288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1132331" y="806196"/>
            <a:ext cx="1143000" cy="381000"/>
          </a:xfrm>
          <a:prstGeom prst="rect">
            <a:avLst/>
          </a:prstGeom>
        </p:spPr>
      </p:pic>
      <p:sp>
        <p:nvSpPr>
          <p:cNvPr id="2884" name="textbox 2884"/>
          <p:cNvSpPr/>
          <p:nvPr/>
        </p:nvSpPr>
        <p:spPr>
          <a:xfrm>
            <a:off x="1528800" y="4018279"/>
            <a:ext cx="937260" cy="249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格物法律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86" name="textbox 2886"/>
          <p:cNvSpPr/>
          <p:nvPr/>
        </p:nvSpPr>
        <p:spPr>
          <a:xfrm>
            <a:off x="4449774" y="4019422"/>
            <a:ext cx="934719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通义法睿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4"/>
          <p:cNvGrpSpPr/>
          <p:nvPr/>
        </p:nvGrpSpPr>
        <p:grpSpPr>
          <a:xfrm rot="21600000">
            <a:off x="3310128" y="3616452"/>
            <a:ext cx="2699004" cy="2967227"/>
            <a:chOff x="0" y="0"/>
            <a:chExt cx="2699004" cy="2967227"/>
          </a:xfrm>
        </p:grpSpPr>
        <p:pic>
          <p:nvPicPr>
            <p:cNvPr id="2888" name="picture 28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446531"/>
              <a:ext cx="2699004" cy="2520695"/>
            </a:xfrm>
            <a:prstGeom prst="rect">
              <a:avLst/>
            </a:prstGeom>
          </p:spPr>
        </p:pic>
        <p:sp>
          <p:nvSpPr>
            <p:cNvPr id="2890" name="textbox 2890"/>
            <p:cNvSpPr/>
            <p:nvPr/>
          </p:nvSpPr>
          <p:spPr>
            <a:xfrm>
              <a:off x="-12700" y="-12700"/>
              <a:ext cx="2724785" cy="3003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97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21945" algn="l" rtl="0" eaLnBrk="0">
                <a:lnSpc>
                  <a:spcPct val="83000"/>
                </a:lnSpc>
                <a:tabLst/>
              </a:pPr>
              <a:r>
                <a:rPr sz="4800" kern="0" spc="470" dirty="0">
                  <a:solidFill>
                    <a:srgbClr val="212AB4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</a:t>
              </a:r>
              <a:r>
                <a:rPr sz="4800" kern="0" spc="-1100" dirty="0">
                  <a:solidFill>
                    <a:srgbClr val="212AB4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800" kern="0" spc="-950" dirty="0">
                  <a:solidFill>
                    <a:srgbClr val="212AB4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mobile</a:t>
              </a:r>
              <a:r>
                <a:rPr sz="4800" kern="0" spc="-1130" dirty="0">
                  <a:solidFill>
                    <a:srgbClr val="212AB4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800" kern="0" spc="-950" dirty="0">
                  <a:solidFill>
                    <a:srgbClr val="212AB4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ye'</a:t>
              </a:r>
              <a:endParaRPr sz="4800" dirty="0">
                <a:latin typeface="Arial"/>
                <a:ea typeface="Arial"/>
                <a:cs typeface="Arial"/>
              </a:endParaRPr>
            </a:p>
            <a:p>
              <a:pPr marL="484505" indent="-278129" algn="l" rtl="0" eaLnBrk="0">
                <a:lnSpc>
                  <a:spcPct val="108000"/>
                </a:lnSpc>
                <a:spcBef>
                  <a:spcPts val="38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高级驾驶辅助（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ADAS ）+</a:t>
              </a:r>
              <a:r>
                <a:rPr sz="1200" kern="0" spc="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速公路自动驾驶+低速城市辅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助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，可作为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OEM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原厂系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统被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整车厂采用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7495" algn="l" rtl="0" eaLnBrk="0">
                <a:lnSpc>
                  <a:spcPct val="109000"/>
                </a:lnSpc>
                <a:spcBef>
                  <a:spcPts val="12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拥有强大的摄像头/激光雷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达融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合感知系统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、全球数据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采集网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络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，安全性能经过广泛验证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4000"/>
                </a:lnSpc>
                <a:spcBef>
                  <a:spcPts val="2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https://www.mobileye.com/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92" name="picture 289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3903" y="2081707"/>
              <a:ext cx="122986" cy="168859"/>
            </a:xfrm>
            <a:prstGeom prst="rect">
              <a:avLst/>
            </a:prstGeom>
          </p:spPr>
        </p:pic>
        <p:pic>
          <p:nvPicPr>
            <p:cNvPr id="2894" name="picture 289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3903" y="1479727"/>
              <a:ext cx="122986" cy="168859"/>
            </a:xfrm>
            <a:prstGeom prst="rect">
              <a:avLst/>
            </a:prstGeom>
          </p:spPr>
        </p:pic>
        <p:pic>
          <p:nvPicPr>
            <p:cNvPr id="2896" name="picture 289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3903" y="677087"/>
              <a:ext cx="122986" cy="168859"/>
            </a:xfrm>
            <a:prstGeom prst="rect">
              <a:avLst/>
            </a:prstGeom>
          </p:spPr>
        </p:pic>
      </p:grpSp>
      <p:grpSp>
        <p:nvGrpSpPr>
          <p:cNvPr id="176" name="group 176"/>
          <p:cNvGrpSpPr/>
          <p:nvPr/>
        </p:nvGrpSpPr>
        <p:grpSpPr>
          <a:xfrm rot="21600000">
            <a:off x="9159240" y="3659123"/>
            <a:ext cx="2705100" cy="2927603"/>
            <a:chOff x="0" y="0"/>
            <a:chExt cx="2705100" cy="2927603"/>
          </a:xfrm>
        </p:grpSpPr>
        <p:pic>
          <p:nvPicPr>
            <p:cNvPr id="2898" name="picture 289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705100" cy="2927603"/>
            </a:xfrm>
            <a:prstGeom prst="rect">
              <a:avLst/>
            </a:prstGeom>
          </p:spPr>
        </p:pic>
        <p:sp>
          <p:nvSpPr>
            <p:cNvPr id="2900" name="textbox 2900"/>
            <p:cNvSpPr/>
            <p:nvPr/>
          </p:nvSpPr>
          <p:spPr>
            <a:xfrm>
              <a:off x="-12700" y="-12700"/>
              <a:ext cx="2730500" cy="2963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90855" indent="-281304" algn="l" rtl="0" eaLnBrk="0">
                <a:lnSpc>
                  <a:spcPct val="104000"/>
                </a:lnSpc>
                <a:spcBef>
                  <a:spcPts val="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Waymo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在多个城市部署机器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人出租车服务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，积累了大量真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实路测数据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106000"/>
                </a:lnSpc>
                <a:spcBef>
                  <a:spcPts val="26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端到端无人驾驶系统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：不仅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发算法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，还整车部署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、运营服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务，覆盖感知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、决策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、控制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04000"/>
                </a:lnSpc>
                <a:spcBef>
                  <a:spcPts val="16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其官网强调“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为世界提供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最可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信的司机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”，安全报告公开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2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https://waymo.c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902" name="picture 290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6951" y="2239695"/>
              <a:ext cx="122987" cy="168859"/>
            </a:xfrm>
            <a:prstGeom prst="rect">
              <a:avLst/>
            </a:prstGeom>
          </p:spPr>
        </p:pic>
        <p:pic>
          <p:nvPicPr>
            <p:cNvPr id="2904" name="picture 290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6951" y="1838375"/>
              <a:ext cx="122987" cy="168859"/>
            </a:xfrm>
            <a:prstGeom prst="rect">
              <a:avLst/>
            </a:prstGeom>
          </p:spPr>
        </p:pic>
        <p:pic>
          <p:nvPicPr>
            <p:cNvPr id="2906" name="picture 290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6951" y="1236395"/>
              <a:ext cx="122987" cy="168859"/>
            </a:xfrm>
            <a:prstGeom prst="rect">
              <a:avLst/>
            </a:prstGeom>
          </p:spPr>
        </p:pic>
        <p:pic>
          <p:nvPicPr>
            <p:cNvPr id="2908" name="picture 29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6951" y="634415"/>
              <a:ext cx="122987" cy="168859"/>
            </a:xfrm>
            <a:prstGeom prst="rect">
              <a:avLst/>
            </a:prstGeom>
          </p:spPr>
        </p:pic>
      </p:grpSp>
      <p:grpSp>
        <p:nvGrpSpPr>
          <p:cNvPr id="178" name="group 178"/>
          <p:cNvGrpSpPr/>
          <p:nvPr/>
        </p:nvGrpSpPr>
        <p:grpSpPr>
          <a:xfrm rot="21600000">
            <a:off x="6236208" y="3688080"/>
            <a:ext cx="2699003" cy="2895599"/>
            <a:chOff x="0" y="0"/>
            <a:chExt cx="2699003" cy="2895599"/>
          </a:xfrm>
        </p:grpSpPr>
        <p:pic>
          <p:nvPicPr>
            <p:cNvPr id="2910" name="picture 291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699003" cy="2895599"/>
            </a:xfrm>
            <a:prstGeom prst="rect">
              <a:avLst/>
            </a:prstGeom>
          </p:spPr>
        </p:pic>
        <p:sp>
          <p:nvSpPr>
            <p:cNvPr id="2912" name="textbox 2912"/>
            <p:cNvSpPr/>
            <p:nvPr/>
          </p:nvSpPr>
          <p:spPr>
            <a:xfrm>
              <a:off x="-12700" y="-12700"/>
              <a:ext cx="2724785" cy="29324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1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4505" indent="-278129" algn="l" rtl="0" eaLnBrk="0">
                <a:lnSpc>
                  <a:spcPct val="107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为商用车队提供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驾驶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监控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、警报系统与风险预警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减少事故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、提升安全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6859" algn="l" rtl="0" eaLnBrk="0">
                <a:lnSpc>
                  <a:spcPct val="107000"/>
                </a:lnSpc>
                <a:spcBef>
                  <a:spcPts val="12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利用摄像头／AI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实时识别驾驶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员疲劳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、打瞌睡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、分心驾驶并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提醒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0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https://www.nauto.com/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914" name="picture 291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3903" y="1809419"/>
              <a:ext cx="122987" cy="168859"/>
            </a:xfrm>
            <a:prstGeom prst="rect">
              <a:avLst/>
            </a:prstGeom>
          </p:spPr>
        </p:pic>
        <p:pic>
          <p:nvPicPr>
            <p:cNvPr id="2916" name="picture 291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3903" y="1207439"/>
              <a:ext cx="122987" cy="168859"/>
            </a:xfrm>
            <a:prstGeom prst="rect">
              <a:avLst/>
            </a:prstGeom>
          </p:spPr>
        </p:pic>
        <p:pic>
          <p:nvPicPr>
            <p:cNvPr id="2918" name="picture 291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3903" y="605459"/>
              <a:ext cx="122987" cy="168859"/>
            </a:xfrm>
            <a:prstGeom prst="rect">
              <a:avLst/>
            </a:prstGeom>
          </p:spPr>
        </p:pic>
      </p:grpSp>
      <p:grpSp>
        <p:nvGrpSpPr>
          <p:cNvPr id="180" name="group 180"/>
          <p:cNvGrpSpPr/>
          <p:nvPr/>
        </p:nvGrpSpPr>
        <p:grpSpPr>
          <a:xfrm rot="21600000">
            <a:off x="3307079" y="915923"/>
            <a:ext cx="2705100" cy="2651759"/>
            <a:chOff x="0" y="0"/>
            <a:chExt cx="2705100" cy="2651759"/>
          </a:xfrm>
        </p:grpSpPr>
        <p:pic>
          <p:nvPicPr>
            <p:cNvPr id="2920" name="picture 292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2705100" cy="2651759"/>
            </a:xfrm>
            <a:prstGeom prst="rect">
              <a:avLst/>
            </a:prstGeom>
          </p:spPr>
        </p:pic>
        <p:sp>
          <p:nvSpPr>
            <p:cNvPr id="2922" name="textbox 2922"/>
            <p:cNvSpPr/>
            <p:nvPr/>
          </p:nvSpPr>
          <p:spPr>
            <a:xfrm>
              <a:off x="-12700" y="-12700"/>
              <a:ext cx="2730500" cy="26885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8950" indent="-279400" algn="l" rtl="0" eaLnBrk="0">
                <a:lnSpc>
                  <a:spcPct val="104000"/>
                </a:lnSpc>
                <a:spcBef>
                  <a:spcPts val="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以高性价比和拟人化驾驶策略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见长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，适合追求普惠化智驾的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07000"/>
                </a:lnSpc>
                <a:spcBef>
                  <a:spcPts val="26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采用“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一段式端到端+强化学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习 ”架构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，直接通过模型生成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行驶轨迹，减少信息传递延迟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响应速度低于160毫秒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w.horizon.auto/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924" name="picture 292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6951" y="1974900"/>
              <a:ext cx="122986" cy="168859"/>
            </a:xfrm>
            <a:prstGeom prst="rect">
              <a:avLst/>
            </a:prstGeom>
          </p:spPr>
        </p:pic>
        <p:pic>
          <p:nvPicPr>
            <p:cNvPr id="2926" name="picture 2926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6951" y="1172261"/>
              <a:ext cx="122986" cy="168859"/>
            </a:xfrm>
            <a:prstGeom prst="rect">
              <a:avLst/>
            </a:prstGeom>
          </p:spPr>
        </p:pic>
        <p:pic>
          <p:nvPicPr>
            <p:cNvPr id="2928" name="picture 292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6951" y="570280"/>
              <a:ext cx="122986" cy="168859"/>
            </a:xfrm>
            <a:prstGeom prst="rect">
              <a:avLst/>
            </a:prstGeom>
          </p:spPr>
        </p:pic>
      </p:grpSp>
      <p:grpSp>
        <p:nvGrpSpPr>
          <p:cNvPr id="182" name="group 182"/>
          <p:cNvGrpSpPr/>
          <p:nvPr/>
        </p:nvGrpSpPr>
        <p:grpSpPr>
          <a:xfrm rot="21600000">
            <a:off x="9162288" y="1025296"/>
            <a:ext cx="2699004" cy="2539339"/>
            <a:chOff x="0" y="0"/>
            <a:chExt cx="2699004" cy="2539339"/>
          </a:xfrm>
        </p:grpSpPr>
        <p:pic>
          <p:nvPicPr>
            <p:cNvPr id="2930" name="picture 293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0" y="18643"/>
              <a:ext cx="2699004" cy="2520695"/>
            </a:xfrm>
            <a:prstGeom prst="rect">
              <a:avLst/>
            </a:prstGeom>
          </p:spPr>
        </p:pic>
        <p:sp>
          <p:nvSpPr>
            <p:cNvPr id="2932" name="textbox 2932"/>
            <p:cNvSpPr/>
            <p:nvPr/>
          </p:nvSpPr>
          <p:spPr>
            <a:xfrm>
              <a:off x="-12700" y="-12700"/>
              <a:ext cx="2724785" cy="25761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26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80110" algn="l" rtl="0" eaLnBrk="0">
                <a:lnSpc>
                  <a:spcPct val="86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小马智行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4505" indent="-278129" algn="l" rtl="0" eaLnBrk="0">
                <a:lnSpc>
                  <a:spcPct val="106000"/>
                </a:lnSpc>
                <a:spcBef>
                  <a:spcPts val="37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入局很早，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已经拥有覆盖感知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预测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、规划到控制的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全栈自动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驾驶方案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、也是国内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首个实现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车内无人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Robotaxi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出租车收费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运营的企业之一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1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https://www.pnuri.cn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934" name="picture 293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3903" y="1464208"/>
              <a:ext cx="122987" cy="168859"/>
            </a:xfrm>
            <a:prstGeom prst="rect">
              <a:avLst/>
            </a:prstGeom>
          </p:spPr>
        </p:pic>
        <p:pic>
          <p:nvPicPr>
            <p:cNvPr id="2936" name="picture 2936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3903" y="460908"/>
              <a:ext cx="122987" cy="168859"/>
            </a:xfrm>
            <a:prstGeom prst="rect">
              <a:avLst/>
            </a:prstGeom>
          </p:spPr>
        </p:pic>
      </p:grpSp>
      <p:pic>
        <p:nvPicPr>
          <p:cNvPr id="2938" name="picture 293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384048" y="1043940"/>
            <a:ext cx="2699004" cy="2520695"/>
          </a:xfrm>
          <a:prstGeom prst="rect">
            <a:avLst/>
          </a:prstGeom>
        </p:spPr>
      </p:pic>
      <p:pic>
        <p:nvPicPr>
          <p:cNvPr id="2940" name="picture 294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81000" y="4211542"/>
            <a:ext cx="2705100" cy="2375184"/>
          </a:xfrm>
          <a:prstGeom prst="rect">
            <a:avLst/>
          </a:prstGeom>
        </p:spPr>
      </p:pic>
      <p:pic>
        <p:nvPicPr>
          <p:cNvPr id="2942" name="picture 294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233159" y="1192499"/>
            <a:ext cx="2705100" cy="2375184"/>
          </a:xfrm>
          <a:prstGeom prst="rect">
            <a:avLst/>
          </a:prstGeom>
        </p:spPr>
      </p:pic>
      <p:pic>
        <p:nvPicPr>
          <p:cNvPr id="2944" name="picture 2944">
            <a:hlinkClick r:id="rId31" action="ppaction://hlinkfile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6416675" y="3077845"/>
            <a:ext cx="2337434" cy="401320"/>
          </a:xfrm>
          <a:prstGeom prst="rect">
            <a:avLst/>
          </a:prstGeom>
        </p:spPr>
      </p:pic>
      <p:sp>
        <p:nvSpPr>
          <p:cNvPr id="2946" name="textbox 2946"/>
          <p:cNvSpPr/>
          <p:nvPr/>
        </p:nvSpPr>
        <p:spPr>
          <a:xfrm>
            <a:off x="6416776" y="1015110"/>
            <a:ext cx="2350135" cy="2495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2150" algn="l" rtl="0" eaLnBrk="0">
              <a:lnSpc>
                <a:spcPct val="87000"/>
              </a:lnSpc>
              <a:tabLst/>
            </a:pPr>
            <a:r>
              <a:rPr sz="17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</a:t>
            </a:r>
            <a:r>
              <a:rPr sz="17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卜快跑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7000"/>
              </a:lnSpc>
              <a:spcBef>
                <a:spcPts val="36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凭借Apollo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，拥有包括自动驾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驶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、智能座舱和高精地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图等全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栈智能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7000"/>
              </a:lnSpc>
              <a:spcBef>
                <a:spcPts val="22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从B端来看，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已经实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现了城市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范围内，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L4自动驾驶的小规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商用 ，相对领先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，其在感知精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、安全冗余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、城市泛化性能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上已经接近头部的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Waymo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9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apollogo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ch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48" name="picture 294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429476" y="3091484"/>
            <a:ext cx="122987" cy="168859"/>
          </a:xfrm>
          <a:prstGeom prst="rect">
            <a:avLst/>
          </a:prstGeom>
        </p:spPr>
      </p:pic>
      <p:pic>
        <p:nvPicPr>
          <p:cNvPr id="2950" name="picture 295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429476" y="2088184"/>
            <a:ext cx="122987" cy="168859"/>
          </a:xfrm>
          <a:prstGeom prst="rect">
            <a:avLst/>
          </a:prstGeom>
        </p:spPr>
      </p:pic>
      <p:pic>
        <p:nvPicPr>
          <p:cNvPr id="2952" name="picture 295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6429476" y="1486204"/>
            <a:ext cx="122987" cy="168859"/>
          </a:xfrm>
          <a:prstGeom prst="rect">
            <a:avLst/>
          </a:prstGeom>
        </p:spPr>
      </p:pic>
      <p:pic>
        <p:nvPicPr>
          <p:cNvPr id="2954" name="picture 2954">
            <a:hlinkClick r:id="rId36" action="ppaction://hlinkfil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565150" y="6085840"/>
            <a:ext cx="2337435" cy="401319"/>
          </a:xfrm>
          <a:prstGeom prst="rect">
            <a:avLst/>
          </a:prstGeom>
        </p:spPr>
      </p:pic>
      <p:sp>
        <p:nvSpPr>
          <p:cNvPr id="2956" name="textbox 2956"/>
          <p:cNvSpPr/>
          <p:nvPr/>
        </p:nvSpPr>
        <p:spPr>
          <a:xfrm>
            <a:off x="565251" y="4280839"/>
            <a:ext cx="2422525" cy="2254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indent="-280034" algn="l" rtl="0" eaLnBrk="0">
              <a:lnSpc>
                <a:spcPct val="105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开源自动驾驶辅助系统，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安装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于兼容车辆后可实现“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、车道保持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、自动跟车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”功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4000"/>
              </a:lnSpc>
              <a:spcBef>
                <a:spcPts val="25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社区活跃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、实时更新算法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，用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户可参与数据回传与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，形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成“软件即提升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”的闭环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07975" indent="-295909" algn="l" rtl="0" eaLnBrk="0">
              <a:lnSpc>
                <a:spcPct val="97000"/>
              </a:lnSpc>
              <a:spcBef>
                <a:spcPts val="24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适用改装爱好者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、技术型车主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自动驾驶研究者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7000"/>
              </a:lnSpc>
              <a:spcBef>
                <a:spcPts val="22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comma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ai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vehi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cles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58" name="picture 295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577951" y="6099479"/>
            <a:ext cx="122986" cy="168859"/>
          </a:xfrm>
          <a:prstGeom prst="rect">
            <a:avLst/>
          </a:prstGeom>
        </p:spPr>
      </p:pic>
      <p:pic>
        <p:nvPicPr>
          <p:cNvPr id="2960" name="picture 296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577951" y="5698159"/>
            <a:ext cx="122986" cy="168859"/>
          </a:xfrm>
          <a:prstGeom prst="rect">
            <a:avLst/>
          </a:prstGeom>
        </p:spPr>
      </p:pic>
      <p:pic>
        <p:nvPicPr>
          <p:cNvPr id="2962" name="picture 296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577951" y="5096179"/>
            <a:ext cx="122986" cy="168859"/>
          </a:xfrm>
          <a:prstGeom prst="rect">
            <a:avLst/>
          </a:prstGeom>
        </p:spPr>
      </p:pic>
      <p:pic>
        <p:nvPicPr>
          <p:cNvPr id="2964" name="picture 296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577951" y="4293539"/>
            <a:ext cx="122986" cy="168859"/>
          </a:xfrm>
          <a:prstGeom prst="rect">
            <a:avLst/>
          </a:prstGeom>
        </p:spPr>
      </p:pic>
      <p:pic>
        <p:nvPicPr>
          <p:cNvPr id="2966" name="picture 2966">
            <a:hlinkClick r:id="rId42" action="ppaction://hlinkfile"/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65150" y="2475865"/>
            <a:ext cx="2337435" cy="401320"/>
          </a:xfrm>
          <a:prstGeom prst="rect">
            <a:avLst/>
          </a:prstGeom>
        </p:spPr>
      </p:pic>
      <p:sp>
        <p:nvSpPr>
          <p:cNvPr id="2968" name="textbox 2968"/>
          <p:cNvSpPr/>
          <p:nvPr/>
        </p:nvSpPr>
        <p:spPr>
          <a:xfrm>
            <a:off x="565251" y="1012596"/>
            <a:ext cx="2350135" cy="1896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8834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华为智驾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3370" indent="-281304" algn="l" rtl="0" eaLnBrk="0">
              <a:lnSpc>
                <a:spcPct val="97000"/>
              </a:lnSpc>
              <a:spcBef>
                <a:spcPts val="36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主打激光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、毫米波雷达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、摄像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头等多传感器融合方案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4000"/>
              </a:lnSpc>
              <a:spcBef>
                <a:spcPts val="37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不依赖高精地图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，和自家的汽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车软硬件深度集成，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自研能力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和市场布局是国内的第一梯队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auto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huawei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/ads/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70" name="picture 297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577951" y="2489504"/>
            <a:ext cx="122986" cy="168859"/>
          </a:xfrm>
          <a:prstGeom prst="rect">
            <a:avLst/>
          </a:prstGeom>
        </p:spPr>
      </p:pic>
      <p:pic>
        <p:nvPicPr>
          <p:cNvPr id="2972" name="picture 297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577951" y="1887524"/>
            <a:ext cx="122986" cy="168859"/>
          </a:xfrm>
          <a:prstGeom prst="rect">
            <a:avLst/>
          </a:prstGeom>
        </p:spPr>
      </p:pic>
      <p:pic>
        <p:nvPicPr>
          <p:cNvPr id="2974" name="picture 297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577951" y="1486204"/>
            <a:ext cx="122986" cy="168859"/>
          </a:xfrm>
          <a:prstGeom prst="rect">
            <a:avLst/>
          </a:prstGeom>
        </p:spPr>
      </p:pic>
      <p:pic>
        <p:nvPicPr>
          <p:cNvPr id="2976" name="picture 297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2978" name="textbox 2978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AI智驾工具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80" name="picture 298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1104900" y="3689603"/>
            <a:ext cx="1257300" cy="4648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184"/>
          <p:cNvGrpSpPr/>
          <p:nvPr/>
        </p:nvGrpSpPr>
        <p:grpSpPr>
          <a:xfrm rot="21600000">
            <a:off x="373379" y="3628643"/>
            <a:ext cx="2705100" cy="2854452"/>
            <a:chOff x="0" y="0"/>
            <a:chExt cx="2705100" cy="2854452"/>
          </a:xfrm>
        </p:grpSpPr>
        <p:pic>
          <p:nvPicPr>
            <p:cNvPr id="2982" name="picture 298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5100" cy="2854452"/>
            </a:xfrm>
            <a:prstGeom prst="rect">
              <a:avLst/>
            </a:prstGeom>
          </p:spPr>
        </p:pic>
        <p:sp>
          <p:nvSpPr>
            <p:cNvPr id="2984" name="textbox 2984"/>
            <p:cNvSpPr/>
            <p:nvPr/>
          </p:nvSpPr>
          <p:spPr>
            <a:xfrm>
              <a:off x="-12700" y="-12700"/>
              <a:ext cx="2731135" cy="28917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62380" algn="l" rtl="0" eaLnBrk="0">
                <a:lnSpc>
                  <a:spcPts val="2282"/>
                </a:lnSpc>
                <a:spcBef>
                  <a:spcPts val="6"/>
                </a:spcBef>
                <a:tabLst/>
              </a:pPr>
              <a:r>
                <a:rPr sz="17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fdo.ai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775" indent="-276225" algn="l" rtl="0" eaLnBrk="0">
                <a:lnSpc>
                  <a:spcPct val="108000"/>
                </a:lnSpc>
                <a:spcBef>
                  <a:spcPts val="367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面向小型企业／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创业公司，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在用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减少财务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／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运营上的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重复劳动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，让用户更多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经营而不是整理账务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10000"/>
                </a:lnSpc>
                <a:spcBef>
                  <a:spcPts val="98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聚焦于自动化记账／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支出追踪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与商业策略／增长辅助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https://fd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986" name="picture 298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6951" y="1992680"/>
              <a:ext cx="122986" cy="168859"/>
            </a:xfrm>
            <a:prstGeom prst="rect">
              <a:avLst/>
            </a:prstGeom>
          </p:spPr>
        </p:pic>
        <p:pic>
          <p:nvPicPr>
            <p:cNvPr id="2988" name="picture 298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6951" y="1591360"/>
              <a:ext cx="122986" cy="168859"/>
            </a:xfrm>
            <a:prstGeom prst="rect">
              <a:avLst/>
            </a:prstGeom>
          </p:spPr>
        </p:pic>
        <p:pic>
          <p:nvPicPr>
            <p:cNvPr id="2990" name="picture 299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6951" y="788721"/>
              <a:ext cx="122986" cy="168859"/>
            </a:xfrm>
            <a:prstGeom prst="rect">
              <a:avLst/>
            </a:prstGeom>
          </p:spPr>
        </p:pic>
      </p:grpSp>
      <p:grpSp>
        <p:nvGrpSpPr>
          <p:cNvPr id="186" name="group 186"/>
          <p:cNvGrpSpPr/>
          <p:nvPr/>
        </p:nvGrpSpPr>
        <p:grpSpPr>
          <a:xfrm rot="21600000">
            <a:off x="3302508" y="3633215"/>
            <a:ext cx="2699003" cy="2846832"/>
            <a:chOff x="0" y="0"/>
            <a:chExt cx="2699003" cy="2846832"/>
          </a:xfrm>
        </p:grpSpPr>
        <p:pic>
          <p:nvPicPr>
            <p:cNvPr id="2992" name="picture 299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699003" cy="2846832"/>
            </a:xfrm>
            <a:prstGeom prst="rect">
              <a:avLst/>
            </a:prstGeom>
          </p:spPr>
        </p:pic>
        <p:sp>
          <p:nvSpPr>
            <p:cNvPr id="2994" name="textbox 2994"/>
            <p:cNvSpPr/>
            <p:nvPr/>
          </p:nvSpPr>
          <p:spPr>
            <a:xfrm>
              <a:off x="-12700" y="-12700"/>
              <a:ext cx="2724785" cy="2884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7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5140" indent="-278765" algn="l" rtl="0" eaLnBrk="0">
                <a:lnSpc>
                  <a:spcPct val="110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专注于金融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／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合规领域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</a:t>
              </a:r>
              <a:r>
                <a:rPr sz="1200" kern="0" spc="2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，覆盖 “交易监控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、客户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筛查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、制裁名单及媒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体舆情扫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描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等反洗钱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(AML) 流程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8129" algn="l" rtl="0" eaLnBrk="0">
                <a:lnSpc>
                  <a:spcPct val="106000"/>
                </a:lnSpc>
                <a:spcBef>
                  <a:spcPts val="14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拥 有 丰 富 数 据 资 源 ： 例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150+ 预设洗钱典型情形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”、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80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多种语言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、多国家/地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区实体检测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、加密钱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包筛查等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0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https://amlwatcher.com/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996" name="picture 299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3903" y="2590088"/>
              <a:ext cx="122986" cy="168859"/>
            </a:xfrm>
            <a:prstGeom prst="rect">
              <a:avLst/>
            </a:prstGeom>
          </p:spPr>
        </p:pic>
        <p:pic>
          <p:nvPicPr>
            <p:cNvPr id="2998" name="picture 299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3903" y="1586788"/>
              <a:ext cx="122986" cy="168859"/>
            </a:xfrm>
            <a:prstGeom prst="rect">
              <a:avLst/>
            </a:prstGeom>
          </p:spPr>
        </p:pic>
        <p:pic>
          <p:nvPicPr>
            <p:cNvPr id="3000" name="picture 30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3903" y="784149"/>
              <a:ext cx="122986" cy="168859"/>
            </a:xfrm>
            <a:prstGeom prst="rect">
              <a:avLst/>
            </a:prstGeom>
          </p:spPr>
        </p:pic>
      </p:grpSp>
      <p:grpSp>
        <p:nvGrpSpPr>
          <p:cNvPr id="188" name="group 188"/>
          <p:cNvGrpSpPr/>
          <p:nvPr/>
        </p:nvGrpSpPr>
        <p:grpSpPr>
          <a:xfrm rot="21600000">
            <a:off x="9151619" y="3651503"/>
            <a:ext cx="2705100" cy="2833116"/>
            <a:chOff x="0" y="0"/>
            <a:chExt cx="2705100" cy="2833116"/>
          </a:xfrm>
        </p:grpSpPr>
        <p:pic>
          <p:nvPicPr>
            <p:cNvPr id="3002" name="picture 300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457931"/>
              <a:ext cx="2705100" cy="2375184"/>
            </a:xfrm>
            <a:prstGeom prst="rect">
              <a:avLst/>
            </a:prstGeom>
          </p:spPr>
        </p:pic>
        <p:sp>
          <p:nvSpPr>
            <p:cNvPr id="3004" name="textbox 3004"/>
            <p:cNvSpPr/>
            <p:nvPr/>
          </p:nvSpPr>
          <p:spPr>
            <a:xfrm>
              <a:off x="-12700" y="-12700"/>
              <a:ext cx="2730500" cy="2870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60400" algn="l" rtl="0" eaLnBrk="0">
                <a:lnSpc>
                  <a:spcPts val="3660"/>
                </a:lnSpc>
                <a:tabLst/>
              </a:pPr>
              <a:r>
                <a:rPr sz="2800" kern="0" spc="-230" dirty="0">
                  <a:solidFill>
                    <a:srgbClr val="1A438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sz="2800" kern="0" spc="-570" dirty="0">
                  <a:solidFill>
                    <a:srgbClr val="1A438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800" kern="0" spc="-230" dirty="0">
                  <a:solidFill>
                    <a:srgbClr val="1A438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alpha</a:t>
              </a:r>
              <a:r>
                <a:rPr sz="2800" kern="0" spc="-580" dirty="0">
                  <a:solidFill>
                    <a:srgbClr val="1A438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800" kern="0" spc="-230" dirty="0">
                  <a:solidFill>
                    <a:srgbClr val="1A438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nso</a:t>
              </a:r>
              <a:endParaRPr sz="2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680" indent="-278129" algn="l" rtl="0" eaLnBrk="0">
                <a:lnSpc>
                  <a:spcPct val="108000"/>
                </a:lnSpc>
                <a:spcBef>
                  <a:spcPts val="36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其模型每日分析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,000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金融指标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／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,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000</a:t>
              </a:r>
              <a:r>
                <a:rPr sz="1200" kern="0" spc="3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kern="0" spc="3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投资工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 ”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——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官网称其</a:t>
              </a:r>
              <a:r>
                <a:rPr sz="1200" kern="0" spc="2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10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K+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金融指标 +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15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K+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工具/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跟踪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的数据覆盖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8000"/>
                </a:lnSpc>
                <a:spcBef>
                  <a:spcPts val="11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除选股／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组合建议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，还覆盖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金流／ 目标规划／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债务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管理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/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税务优化／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遗产规划等较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宽广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的财富管理维度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1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https://alphanso.ai/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06" name="picture 300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6951" y="2571800"/>
              <a:ext cx="122987" cy="168859"/>
            </a:xfrm>
            <a:prstGeom prst="rect">
              <a:avLst/>
            </a:prstGeom>
          </p:spPr>
        </p:pic>
        <p:pic>
          <p:nvPicPr>
            <p:cNvPr id="3008" name="picture 300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6951" y="1769161"/>
              <a:ext cx="122987" cy="168859"/>
            </a:xfrm>
            <a:prstGeom prst="rect">
              <a:avLst/>
            </a:prstGeom>
          </p:spPr>
        </p:pic>
        <p:pic>
          <p:nvPicPr>
            <p:cNvPr id="3010" name="picture 301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6951" y="765861"/>
              <a:ext cx="122987" cy="168859"/>
            </a:xfrm>
            <a:prstGeom prst="rect">
              <a:avLst/>
            </a:prstGeom>
          </p:spPr>
        </p:pic>
      </p:grpSp>
      <p:grpSp>
        <p:nvGrpSpPr>
          <p:cNvPr id="190" name="group 190"/>
          <p:cNvGrpSpPr/>
          <p:nvPr/>
        </p:nvGrpSpPr>
        <p:grpSpPr>
          <a:xfrm rot="21600000">
            <a:off x="6228588" y="3659123"/>
            <a:ext cx="2699004" cy="2822447"/>
            <a:chOff x="0" y="0"/>
            <a:chExt cx="2699004" cy="2822447"/>
          </a:xfrm>
        </p:grpSpPr>
        <p:pic>
          <p:nvPicPr>
            <p:cNvPr id="3012" name="picture 3012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2699004" cy="2822447"/>
            </a:xfrm>
            <a:prstGeom prst="rect">
              <a:avLst/>
            </a:prstGeom>
          </p:spPr>
        </p:pic>
        <p:sp>
          <p:nvSpPr>
            <p:cNvPr id="3014" name="textbox 3014"/>
            <p:cNvSpPr/>
            <p:nvPr/>
          </p:nvSpPr>
          <p:spPr>
            <a:xfrm>
              <a:off x="-12700" y="-12700"/>
              <a:ext cx="2724785" cy="28587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6409" indent="-280034" algn="l" rtl="0" eaLnBrk="0">
                <a:lnSpc>
                  <a:spcPct val="107000"/>
                </a:lnSpc>
                <a:spcBef>
                  <a:spcPts val="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用于“社交销售／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学习／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脚本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”的平台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，帮助销售人员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或团队生成定制对话脚本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225" algn="l" rtl="0" eaLnBrk="0">
                <a:lnSpc>
                  <a:spcPct val="105000"/>
                </a:lnSpc>
                <a:spcBef>
                  <a:spcPts val="24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支持整合数据驱动内容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销售/客户互动效率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4000"/>
                </a:lnSpc>
                <a:spcBef>
                  <a:spcPts val="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https://getpenny.com/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16" name="picture 301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3903" y="1761540"/>
              <a:ext cx="122987" cy="168859"/>
            </a:xfrm>
            <a:prstGeom prst="rect">
              <a:avLst/>
            </a:prstGeom>
          </p:spPr>
        </p:pic>
        <p:pic>
          <p:nvPicPr>
            <p:cNvPr id="3018" name="picture 301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3903" y="1360220"/>
              <a:ext cx="122987" cy="168859"/>
            </a:xfrm>
            <a:prstGeom prst="rect">
              <a:avLst/>
            </a:prstGeom>
          </p:spPr>
        </p:pic>
        <p:pic>
          <p:nvPicPr>
            <p:cNvPr id="3020" name="picture 302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3903" y="758240"/>
              <a:ext cx="122987" cy="168859"/>
            </a:xfrm>
            <a:prstGeom prst="rect">
              <a:avLst/>
            </a:prstGeom>
          </p:spPr>
        </p:pic>
      </p:grpSp>
      <p:grpSp>
        <p:nvGrpSpPr>
          <p:cNvPr id="192" name="group 192"/>
          <p:cNvGrpSpPr/>
          <p:nvPr/>
        </p:nvGrpSpPr>
        <p:grpSpPr>
          <a:xfrm rot="21600000">
            <a:off x="3299459" y="830579"/>
            <a:ext cx="2705100" cy="2586228"/>
            <a:chOff x="0" y="0"/>
            <a:chExt cx="2705100" cy="2586228"/>
          </a:xfrm>
        </p:grpSpPr>
        <p:pic>
          <p:nvPicPr>
            <p:cNvPr id="3022" name="picture 3022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0"/>
              <a:ext cx="2705100" cy="2586228"/>
            </a:xfrm>
            <a:prstGeom prst="rect">
              <a:avLst/>
            </a:prstGeom>
          </p:spPr>
        </p:pic>
        <p:sp>
          <p:nvSpPr>
            <p:cNvPr id="3024" name="textbox 3024"/>
            <p:cNvSpPr/>
            <p:nvPr/>
          </p:nvSpPr>
          <p:spPr>
            <a:xfrm>
              <a:off x="-12700" y="-12700"/>
              <a:ext cx="2730500" cy="2623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775" indent="-276859" algn="l" rtl="0" eaLnBrk="0">
                <a:lnSpc>
                  <a:spcPct val="111000"/>
                </a:lnSpc>
                <a:spcBef>
                  <a:spcPts val="3"/>
                </a:spcBef>
                <a:tabLst>
                  <a:tab pos="33147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平台专注于“AI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驱动的股票预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测信号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面向零售交易者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投资顾问与机构用户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。分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析范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围超过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2,000 只股票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8129" algn="l" rtl="0" eaLnBrk="0">
                <a:lnSpc>
                  <a:spcPct val="105000"/>
                </a:lnSpc>
                <a:spcBef>
                  <a:spcPts val="100"/>
                </a:spcBef>
                <a:tabLst>
                  <a:tab pos="33147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强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调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性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号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不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点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——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目标是让用户（从散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户到机构）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能“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更快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”做出决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8915" algn="l" rtl="0" eaLnBrk="0">
                <a:lnSpc>
                  <a:spcPct val="105000"/>
                </a:lnSpc>
                <a:spcBef>
                  <a:spcPts val="109"/>
                </a:spcBef>
                <a:tabLst>
                  <a:tab pos="33147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https://sparktrade.io/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26" name="picture 3026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6316" y="2107234"/>
              <a:ext cx="122986" cy="168859"/>
            </a:xfrm>
            <a:prstGeom prst="rect">
              <a:avLst/>
            </a:prstGeom>
          </p:spPr>
        </p:pic>
        <p:pic>
          <p:nvPicPr>
            <p:cNvPr id="3028" name="picture 3028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6316" y="1304594"/>
              <a:ext cx="122986" cy="168859"/>
            </a:xfrm>
            <a:prstGeom prst="rect">
              <a:avLst/>
            </a:prstGeom>
          </p:spPr>
        </p:pic>
        <p:pic>
          <p:nvPicPr>
            <p:cNvPr id="3030" name="picture 303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6316" y="501955"/>
              <a:ext cx="122986" cy="168859"/>
            </a:xfrm>
            <a:prstGeom prst="rect">
              <a:avLst/>
            </a:prstGeom>
          </p:spPr>
        </p:pic>
      </p:grpSp>
      <p:grpSp>
        <p:nvGrpSpPr>
          <p:cNvPr id="194" name="group 194"/>
          <p:cNvGrpSpPr/>
          <p:nvPr/>
        </p:nvGrpSpPr>
        <p:grpSpPr>
          <a:xfrm rot="21600000">
            <a:off x="9154667" y="826007"/>
            <a:ext cx="2699004" cy="2587752"/>
            <a:chOff x="0" y="0"/>
            <a:chExt cx="2699004" cy="2587752"/>
          </a:xfrm>
        </p:grpSpPr>
        <p:pic>
          <p:nvPicPr>
            <p:cNvPr id="3032" name="picture 3032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0" y="0"/>
              <a:ext cx="2699004" cy="2587752"/>
            </a:xfrm>
            <a:prstGeom prst="rect">
              <a:avLst/>
            </a:prstGeom>
          </p:spPr>
        </p:pic>
        <p:sp>
          <p:nvSpPr>
            <p:cNvPr id="3034" name="textbox 3034"/>
            <p:cNvSpPr/>
            <p:nvPr/>
          </p:nvSpPr>
          <p:spPr>
            <a:xfrm>
              <a:off x="-12700" y="-12700"/>
              <a:ext cx="2724785" cy="2625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43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2600" indent="-276225" algn="l" rtl="0" eaLnBrk="0">
                <a:lnSpc>
                  <a:spcPct val="108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专注于财务／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会计自动化：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连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接全球数千家银行（ 15,000+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1200" kern="0" spc="2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17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,000+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机构）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以整合账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户数据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、提供自动分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类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、现金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流监控与预测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225" algn="l" rtl="0" eaLnBrk="0">
                <a:lnSpc>
                  <a:spcPct val="104000"/>
                </a:lnSpc>
                <a:spcBef>
                  <a:spcPts val="24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提供移动＋网页版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界面用户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友好，适合中小企业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、创业者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需简化账务流程的用户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0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https://www.fortune.a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pp/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36" name="picture 303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193903" y="2111807"/>
              <a:ext cx="122987" cy="168859"/>
            </a:xfrm>
            <a:prstGeom prst="rect">
              <a:avLst/>
            </a:prstGeom>
          </p:spPr>
        </p:pic>
        <p:pic>
          <p:nvPicPr>
            <p:cNvPr id="3038" name="picture 3038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3903" y="1509827"/>
              <a:ext cx="122987" cy="168859"/>
            </a:xfrm>
            <a:prstGeom prst="rect">
              <a:avLst/>
            </a:prstGeom>
          </p:spPr>
        </p:pic>
        <p:pic>
          <p:nvPicPr>
            <p:cNvPr id="3040" name="picture 3040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3903" y="506527"/>
              <a:ext cx="122987" cy="168859"/>
            </a:xfrm>
            <a:prstGeom prst="rect">
              <a:avLst/>
            </a:prstGeom>
          </p:spPr>
        </p:pic>
      </p:grpSp>
      <p:grpSp>
        <p:nvGrpSpPr>
          <p:cNvPr id="196" name="group 196"/>
          <p:cNvGrpSpPr/>
          <p:nvPr/>
        </p:nvGrpSpPr>
        <p:grpSpPr>
          <a:xfrm rot="21600000">
            <a:off x="376428" y="833628"/>
            <a:ext cx="2699004" cy="2580131"/>
            <a:chOff x="0" y="0"/>
            <a:chExt cx="2699004" cy="2580131"/>
          </a:xfrm>
        </p:grpSpPr>
        <p:pic>
          <p:nvPicPr>
            <p:cNvPr id="3042" name="picture 304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0" y="0"/>
              <a:ext cx="2699004" cy="2580131"/>
            </a:xfrm>
            <a:prstGeom prst="rect">
              <a:avLst/>
            </a:prstGeom>
          </p:spPr>
        </p:pic>
        <p:sp>
          <p:nvSpPr>
            <p:cNvPr id="3044" name="textbox 3044"/>
            <p:cNvSpPr/>
            <p:nvPr/>
          </p:nvSpPr>
          <p:spPr>
            <a:xfrm>
              <a:off x="-12700" y="-12700"/>
              <a:ext cx="2724785" cy="2616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09650" algn="l" rtl="0" eaLnBrk="0">
                <a:lnSpc>
                  <a:spcPts val="2282"/>
                </a:lnSpc>
                <a:spcBef>
                  <a:spcPts val="2"/>
                </a:spcBef>
                <a:tabLst/>
              </a:pPr>
              <a:r>
                <a:rPr sz="1700" b="1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Telescope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8765" algn="l" rtl="0" eaLnBrk="0">
                <a:lnSpc>
                  <a:spcPct val="106000"/>
                </a:lnSpc>
                <a:spcBef>
                  <a:spcPts val="1338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从</a:t>
              </a:r>
              <a:r>
                <a:rPr sz="1200" kern="0" spc="2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然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语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言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o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pt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投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资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组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baskets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）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”的功能，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输入主题即可让系统推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荐一篮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子相关资产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7495" algn="l" rtl="0" eaLnBrk="0">
                <a:lnSpc>
                  <a:spcPct val="104000"/>
                </a:lnSpc>
                <a:spcBef>
                  <a:spcPts val="237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内置“合规工具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”和“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审核机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制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”，帮助金融机构在生成 A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推荐时满足监管要求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5740" algn="l" rtl="0" eaLnBrk="0">
                <a:lnSpc>
                  <a:spcPct val="104000"/>
                </a:lnSpc>
                <a:spcBef>
                  <a:spcPts val="120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https://trytel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escope.ai/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46" name="picture 304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193268" y="2104186"/>
              <a:ext cx="122986" cy="168859"/>
            </a:xfrm>
            <a:prstGeom prst="rect">
              <a:avLst/>
            </a:prstGeom>
          </p:spPr>
        </p:pic>
        <p:pic>
          <p:nvPicPr>
            <p:cNvPr id="3048" name="picture 3048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193268" y="1502206"/>
              <a:ext cx="122986" cy="168859"/>
            </a:xfrm>
            <a:prstGeom prst="rect">
              <a:avLst/>
            </a:prstGeom>
          </p:spPr>
        </p:pic>
        <p:pic>
          <p:nvPicPr>
            <p:cNvPr id="3050" name="picture 3050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193268" y="498906"/>
              <a:ext cx="122986" cy="168859"/>
            </a:xfrm>
            <a:prstGeom prst="rect">
              <a:avLst/>
            </a:prstGeom>
          </p:spPr>
        </p:pic>
      </p:grpSp>
      <p:grpSp>
        <p:nvGrpSpPr>
          <p:cNvPr id="198" name="group 198"/>
          <p:cNvGrpSpPr/>
          <p:nvPr/>
        </p:nvGrpSpPr>
        <p:grpSpPr>
          <a:xfrm rot="21600000">
            <a:off x="6225540" y="853439"/>
            <a:ext cx="2705100" cy="2563368"/>
            <a:chOff x="0" y="0"/>
            <a:chExt cx="2705100" cy="2563368"/>
          </a:xfrm>
        </p:grpSpPr>
        <p:pic>
          <p:nvPicPr>
            <p:cNvPr id="3052" name="picture 3052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0" y="0"/>
              <a:ext cx="2705100" cy="2563368"/>
            </a:xfrm>
            <a:prstGeom prst="rect">
              <a:avLst/>
            </a:prstGeom>
          </p:spPr>
        </p:pic>
        <p:sp>
          <p:nvSpPr>
            <p:cNvPr id="3054" name="textbox 3054"/>
            <p:cNvSpPr/>
            <p:nvPr/>
          </p:nvSpPr>
          <p:spPr>
            <a:xfrm>
              <a:off x="-12700" y="-12700"/>
              <a:ext cx="2730500" cy="25996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652780" algn="l" rtl="0" eaLnBrk="0">
                <a:lnSpc>
                  <a:spcPts val="2282"/>
                </a:lnSpc>
                <a:spcBef>
                  <a:spcPts val="2"/>
                </a:spcBef>
                <a:tabLst/>
              </a:pPr>
              <a:r>
                <a:rPr sz="1700" b="1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GorillaTerminal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106000"/>
                </a:lnSpc>
                <a:spcBef>
                  <a:spcPts val="132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将“传统投资研究中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极为耗时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的工作（如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：盈余电话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会议情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绪分析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、宏观经济指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标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、供应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链分析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、财务表格剖析）用 AI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加速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6000"/>
                </a:lnSpc>
                <a:spcBef>
                  <a:spcPts val="23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丰富的数据覆盖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+高级分析工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：例如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回归分析  、 “价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值-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at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-风险</a:t>
              </a:r>
              <a:r>
                <a:rPr sz="1200" kern="0" spc="4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(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VaR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)</a:t>
              </a:r>
              <a:r>
                <a:rPr sz="1200" kern="0" spc="2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分析 ”、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“行业概览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0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https://gorillat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erminal.com/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56" name="picture 3056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 rot="21600000">
              <a:off x="196951" y="2285034"/>
              <a:ext cx="122987" cy="168859"/>
            </a:xfrm>
            <a:prstGeom prst="rect">
              <a:avLst/>
            </a:prstGeom>
          </p:spPr>
        </p:pic>
        <p:pic>
          <p:nvPicPr>
            <p:cNvPr id="3058" name="picture 305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 rot="21600000">
              <a:off x="196951" y="1482395"/>
              <a:ext cx="122987" cy="168859"/>
            </a:xfrm>
            <a:prstGeom prst="rect">
              <a:avLst/>
            </a:prstGeom>
          </p:spPr>
        </p:pic>
        <p:pic>
          <p:nvPicPr>
            <p:cNvPr id="3060" name="picture 3060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21600000">
              <a:off x="196951" y="479095"/>
              <a:ext cx="122987" cy="168859"/>
            </a:xfrm>
            <a:prstGeom prst="rect">
              <a:avLst/>
            </a:prstGeom>
          </p:spPr>
        </p:pic>
      </p:grpSp>
      <p:pic>
        <p:nvPicPr>
          <p:cNvPr id="3062" name="picture 306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064" name="textbox 3064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AI金融工具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200"/>
          <p:cNvGrpSpPr/>
          <p:nvPr/>
        </p:nvGrpSpPr>
        <p:grpSpPr>
          <a:xfrm rot="21600000">
            <a:off x="376428" y="864107"/>
            <a:ext cx="2699004" cy="2886456"/>
            <a:chOff x="0" y="0"/>
            <a:chExt cx="2699004" cy="2886456"/>
          </a:xfrm>
        </p:grpSpPr>
        <p:pic>
          <p:nvPicPr>
            <p:cNvPr id="3066" name="picture 30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699004" cy="2886456"/>
            </a:xfrm>
            <a:prstGeom prst="rect">
              <a:avLst/>
            </a:prstGeom>
          </p:spPr>
        </p:pic>
        <p:sp>
          <p:nvSpPr>
            <p:cNvPr id="3068" name="textbox 3068"/>
            <p:cNvSpPr/>
            <p:nvPr/>
          </p:nvSpPr>
          <p:spPr>
            <a:xfrm>
              <a:off x="-12700" y="-12700"/>
              <a:ext cx="2724785" cy="2923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234" indent="-276859" algn="l" rtl="0" eaLnBrk="0">
                <a:lnSpc>
                  <a:spcPct val="105000"/>
                </a:lnSpc>
                <a:spcBef>
                  <a:spcPts val="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以自研大模型“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百目魔君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”为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核心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，构建覆盖问诊-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诊疗-用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药-护理的宠物全生命周期健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康管理生态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6859" algn="l" rtl="0" eaLnBrk="0">
                <a:lnSpc>
                  <a:spcPct val="109000"/>
                </a:lnSpc>
                <a:spcBef>
                  <a:spcPts val="14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支持多模态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问诊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，像真实兽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医一样 ，结合宠物的品种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、年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龄 、病史等信息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，通过多轮问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答逐步缩小范围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，精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准定位病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因，提供个性化的解决方案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https://www.vetmew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70" name="picture 307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3903" y="2428037"/>
              <a:ext cx="122986" cy="168859"/>
            </a:xfrm>
            <a:prstGeom prst="rect">
              <a:avLst/>
            </a:prstGeom>
          </p:spPr>
        </p:pic>
        <p:pic>
          <p:nvPicPr>
            <p:cNvPr id="3072" name="picture 307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3903" y="1424737"/>
              <a:ext cx="122986" cy="168859"/>
            </a:xfrm>
            <a:prstGeom prst="rect">
              <a:avLst/>
            </a:prstGeom>
          </p:spPr>
        </p:pic>
        <p:pic>
          <p:nvPicPr>
            <p:cNvPr id="3074" name="picture 30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3903" y="622096"/>
              <a:ext cx="122986" cy="168859"/>
            </a:xfrm>
            <a:prstGeom prst="rect">
              <a:avLst/>
            </a:prstGeom>
          </p:spPr>
        </p:pic>
      </p:grpSp>
      <p:grpSp>
        <p:nvGrpSpPr>
          <p:cNvPr id="202" name="group 202"/>
          <p:cNvGrpSpPr/>
          <p:nvPr/>
        </p:nvGrpSpPr>
        <p:grpSpPr>
          <a:xfrm rot="21600000">
            <a:off x="3302508" y="3787140"/>
            <a:ext cx="2699003" cy="2884931"/>
            <a:chOff x="0" y="0"/>
            <a:chExt cx="2699003" cy="2884931"/>
          </a:xfrm>
        </p:grpSpPr>
        <p:pic>
          <p:nvPicPr>
            <p:cNvPr id="3076" name="picture 307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699003" cy="2884931"/>
            </a:xfrm>
            <a:prstGeom prst="rect">
              <a:avLst/>
            </a:prstGeom>
          </p:spPr>
        </p:pic>
        <p:sp>
          <p:nvSpPr>
            <p:cNvPr id="3078" name="textbox 3078"/>
            <p:cNvSpPr/>
            <p:nvPr/>
          </p:nvSpPr>
          <p:spPr>
            <a:xfrm>
              <a:off x="-12700" y="-12700"/>
              <a:ext cx="2724785" cy="29222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03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3869" indent="-278129" algn="l" rtl="0" eaLnBrk="0">
                <a:lnSpc>
                  <a:spcPct val="108000"/>
                </a:lnSpc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通过分析全球超过</a:t>
              </a:r>
              <a:r>
                <a:rPr sz="1200" kern="0" spc="3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100</a:t>
              </a:r>
              <a:r>
                <a:rPr sz="1200" kern="0" spc="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万种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犬类行为数据，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能够精准识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别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宠物狗的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12 种不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同情绪状态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涵盖从快乐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、恐惧等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基本情绪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到更细微的情感变化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859" algn="l" rtl="0" eaLnBrk="0">
                <a:lnSpc>
                  <a:spcPct val="105000"/>
                </a:lnSpc>
                <a:spcBef>
                  <a:spcPts val="256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根据不同宠物和主人的需求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提供个性化的训练计划和服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务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推荐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，满足了宠物主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的多样化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5740" algn="l" rtl="0" eaLnBrk="0">
                <a:lnSpc>
                  <a:spcPct val="105000"/>
                </a:lnSpc>
                <a:spcBef>
                  <a:spcPts val="120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https://t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raini.app/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80" name="picture 308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3268" y="2618409"/>
              <a:ext cx="122986" cy="168859"/>
            </a:xfrm>
            <a:prstGeom prst="rect">
              <a:avLst/>
            </a:prstGeom>
          </p:spPr>
        </p:pic>
        <p:pic>
          <p:nvPicPr>
            <p:cNvPr id="3082" name="picture 308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3268" y="1815769"/>
              <a:ext cx="122986" cy="168859"/>
            </a:xfrm>
            <a:prstGeom prst="rect">
              <a:avLst/>
            </a:prstGeom>
          </p:spPr>
        </p:pic>
        <p:pic>
          <p:nvPicPr>
            <p:cNvPr id="3084" name="picture 308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3268" y="812469"/>
              <a:ext cx="122986" cy="168859"/>
            </a:xfrm>
            <a:prstGeom prst="rect">
              <a:avLst/>
            </a:prstGeom>
          </p:spPr>
        </p:pic>
      </p:grpSp>
      <p:grpSp>
        <p:nvGrpSpPr>
          <p:cNvPr id="204" name="group 204"/>
          <p:cNvGrpSpPr/>
          <p:nvPr/>
        </p:nvGrpSpPr>
        <p:grpSpPr>
          <a:xfrm rot="21600000">
            <a:off x="3299459" y="877823"/>
            <a:ext cx="2705100" cy="2875787"/>
            <a:chOff x="0" y="0"/>
            <a:chExt cx="2705100" cy="2875787"/>
          </a:xfrm>
        </p:grpSpPr>
        <p:pic>
          <p:nvPicPr>
            <p:cNvPr id="3086" name="picture 308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2705100" cy="2875787"/>
            </a:xfrm>
            <a:prstGeom prst="rect">
              <a:avLst/>
            </a:prstGeom>
          </p:spPr>
        </p:pic>
        <p:sp>
          <p:nvSpPr>
            <p:cNvPr id="3088" name="textbox 3088"/>
            <p:cNvSpPr/>
            <p:nvPr/>
          </p:nvSpPr>
          <p:spPr>
            <a:xfrm>
              <a:off x="-12700" y="-12700"/>
              <a:ext cx="2730500" cy="29121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044" indent="-277495" algn="l" rtl="0" eaLnBrk="0">
                <a:lnSpc>
                  <a:spcPct val="107000"/>
                </a:lnSpc>
                <a:spcBef>
                  <a:spcPts val="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向宠物行业商家提供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行微调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、推理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、定制等全方位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功能与服务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10000"/>
                </a:lnSpc>
                <a:spcBef>
                  <a:spcPts val="9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提供拟人化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问诊与问答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、结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构化信息抽取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、智能诊断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宠物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体况图片识别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、宠物就医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指导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宠物日常护理指导等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服务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方位保障企业级AI应用落地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7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https://www.gjpet.com/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090" name="picture 309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6951" y="2213661"/>
              <a:ext cx="122986" cy="168859"/>
            </a:xfrm>
            <a:prstGeom prst="rect">
              <a:avLst/>
            </a:prstGeom>
          </p:spPr>
        </p:pic>
        <p:pic>
          <p:nvPicPr>
            <p:cNvPr id="3092" name="picture 309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6951" y="1210361"/>
              <a:ext cx="122986" cy="168859"/>
            </a:xfrm>
            <a:prstGeom prst="rect">
              <a:avLst/>
            </a:prstGeom>
          </p:spPr>
        </p:pic>
        <p:pic>
          <p:nvPicPr>
            <p:cNvPr id="3094" name="picture 309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6951" y="608380"/>
              <a:ext cx="122986" cy="168859"/>
            </a:xfrm>
            <a:prstGeom prst="rect">
              <a:avLst/>
            </a:prstGeom>
          </p:spPr>
        </p:pic>
      </p:grpSp>
      <p:pic>
        <p:nvPicPr>
          <p:cNvPr id="3096" name="picture 309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225540" y="947927"/>
            <a:ext cx="2705100" cy="2805683"/>
          </a:xfrm>
          <a:prstGeom prst="rect">
            <a:avLst/>
          </a:prstGeom>
        </p:spPr>
      </p:pic>
      <p:pic>
        <p:nvPicPr>
          <p:cNvPr id="3098" name="picture 309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9151619" y="3884676"/>
            <a:ext cx="2705100" cy="2790443"/>
          </a:xfrm>
          <a:prstGeom prst="rect">
            <a:avLst/>
          </a:prstGeom>
        </p:spPr>
      </p:pic>
      <p:pic>
        <p:nvPicPr>
          <p:cNvPr id="3100" name="picture 310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9154667" y="958596"/>
            <a:ext cx="2699004" cy="2791967"/>
          </a:xfrm>
          <a:prstGeom prst="rect">
            <a:avLst/>
          </a:prstGeom>
        </p:spPr>
      </p:pic>
      <p:grpSp>
        <p:nvGrpSpPr>
          <p:cNvPr id="206" name="group 206"/>
          <p:cNvGrpSpPr/>
          <p:nvPr/>
        </p:nvGrpSpPr>
        <p:grpSpPr>
          <a:xfrm rot="21600000">
            <a:off x="6228588" y="3930395"/>
            <a:ext cx="2699004" cy="2741675"/>
            <a:chOff x="0" y="0"/>
            <a:chExt cx="2699004" cy="2741675"/>
          </a:xfrm>
        </p:grpSpPr>
        <p:pic>
          <p:nvPicPr>
            <p:cNvPr id="3102" name="picture 310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220979"/>
              <a:ext cx="2699004" cy="2520696"/>
            </a:xfrm>
            <a:prstGeom prst="rect">
              <a:avLst/>
            </a:prstGeom>
          </p:spPr>
        </p:pic>
        <p:sp>
          <p:nvSpPr>
            <p:cNvPr id="3104" name="textbox 3104"/>
            <p:cNvSpPr/>
            <p:nvPr/>
          </p:nvSpPr>
          <p:spPr>
            <a:xfrm>
              <a:off x="-12700" y="-12700"/>
              <a:ext cx="2724785" cy="2778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86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5925" algn="l" rtl="0" eaLnBrk="0">
                <a:lnSpc>
                  <a:spcPct val="85000"/>
                </a:lnSpc>
                <a:tabLst/>
              </a:pPr>
              <a:r>
                <a:rPr sz="3700" kern="0" spc="930" dirty="0">
                  <a:solidFill>
                    <a:srgbClr val="B8899D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ses</a:t>
              </a:r>
              <a:r>
                <a:rPr sz="3700" kern="0" spc="-800" dirty="0">
                  <a:solidFill>
                    <a:srgbClr val="B8899D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700" kern="0" spc="-200" dirty="0">
                  <a:solidFill>
                    <a:srgbClr val="B8899D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terai</a:t>
              </a:r>
              <a:endParaRPr sz="3700" dirty="0">
                <a:latin typeface="Arial"/>
                <a:ea typeface="Arial"/>
                <a:cs typeface="Arial"/>
              </a:endParaRPr>
            </a:p>
            <a:p>
              <a:pPr marL="483234" indent="-277495" algn="l" rtl="0" eaLnBrk="0">
                <a:lnSpc>
                  <a:spcPct val="107000"/>
                </a:lnSpc>
                <a:spcBef>
                  <a:spcPts val="1353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分析家养短毛猫的面部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表情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，评估其是否处于疼痛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焦虑或痛苦状态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8765" algn="l" rtl="0" eaLnBrk="0">
                <a:lnSpc>
                  <a:spcPct val="110000"/>
                </a:lnSpc>
                <a:spcBef>
                  <a:spcPts val="87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基于视觉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，将日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常照片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转化为健康评估数据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，通过为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诊所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，平台和宠物主人提供可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靠的，基于AI的洞察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5740" algn="l" rtl="0" eaLnBrk="0">
                <a:lnSpc>
                  <a:spcPct val="104000"/>
                </a:lnSpc>
                <a:spcBef>
                  <a:spcPts val="7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https://www.sylve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ster.ai/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106" name="picture 310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3268" y="2073833"/>
              <a:ext cx="122986" cy="168859"/>
            </a:xfrm>
            <a:prstGeom prst="rect">
              <a:avLst/>
            </a:prstGeom>
          </p:spPr>
        </p:pic>
        <p:pic>
          <p:nvPicPr>
            <p:cNvPr id="3108" name="picture 3108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3268" y="1271193"/>
              <a:ext cx="122986" cy="168859"/>
            </a:xfrm>
            <a:prstGeom prst="rect">
              <a:avLst/>
            </a:prstGeom>
          </p:spPr>
        </p:pic>
        <p:pic>
          <p:nvPicPr>
            <p:cNvPr id="3110" name="picture 3110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3268" y="669213"/>
              <a:ext cx="122986" cy="168859"/>
            </a:xfrm>
            <a:prstGeom prst="rect">
              <a:avLst/>
            </a:prstGeom>
          </p:spPr>
        </p:pic>
      </p:grpSp>
      <p:pic>
        <p:nvPicPr>
          <p:cNvPr id="3112" name="picture 311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373379" y="3973068"/>
            <a:ext cx="2705100" cy="2702051"/>
          </a:xfrm>
          <a:prstGeom prst="rect">
            <a:avLst/>
          </a:prstGeom>
        </p:spPr>
      </p:pic>
      <p:pic>
        <p:nvPicPr>
          <p:cNvPr id="3114" name="picture 3114">
            <a:hlinkClick r:id="rId27" action="ppaction://hlinkfile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335769" y="3077845"/>
            <a:ext cx="2337434" cy="401320"/>
          </a:xfrm>
          <a:prstGeom prst="rect">
            <a:avLst/>
          </a:prstGeom>
        </p:spPr>
      </p:pic>
      <p:sp>
        <p:nvSpPr>
          <p:cNvPr id="3116" name="textbox 3116"/>
          <p:cNvSpPr/>
          <p:nvPr/>
        </p:nvSpPr>
        <p:spPr>
          <a:xfrm>
            <a:off x="9335871" y="1014729"/>
            <a:ext cx="2350135" cy="2513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52830" algn="l" rtl="0" eaLnBrk="0">
              <a:lnSpc>
                <a:spcPct val="86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艾宠易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07000"/>
              </a:lnSpc>
              <a:spcBef>
                <a:spcPts val="36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用户可上传宠物图片或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录制声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音，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APP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技术识别宠物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情绪/行为意图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。持续优化AI识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别模型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，扩大可识别的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宠物的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视频场景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，提升识别准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确率和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速度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97000"/>
              </a:lnSpc>
              <a:spcBef>
                <a:spcPts val="24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探索结合识别结果提供更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个性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化的健康建议或行为解读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4640" indent="-281940" algn="l" rtl="0" eaLnBrk="0">
              <a:lnSpc>
                <a:spcPct val="117000"/>
              </a:lnSpc>
              <a:spcBef>
                <a:spcPts val="23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https://www.hncj.com/sjrj/1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59160.html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18" name="picture 311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348571" y="3091484"/>
            <a:ext cx="122987" cy="168859"/>
          </a:xfrm>
          <a:prstGeom prst="rect">
            <a:avLst/>
          </a:prstGeom>
        </p:spPr>
      </p:pic>
      <p:pic>
        <p:nvPicPr>
          <p:cNvPr id="3120" name="picture 312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348571" y="2690164"/>
            <a:ext cx="122987" cy="168859"/>
          </a:xfrm>
          <a:prstGeom prst="rect">
            <a:avLst/>
          </a:prstGeom>
        </p:spPr>
      </p:pic>
      <p:pic>
        <p:nvPicPr>
          <p:cNvPr id="3122" name="picture 312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9348571" y="1486204"/>
            <a:ext cx="122987" cy="168859"/>
          </a:xfrm>
          <a:prstGeom prst="rect">
            <a:avLst/>
          </a:prstGeom>
        </p:spPr>
      </p:pic>
      <p:pic>
        <p:nvPicPr>
          <p:cNvPr id="3124" name="picture 3124">
            <a:hlinkClick r:id="rId33" action="ppaction://hlinkfile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409690" y="3278505"/>
            <a:ext cx="2338704" cy="401319"/>
          </a:xfrm>
          <a:prstGeom prst="rect">
            <a:avLst/>
          </a:prstGeom>
        </p:spPr>
      </p:pic>
      <p:sp>
        <p:nvSpPr>
          <p:cNvPr id="3126" name="textbox 3126"/>
          <p:cNvSpPr/>
          <p:nvPr/>
        </p:nvSpPr>
        <p:spPr>
          <a:xfrm>
            <a:off x="6409791" y="1455673"/>
            <a:ext cx="2351404" cy="2255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72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借助多模态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为爱宠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提供翻译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、识别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、问诊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、百科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等服务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。打造全链路智能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养宠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，其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核心能力覆盖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健康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评估 、行为解析与矫正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、科学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营养管理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4000"/>
              </a:lnSpc>
              <a:spcBef>
                <a:spcPts val="24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旨在通过数据驱动帮助宠物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实现从“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经验养宠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”到“科学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养宠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”的跨越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10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https://www.foresightx.com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28" name="picture 312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422491" y="3292144"/>
            <a:ext cx="122987" cy="168859"/>
          </a:xfrm>
          <a:prstGeom prst="rect">
            <a:avLst/>
          </a:prstGeom>
        </p:spPr>
      </p:pic>
      <p:pic>
        <p:nvPicPr>
          <p:cNvPr id="3130" name="picture 313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6422491" y="2690164"/>
            <a:ext cx="122987" cy="168859"/>
          </a:xfrm>
          <a:prstGeom prst="rect">
            <a:avLst/>
          </a:prstGeom>
        </p:spPr>
      </p:pic>
      <p:pic>
        <p:nvPicPr>
          <p:cNvPr id="3132" name="picture 313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6422491" y="1486204"/>
            <a:ext cx="122987" cy="168859"/>
          </a:xfrm>
          <a:prstGeom prst="rect">
            <a:avLst/>
          </a:prstGeom>
        </p:spPr>
      </p:pic>
      <p:pic>
        <p:nvPicPr>
          <p:cNvPr id="3134" name="picture 3134">
            <a:hlinkClick r:id="rId28" action="ppaction://hlinkfile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9335769" y="5789929"/>
            <a:ext cx="2337434" cy="401319"/>
          </a:xfrm>
          <a:prstGeom prst="rect">
            <a:avLst/>
          </a:prstGeom>
        </p:spPr>
      </p:pic>
      <p:sp>
        <p:nvSpPr>
          <p:cNvPr id="3136" name="textbox 3136"/>
          <p:cNvSpPr/>
          <p:nvPr/>
        </p:nvSpPr>
        <p:spPr>
          <a:xfrm>
            <a:off x="9335871" y="4586909"/>
            <a:ext cx="2399664" cy="1635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围绕养宠人群建立的宠物社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区，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能通过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GC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大模型为宠主提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供养宠技巧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、测评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实时问答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等内容，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同时用户之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间能够进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行互动交流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，建立共同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话题及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需求，增加粘性，促进转化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3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shenzhenjuhe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38" name="picture 313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9348571" y="5803569"/>
            <a:ext cx="122987" cy="168859"/>
          </a:xfrm>
          <a:prstGeom prst="rect">
            <a:avLst/>
          </a:prstGeom>
        </p:spPr>
      </p:pic>
      <p:pic>
        <p:nvPicPr>
          <p:cNvPr id="3140" name="picture 314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348571" y="4599609"/>
            <a:ext cx="122987" cy="168859"/>
          </a:xfrm>
          <a:prstGeom prst="rect">
            <a:avLst/>
          </a:prstGeom>
        </p:spPr>
      </p:pic>
      <p:sp>
        <p:nvSpPr>
          <p:cNvPr id="3142" name="textbox 3142"/>
          <p:cNvSpPr/>
          <p:nvPr/>
        </p:nvSpPr>
        <p:spPr>
          <a:xfrm>
            <a:off x="834390" y="4569078"/>
            <a:ext cx="2122804" cy="1211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02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打造虚拟陪伴宠物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——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AOFI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能感知主人的情绪状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态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，并通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过不同的声音和动作进行回应，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建立深层次的情感连接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5240" indent="-1905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1800" kern="0" spc="-2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通过AI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800" kern="0" spc="-2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法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2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人的行为模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式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，逐渐形成独特的个性和互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44" name="picture 314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1988922" y="5337623"/>
            <a:ext cx="167792" cy="225180"/>
          </a:xfrm>
          <a:prstGeom prst="rect">
            <a:avLst/>
          </a:prstGeom>
        </p:spPr>
      </p:pic>
      <p:pic>
        <p:nvPicPr>
          <p:cNvPr id="3146" name="picture 314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1826692" y="5340382"/>
            <a:ext cx="154304" cy="224543"/>
          </a:xfrm>
          <a:prstGeom prst="rect">
            <a:avLst/>
          </a:prstGeom>
        </p:spPr>
      </p:pic>
      <p:pic>
        <p:nvPicPr>
          <p:cNvPr id="3148" name="picture 314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1607236" y="5321490"/>
            <a:ext cx="219455" cy="245700"/>
          </a:xfrm>
          <a:prstGeom prst="rect">
            <a:avLst/>
          </a:prstGeom>
        </p:spPr>
      </p:pic>
      <p:pic>
        <p:nvPicPr>
          <p:cNvPr id="3150" name="picture 315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297838" y="5323613"/>
            <a:ext cx="237134" cy="247681"/>
          </a:xfrm>
          <a:prstGeom prst="rect">
            <a:avLst/>
          </a:prstGeom>
        </p:spPr>
      </p:pic>
      <p:pic>
        <p:nvPicPr>
          <p:cNvPr id="3152" name="picture 315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154" name="textbox 3154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AI宠物生活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56" name="textbox 3156"/>
          <p:cNvSpPr/>
          <p:nvPr/>
        </p:nvSpPr>
        <p:spPr>
          <a:xfrm>
            <a:off x="557631" y="5801080"/>
            <a:ext cx="2279650" cy="403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80670" algn="l" rtl="0" eaLnBrk="0">
              <a:lnSpc>
                <a:spcPct val="100000"/>
              </a:lnSpc>
              <a:tabLst>
                <a:tab pos="135254" algn="l"/>
              </a:tabLst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动方式，成为真正的专属伙伴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https://aofi-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pet.com/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58" name="picture 315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570331" y="6004229"/>
            <a:ext cx="122986" cy="168859"/>
          </a:xfrm>
          <a:prstGeom prst="rect">
            <a:avLst/>
          </a:prstGeom>
        </p:spPr>
      </p:pic>
      <p:sp>
        <p:nvSpPr>
          <p:cNvPr id="3160" name="textbox 3160"/>
          <p:cNvSpPr/>
          <p:nvPr/>
        </p:nvSpPr>
        <p:spPr>
          <a:xfrm>
            <a:off x="557631" y="4586909"/>
            <a:ext cx="148589" cy="100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endParaRPr sz="12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endParaRPr sz="1200" dirty="0">
              <a:latin typeface="MS Gothic"/>
              <a:ea typeface="MS Gothic"/>
              <a:cs typeface="MS Gothic"/>
            </a:endParaRPr>
          </a:p>
        </p:txBody>
      </p:sp>
      <p:pic>
        <p:nvPicPr>
          <p:cNvPr id="3162" name="picture 316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570331" y="5402249"/>
            <a:ext cx="122986" cy="168859"/>
          </a:xfrm>
          <a:prstGeom prst="rect">
            <a:avLst/>
          </a:prstGeom>
        </p:spPr>
      </p:pic>
      <p:pic>
        <p:nvPicPr>
          <p:cNvPr id="3164" name="picture 316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70331" y="4599609"/>
            <a:ext cx="122986" cy="16885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208"/>
          <p:cNvGrpSpPr/>
          <p:nvPr/>
        </p:nvGrpSpPr>
        <p:grpSpPr>
          <a:xfrm rot="21600000">
            <a:off x="365759" y="3720084"/>
            <a:ext cx="2705100" cy="2887980"/>
            <a:chOff x="0" y="0"/>
            <a:chExt cx="2705100" cy="2887980"/>
          </a:xfrm>
        </p:grpSpPr>
        <p:pic>
          <p:nvPicPr>
            <p:cNvPr id="3166" name="picture 31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5100" cy="2887980"/>
            </a:xfrm>
            <a:prstGeom prst="rect">
              <a:avLst/>
            </a:prstGeom>
          </p:spPr>
        </p:pic>
        <p:sp>
          <p:nvSpPr>
            <p:cNvPr id="3168" name="textbox 3168"/>
            <p:cNvSpPr/>
            <p:nvPr/>
          </p:nvSpPr>
          <p:spPr>
            <a:xfrm>
              <a:off x="-12700" y="-12700"/>
              <a:ext cx="2730500" cy="29248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6409" indent="-276859" algn="l" rtl="0" eaLnBrk="0">
                <a:lnSpc>
                  <a:spcPct val="107000"/>
                </a:lnSpc>
                <a:spcBef>
                  <a:spcPts val="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能力体现在权威且可追溯的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微量营养素追踪上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。数据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库对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接美国农业部等官方机构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9584" indent="-280034" algn="l" rtl="0" eaLnBrk="0">
                <a:lnSpc>
                  <a:spcPct val="104000"/>
                </a:lnSpc>
                <a:spcBef>
                  <a:spcPts val="84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适合有医疗辅助需求的专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士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、慢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病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孕妇等特殊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人群进行深度的膳食分析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https://cr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onometer.com/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170" name="picture 317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6951" y="2013000"/>
              <a:ext cx="122986" cy="168859"/>
            </a:xfrm>
            <a:prstGeom prst="rect">
              <a:avLst/>
            </a:prstGeom>
          </p:spPr>
        </p:pic>
        <p:pic>
          <p:nvPicPr>
            <p:cNvPr id="3172" name="picture 317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6951" y="1334820"/>
              <a:ext cx="122986" cy="168859"/>
            </a:xfrm>
            <a:prstGeom prst="rect">
              <a:avLst/>
            </a:prstGeom>
          </p:spPr>
        </p:pic>
        <p:pic>
          <p:nvPicPr>
            <p:cNvPr id="3174" name="picture 31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647672" y="1517776"/>
              <a:ext cx="167792" cy="181736"/>
            </a:xfrm>
            <a:prstGeom prst="rect">
              <a:avLst/>
            </a:prstGeom>
          </p:spPr>
        </p:pic>
        <p:pic>
          <p:nvPicPr>
            <p:cNvPr id="3176" name="picture 317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485442" y="1520748"/>
              <a:ext cx="154939" cy="166522"/>
            </a:xfrm>
            <a:prstGeom prst="rect">
              <a:avLst/>
            </a:prstGeom>
          </p:spPr>
        </p:pic>
        <p:pic>
          <p:nvPicPr>
            <p:cNvPr id="3178" name="picture 317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265986" y="1500403"/>
              <a:ext cx="219455" cy="209169"/>
            </a:xfrm>
            <a:prstGeom prst="rect">
              <a:avLst/>
            </a:prstGeom>
          </p:spPr>
        </p:pic>
        <p:pic>
          <p:nvPicPr>
            <p:cNvPr id="3180" name="picture 318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951179" y="1502689"/>
              <a:ext cx="237718" cy="203225"/>
            </a:xfrm>
            <a:prstGeom prst="rect">
              <a:avLst/>
            </a:prstGeom>
          </p:spPr>
        </p:pic>
        <p:pic>
          <p:nvPicPr>
            <p:cNvPr id="3182" name="picture 318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6951" y="656640"/>
              <a:ext cx="122986" cy="168859"/>
            </a:xfrm>
            <a:prstGeom prst="rect">
              <a:avLst/>
            </a:prstGeom>
          </p:spPr>
        </p:pic>
      </p:grpSp>
      <p:grpSp>
        <p:nvGrpSpPr>
          <p:cNvPr id="210" name="group 210"/>
          <p:cNvGrpSpPr/>
          <p:nvPr/>
        </p:nvGrpSpPr>
        <p:grpSpPr>
          <a:xfrm rot="21600000">
            <a:off x="3294888" y="3761231"/>
            <a:ext cx="2699004" cy="2843784"/>
            <a:chOff x="0" y="0"/>
            <a:chExt cx="2699004" cy="2843784"/>
          </a:xfrm>
        </p:grpSpPr>
        <p:pic>
          <p:nvPicPr>
            <p:cNvPr id="3184" name="picture 318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2699004" cy="2843784"/>
            </a:xfrm>
            <a:prstGeom prst="rect">
              <a:avLst/>
            </a:prstGeom>
          </p:spPr>
        </p:pic>
        <p:sp>
          <p:nvSpPr>
            <p:cNvPr id="3186" name="textbox 3186"/>
            <p:cNvSpPr/>
            <p:nvPr/>
          </p:nvSpPr>
          <p:spPr>
            <a:xfrm>
              <a:off x="-12700" y="-12700"/>
              <a:ext cx="2724785" cy="28809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869" indent="-277495" algn="l" rtl="0" eaLnBrk="0">
                <a:lnSpc>
                  <a:spcPct val="106000"/>
                </a:lnSpc>
                <a:spcBef>
                  <a:spcPts val="5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ZEEP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个人数字化健康管理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。通过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与智能穿戴设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结合，提供全天候的心率监测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睡眠分析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、运动记录与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健康评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估服务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7495" algn="l" rtl="0" eaLnBrk="0">
                <a:lnSpc>
                  <a:spcPct val="108000"/>
                </a:lnSpc>
                <a:spcBef>
                  <a:spcPts val="71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利用AI算法深度解读身体数据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采用大型语言模型（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LLM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以识别自然语言描述，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人般互动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https://www.zep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p.com/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188" name="picture 318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3903" y="2573833"/>
              <a:ext cx="122986" cy="168859"/>
            </a:xfrm>
            <a:prstGeom prst="rect">
              <a:avLst/>
            </a:prstGeom>
          </p:spPr>
        </p:pic>
        <p:pic>
          <p:nvPicPr>
            <p:cNvPr id="3190" name="picture 319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3903" y="1694992"/>
              <a:ext cx="122986" cy="168859"/>
            </a:xfrm>
            <a:prstGeom prst="rect">
              <a:avLst/>
            </a:prstGeom>
          </p:spPr>
        </p:pic>
        <p:pic>
          <p:nvPicPr>
            <p:cNvPr id="3192" name="picture 319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3903" y="615492"/>
              <a:ext cx="122986" cy="168859"/>
            </a:xfrm>
            <a:prstGeom prst="rect">
              <a:avLst/>
            </a:prstGeom>
          </p:spPr>
        </p:pic>
      </p:grpSp>
      <p:grpSp>
        <p:nvGrpSpPr>
          <p:cNvPr id="212" name="group 212"/>
          <p:cNvGrpSpPr/>
          <p:nvPr/>
        </p:nvGrpSpPr>
        <p:grpSpPr>
          <a:xfrm rot="21600000">
            <a:off x="3291840" y="784859"/>
            <a:ext cx="2705100" cy="2796540"/>
            <a:chOff x="0" y="0"/>
            <a:chExt cx="2705100" cy="2796540"/>
          </a:xfrm>
        </p:grpSpPr>
        <p:pic>
          <p:nvPicPr>
            <p:cNvPr id="3194" name="picture 319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705100" cy="2796540"/>
            </a:xfrm>
            <a:prstGeom prst="rect">
              <a:avLst/>
            </a:prstGeom>
          </p:spPr>
        </p:pic>
        <p:sp>
          <p:nvSpPr>
            <p:cNvPr id="3196" name="textbox 3196"/>
            <p:cNvSpPr/>
            <p:nvPr/>
          </p:nvSpPr>
          <p:spPr>
            <a:xfrm>
              <a:off x="-12700" y="-12700"/>
              <a:ext cx="2730500" cy="28327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81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7680" indent="-278129" algn="l" rtl="0" eaLnBrk="0">
                <a:lnSpc>
                  <a:spcPct val="105000"/>
                </a:lnSpc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多智能体协作架构，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且精专的个性化健身指导 ，根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据用户体能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、动作完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成度动态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调整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06000"/>
                </a:lnSpc>
                <a:spcBef>
                  <a:spcPts val="86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模拟顶级私教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，打造沉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浸式交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互体验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智能交互系统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人教练双向赋能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，突破时空限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，让科学健身成为可持续的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生活方式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http://bodyp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ark.com.cn/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198" name="picture 3198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6951" y="2545384"/>
              <a:ext cx="122986" cy="168859"/>
            </a:xfrm>
            <a:prstGeom prst="rect">
              <a:avLst/>
            </a:prstGeom>
          </p:spPr>
        </p:pic>
        <p:pic>
          <p:nvPicPr>
            <p:cNvPr id="3200" name="picture 320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6951" y="1465884"/>
              <a:ext cx="122986" cy="168859"/>
            </a:xfrm>
            <a:prstGeom prst="rect">
              <a:avLst/>
            </a:prstGeom>
          </p:spPr>
        </p:pic>
        <p:pic>
          <p:nvPicPr>
            <p:cNvPr id="3202" name="picture 320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6951" y="587044"/>
              <a:ext cx="122986" cy="168859"/>
            </a:xfrm>
            <a:prstGeom prst="rect">
              <a:avLst/>
            </a:prstGeom>
          </p:spPr>
        </p:pic>
      </p:grpSp>
      <p:pic>
        <p:nvPicPr>
          <p:cNvPr id="3204" name="picture 320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9147047" y="797051"/>
            <a:ext cx="2699004" cy="2781300"/>
          </a:xfrm>
          <a:prstGeom prst="rect">
            <a:avLst/>
          </a:prstGeom>
        </p:spPr>
      </p:pic>
      <p:pic>
        <p:nvPicPr>
          <p:cNvPr id="3206" name="picture 320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68808" y="841247"/>
            <a:ext cx="2699003" cy="2737104"/>
          </a:xfrm>
          <a:prstGeom prst="rect">
            <a:avLst/>
          </a:prstGeom>
        </p:spPr>
      </p:pic>
      <p:pic>
        <p:nvPicPr>
          <p:cNvPr id="3208" name="picture 320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6220967" y="4084320"/>
            <a:ext cx="2699003" cy="2520696"/>
          </a:xfrm>
          <a:prstGeom prst="rect">
            <a:avLst/>
          </a:prstGeom>
        </p:spPr>
      </p:pic>
      <p:pic>
        <p:nvPicPr>
          <p:cNvPr id="3210" name="picture 3210">
            <a:hlinkClick r:id="rId25" action="ppaction://hlinkfile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402070" y="6120765"/>
            <a:ext cx="2337434" cy="401320"/>
          </a:xfrm>
          <a:prstGeom prst="rect">
            <a:avLst/>
          </a:prstGeom>
        </p:spPr>
      </p:pic>
      <p:sp>
        <p:nvSpPr>
          <p:cNvPr id="3212" name="textbox 3212"/>
          <p:cNvSpPr/>
          <p:nvPr/>
        </p:nvSpPr>
        <p:spPr>
          <a:xfrm>
            <a:off x="6402171" y="3756152"/>
            <a:ext cx="2399664" cy="279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5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985" algn="l" rtl="0" eaLnBrk="0">
              <a:lnSpc>
                <a:spcPct val="83000"/>
              </a:lnSpc>
              <a:tabLst/>
            </a:pPr>
            <a:r>
              <a:rPr sz="3000" kern="0" spc="-110" dirty="0">
                <a:solidFill>
                  <a:srgbClr val="0F5CD6">
                    <a:alpha val="100000"/>
                  </a:srgbClr>
                </a:solidFill>
                <a:latin typeface="Arial"/>
                <a:ea typeface="Arial"/>
                <a:cs typeface="Arial"/>
              </a:rPr>
              <a:t>my</a:t>
            </a:r>
            <a:r>
              <a:rPr sz="3000" kern="0" spc="-580" dirty="0">
                <a:solidFill>
                  <a:srgbClr val="0F5CD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110" dirty="0">
                <a:solidFill>
                  <a:srgbClr val="0F5CD6">
                    <a:alpha val="100000"/>
                  </a:srgbClr>
                </a:solidFill>
                <a:latin typeface="Arial"/>
                <a:ea typeface="Arial"/>
                <a:cs typeface="Arial"/>
              </a:rPr>
              <a:t>fitness</a:t>
            </a:r>
            <a:r>
              <a:rPr sz="3000" kern="0" spc="-630" dirty="0">
                <a:solidFill>
                  <a:srgbClr val="0F5CD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110" dirty="0">
                <a:solidFill>
                  <a:srgbClr val="0F5CD6">
                    <a:alpha val="100000"/>
                  </a:srgbClr>
                </a:solidFill>
                <a:latin typeface="Arial"/>
                <a:ea typeface="Arial"/>
                <a:cs typeface="Arial"/>
              </a:rPr>
              <a:t>pal'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4000"/>
              </a:lnSpc>
              <a:spcBef>
                <a:spcPts val="36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饮食与健身追踪工具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，其核心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优势在于庞大的全球食物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库和高效的条码扫码功能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8000"/>
              </a:lnSpc>
              <a:spcBef>
                <a:spcPts val="73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算法帮助用户记录每日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摄入，分析热量及宏量营养素，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并与超过100款健身设备数据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同步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，提供个性化的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热量缺口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计算和社区激励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myfitnesspal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om/zh-CN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14" name="picture 321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414871" y="6134404"/>
            <a:ext cx="122986" cy="168859"/>
          </a:xfrm>
          <a:prstGeom prst="rect">
            <a:avLst/>
          </a:prstGeom>
        </p:spPr>
      </p:pic>
      <p:pic>
        <p:nvPicPr>
          <p:cNvPr id="3216" name="picture 321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414871" y="5054904"/>
            <a:ext cx="122986" cy="168859"/>
          </a:xfrm>
          <a:prstGeom prst="rect">
            <a:avLst/>
          </a:prstGeom>
        </p:spPr>
      </p:pic>
      <p:pic>
        <p:nvPicPr>
          <p:cNvPr id="3218" name="picture 321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414871" y="4376724"/>
            <a:ext cx="122986" cy="168859"/>
          </a:xfrm>
          <a:prstGeom prst="rect">
            <a:avLst/>
          </a:prstGeom>
        </p:spPr>
      </p:pic>
      <p:grpSp>
        <p:nvGrpSpPr>
          <p:cNvPr id="214" name="group 214"/>
          <p:cNvGrpSpPr/>
          <p:nvPr/>
        </p:nvGrpSpPr>
        <p:grpSpPr>
          <a:xfrm rot="21600000">
            <a:off x="9144000" y="4232879"/>
            <a:ext cx="2705100" cy="2375184"/>
            <a:chOff x="0" y="0"/>
            <a:chExt cx="2705100" cy="2375184"/>
          </a:xfrm>
        </p:grpSpPr>
        <p:pic>
          <p:nvPicPr>
            <p:cNvPr id="3220" name="picture 3220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0" y="0"/>
              <a:ext cx="2705100" cy="2375184"/>
            </a:xfrm>
            <a:prstGeom prst="rect">
              <a:avLst/>
            </a:prstGeom>
          </p:spPr>
        </p:pic>
        <p:sp>
          <p:nvSpPr>
            <p:cNvPr id="3222" name="textbox 3222"/>
            <p:cNvSpPr/>
            <p:nvPr/>
          </p:nvSpPr>
          <p:spPr>
            <a:xfrm>
              <a:off x="-12700" y="-12700"/>
              <a:ext cx="2730500" cy="24123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8950" indent="-279400" algn="l" rtl="0" eaLnBrk="0">
                <a:lnSpc>
                  <a:spcPct val="106000"/>
                </a:lnSpc>
                <a:spcBef>
                  <a:spcPts val="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基于人工智能的运动分析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解决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方案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，主要通过其软件开发工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具包（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SDK ）为健身应用和平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台提供实时动作跟踪与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反馈功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97000"/>
                </a:lnSpc>
                <a:spcBef>
                  <a:spcPts val="841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适用于健身应用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、康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复平台和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健康服务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https://www.ki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nestex.com/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224" name="picture 3224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6951" y="1700864"/>
              <a:ext cx="122987" cy="168859"/>
            </a:xfrm>
            <a:prstGeom prst="rect">
              <a:avLst/>
            </a:prstGeom>
          </p:spPr>
        </p:pic>
        <p:pic>
          <p:nvPicPr>
            <p:cNvPr id="3226" name="picture 3226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6951" y="1223344"/>
              <a:ext cx="122987" cy="168859"/>
            </a:xfrm>
            <a:prstGeom prst="rect">
              <a:avLst/>
            </a:prstGeom>
          </p:spPr>
        </p:pic>
        <p:pic>
          <p:nvPicPr>
            <p:cNvPr id="3228" name="picture 3228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96951" y="143844"/>
              <a:ext cx="122987" cy="168859"/>
            </a:xfrm>
            <a:prstGeom prst="rect">
              <a:avLst/>
            </a:prstGeom>
          </p:spPr>
        </p:pic>
      </p:grpSp>
      <p:grpSp>
        <p:nvGrpSpPr>
          <p:cNvPr id="216" name="group 216"/>
          <p:cNvGrpSpPr/>
          <p:nvPr/>
        </p:nvGrpSpPr>
        <p:grpSpPr>
          <a:xfrm rot="21600000">
            <a:off x="6217920" y="1208409"/>
            <a:ext cx="2705099" cy="2372990"/>
            <a:chOff x="0" y="0"/>
            <a:chExt cx="2705099" cy="2372990"/>
          </a:xfrm>
        </p:grpSpPr>
        <p:pic>
          <p:nvPicPr>
            <p:cNvPr id="3230" name="picture 3230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0" y="0"/>
              <a:ext cx="2705099" cy="2372990"/>
            </a:xfrm>
            <a:prstGeom prst="rect">
              <a:avLst/>
            </a:prstGeom>
          </p:spPr>
        </p:pic>
        <p:sp>
          <p:nvSpPr>
            <p:cNvPr id="3232" name="textbox 3232"/>
            <p:cNvSpPr/>
            <p:nvPr/>
          </p:nvSpPr>
          <p:spPr>
            <a:xfrm>
              <a:off x="-12700" y="-12700"/>
              <a:ext cx="2730500" cy="24098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8315" indent="-278765" algn="l" rtl="0" eaLnBrk="0">
                <a:lnSpc>
                  <a:spcPct val="107000"/>
                </a:lnSpc>
                <a:spcBef>
                  <a:spcPts val="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体重管理工具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、专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家减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重指导等个性化体重管理方案,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助力身材管理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105000"/>
                </a:lnSpc>
                <a:spcBef>
                  <a:spcPts val="858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拥有百万级食物数据库用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于热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量查询与记录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，提供轻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断食等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个性化减重方案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、社区打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卡及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健康商品购买服务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https://www.boohee.com/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234" name="picture 3234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196951" y="1720515"/>
              <a:ext cx="122986" cy="168859"/>
            </a:xfrm>
            <a:prstGeom prst="rect">
              <a:avLst/>
            </a:prstGeom>
          </p:spPr>
        </p:pic>
        <p:pic>
          <p:nvPicPr>
            <p:cNvPr id="3236" name="picture 3236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196951" y="841675"/>
              <a:ext cx="122986" cy="168859"/>
            </a:xfrm>
            <a:prstGeom prst="rect">
              <a:avLst/>
            </a:prstGeom>
          </p:spPr>
        </p:pic>
        <p:pic>
          <p:nvPicPr>
            <p:cNvPr id="3238" name="picture 3238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 rot="21600000">
              <a:off x="196951" y="163495"/>
              <a:ext cx="122986" cy="168859"/>
            </a:xfrm>
            <a:prstGeom prst="rect">
              <a:avLst/>
            </a:prstGeom>
          </p:spPr>
        </p:pic>
      </p:grpSp>
      <p:pic>
        <p:nvPicPr>
          <p:cNvPr id="3240" name="picture 3240">
            <a:hlinkClick r:id="rId40" action="ppaction://hlinkfile"/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549909" y="3115945"/>
            <a:ext cx="2337435" cy="401320"/>
          </a:xfrm>
          <a:prstGeom prst="rect">
            <a:avLst/>
          </a:prstGeom>
        </p:spPr>
      </p:pic>
      <p:sp>
        <p:nvSpPr>
          <p:cNvPr id="3242" name="textbox 3242"/>
          <p:cNvSpPr/>
          <p:nvPr/>
        </p:nvSpPr>
        <p:spPr>
          <a:xfrm>
            <a:off x="550011" y="1341373"/>
            <a:ext cx="2350770" cy="2207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5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面向大众的全民健身平台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教练“卡卡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能定制个性化训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练计划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、提供实时语音指导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并支持健身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、跑步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瑜伽等多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种运动数据记录与分析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8000"/>
              </a:lnSpc>
              <a:spcBef>
                <a:spcPts val="69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Keep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营养师小程序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，拍照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识别食物热量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、生成个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性化饮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食计划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、提供营养建议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95275" indent="-282575" algn="l" rtl="0" eaLnBrk="0">
              <a:lnSpc>
                <a:spcPct val="112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https://www.calor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ietech.co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44" name="picture 324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62711" y="3129584"/>
            <a:ext cx="122986" cy="168859"/>
          </a:xfrm>
          <a:prstGeom prst="rect">
            <a:avLst/>
          </a:prstGeom>
        </p:spPr>
      </p:pic>
      <p:pic>
        <p:nvPicPr>
          <p:cNvPr id="3246" name="picture 324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562711" y="2451404"/>
            <a:ext cx="122986" cy="168859"/>
          </a:xfrm>
          <a:prstGeom prst="rect">
            <a:avLst/>
          </a:prstGeom>
        </p:spPr>
      </p:pic>
      <p:pic>
        <p:nvPicPr>
          <p:cNvPr id="3248" name="picture 324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562711" y="1371904"/>
            <a:ext cx="122986" cy="168859"/>
          </a:xfrm>
          <a:prstGeom prst="rect">
            <a:avLst/>
          </a:prstGeom>
        </p:spPr>
      </p:pic>
      <p:pic>
        <p:nvPicPr>
          <p:cNvPr id="3250" name="picture 3250">
            <a:hlinkClick r:id="rId45" action="ppaction://hlinkfile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9328150" y="3115945"/>
            <a:ext cx="2337434" cy="401320"/>
          </a:xfrm>
          <a:prstGeom prst="rect">
            <a:avLst/>
          </a:prstGeom>
        </p:spPr>
      </p:pic>
      <p:sp>
        <p:nvSpPr>
          <p:cNvPr id="3252" name="textbox 3252"/>
          <p:cNvSpPr/>
          <p:nvPr/>
        </p:nvSpPr>
        <p:spPr>
          <a:xfrm>
            <a:off x="9328251" y="1341373"/>
            <a:ext cx="2350770" cy="2207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免费的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扫描功能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，用于快速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记录食物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。它强调操作的简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与高效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，帮助用户轻松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追踪卡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路里和营养素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8000"/>
              </a:lnSpc>
              <a:spcBef>
                <a:spcPts val="68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技术致力于简化饮食记录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流程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，让健康管理变得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更为便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捷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，适合寻求快速记录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解决方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案的日常用户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mynetdiary</a:t>
            </a:r>
            <a:r>
              <a:rPr sz="1200" u="sng" kern="0" spc="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54" name="picture 325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340951" y="3129584"/>
            <a:ext cx="122987" cy="168859"/>
          </a:xfrm>
          <a:prstGeom prst="rect">
            <a:avLst/>
          </a:prstGeom>
        </p:spPr>
      </p:pic>
      <p:pic>
        <p:nvPicPr>
          <p:cNvPr id="3256" name="picture 325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340951" y="2250744"/>
            <a:ext cx="122987" cy="168859"/>
          </a:xfrm>
          <a:prstGeom prst="rect">
            <a:avLst/>
          </a:prstGeom>
        </p:spPr>
      </p:pic>
      <p:pic>
        <p:nvPicPr>
          <p:cNvPr id="3258" name="picture 325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9340951" y="1371904"/>
            <a:ext cx="122987" cy="168859"/>
          </a:xfrm>
          <a:prstGeom prst="rect">
            <a:avLst/>
          </a:prstGeom>
        </p:spPr>
      </p:pic>
      <p:pic>
        <p:nvPicPr>
          <p:cNvPr id="3260" name="picture 326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262" name="textbox 3262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AI塑身运动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64" name="textbox 3264"/>
          <p:cNvSpPr/>
          <p:nvPr/>
        </p:nvSpPr>
        <p:spPr>
          <a:xfrm>
            <a:off x="9850627" y="3718052"/>
            <a:ext cx="1292225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00"/>
              </a:lnSpc>
              <a:tabLst/>
            </a:pPr>
            <a:r>
              <a:rPr sz="6400" kern="0" spc="0" dirty="0">
                <a:solidFill>
                  <a:srgbClr val="2CEE3F">
                    <a:alpha val="100000"/>
                  </a:srgbClr>
                </a:solidFill>
                <a:latin typeface="Arial"/>
                <a:ea typeface="Arial"/>
                <a:cs typeface="Arial"/>
              </a:rPr>
              <a:t>cex</a:t>
            </a:r>
            <a:endParaRPr sz="6400" dirty="0">
              <a:latin typeface="Arial"/>
              <a:ea typeface="Arial"/>
              <a:cs typeface="Arial"/>
            </a:endParaRPr>
          </a:p>
        </p:txBody>
      </p:sp>
      <p:pic>
        <p:nvPicPr>
          <p:cNvPr id="3266" name="picture 3266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6954011" y="810767"/>
            <a:ext cx="123444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roup 218"/>
          <p:cNvGrpSpPr/>
          <p:nvPr/>
        </p:nvGrpSpPr>
        <p:grpSpPr>
          <a:xfrm rot="21600000">
            <a:off x="391668" y="833628"/>
            <a:ext cx="2699004" cy="2913887"/>
            <a:chOff x="0" y="0"/>
            <a:chExt cx="2699004" cy="2913887"/>
          </a:xfrm>
        </p:grpSpPr>
        <p:pic>
          <p:nvPicPr>
            <p:cNvPr id="3268" name="picture 326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699004" cy="2913887"/>
            </a:xfrm>
            <a:prstGeom prst="rect">
              <a:avLst/>
            </a:prstGeom>
          </p:spPr>
        </p:pic>
        <p:sp>
          <p:nvSpPr>
            <p:cNvPr id="3270" name="textbox 3270"/>
            <p:cNvSpPr/>
            <p:nvPr/>
          </p:nvSpPr>
          <p:spPr>
            <a:xfrm>
              <a:off x="-12700" y="-12700"/>
              <a:ext cx="2724785" cy="29508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775" indent="-280034" algn="l" rtl="0" eaLnBrk="0">
                <a:lnSpc>
                  <a:spcPct val="108000"/>
                </a:lnSpc>
                <a:spcBef>
                  <a:spcPts val="6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多模态影像</a:t>
              </a:r>
              <a:r>
                <a:rPr sz="1200" kern="0" spc="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分析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覆盖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CT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MRI</a:t>
              </a:r>
              <a:r>
                <a:rPr sz="1200" kern="0" spc="3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等主要影像类型 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实时检测脑出血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、肺栓塞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动脉夹层等危重病变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859" algn="l" rtl="0" eaLnBrk="0">
                <a:lnSpc>
                  <a:spcPct val="107000"/>
                </a:lnSpc>
                <a:spcBef>
                  <a:spcPts val="111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可直接接入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PACS /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RIS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与临床工作流兼容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持急诊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快速分诊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5740" algn="l" rtl="0" eaLnBrk="0">
                <a:lnSpc>
                  <a:spcPct val="105000"/>
                </a:lnSpc>
                <a:spcBef>
                  <a:spcPts val="107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.aidoc.me/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272" name="picture 327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3268" y="2044496"/>
              <a:ext cx="122986" cy="168859"/>
            </a:xfrm>
            <a:prstGeom prst="rect">
              <a:avLst/>
            </a:prstGeom>
          </p:spPr>
        </p:pic>
        <p:pic>
          <p:nvPicPr>
            <p:cNvPr id="3274" name="picture 32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3268" y="1442516"/>
              <a:ext cx="122986" cy="168859"/>
            </a:xfrm>
            <a:prstGeom prst="rect">
              <a:avLst/>
            </a:prstGeom>
          </p:spPr>
        </p:pic>
        <p:pic>
          <p:nvPicPr>
            <p:cNvPr id="3276" name="picture 327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3268" y="639876"/>
              <a:ext cx="122986" cy="168859"/>
            </a:xfrm>
            <a:prstGeom prst="rect">
              <a:avLst/>
            </a:prstGeom>
          </p:spPr>
        </p:pic>
      </p:grpSp>
      <p:grpSp>
        <p:nvGrpSpPr>
          <p:cNvPr id="220" name="group 220"/>
          <p:cNvGrpSpPr/>
          <p:nvPr/>
        </p:nvGrpSpPr>
        <p:grpSpPr>
          <a:xfrm rot="21600000">
            <a:off x="9169907" y="844295"/>
            <a:ext cx="2699004" cy="2903220"/>
            <a:chOff x="0" y="0"/>
            <a:chExt cx="2699004" cy="2903220"/>
          </a:xfrm>
        </p:grpSpPr>
        <p:pic>
          <p:nvPicPr>
            <p:cNvPr id="3278" name="picture 32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699004" cy="2903220"/>
            </a:xfrm>
            <a:prstGeom prst="rect">
              <a:avLst/>
            </a:prstGeom>
          </p:spPr>
        </p:pic>
        <p:sp>
          <p:nvSpPr>
            <p:cNvPr id="3280" name="textbox 3280"/>
            <p:cNvSpPr/>
            <p:nvPr/>
          </p:nvSpPr>
          <p:spPr>
            <a:xfrm>
              <a:off x="-12700" y="-12700"/>
              <a:ext cx="2724785" cy="2940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94030" indent="-287654" algn="l" rtl="0" eaLnBrk="0">
                <a:lnSpc>
                  <a:spcPct val="104000"/>
                </a:lnSpc>
                <a:spcBef>
                  <a:spcPts val="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智能语音识别</a:t>
              </a:r>
              <a:r>
                <a:rPr sz="1200" kern="0" spc="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kern="0" spc="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临床理解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自动识别医生与患者对话，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时提取关键信息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225" algn="l" rtl="0" eaLnBrk="0">
                <a:lnSpc>
                  <a:spcPct val="110000"/>
                </a:lnSpc>
                <a:spcBef>
                  <a:spcPts val="95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自动生成病历摘要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可生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成结构化就诊记录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，减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轻医生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书写负担 40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以上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8129" algn="l" rtl="0" eaLnBrk="0">
                <a:lnSpc>
                  <a:spcPct val="107000"/>
                </a:lnSpc>
                <a:spcBef>
                  <a:spcPts val="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急救/门诊双场景支持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入呼叫中心或诊室场景 ，辅助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医生快速决策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1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https://eleos.health/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282" name="picture 328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3903" y="2435149"/>
              <a:ext cx="122987" cy="168859"/>
            </a:xfrm>
            <a:prstGeom prst="rect">
              <a:avLst/>
            </a:prstGeom>
          </p:spPr>
        </p:pic>
        <p:pic>
          <p:nvPicPr>
            <p:cNvPr id="3284" name="picture 328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3903" y="1833169"/>
              <a:ext cx="122987" cy="168859"/>
            </a:xfrm>
            <a:prstGeom prst="rect">
              <a:avLst/>
            </a:prstGeom>
          </p:spPr>
        </p:pic>
        <p:pic>
          <p:nvPicPr>
            <p:cNvPr id="3286" name="picture 328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3903" y="1231189"/>
              <a:ext cx="122987" cy="168859"/>
            </a:xfrm>
            <a:prstGeom prst="rect">
              <a:avLst/>
            </a:prstGeom>
          </p:spPr>
        </p:pic>
        <p:pic>
          <p:nvPicPr>
            <p:cNvPr id="3288" name="picture 328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3903" y="629208"/>
              <a:ext cx="122987" cy="168859"/>
            </a:xfrm>
            <a:prstGeom prst="rect">
              <a:avLst/>
            </a:prstGeom>
          </p:spPr>
        </p:pic>
      </p:grpSp>
      <p:pic>
        <p:nvPicPr>
          <p:cNvPr id="3290" name="picture 329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243828" y="3863340"/>
            <a:ext cx="2699004" cy="2791967"/>
          </a:xfrm>
          <a:prstGeom prst="rect">
            <a:avLst/>
          </a:prstGeom>
        </p:spPr>
      </p:pic>
      <p:pic>
        <p:nvPicPr>
          <p:cNvPr id="3292" name="picture 32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317748" y="3884675"/>
            <a:ext cx="2699003" cy="2770632"/>
          </a:xfrm>
          <a:prstGeom prst="rect">
            <a:avLst/>
          </a:prstGeom>
        </p:spPr>
      </p:pic>
      <p:pic>
        <p:nvPicPr>
          <p:cNvPr id="3294" name="picture 329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88620" y="3906011"/>
            <a:ext cx="2705100" cy="2752344"/>
          </a:xfrm>
          <a:prstGeom prst="rect">
            <a:avLst/>
          </a:prstGeom>
        </p:spPr>
      </p:pic>
      <p:grpSp>
        <p:nvGrpSpPr>
          <p:cNvPr id="222" name="group 222"/>
          <p:cNvGrpSpPr/>
          <p:nvPr/>
        </p:nvGrpSpPr>
        <p:grpSpPr>
          <a:xfrm rot="21600000">
            <a:off x="9166859" y="3927348"/>
            <a:ext cx="2705100" cy="2731008"/>
            <a:chOff x="0" y="0"/>
            <a:chExt cx="2705100" cy="2731008"/>
          </a:xfrm>
        </p:grpSpPr>
        <p:pic>
          <p:nvPicPr>
            <p:cNvPr id="3296" name="picture 329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705100" cy="2731008"/>
            </a:xfrm>
            <a:prstGeom prst="rect">
              <a:avLst/>
            </a:prstGeom>
          </p:spPr>
        </p:pic>
        <p:sp>
          <p:nvSpPr>
            <p:cNvPr id="3298" name="textbox 3298"/>
            <p:cNvSpPr/>
            <p:nvPr/>
          </p:nvSpPr>
          <p:spPr>
            <a:xfrm>
              <a:off x="-12700" y="-12700"/>
              <a:ext cx="2730500" cy="27679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21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6859" algn="l" rtl="0" eaLnBrk="0">
                <a:lnSpc>
                  <a:spcPct val="108000"/>
                </a:lnSpc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阿里巴巴达摩院医疗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团队推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出，“</a:t>
              </a:r>
              <a:r>
                <a:rPr sz="1200" kern="0" spc="-2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一次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CT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平扫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多筛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”能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力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：在一次扫描中识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别多种癌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症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、急症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、慢病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11000"/>
                </a:lnSpc>
                <a:spcBef>
                  <a:spcPts val="11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强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术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／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背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（100+论文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、国际专利134项）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表明 AI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模型研发深度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90219" indent="-280670" algn="l" rtl="0" eaLnBrk="0">
                <a:lnSpc>
                  <a:spcPct val="96000"/>
                </a:lnSpc>
                <a:spcBef>
                  <a:spcPts val="69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面向早筛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、大规模影像识别场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259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https://damomed.com/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300" name="picture 330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6951" y="2391206"/>
              <a:ext cx="122987" cy="168859"/>
            </a:xfrm>
            <a:prstGeom prst="rect">
              <a:avLst/>
            </a:prstGeom>
          </p:spPr>
        </p:pic>
        <p:pic>
          <p:nvPicPr>
            <p:cNvPr id="3302" name="picture 330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6951" y="1989886"/>
              <a:ext cx="122987" cy="168859"/>
            </a:xfrm>
            <a:prstGeom prst="rect">
              <a:avLst/>
            </a:prstGeom>
          </p:spPr>
        </p:pic>
        <p:pic>
          <p:nvPicPr>
            <p:cNvPr id="3304" name="picture 330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6951" y="1387906"/>
              <a:ext cx="122987" cy="168859"/>
            </a:xfrm>
            <a:prstGeom prst="rect">
              <a:avLst/>
            </a:prstGeom>
          </p:spPr>
        </p:pic>
        <p:pic>
          <p:nvPicPr>
            <p:cNvPr id="3306" name="picture 3306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6951" y="585266"/>
              <a:ext cx="122987" cy="168859"/>
            </a:xfrm>
            <a:prstGeom prst="rect">
              <a:avLst/>
            </a:prstGeom>
          </p:spPr>
        </p:pic>
      </p:grpSp>
      <p:grpSp>
        <p:nvGrpSpPr>
          <p:cNvPr id="224" name="group 224"/>
          <p:cNvGrpSpPr/>
          <p:nvPr/>
        </p:nvGrpSpPr>
        <p:grpSpPr>
          <a:xfrm rot="21600000">
            <a:off x="6240779" y="1375379"/>
            <a:ext cx="2705100" cy="2375184"/>
            <a:chOff x="0" y="0"/>
            <a:chExt cx="2705100" cy="2375184"/>
          </a:xfrm>
        </p:grpSpPr>
        <p:pic>
          <p:nvPicPr>
            <p:cNvPr id="3308" name="picture 330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0"/>
              <a:ext cx="2705100" cy="2375184"/>
            </a:xfrm>
            <a:prstGeom prst="rect">
              <a:avLst/>
            </a:prstGeom>
          </p:spPr>
        </p:pic>
        <p:sp>
          <p:nvSpPr>
            <p:cNvPr id="3310" name="textbox 3310"/>
            <p:cNvSpPr/>
            <p:nvPr/>
          </p:nvSpPr>
          <p:spPr>
            <a:xfrm>
              <a:off x="-12700" y="-12700"/>
              <a:ext cx="2731135" cy="24123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6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97205" indent="-287654" algn="l" rtl="0" eaLnBrk="0">
                <a:lnSpc>
                  <a:spcPct val="104000"/>
                </a:lnSpc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智能语音识别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kern="0" spc="3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临床理解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自动识别医生与患者对话，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时提取关键信息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110000"/>
                </a:lnSpc>
                <a:spcBef>
                  <a:spcPts val="9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自动生成病历摘要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成结构化就诊记录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，减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轻医生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书写负担 40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以上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129" algn="l" rtl="0" eaLnBrk="0">
                <a:lnSpc>
                  <a:spcPct val="109000"/>
                </a:lnSpc>
                <a:spcBef>
                  <a:spcPts val="1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急救/门诊双场景支持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入呼叫中心（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EMS）</a:t>
              </a:r>
              <a:r>
                <a:rPr sz="1200" kern="0" spc="-2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或诊室场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景，辅助医生快速决策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8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https://www.corti.a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312" name="picture 331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6951" y="1904065"/>
              <a:ext cx="122986" cy="168859"/>
            </a:xfrm>
            <a:prstGeom prst="rect">
              <a:avLst/>
            </a:prstGeom>
          </p:spPr>
        </p:pic>
        <p:pic>
          <p:nvPicPr>
            <p:cNvPr id="3314" name="picture 331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6951" y="1302085"/>
              <a:ext cx="122986" cy="168859"/>
            </a:xfrm>
            <a:prstGeom prst="rect">
              <a:avLst/>
            </a:prstGeom>
          </p:spPr>
        </p:pic>
        <p:pic>
          <p:nvPicPr>
            <p:cNvPr id="3316" name="picture 3316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6951" y="700105"/>
              <a:ext cx="122986" cy="168859"/>
            </a:xfrm>
            <a:prstGeom prst="rect">
              <a:avLst/>
            </a:prstGeom>
          </p:spPr>
        </p:pic>
        <p:pic>
          <p:nvPicPr>
            <p:cNvPr id="3318" name="picture 3318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6951" y="98125"/>
              <a:ext cx="122986" cy="168859"/>
            </a:xfrm>
            <a:prstGeom prst="rect">
              <a:avLst/>
            </a:prstGeom>
          </p:spPr>
        </p:pic>
      </p:grpSp>
      <p:pic>
        <p:nvPicPr>
          <p:cNvPr id="3320" name="picture 332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314700" y="1375379"/>
            <a:ext cx="2705100" cy="2375184"/>
          </a:xfrm>
          <a:prstGeom prst="rect">
            <a:avLst/>
          </a:prstGeom>
        </p:spPr>
      </p:pic>
      <p:pic>
        <p:nvPicPr>
          <p:cNvPr id="3322" name="picture 3322">
            <a:hlinkClick r:id="rId30" action="ppaction://hlinkfile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3498850" y="3265805"/>
            <a:ext cx="2337434" cy="401319"/>
          </a:xfrm>
          <a:prstGeom prst="rect">
            <a:avLst/>
          </a:prstGeom>
        </p:spPr>
      </p:pic>
      <p:sp>
        <p:nvSpPr>
          <p:cNvPr id="3324" name="textbox 3324"/>
          <p:cNvSpPr/>
          <p:nvPr/>
        </p:nvSpPr>
        <p:spPr>
          <a:xfrm>
            <a:off x="3498951" y="1460804"/>
            <a:ext cx="2350135" cy="2254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4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CT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影像上快速识别中风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动脉瘤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、肺栓塞等急症，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提醒专科医生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4000"/>
              </a:lnSpc>
              <a:spcBef>
                <a:spcPts val="23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App</a:t>
            </a:r>
            <a:r>
              <a:rPr sz="1200" kern="0" spc="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实现医生 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护士 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放射科 、外科的实时沟通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，缩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短抢救反应时间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7000"/>
              </a:lnSpc>
              <a:spcBef>
                <a:spcPts val="11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1000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家美国医院临床试验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证明可平均缩短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 –40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分钟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救治时间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17000"/>
              </a:lnSpc>
              <a:spcBef>
                <a:spcPts val="12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ww.</a:t>
            </a:r>
            <a:r>
              <a:rPr sz="1200" u="sng" kern="0" spc="-2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viz.</a:t>
            </a:r>
            <a:r>
              <a:rPr sz="1200" u="sng" kern="0" spc="-1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ai/life</a:t>
            </a:r>
            <a:r>
              <a:rPr sz="1200" u="sng" kern="0" spc="-1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sciences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26" name="picture 332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3511651" y="3279444"/>
            <a:ext cx="122986" cy="168859"/>
          </a:xfrm>
          <a:prstGeom prst="rect">
            <a:avLst/>
          </a:prstGeom>
        </p:spPr>
      </p:pic>
      <p:pic>
        <p:nvPicPr>
          <p:cNvPr id="3328" name="picture 332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3511651" y="2677464"/>
            <a:ext cx="122986" cy="168859"/>
          </a:xfrm>
          <a:prstGeom prst="rect">
            <a:avLst/>
          </a:prstGeom>
        </p:spPr>
      </p:pic>
      <p:pic>
        <p:nvPicPr>
          <p:cNvPr id="3330" name="picture 333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3511651" y="2075484"/>
            <a:ext cx="122986" cy="168859"/>
          </a:xfrm>
          <a:prstGeom prst="rect">
            <a:avLst/>
          </a:prstGeom>
        </p:spPr>
      </p:pic>
      <p:pic>
        <p:nvPicPr>
          <p:cNvPr id="3332" name="picture 333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3511651" y="1473504"/>
            <a:ext cx="122986" cy="168859"/>
          </a:xfrm>
          <a:prstGeom prst="rect">
            <a:avLst/>
          </a:prstGeom>
        </p:spPr>
      </p:pic>
      <p:pic>
        <p:nvPicPr>
          <p:cNvPr id="3334" name="picture 3334">
            <a:hlinkClick r:id="rId37" action="ppaction://hlinkfile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3498850" y="6104254"/>
            <a:ext cx="2337434" cy="401319"/>
          </a:xfrm>
          <a:prstGeom prst="rect">
            <a:avLst/>
          </a:prstGeom>
        </p:spPr>
      </p:pic>
      <p:sp>
        <p:nvSpPr>
          <p:cNvPr id="3336" name="textbox 3336"/>
          <p:cNvSpPr/>
          <p:nvPr/>
        </p:nvSpPr>
        <p:spPr>
          <a:xfrm>
            <a:off x="3498951" y="4482084"/>
            <a:ext cx="2350770" cy="2035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4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微脉不仅聚焦单一环节（如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诊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断或康复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而是面向“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预防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诊断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治疗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康复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”全过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程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。全人群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、全维度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、全周期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医疗健康服务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7000"/>
              </a:lnSpc>
              <a:spcBef>
                <a:spcPts val="12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 “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Care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系统已升级形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成“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多元化智能体矩阵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，例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如用于皮肤检测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、心理疗愈等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7000"/>
              </a:lnSpc>
              <a:spcBef>
                <a:spcPts val="11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https://www.myweimai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.net/t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echnology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.html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38" name="picture 333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3511651" y="6117894"/>
            <a:ext cx="122986" cy="168859"/>
          </a:xfrm>
          <a:prstGeom prst="rect">
            <a:avLst/>
          </a:prstGeom>
        </p:spPr>
      </p:pic>
      <p:pic>
        <p:nvPicPr>
          <p:cNvPr id="3340" name="picture 334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3511651" y="5515914"/>
            <a:ext cx="122986" cy="168859"/>
          </a:xfrm>
          <a:prstGeom prst="rect">
            <a:avLst/>
          </a:prstGeom>
        </p:spPr>
      </p:pic>
      <p:pic>
        <p:nvPicPr>
          <p:cNvPr id="3342" name="picture 334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3511651" y="4512614"/>
            <a:ext cx="122986" cy="168859"/>
          </a:xfrm>
          <a:prstGeom prst="rect">
            <a:avLst/>
          </a:prstGeom>
        </p:spPr>
      </p:pic>
      <p:pic>
        <p:nvPicPr>
          <p:cNvPr id="3344" name="picture 3344">
            <a:hlinkClick r:id="rId38" action="ppaction://hlinkfile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6424929" y="5903595"/>
            <a:ext cx="2337435" cy="401320"/>
          </a:xfrm>
          <a:prstGeom prst="rect">
            <a:avLst/>
          </a:prstGeom>
        </p:spPr>
      </p:pic>
      <p:sp>
        <p:nvSpPr>
          <p:cNvPr id="3346" name="textbox 3346"/>
          <p:cNvSpPr/>
          <p:nvPr/>
        </p:nvSpPr>
        <p:spPr>
          <a:xfrm>
            <a:off x="6425031" y="4499914"/>
            <a:ext cx="2458085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04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擅长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医疗语音识别 +文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本处理，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可将医师问诊 、病历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、外呼等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语音转文本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、提取关键实体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8000"/>
              </a:lnSpc>
              <a:spcBef>
                <a:spcPts val="10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拥有医疗行业大模型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&amp;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知识库，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</a:t>
            </a:r>
            <a:r>
              <a:rPr sz="12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2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医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健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康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询 ”“症状自查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”“检查检验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解释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”等功能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11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https://www.xunfeihealthcar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e.com/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48" name="picture 334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6437731" y="5917234"/>
            <a:ext cx="122986" cy="168859"/>
          </a:xfrm>
          <a:prstGeom prst="rect">
            <a:avLst/>
          </a:prstGeom>
        </p:spPr>
      </p:pic>
      <p:pic>
        <p:nvPicPr>
          <p:cNvPr id="3350" name="picture 335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6437731" y="5114594"/>
            <a:ext cx="122986" cy="168859"/>
          </a:xfrm>
          <a:prstGeom prst="rect">
            <a:avLst/>
          </a:prstGeom>
        </p:spPr>
      </p:pic>
      <p:pic>
        <p:nvPicPr>
          <p:cNvPr id="3352" name="picture 335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6437731" y="4512614"/>
            <a:ext cx="122986" cy="168859"/>
          </a:xfrm>
          <a:prstGeom prst="rect">
            <a:avLst/>
          </a:prstGeom>
        </p:spPr>
      </p:pic>
      <p:pic>
        <p:nvPicPr>
          <p:cNvPr id="3354" name="picture 3354">
            <a:hlinkClick r:id="rId47" action="ppaction://hlinkfile"/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572769" y="5903595"/>
            <a:ext cx="2337435" cy="401320"/>
          </a:xfrm>
          <a:prstGeom prst="rect">
            <a:avLst/>
          </a:prstGeom>
        </p:spPr>
      </p:pic>
      <p:sp>
        <p:nvSpPr>
          <p:cNvPr id="3356" name="textbox 3356"/>
          <p:cNvSpPr/>
          <p:nvPr/>
        </p:nvSpPr>
        <p:spPr>
          <a:xfrm>
            <a:off x="572871" y="4482084"/>
            <a:ext cx="2350135" cy="1835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利用腾讯强大的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/视觉识别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背景，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专注医疗影像识别与筛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9000"/>
              </a:lnSpc>
              <a:spcBef>
                <a:spcPts val="11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可与医院影像系统（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PACS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）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对接，提升影像诊断辅助效率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97000"/>
              </a:lnSpc>
              <a:spcBef>
                <a:spcPts val="15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覆盖肿瘤筛查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、早期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识别等高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价值场景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07000"/>
              </a:lnSpc>
              <a:spcBef>
                <a:spcPts val="24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https://cloud.te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ncent.com/p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roduct/medicalplatfor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58" name="picture 335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585571" y="5917234"/>
            <a:ext cx="122986" cy="168859"/>
          </a:xfrm>
          <a:prstGeom prst="rect">
            <a:avLst/>
          </a:prstGeom>
        </p:spPr>
      </p:pic>
      <p:pic>
        <p:nvPicPr>
          <p:cNvPr id="3360" name="picture 336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85571" y="5515914"/>
            <a:ext cx="122986" cy="168859"/>
          </a:xfrm>
          <a:prstGeom prst="rect">
            <a:avLst/>
          </a:prstGeom>
        </p:spPr>
      </p:pic>
      <p:pic>
        <p:nvPicPr>
          <p:cNvPr id="3362" name="picture 336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585571" y="5114594"/>
            <a:ext cx="122986" cy="168859"/>
          </a:xfrm>
          <a:prstGeom prst="rect">
            <a:avLst/>
          </a:prstGeom>
        </p:spPr>
      </p:pic>
      <p:pic>
        <p:nvPicPr>
          <p:cNvPr id="3364" name="picture 3364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585571" y="4512614"/>
            <a:ext cx="122986" cy="168859"/>
          </a:xfrm>
          <a:prstGeom prst="rect">
            <a:avLst/>
          </a:prstGeom>
        </p:spPr>
      </p:pic>
      <p:pic>
        <p:nvPicPr>
          <p:cNvPr id="3366" name="picture 336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368" name="textbox 3368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AI医疗健康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70" name="picture 337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7048500" y="842772"/>
            <a:ext cx="1089659" cy="518159"/>
          </a:xfrm>
          <a:prstGeom prst="rect">
            <a:avLst/>
          </a:prstGeom>
        </p:spPr>
      </p:pic>
      <p:pic>
        <p:nvPicPr>
          <p:cNvPr id="3372" name="picture 3372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4236720" y="848867"/>
            <a:ext cx="861060" cy="5044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226"/>
          <p:cNvGrpSpPr/>
          <p:nvPr/>
        </p:nvGrpSpPr>
        <p:grpSpPr>
          <a:xfrm rot="21600000">
            <a:off x="9144000" y="3709415"/>
            <a:ext cx="2705100" cy="3034284"/>
            <a:chOff x="0" y="0"/>
            <a:chExt cx="2705100" cy="3034284"/>
          </a:xfrm>
        </p:grpSpPr>
        <p:pic>
          <p:nvPicPr>
            <p:cNvPr id="3374" name="picture 33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659861"/>
              <a:ext cx="2705100" cy="2374422"/>
            </a:xfrm>
            <a:prstGeom prst="rect">
              <a:avLst/>
            </a:prstGeom>
          </p:spPr>
        </p:pic>
        <p:sp>
          <p:nvSpPr>
            <p:cNvPr id="3376" name="textbox 3376"/>
            <p:cNvSpPr/>
            <p:nvPr/>
          </p:nvSpPr>
          <p:spPr>
            <a:xfrm>
              <a:off x="184251" y="50368"/>
              <a:ext cx="2399664" cy="24409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1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03250" algn="l" rtl="0" eaLnBrk="0">
                <a:lnSpc>
                  <a:spcPct val="87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蚂上有创意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1465" indent="-278765" algn="l" rtl="0" eaLnBrk="0">
                <a:lnSpc>
                  <a:spcPct val="118000"/>
                </a:lnSpc>
                <a:spcBef>
                  <a:spcPts val="363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支付宝推出的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智能营销设计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 ，集成AI营销图生成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、海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报制作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、图片优化等核心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功能，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并提供20000+免费商用素材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8925" indent="-276225" algn="l" rtl="0" eaLnBrk="0">
                <a:lnSpc>
                  <a:spcPct val="114000"/>
                </a:lnSpc>
                <a:spcBef>
                  <a:spcPts val="678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面向商家机构提供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创意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素材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、营销广告智能分析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等营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销服务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4000"/>
                </a:lnSpc>
                <a:spcBef>
                  <a:spcPts val="1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https://idesign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.alipay.com/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378" name="picture 337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6951" y="2292273"/>
              <a:ext cx="122987" cy="168859"/>
            </a:xfrm>
            <a:prstGeom prst="rect">
              <a:avLst/>
            </a:prstGeom>
          </p:spPr>
        </p:pic>
        <p:pic>
          <p:nvPicPr>
            <p:cNvPr id="3380" name="picture 338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6951" y="1558849"/>
              <a:ext cx="122987" cy="168859"/>
            </a:xfrm>
            <a:prstGeom prst="rect">
              <a:avLst/>
            </a:prstGeom>
          </p:spPr>
        </p:pic>
        <p:pic>
          <p:nvPicPr>
            <p:cNvPr id="3382" name="picture 33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6951" y="606349"/>
              <a:ext cx="122987" cy="168859"/>
            </a:xfrm>
            <a:prstGeom prst="rect">
              <a:avLst/>
            </a:prstGeom>
          </p:spPr>
        </p:pic>
        <p:pic>
          <p:nvPicPr>
            <p:cNvPr id="3384" name="picture 338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350519" y="0"/>
              <a:ext cx="2005583" cy="524255"/>
            </a:xfrm>
            <a:prstGeom prst="rect">
              <a:avLst/>
            </a:prstGeom>
          </p:spPr>
        </p:pic>
      </p:grpSp>
      <p:grpSp>
        <p:nvGrpSpPr>
          <p:cNvPr id="228" name="group 228"/>
          <p:cNvGrpSpPr/>
          <p:nvPr/>
        </p:nvGrpSpPr>
        <p:grpSpPr>
          <a:xfrm rot="21600000">
            <a:off x="365759" y="3715511"/>
            <a:ext cx="2705100" cy="3026664"/>
            <a:chOff x="0" y="0"/>
            <a:chExt cx="2705100" cy="3026664"/>
          </a:xfrm>
        </p:grpSpPr>
        <p:pic>
          <p:nvPicPr>
            <p:cNvPr id="3386" name="picture 338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651480"/>
              <a:ext cx="2705100" cy="2375184"/>
            </a:xfrm>
            <a:prstGeom prst="rect">
              <a:avLst/>
            </a:prstGeom>
          </p:spPr>
        </p:pic>
        <p:sp>
          <p:nvSpPr>
            <p:cNvPr id="3388" name="textbox 3388"/>
            <p:cNvSpPr/>
            <p:nvPr/>
          </p:nvSpPr>
          <p:spPr>
            <a:xfrm>
              <a:off x="184251" y="32004"/>
              <a:ext cx="2350135" cy="25209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38835" algn="l" rtl="0" eaLnBrk="0">
                <a:lnSpc>
                  <a:spcPts val="2282"/>
                </a:lnSpc>
                <a:tabLst/>
              </a:pPr>
              <a:r>
                <a:rPr sz="1700" b="1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羚珑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88290" indent="-275590" algn="l" rtl="0" eaLnBrk="0">
                <a:lnSpc>
                  <a:spcPct val="113000"/>
                </a:lnSpc>
                <a:spcBef>
                  <a:spcPts val="366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专为电商运营提供一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站式设计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解决方案，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识别图片设计风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格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，实现批量智能管理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277495" algn="l" rtl="0" eaLnBrk="0">
                <a:lnSpc>
                  <a:spcPct val="112000"/>
                </a:lnSpc>
                <a:spcBef>
                  <a:spcPts val="201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提供AI一键抠图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、免费抠图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商品主图设计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线上广告</a:t>
              </a:r>
              <a:r>
                <a:rPr sz="10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banner</a:t>
              </a:r>
              <a:r>
                <a:rPr sz="1400" kern="0" spc="-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蚂</a:t>
              </a:r>
              <a:r>
                <a:rPr sz="10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设计</a:t>
              </a:r>
              <a:r>
                <a:rPr sz="1400" kern="0" spc="-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蚁</a:t>
              </a:r>
              <a:r>
                <a:rPr sz="10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400" kern="0" spc="2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店</a:t>
              </a: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首页设计</a:t>
              </a:r>
              <a:r>
                <a:rPr sz="10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活动页设计 、页面设计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、互动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营销设计等多种功能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05000"/>
                </a:lnSpc>
                <a:spcBef>
                  <a:spcPts val="256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llai.cc/#/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390" name="picture 339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6951" y="2352853"/>
              <a:ext cx="122986" cy="168859"/>
            </a:xfrm>
            <a:prstGeom prst="rect">
              <a:avLst/>
            </a:prstGeom>
          </p:spPr>
        </p:pic>
        <p:pic>
          <p:nvPicPr>
            <p:cNvPr id="3392" name="picture 339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6951" y="1257477"/>
              <a:ext cx="122986" cy="168859"/>
            </a:xfrm>
            <a:prstGeom prst="rect">
              <a:avLst/>
            </a:prstGeom>
          </p:spPr>
        </p:pic>
        <p:pic>
          <p:nvPicPr>
            <p:cNvPr id="3394" name="picture 339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680566" y="1656969"/>
              <a:ext cx="174320" cy="188925"/>
            </a:xfrm>
            <a:prstGeom prst="rect">
              <a:avLst/>
            </a:prstGeom>
          </p:spPr>
        </p:pic>
        <p:pic>
          <p:nvPicPr>
            <p:cNvPr id="3396" name="picture 339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6951" y="600253"/>
              <a:ext cx="122986" cy="168859"/>
            </a:xfrm>
            <a:prstGeom prst="rect">
              <a:avLst/>
            </a:prstGeom>
          </p:spPr>
        </p:pic>
        <p:pic>
          <p:nvPicPr>
            <p:cNvPr id="3398" name="picture 339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711708" y="0"/>
              <a:ext cx="1280160" cy="512064"/>
            </a:xfrm>
            <a:prstGeom prst="rect">
              <a:avLst/>
            </a:prstGeom>
          </p:spPr>
        </p:pic>
      </p:grpSp>
      <p:pic>
        <p:nvPicPr>
          <p:cNvPr id="3400" name="picture 340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294888" y="3709416"/>
            <a:ext cx="2699004" cy="3029711"/>
          </a:xfrm>
          <a:prstGeom prst="rect">
            <a:avLst/>
          </a:prstGeom>
        </p:spPr>
      </p:pic>
      <p:grpSp>
        <p:nvGrpSpPr>
          <p:cNvPr id="230" name="group 230"/>
          <p:cNvGrpSpPr/>
          <p:nvPr/>
        </p:nvGrpSpPr>
        <p:grpSpPr>
          <a:xfrm rot="21600000">
            <a:off x="368808" y="774446"/>
            <a:ext cx="2699003" cy="2803905"/>
            <a:chOff x="0" y="0"/>
            <a:chExt cx="2699003" cy="2803905"/>
          </a:xfrm>
        </p:grpSpPr>
        <p:pic>
          <p:nvPicPr>
            <p:cNvPr id="3402" name="picture 340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284733"/>
              <a:ext cx="2699003" cy="2519172"/>
            </a:xfrm>
            <a:prstGeom prst="rect">
              <a:avLst/>
            </a:prstGeom>
          </p:spPr>
        </p:pic>
        <p:sp>
          <p:nvSpPr>
            <p:cNvPr id="3404" name="textbox 3404"/>
            <p:cNvSpPr/>
            <p:nvPr/>
          </p:nvSpPr>
          <p:spPr>
            <a:xfrm>
              <a:off x="181203" y="-12700"/>
              <a:ext cx="2350135" cy="24295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35660" algn="l" rtl="0" eaLnBrk="0">
                <a:lnSpc>
                  <a:spcPts val="2282"/>
                </a:lnSpc>
                <a:tabLst/>
              </a:pPr>
              <a:r>
                <a:rPr sz="17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WI</a:t>
              </a:r>
              <a:r>
                <a:rPr sz="1700" b="1" kern="0" spc="-3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ME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0195" indent="-277495" algn="l" rtl="0" eaLnBrk="0">
                <a:lnSpc>
                  <a:spcPct val="114000"/>
                </a:lnSpc>
                <a:spcBef>
                  <a:spcPts val="361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由微盟推出的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驱动电商内容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创作平台，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专为中小微电商设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8925" indent="-276225" algn="l" rtl="0" eaLnBrk="0">
                <a:lnSpc>
                  <a:spcPct val="115000"/>
                </a:lnSpc>
                <a:spcBef>
                  <a:spcPts val="877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提供从AI商品图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、海报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、营销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文案到详情页的一站式生成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能，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内置海量模板，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旨在降低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视觉内容创作门槛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5000"/>
                </a:lnSpc>
                <a:spcBef>
                  <a:spcPts val="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https://wime-ai.com/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406" name="picture 340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3903" y="2216708"/>
              <a:ext cx="122986" cy="168859"/>
            </a:xfrm>
            <a:prstGeom prst="rect">
              <a:avLst/>
            </a:prstGeom>
          </p:spPr>
        </p:pic>
        <p:pic>
          <p:nvPicPr>
            <p:cNvPr id="3408" name="picture 340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3903" y="1264208"/>
              <a:ext cx="122986" cy="168859"/>
            </a:xfrm>
            <a:prstGeom prst="rect">
              <a:avLst/>
            </a:prstGeom>
          </p:spPr>
        </p:pic>
        <p:pic>
          <p:nvPicPr>
            <p:cNvPr id="3410" name="picture 341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3903" y="530783"/>
              <a:ext cx="122986" cy="168859"/>
            </a:xfrm>
            <a:prstGeom prst="rect">
              <a:avLst/>
            </a:prstGeom>
          </p:spPr>
        </p:pic>
        <p:pic>
          <p:nvPicPr>
            <p:cNvPr id="3412" name="picture 341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582168" y="2793"/>
              <a:ext cx="1534667" cy="332232"/>
            </a:xfrm>
            <a:prstGeom prst="rect">
              <a:avLst/>
            </a:prstGeom>
          </p:spPr>
        </p:pic>
      </p:grpSp>
      <p:grpSp>
        <p:nvGrpSpPr>
          <p:cNvPr id="232" name="group 232"/>
          <p:cNvGrpSpPr/>
          <p:nvPr/>
        </p:nvGrpSpPr>
        <p:grpSpPr>
          <a:xfrm rot="21600000">
            <a:off x="6220967" y="4219955"/>
            <a:ext cx="2699003" cy="2520696"/>
            <a:chOff x="0" y="0"/>
            <a:chExt cx="2699003" cy="2520696"/>
          </a:xfrm>
        </p:grpSpPr>
        <p:pic>
          <p:nvPicPr>
            <p:cNvPr id="3414" name="picture 341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0"/>
              <a:ext cx="2699003" cy="2520696"/>
            </a:xfrm>
            <a:prstGeom prst="rect">
              <a:avLst/>
            </a:prstGeom>
          </p:spPr>
        </p:pic>
        <p:sp>
          <p:nvSpPr>
            <p:cNvPr id="3416" name="textbox 3416"/>
            <p:cNvSpPr/>
            <p:nvPr/>
          </p:nvSpPr>
          <p:spPr>
            <a:xfrm>
              <a:off x="-12700" y="-12700"/>
              <a:ext cx="2724785" cy="25571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85140" indent="-279400" algn="l" rtl="0" eaLnBrk="0">
                <a:lnSpc>
                  <a:spcPct val="114000"/>
                </a:lnSpc>
                <a:spcBef>
                  <a:spcPts val="5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全球领先的电商营销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写作助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手，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能够根据产品信息和关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词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1965" indent="-276225" algn="l" rtl="0" eaLnBrk="0">
                <a:lnSpc>
                  <a:spcPct val="113000"/>
                </a:lnSpc>
                <a:spcBef>
                  <a:spcPts val="1003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快速生成高转化率的商品标题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描述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、广告语及邮件等多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种营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销文案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，支持语气调整，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帮助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提升内容创作效率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5740" algn="l" rtl="0" eaLnBrk="0">
                <a:lnSpc>
                  <a:spcPct val="104000"/>
                </a:lnSpc>
                <a:spcBef>
                  <a:spcPts val="3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https://www.j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asper.ai/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418" name="picture 341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3268" y="1781733"/>
              <a:ext cx="122987" cy="168859"/>
            </a:xfrm>
            <a:prstGeom prst="rect">
              <a:avLst/>
            </a:prstGeom>
          </p:spPr>
        </p:pic>
        <p:pic>
          <p:nvPicPr>
            <p:cNvPr id="3420" name="picture 342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3268" y="829233"/>
              <a:ext cx="122987" cy="168859"/>
            </a:xfrm>
            <a:prstGeom prst="rect">
              <a:avLst/>
            </a:prstGeom>
          </p:spPr>
        </p:pic>
        <p:pic>
          <p:nvPicPr>
            <p:cNvPr id="3422" name="picture 342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3268" y="95808"/>
              <a:ext cx="122987" cy="168859"/>
            </a:xfrm>
            <a:prstGeom prst="rect">
              <a:avLst/>
            </a:prstGeom>
          </p:spPr>
        </p:pic>
      </p:grpSp>
      <p:pic>
        <p:nvPicPr>
          <p:cNvPr id="3424" name="picture 342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9147047" y="1059179"/>
            <a:ext cx="2699004" cy="2519172"/>
          </a:xfrm>
          <a:prstGeom prst="rect">
            <a:avLst/>
          </a:prstGeom>
        </p:spPr>
      </p:pic>
      <p:pic>
        <p:nvPicPr>
          <p:cNvPr id="3426" name="picture 342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291840" y="1208409"/>
            <a:ext cx="2705100" cy="2372990"/>
          </a:xfrm>
          <a:prstGeom prst="rect">
            <a:avLst/>
          </a:prstGeom>
        </p:spPr>
      </p:pic>
      <p:grpSp>
        <p:nvGrpSpPr>
          <p:cNvPr id="234" name="group 234"/>
          <p:cNvGrpSpPr/>
          <p:nvPr/>
        </p:nvGrpSpPr>
        <p:grpSpPr>
          <a:xfrm rot="21600000">
            <a:off x="6217920" y="1208409"/>
            <a:ext cx="2705099" cy="2372990"/>
            <a:chOff x="0" y="0"/>
            <a:chExt cx="2705099" cy="2372990"/>
          </a:xfrm>
        </p:grpSpPr>
        <p:pic>
          <p:nvPicPr>
            <p:cNvPr id="3428" name="picture 3428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0" y="0"/>
              <a:ext cx="2705099" cy="2372990"/>
            </a:xfrm>
            <a:prstGeom prst="rect">
              <a:avLst/>
            </a:prstGeom>
          </p:spPr>
        </p:pic>
        <p:sp>
          <p:nvSpPr>
            <p:cNvPr id="3430" name="textbox 3430"/>
            <p:cNvSpPr/>
            <p:nvPr/>
          </p:nvSpPr>
          <p:spPr>
            <a:xfrm>
              <a:off x="-12700" y="-12700"/>
              <a:ext cx="2730500" cy="24091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485775" indent="-276225" algn="l" rtl="0" eaLnBrk="0">
                <a:lnSpc>
                  <a:spcPct val="113000"/>
                </a:lnSpc>
                <a:spcBef>
                  <a:spcPts val="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专注电商领域的图片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编辑及平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面设计网站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，整合跨境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电商工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、AI设计工具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、图片工具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视频工具四大功能模块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15000"/>
                </a:lnSpc>
                <a:spcBef>
                  <a:spcPts val="28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提供智能抠图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、AI商品图生成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合规标签制作等工具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，配套海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量电商模板资源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，覆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盖主图设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计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、直播物料等场景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259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https://www.yiketu.com/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432" name="picture 3432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6951" y="1849420"/>
              <a:ext cx="122986" cy="168859"/>
            </a:xfrm>
            <a:prstGeom prst="rect">
              <a:avLst/>
            </a:prstGeom>
          </p:spPr>
        </p:pic>
        <p:pic>
          <p:nvPicPr>
            <p:cNvPr id="3434" name="picture 3434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6951" y="973120"/>
              <a:ext cx="122986" cy="168859"/>
            </a:xfrm>
            <a:prstGeom prst="rect">
              <a:avLst/>
            </a:prstGeom>
          </p:spPr>
        </p:pic>
        <p:pic>
          <p:nvPicPr>
            <p:cNvPr id="3436" name="picture 343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96951" y="96820"/>
              <a:ext cx="122986" cy="168859"/>
            </a:xfrm>
            <a:prstGeom prst="rect">
              <a:avLst/>
            </a:prstGeom>
          </p:spPr>
        </p:pic>
      </p:grpSp>
      <p:pic>
        <p:nvPicPr>
          <p:cNvPr id="3438" name="picture 3438">
            <a:hlinkClick r:id="rId35" action="ppaction://hlinkfile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3475990" y="6258559"/>
            <a:ext cx="2337434" cy="438150"/>
          </a:xfrm>
          <a:prstGeom prst="rect">
            <a:avLst/>
          </a:prstGeom>
        </p:spPr>
      </p:pic>
      <p:sp>
        <p:nvSpPr>
          <p:cNvPr id="3440" name="textbox 3440"/>
          <p:cNvSpPr/>
          <p:nvPr/>
        </p:nvSpPr>
        <p:spPr>
          <a:xfrm>
            <a:off x="3476091" y="4285234"/>
            <a:ext cx="2416175" cy="2439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15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电商设计工具，集AI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背景生成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背景移除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、水印去除等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功能于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一体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，一键生成服装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鞋类试穿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16000"/>
              </a:lnSpc>
              <a:spcBef>
                <a:spcPts val="28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时尚模特工具快速调整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模特形象与背景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一键转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换为真实人类模型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。提供服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鞋类专用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模板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，无需拍摄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可展示产品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8000"/>
              </a:lnSpc>
              <a:spcBef>
                <a:spcPts val="22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piccopilot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/zh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42" name="picture 344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488791" y="6287439"/>
            <a:ext cx="122986" cy="168859"/>
          </a:xfrm>
          <a:prstGeom prst="rect">
            <a:avLst/>
          </a:prstGeom>
        </p:spPr>
      </p:pic>
      <p:pic>
        <p:nvPicPr>
          <p:cNvPr id="3444" name="picture 344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488791" y="5192064"/>
            <a:ext cx="122986" cy="168859"/>
          </a:xfrm>
          <a:prstGeom prst="rect">
            <a:avLst/>
          </a:prstGeom>
        </p:spPr>
      </p:pic>
      <p:pic>
        <p:nvPicPr>
          <p:cNvPr id="3446" name="picture 344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3488791" y="4315764"/>
            <a:ext cx="122986" cy="168859"/>
          </a:xfrm>
          <a:prstGeom prst="rect">
            <a:avLst/>
          </a:prstGeom>
        </p:spPr>
      </p:pic>
      <p:pic>
        <p:nvPicPr>
          <p:cNvPr id="3448" name="picture 3448">
            <a:hlinkClick r:id="rId36" action="ppaction://hlinkfile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3475990" y="3082290"/>
            <a:ext cx="2337434" cy="401319"/>
          </a:xfrm>
          <a:prstGeom prst="rect">
            <a:avLst/>
          </a:prstGeom>
        </p:spPr>
      </p:pic>
      <p:sp>
        <p:nvSpPr>
          <p:cNvPr id="3450" name="textbox 3450"/>
          <p:cNvSpPr/>
          <p:nvPr/>
        </p:nvSpPr>
        <p:spPr>
          <a:xfrm>
            <a:off x="3476091" y="1277289"/>
            <a:ext cx="2422525" cy="2254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由阿里巴巴集团推出的智能图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片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、文案创作平台，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旨在为淘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宝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、天猫电商卖家和达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人提供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以提升创作效率和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成本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5000"/>
              </a:lnSpc>
              <a:spcBef>
                <a:spcPts val="27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支持一键美化图片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、修改图像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、一键换装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、一键去水印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编写种草文案 、穿搭文案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频口播文案等多模态功能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80034" algn="l" rtl="0" eaLnBrk="0">
              <a:lnSpc>
                <a:spcPct val="117000"/>
              </a:lnSpc>
              <a:spcBef>
                <a:spcPts val="11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ihuiwa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/?c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atId=1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52" name="picture 345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3488791" y="3095929"/>
            <a:ext cx="122986" cy="168859"/>
          </a:xfrm>
          <a:prstGeom prst="rect">
            <a:avLst/>
          </a:prstGeom>
        </p:spPr>
      </p:pic>
      <p:pic>
        <p:nvPicPr>
          <p:cNvPr id="3454" name="picture 3454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3488791" y="2293289"/>
            <a:ext cx="122986" cy="168859"/>
          </a:xfrm>
          <a:prstGeom prst="rect">
            <a:avLst/>
          </a:prstGeom>
        </p:spPr>
      </p:pic>
      <p:pic>
        <p:nvPicPr>
          <p:cNvPr id="3456" name="picture 345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3488791" y="1289989"/>
            <a:ext cx="122986" cy="168859"/>
          </a:xfrm>
          <a:prstGeom prst="rect">
            <a:avLst/>
          </a:prstGeom>
        </p:spPr>
      </p:pic>
      <p:pic>
        <p:nvPicPr>
          <p:cNvPr id="3458" name="picture 3458">
            <a:hlinkClick r:id="rId45" action="ppaction://hlinkfile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9328150" y="2881629"/>
            <a:ext cx="2337434" cy="401320"/>
          </a:xfrm>
          <a:prstGeom prst="rect">
            <a:avLst/>
          </a:prstGeom>
        </p:spPr>
      </p:pic>
      <p:sp>
        <p:nvSpPr>
          <p:cNvPr id="3460" name="textbox 3460"/>
          <p:cNvSpPr/>
          <p:nvPr/>
        </p:nvSpPr>
        <p:spPr>
          <a:xfrm>
            <a:off x="9328251" y="1259459"/>
            <a:ext cx="2422525" cy="2054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专为电商卖家设计的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商拍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具，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由哈啰推出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，支持AI服饰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模特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、AI商品图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、AI修图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、A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视频等功能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7000"/>
              </a:lnSpc>
              <a:spcBef>
                <a:spcPts val="24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生成淘宝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、京东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、拼多多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、抖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音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TikTok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Shopify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等适配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的商品图与视频，创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作种草图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短视频，提升品牌曝光与互动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3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photonaiclub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62" name="picture 346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340951" y="2895269"/>
            <a:ext cx="122987" cy="168859"/>
          </a:xfrm>
          <a:prstGeom prst="rect">
            <a:avLst/>
          </a:prstGeom>
        </p:spPr>
      </p:pic>
      <p:pic>
        <p:nvPicPr>
          <p:cNvPr id="3464" name="picture 346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340951" y="2092629"/>
            <a:ext cx="122987" cy="168859"/>
          </a:xfrm>
          <a:prstGeom prst="rect">
            <a:avLst/>
          </a:prstGeom>
        </p:spPr>
      </p:pic>
      <p:pic>
        <p:nvPicPr>
          <p:cNvPr id="3466" name="picture 346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9340951" y="1289989"/>
            <a:ext cx="122987" cy="168859"/>
          </a:xfrm>
          <a:prstGeom prst="rect">
            <a:avLst/>
          </a:prstGeom>
        </p:spPr>
      </p:pic>
      <p:pic>
        <p:nvPicPr>
          <p:cNvPr id="3468" name="picture 346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470" name="textbox 3470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AI电商营销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72" name="textbox 3472"/>
          <p:cNvSpPr/>
          <p:nvPr/>
        </p:nvSpPr>
        <p:spPr>
          <a:xfrm>
            <a:off x="10149458" y="809294"/>
            <a:ext cx="70358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光子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3474" name="picture 3474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9758171" y="669035"/>
            <a:ext cx="1478280" cy="548640"/>
          </a:xfrm>
          <a:prstGeom prst="rect">
            <a:avLst/>
          </a:prstGeom>
        </p:spPr>
      </p:pic>
      <p:sp>
        <p:nvSpPr>
          <p:cNvPr id="3476" name="textbox 3476"/>
          <p:cNvSpPr/>
          <p:nvPr/>
        </p:nvSpPr>
        <p:spPr>
          <a:xfrm>
            <a:off x="4410506" y="808100"/>
            <a:ext cx="47498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绘蛙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78" name="picture 347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3912108" y="678179"/>
            <a:ext cx="1464564" cy="530352"/>
          </a:xfrm>
          <a:prstGeom prst="rect">
            <a:avLst/>
          </a:prstGeom>
        </p:spPr>
      </p:pic>
      <p:sp>
        <p:nvSpPr>
          <p:cNvPr id="3480" name="textbox 3480"/>
          <p:cNvSpPr/>
          <p:nvPr/>
        </p:nvSpPr>
        <p:spPr>
          <a:xfrm>
            <a:off x="7193432" y="3810025"/>
            <a:ext cx="760094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Jasper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82" name="picture 348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6987540" y="3715511"/>
            <a:ext cx="1165859" cy="510539"/>
          </a:xfrm>
          <a:prstGeom prst="rect">
            <a:avLst/>
          </a:prstGeom>
        </p:spPr>
      </p:pic>
      <p:sp>
        <p:nvSpPr>
          <p:cNvPr id="3484" name="textbox 3484"/>
          <p:cNvSpPr/>
          <p:nvPr/>
        </p:nvSpPr>
        <p:spPr>
          <a:xfrm>
            <a:off x="7223200" y="818438"/>
            <a:ext cx="702944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易可图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86" name="picture 3486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7092696" y="740664"/>
            <a:ext cx="954023" cy="40385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236"/>
          <p:cNvGrpSpPr/>
          <p:nvPr/>
        </p:nvGrpSpPr>
        <p:grpSpPr>
          <a:xfrm rot="21600000">
            <a:off x="9151619" y="3642359"/>
            <a:ext cx="2705100" cy="2729484"/>
            <a:chOff x="0" y="0"/>
            <a:chExt cx="2705100" cy="2729484"/>
          </a:xfrm>
        </p:grpSpPr>
        <p:pic>
          <p:nvPicPr>
            <p:cNvPr id="3488" name="picture 34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5100" cy="2729484"/>
            </a:xfrm>
            <a:prstGeom prst="rect">
              <a:avLst/>
            </a:prstGeom>
          </p:spPr>
        </p:pic>
        <p:sp>
          <p:nvSpPr>
            <p:cNvPr id="3490" name="textbox 3490"/>
            <p:cNvSpPr/>
            <p:nvPr/>
          </p:nvSpPr>
          <p:spPr>
            <a:xfrm>
              <a:off x="-12700" y="-12700"/>
              <a:ext cx="2730500" cy="27666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775" indent="-276225" algn="l" rtl="0" eaLnBrk="0">
                <a:lnSpc>
                  <a:spcPct val="114000"/>
                </a:lnSpc>
                <a:spcBef>
                  <a:spcPts val="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以CRM为基础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，融合AI与RPA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为企业构建智能化自动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化私域运营成交体系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14000"/>
                </a:lnSpc>
                <a:spcBef>
                  <a:spcPts val="708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系统核心功能涵盖线素管理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客户管理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、销售管理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、社群管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、AI员工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、AI外呼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、订单管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理及数据分析等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，助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力企业实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现降本增效与业绩增长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4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http://www.dkd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uo.cn/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492" name="picture 349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6951" y="2429814"/>
              <a:ext cx="122987" cy="168859"/>
            </a:xfrm>
            <a:prstGeom prst="rect">
              <a:avLst/>
            </a:prstGeom>
          </p:spPr>
        </p:pic>
        <p:pic>
          <p:nvPicPr>
            <p:cNvPr id="3494" name="picture 349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6951" y="1296339"/>
              <a:ext cx="122987" cy="168859"/>
            </a:xfrm>
            <a:prstGeom prst="rect">
              <a:avLst/>
            </a:prstGeom>
          </p:spPr>
        </p:pic>
        <p:pic>
          <p:nvPicPr>
            <p:cNvPr id="3496" name="picture 349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6951" y="601014"/>
              <a:ext cx="122987" cy="168859"/>
            </a:xfrm>
            <a:prstGeom prst="rect">
              <a:avLst/>
            </a:prstGeom>
          </p:spPr>
        </p:pic>
      </p:grpSp>
      <p:grpSp>
        <p:nvGrpSpPr>
          <p:cNvPr id="238" name="group 238"/>
          <p:cNvGrpSpPr/>
          <p:nvPr/>
        </p:nvGrpSpPr>
        <p:grpSpPr>
          <a:xfrm rot="21600000">
            <a:off x="6228588" y="3642359"/>
            <a:ext cx="2699004" cy="2726435"/>
            <a:chOff x="0" y="0"/>
            <a:chExt cx="2699004" cy="2726435"/>
          </a:xfrm>
        </p:grpSpPr>
        <p:pic>
          <p:nvPicPr>
            <p:cNvPr id="3498" name="picture 349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205739"/>
              <a:ext cx="2699004" cy="2520695"/>
            </a:xfrm>
            <a:prstGeom prst="rect">
              <a:avLst/>
            </a:prstGeom>
          </p:spPr>
        </p:pic>
        <p:sp>
          <p:nvSpPr>
            <p:cNvPr id="3500" name="textbox 3500"/>
            <p:cNvSpPr/>
            <p:nvPr/>
          </p:nvSpPr>
          <p:spPr>
            <a:xfrm>
              <a:off x="-12700" y="-12700"/>
              <a:ext cx="2724785" cy="27628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61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03275" algn="l" rtl="0" eaLnBrk="0">
                <a:lnSpc>
                  <a:spcPct val="84000"/>
                </a:lnSpc>
                <a:tabLst/>
              </a:pPr>
              <a:r>
                <a:rPr sz="3400" kern="0" spc="-340" dirty="0">
                  <a:solidFill>
                    <a:srgbClr val="CC0B17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血有赞</a:t>
              </a:r>
              <a:endParaRPr sz="34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225" algn="l" rtl="0" eaLnBrk="0">
                <a:lnSpc>
                  <a:spcPct val="108000"/>
                </a:lnSpc>
                <a:spcBef>
                  <a:spcPts val="1049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产品“加我智能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为商家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提供全流程运营帮助，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成运营方案并执行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。根据库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情况自动调整价格策略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8129" algn="l" rtl="0" eaLnBrk="0">
                <a:lnSpc>
                  <a:spcPct val="104000"/>
                </a:lnSpc>
                <a:spcBef>
                  <a:spcPts val="249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实时提供报表反馈和活动效果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跟踪，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自动生成经营日报周报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4000"/>
                </a:lnSpc>
                <a:spcBef>
                  <a:spcPts val="2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https://www.yo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uzan.com/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502" name="picture 350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3903" y="1789734"/>
              <a:ext cx="122987" cy="168859"/>
            </a:xfrm>
            <a:prstGeom prst="rect">
              <a:avLst/>
            </a:prstGeom>
          </p:spPr>
        </p:pic>
        <p:pic>
          <p:nvPicPr>
            <p:cNvPr id="3504" name="picture 350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3903" y="1388414"/>
              <a:ext cx="122987" cy="168859"/>
            </a:xfrm>
            <a:prstGeom prst="rect">
              <a:avLst/>
            </a:prstGeom>
          </p:spPr>
        </p:pic>
        <p:pic>
          <p:nvPicPr>
            <p:cNvPr id="3506" name="picture 350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3903" y="585774"/>
              <a:ext cx="122987" cy="168859"/>
            </a:xfrm>
            <a:prstGeom prst="rect">
              <a:avLst/>
            </a:prstGeom>
          </p:spPr>
        </p:pic>
      </p:grpSp>
      <p:grpSp>
        <p:nvGrpSpPr>
          <p:cNvPr id="240" name="group 240"/>
          <p:cNvGrpSpPr/>
          <p:nvPr/>
        </p:nvGrpSpPr>
        <p:grpSpPr>
          <a:xfrm rot="21600000">
            <a:off x="373379" y="3672839"/>
            <a:ext cx="2705100" cy="2699004"/>
            <a:chOff x="0" y="0"/>
            <a:chExt cx="2705100" cy="2699004"/>
          </a:xfrm>
        </p:grpSpPr>
        <p:pic>
          <p:nvPicPr>
            <p:cNvPr id="3508" name="picture 35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323819"/>
              <a:ext cx="2705100" cy="2375184"/>
            </a:xfrm>
            <a:prstGeom prst="rect">
              <a:avLst/>
            </a:prstGeom>
          </p:spPr>
        </p:pic>
        <p:sp>
          <p:nvSpPr>
            <p:cNvPr id="3510" name="textbox 3510"/>
            <p:cNvSpPr/>
            <p:nvPr/>
          </p:nvSpPr>
          <p:spPr>
            <a:xfrm>
              <a:off x="-12700" y="-12700"/>
              <a:ext cx="2731135" cy="27362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5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64819" algn="l" rtl="0" eaLnBrk="0">
                <a:lnSpc>
                  <a:spcPct val="84000"/>
                </a:lnSpc>
                <a:tabLst/>
              </a:pPr>
              <a:r>
                <a:rPr sz="2900" kern="0" spc="200" dirty="0">
                  <a:solidFill>
                    <a:srgbClr val="AF9B8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12</a:t>
              </a:r>
              <a:r>
                <a:rPr sz="2900" kern="0" spc="0" dirty="0">
                  <a:solidFill>
                    <a:srgbClr val="AF9B8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TIM</a:t>
              </a:r>
              <a:r>
                <a:rPr sz="2900" kern="0" spc="200" dirty="0">
                  <a:solidFill>
                    <a:srgbClr val="AF9B8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三S</a:t>
              </a:r>
              <a:endParaRPr sz="29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8129" algn="l" rtl="0" eaLnBrk="0">
                <a:lnSpc>
                  <a:spcPct val="106000"/>
                </a:lnSpc>
                <a:spcBef>
                  <a:spcPts val="1302"/>
                </a:spcBef>
                <a:tabLst>
                  <a:tab pos="33147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企业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原生操作系统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其模块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化架构覆盖私域全场景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859" algn="l" rtl="0" eaLnBrk="0">
                <a:lnSpc>
                  <a:spcPct val="107000"/>
                </a:lnSpc>
                <a:spcBef>
                  <a:spcPts val="235"/>
                </a:spcBef>
                <a:tabLst>
                  <a:tab pos="33147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核心技术包括业务流程挖掘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引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擎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、高准确率的多模态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对话引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擎和动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增长引擎 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旨在为大型企业提供全面的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驱动的私域运营与战略模拟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解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决方案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8915" algn="l" rtl="0" eaLnBrk="0">
                <a:lnSpc>
                  <a:spcPct val="105000"/>
                </a:lnSpc>
                <a:spcBef>
                  <a:spcPts val="110"/>
                </a:spcBef>
                <a:tabLst>
                  <a:tab pos="33147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https://www.12times.c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512" name="picture 351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6316" y="2160575"/>
              <a:ext cx="122986" cy="168859"/>
            </a:xfrm>
            <a:prstGeom prst="rect">
              <a:avLst/>
            </a:prstGeom>
          </p:spPr>
        </p:pic>
        <p:pic>
          <p:nvPicPr>
            <p:cNvPr id="3514" name="picture 351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6316" y="956614"/>
              <a:ext cx="122986" cy="168859"/>
            </a:xfrm>
            <a:prstGeom prst="rect">
              <a:avLst/>
            </a:prstGeom>
          </p:spPr>
        </p:pic>
        <p:pic>
          <p:nvPicPr>
            <p:cNvPr id="3516" name="picture 351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622247" y="1328801"/>
              <a:ext cx="167792" cy="181737"/>
            </a:xfrm>
            <a:prstGeom prst="rect">
              <a:avLst/>
            </a:prstGeom>
          </p:spPr>
        </p:pic>
        <p:pic>
          <p:nvPicPr>
            <p:cNvPr id="3518" name="picture 351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460017" y="1331772"/>
              <a:ext cx="154305" cy="177647"/>
            </a:xfrm>
            <a:prstGeom prst="rect">
              <a:avLst/>
            </a:prstGeom>
          </p:spPr>
        </p:pic>
        <p:pic>
          <p:nvPicPr>
            <p:cNvPr id="3520" name="picture 352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240561" y="1311427"/>
              <a:ext cx="219455" cy="209169"/>
            </a:xfrm>
            <a:prstGeom prst="rect">
              <a:avLst/>
            </a:prstGeom>
          </p:spPr>
        </p:pic>
        <p:pic>
          <p:nvPicPr>
            <p:cNvPr id="3522" name="picture 352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915416" y="1313713"/>
              <a:ext cx="237896" cy="203225"/>
            </a:xfrm>
            <a:prstGeom prst="rect">
              <a:avLst/>
            </a:prstGeom>
          </p:spPr>
        </p:pic>
        <p:pic>
          <p:nvPicPr>
            <p:cNvPr id="3524" name="picture 352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6316" y="555295"/>
              <a:ext cx="122986" cy="168859"/>
            </a:xfrm>
            <a:prstGeom prst="rect">
              <a:avLst/>
            </a:prstGeom>
          </p:spPr>
        </p:pic>
      </p:grpSp>
      <p:pic>
        <p:nvPicPr>
          <p:cNvPr id="3526" name="picture 35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302508" y="3665220"/>
            <a:ext cx="2699003" cy="2703575"/>
          </a:xfrm>
          <a:prstGeom prst="rect">
            <a:avLst/>
          </a:prstGeom>
        </p:spPr>
      </p:pic>
      <p:pic>
        <p:nvPicPr>
          <p:cNvPr id="3528" name="picture 352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76428" y="726947"/>
            <a:ext cx="2699004" cy="2650235"/>
          </a:xfrm>
          <a:prstGeom prst="rect">
            <a:avLst/>
          </a:prstGeom>
        </p:spPr>
      </p:pic>
      <p:grpSp>
        <p:nvGrpSpPr>
          <p:cNvPr id="242" name="group 242"/>
          <p:cNvGrpSpPr/>
          <p:nvPr/>
        </p:nvGrpSpPr>
        <p:grpSpPr>
          <a:xfrm rot="21600000">
            <a:off x="6225540" y="754379"/>
            <a:ext cx="2705100" cy="2625852"/>
            <a:chOff x="0" y="0"/>
            <a:chExt cx="2705100" cy="2625852"/>
          </a:xfrm>
        </p:grpSpPr>
        <p:pic>
          <p:nvPicPr>
            <p:cNvPr id="3530" name="picture 353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0" y="0"/>
              <a:ext cx="2705100" cy="2625852"/>
            </a:xfrm>
            <a:prstGeom prst="rect">
              <a:avLst/>
            </a:prstGeom>
          </p:spPr>
        </p:pic>
        <p:sp>
          <p:nvSpPr>
            <p:cNvPr id="3532" name="textbox 3532"/>
            <p:cNvSpPr/>
            <p:nvPr/>
          </p:nvSpPr>
          <p:spPr>
            <a:xfrm>
              <a:off x="-12700" y="-12700"/>
              <a:ext cx="2730500" cy="26619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775" indent="-276225" algn="l" rtl="0" eaLnBrk="0">
                <a:lnSpc>
                  <a:spcPct val="107000"/>
                </a:lnSpc>
                <a:spcBef>
                  <a:spcPts val="2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AI+RPA双引擎驱动私域增长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从公域获客到私域运营的全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路自动化解决方案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6000"/>
                </a:lnSpc>
                <a:spcBef>
                  <a:spcPts val="26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提供智能风控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、批量操作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户数据追踪及离职继承等功能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旨在提升运营效率并规避账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号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风险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，适合需要快速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搭建企业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微信私域体系的中小品牌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1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https://www.siyubot.com/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534" name="picture 353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6951" y="2304720"/>
              <a:ext cx="122987" cy="168859"/>
            </a:xfrm>
            <a:prstGeom prst="rect">
              <a:avLst/>
            </a:prstGeom>
          </p:spPr>
        </p:pic>
        <p:pic>
          <p:nvPicPr>
            <p:cNvPr id="3536" name="picture 3536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6951" y="1301420"/>
              <a:ext cx="122987" cy="168859"/>
            </a:xfrm>
            <a:prstGeom prst="rect">
              <a:avLst/>
            </a:prstGeom>
          </p:spPr>
        </p:pic>
        <p:pic>
          <p:nvPicPr>
            <p:cNvPr id="3538" name="picture 3538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6951" y="699439"/>
              <a:ext cx="122987" cy="168859"/>
            </a:xfrm>
            <a:prstGeom prst="rect">
              <a:avLst/>
            </a:prstGeom>
          </p:spPr>
        </p:pic>
      </p:grpSp>
      <p:grpSp>
        <p:nvGrpSpPr>
          <p:cNvPr id="244" name="group 244"/>
          <p:cNvGrpSpPr/>
          <p:nvPr/>
        </p:nvGrpSpPr>
        <p:grpSpPr>
          <a:xfrm rot="21600000">
            <a:off x="9154667" y="762000"/>
            <a:ext cx="2699004" cy="2615183"/>
            <a:chOff x="0" y="0"/>
            <a:chExt cx="2699004" cy="2615183"/>
          </a:xfrm>
        </p:grpSpPr>
        <p:pic>
          <p:nvPicPr>
            <p:cNvPr id="3540" name="picture 3540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0" y="0"/>
              <a:ext cx="2699004" cy="2615183"/>
            </a:xfrm>
            <a:prstGeom prst="rect">
              <a:avLst/>
            </a:prstGeom>
          </p:spPr>
        </p:pic>
        <p:sp>
          <p:nvSpPr>
            <p:cNvPr id="3542" name="textbox 3542"/>
            <p:cNvSpPr/>
            <p:nvPr/>
          </p:nvSpPr>
          <p:spPr>
            <a:xfrm>
              <a:off x="-12700" y="-12700"/>
              <a:ext cx="2724785" cy="26523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680" indent="-281304" algn="l" rtl="0" eaLnBrk="0">
                <a:lnSpc>
                  <a:spcPct val="107000"/>
                </a:lnSpc>
                <a:spcBef>
                  <a:spcPts val="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高效管理针对零售行业设计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的垂直化解决方案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，融合了智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慧导购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、小程序和SCRM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225" algn="l" rtl="0" eaLnBrk="0">
                <a:lnSpc>
                  <a:spcPct val="105000"/>
                </a:lnSpc>
                <a:spcBef>
                  <a:spcPts val="274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通过智能探客雷达精准识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别高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意向客户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、数字化管理导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购绩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效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，并打通线下线上订单，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在提升全渠道协同和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转化效率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0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http://www.takewind.cn/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544" name="picture 3544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193903" y="2096439"/>
              <a:ext cx="122987" cy="168859"/>
            </a:xfrm>
            <a:prstGeom prst="rect">
              <a:avLst/>
            </a:prstGeom>
          </p:spPr>
        </p:pic>
        <p:pic>
          <p:nvPicPr>
            <p:cNvPr id="3546" name="picture 3546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3903" y="1293800"/>
              <a:ext cx="122987" cy="168859"/>
            </a:xfrm>
            <a:prstGeom prst="rect">
              <a:avLst/>
            </a:prstGeom>
          </p:spPr>
        </p:pic>
        <p:pic>
          <p:nvPicPr>
            <p:cNvPr id="3548" name="picture 3548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3903" y="691819"/>
              <a:ext cx="122987" cy="168859"/>
            </a:xfrm>
            <a:prstGeom prst="rect">
              <a:avLst/>
            </a:prstGeom>
          </p:spPr>
        </p:pic>
      </p:grpSp>
      <p:grpSp>
        <p:nvGrpSpPr>
          <p:cNvPr id="246" name="group 246"/>
          <p:cNvGrpSpPr/>
          <p:nvPr/>
        </p:nvGrpSpPr>
        <p:grpSpPr>
          <a:xfrm rot="21600000">
            <a:off x="3299459" y="807720"/>
            <a:ext cx="2705100" cy="2572511"/>
            <a:chOff x="0" y="0"/>
            <a:chExt cx="2705100" cy="2572511"/>
          </a:xfrm>
        </p:grpSpPr>
        <p:pic>
          <p:nvPicPr>
            <p:cNvPr id="3550" name="picture 355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0" y="0"/>
              <a:ext cx="2705100" cy="2572511"/>
            </a:xfrm>
            <a:prstGeom prst="rect">
              <a:avLst/>
            </a:prstGeom>
          </p:spPr>
        </p:pic>
        <p:sp>
          <p:nvSpPr>
            <p:cNvPr id="3552" name="textbox 3552"/>
            <p:cNvSpPr/>
            <p:nvPr/>
          </p:nvSpPr>
          <p:spPr>
            <a:xfrm>
              <a:off x="-12700" y="-12700"/>
              <a:ext cx="2730500" cy="2609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044" indent="-277495" algn="l" rtl="0" eaLnBrk="0">
                <a:lnSpc>
                  <a:spcPct val="97000"/>
                </a:lnSpc>
                <a:spcBef>
                  <a:spcPts val="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依托腾讯生态的泛行业智能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私域增长平台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129" algn="l" rtl="0" eaLnBrk="0">
                <a:lnSpc>
                  <a:spcPct val="107000"/>
                </a:lnSpc>
                <a:spcBef>
                  <a:spcPts val="35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整合全渠道数据的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CDP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客户数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据平台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、具备人群圈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选和智能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选品功能的“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会员智体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可设计自动化互动旅程 ，适合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需要跨平台整合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、追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求智能化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决策的大型连锁企业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2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https://qidian.qq.com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554" name="picture 3554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196951" y="2251380"/>
              <a:ext cx="122986" cy="168859"/>
            </a:xfrm>
            <a:prstGeom prst="rect">
              <a:avLst/>
            </a:prstGeom>
          </p:spPr>
        </p:pic>
        <p:pic>
          <p:nvPicPr>
            <p:cNvPr id="3556" name="picture 3556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196951" y="1047419"/>
              <a:ext cx="122986" cy="168859"/>
            </a:xfrm>
            <a:prstGeom prst="rect">
              <a:avLst/>
            </a:prstGeom>
          </p:spPr>
        </p:pic>
        <p:pic>
          <p:nvPicPr>
            <p:cNvPr id="3558" name="picture 3558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196951" y="646099"/>
              <a:ext cx="122986" cy="168859"/>
            </a:xfrm>
            <a:prstGeom prst="rect">
              <a:avLst/>
            </a:prstGeom>
          </p:spPr>
        </p:pic>
      </p:grpSp>
      <p:pic>
        <p:nvPicPr>
          <p:cNvPr id="3560" name="picture 3560">
            <a:hlinkClick r:id="rId39" action="ppaction://hlinkfile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483609" y="5819775"/>
            <a:ext cx="2337434" cy="401320"/>
          </a:xfrm>
          <a:prstGeom prst="rect">
            <a:avLst/>
          </a:prstGeom>
        </p:spPr>
      </p:pic>
      <p:sp>
        <p:nvSpPr>
          <p:cNvPr id="3562" name="textbox 3562"/>
          <p:cNvSpPr/>
          <p:nvPr/>
        </p:nvSpPr>
        <p:spPr>
          <a:xfrm>
            <a:off x="3483711" y="4215434"/>
            <a:ext cx="2350135" cy="2037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采用"行业大模型+垂直领域微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 " 双 引擎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架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构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底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层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GPT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-4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Turbo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通用理解能力与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百万级教育知识图谱训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练的专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业模型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07000"/>
              </a:lnSpc>
              <a:spcBef>
                <a:spcPts val="1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速览功能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，可一键生成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结构化总结，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智能解构音视频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内容核心观点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7020" indent="-274320" algn="l" rtl="0" eaLnBrk="0">
              <a:lnSpc>
                <a:spcPct val="112000"/>
              </a:lnSpc>
              <a:spcBef>
                <a:spcPts val="11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 t t p s : / / w w w</a:t>
            </a:r>
            <a:r>
              <a:rPr sz="1200" u="sng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x i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a o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tech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9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64" name="picture 356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3496411" y="5833414"/>
            <a:ext cx="122986" cy="168859"/>
          </a:xfrm>
          <a:prstGeom prst="rect">
            <a:avLst/>
          </a:prstGeom>
        </p:spPr>
      </p:pic>
      <p:pic>
        <p:nvPicPr>
          <p:cNvPr id="3566" name="picture 356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3496411" y="5231434"/>
            <a:ext cx="122986" cy="168859"/>
          </a:xfrm>
          <a:prstGeom prst="rect">
            <a:avLst/>
          </a:prstGeom>
        </p:spPr>
      </p:pic>
      <p:pic>
        <p:nvPicPr>
          <p:cNvPr id="3568" name="picture 356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3496411" y="4228134"/>
            <a:ext cx="122986" cy="168859"/>
          </a:xfrm>
          <a:prstGeom prst="rect">
            <a:avLst/>
          </a:prstGeom>
        </p:spPr>
      </p:pic>
      <p:pic>
        <p:nvPicPr>
          <p:cNvPr id="3570" name="picture 3570">
            <a:hlinkClick r:id="rId45" action="ppaction://hlinkfile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557530" y="2844800"/>
            <a:ext cx="2337434" cy="401320"/>
          </a:xfrm>
          <a:prstGeom prst="rect">
            <a:avLst/>
          </a:prstGeom>
        </p:spPr>
      </p:pic>
      <p:sp>
        <p:nvSpPr>
          <p:cNvPr id="3572" name="textbox 3572"/>
          <p:cNvSpPr/>
          <p:nvPr/>
        </p:nvSpPr>
        <p:spPr>
          <a:xfrm>
            <a:off x="557631" y="1441119"/>
            <a:ext cx="2350135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9720" indent="-287020" algn="l" rtl="0" eaLnBrk="0">
              <a:lnSpc>
                <a:spcPct val="105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专注于美业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、养生等连锁品牌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的AI数字门店解决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方案提供商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8000"/>
              </a:lnSpc>
              <a:spcBef>
                <a:spcPts val="1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算法实现从拉新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促活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到复购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、裂变的私域全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流程自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动化运营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，并提供巡店预警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全域分账等模块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，帮助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品牌构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建强总部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、轻门店的管理模式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2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meikayun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74" name="picture 357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570331" y="2858439"/>
            <a:ext cx="122986" cy="168859"/>
          </a:xfrm>
          <a:prstGeom prst="rect">
            <a:avLst/>
          </a:prstGeom>
        </p:spPr>
      </p:pic>
      <p:pic>
        <p:nvPicPr>
          <p:cNvPr id="3576" name="picture 357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570331" y="1855139"/>
            <a:ext cx="122986" cy="168859"/>
          </a:xfrm>
          <a:prstGeom prst="rect">
            <a:avLst/>
          </a:prstGeom>
        </p:spPr>
      </p:pic>
      <p:pic>
        <p:nvPicPr>
          <p:cNvPr id="3578" name="picture 357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570331" y="1453819"/>
            <a:ext cx="122986" cy="168859"/>
          </a:xfrm>
          <a:prstGeom prst="rect">
            <a:avLst/>
          </a:prstGeom>
        </p:spPr>
      </p:pic>
      <p:pic>
        <p:nvPicPr>
          <p:cNvPr id="3580" name="picture 358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582" name="textbox 3582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AI私域运营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roup 248"/>
          <p:cNvGrpSpPr/>
          <p:nvPr/>
        </p:nvGrpSpPr>
        <p:grpSpPr>
          <a:xfrm rot="21600000">
            <a:off x="3300983" y="823976"/>
            <a:ext cx="2706623" cy="2859531"/>
            <a:chOff x="0" y="0"/>
            <a:chExt cx="2706623" cy="2859531"/>
          </a:xfrm>
        </p:grpSpPr>
        <p:pic>
          <p:nvPicPr>
            <p:cNvPr id="3584" name="picture 358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96520"/>
              <a:ext cx="2706623" cy="2763011"/>
            </a:xfrm>
            <a:prstGeom prst="rect">
              <a:avLst/>
            </a:prstGeom>
          </p:spPr>
        </p:pic>
        <p:sp>
          <p:nvSpPr>
            <p:cNvPr id="3586" name="textbox 3586"/>
            <p:cNvSpPr/>
            <p:nvPr/>
          </p:nvSpPr>
          <p:spPr>
            <a:xfrm>
              <a:off x="-12700" y="-12700"/>
              <a:ext cx="2732404" cy="28956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01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88085" indent="-139700" algn="l" rtl="0" eaLnBrk="0">
                <a:lnSpc>
                  <a:spcPct val="118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瓴羊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Quick        </a:t>
              </a:r>
              <a:r>
                <a:rPr sz="17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Service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5000"/>
                </a:lnSpc>
                <a:spcBef>
                  <a:spcPts val="1044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为企业提供全渠道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、全链路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全场景的智能客服解决方案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旨在让服务成为企业增长新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引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擎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05000"/>
                </a:lnSpc>
                <a:spcBef>
                  <a:spcPts val="277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结合语音识别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、即时消息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同工单以及先进的大模型能力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让企业迅速响应客户需求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升客户满意度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17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https://lydaas.com/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588" name="picture 35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7332" y="2348788"/>
              <a:ext cx="122986" cy="168859"/>
            </a:xfrm>
            <a:prstGeom prst="rect">
              <a:avLst/>
            </a:prstGeom>
          </p:spPr>
        </p:pic>
        <p:pic>
          <p:nvPicPr>
            <p:cNvPr id="3590" name="picture 359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7332" y="1546148"/>
              <a:ext cx="122986" cy="168859"/>
            </a:xfrm>
            <a:prstGeom prst="rect">
              <a:avLst/>
            </a:prstGeom>
          </p:spPr>
        </p:pic>
        <p:pic>
          <p:nvPicPr>
            <p:cNvPr id="3592" name="picture 35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7332" y="743508"/>
              <a:ext cx="122986" cy="168859"/>
            </a:xfrm>
            <a:prstGeom prst="rect">
              <a:avLst/>
            </a:prstGeom>
          </p:spPr>
        </p:pic>
      </p:grpSp>
      <p:grpSp>
        <p:nvGrpSpPr>
          <p:cNvPr id="250" name="group 250"/>
          <p:cNvGrpSpPr/>
          <p:nvPr/>
        </p:nvGrpSpPr>
        <p:grpSpPr>
          <a:xfrm rot="21600000">
            <a:off x="6225540" y="3768852"/>
            <a:ext cx="2699004" cy="2827019"/>
            <a:chOff x="0" y="0"/>
            <a:chExt cx="2699004" cy="2827019"/>
          </a:xfrm>
        </p:grpSpPr>
        <p:pic>
          <p:nvPicPr>
            <p:cNvPr id="3594" name="picture 35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699004" cy="2827019"/>
            </a:xfrm>
            <a:prstGeom prst="rect">
              <a:avLst/>
            </a:prstGeom>
          </p:spPr>
        </p:pic>
        <p:sp>
          <p:nvSpPr>
            <p:cNvPr id="3596" name="textbox 3596"/>
            <p:cNvSpPr/>
            <p:nvPr/>
          </p:nvSpPr>
          <p:spPr>
            <a:xfrm>
              <a:off x="-12700" y="-12700"/>
              <a:ext cx="2724785" cy="2863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0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5140" indent="-279400" algn="l" rtl="0" eaLnBrk="0">
                <a:lnSpc>
                  <a:spcPct val="113000"/>
                </a:lnSpc>
                <a:tabLst>
                  <a:tab pos="3282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成熟的智能客服解决方案提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商，其AI聊天机器人可7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  <a:r>
                <a:rPr sz="1200" kern="0" spc="-2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24小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时处理订单查询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、物流跟踪等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重复性问题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7495" algn="l" rtl="0" eaLnBrk="0">
                <a:lnSpc>
                  <a:spcPct val="111000"/>
                </a:lnSpc>
                <a:spcBef>
                  <a:spcPts val="984"/>
                </a:spcBef>
                <a:tabLst>
                  <a:tab pos="3282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并能辅助人工客服生成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摘要和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推荐答复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，提升客户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服务质量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5740" algn="l" rtl="0" eaLnBrk="0">
                <a:lnSpc>
                  <a:spcPct val="105000"/>
                </a:lnSpc>
                <a:spcBef>
                  <a:spcPts val="6"/>
                </a:spcBef>
                <a:tabLst>
                  <a:tab pos="32829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https://www.zendesk.com/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598" name="picture 359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3141" y="2507157"/>
              <a:ext cx="122986" cy="168859"/>
            </a:xfrm>
            <a:prstGeom prst="rect">
              <a:avLst/>
            </a:prstGeom>
          </p:spPr>
        </p:pic>
        <p:pic>
          <p:nvPicPr>
            <p:cNvPr id="3600" name="picture 36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3141" y="1773733"/>
              <a:ext cx="122986" cy="168859"/>
            </a:xfrm>
            <a:prstGeom prst="rect">
              <a:avLst/>
            </a:prstGeom>
          </p:spPr>
        </p:pic>
        <p:pic>
          <p:nvPicPr>
            <p:cNvPr id="3602" name="picture 360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3141" y="821233"/>
              <a:ext cx="122986" cy="168859"/>
            </a:xfrm>
            <a:prstGeom prst="rect">
              <a:avLst/>
            </a:prstGeom>
          </p:spPr>
        </p:pic>
      </p:grpSp>
      <p:grpSp>
        <p:nvGrpSpPr>
          <p:cNvPr id="252" name="group 252"/>
          <p:cNvGrpSpPr/>
          <p:nvPr/>
        </p:nvGrpSpPr>
        <p:grpSpPr>
          <a:xfrm rot="21600000">
            <a:off x="9145523" y="935735"/>
            <a:ext cx="2700528" cy="2744723"/>
            <a:chOff x="0" y="0"/>
            <a:chExt cx="2700528" cy="2744723"/>
          </a:xfrm>
        </p:grpSpPr>
        <p:pic>
          <p:nvPicPr>
            <p:cNvPr id="3604" name="picture 360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225552"/>
              <a:ext cx="2700528" cy="2519171"/>
            </a:xfrm>
            <a:prstGeom prst="rect">
              <a:avLst/>
            </a:prstGeom>
          </p:spPr>
        </p:pic>
        <p:sp>
          <p:nvSpPr>
            <p:cNvPr id="3606" name="textbox 3606"/>
            <p:cNvSpPr/>
            <p:nvPr/>
          </p:nvSpPr>
          <p:spPr>
            <a:xfrm>
              <a:off x="181457" y="59918"/>
              <a:ext cx="2422525" cy="2376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1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39444" algn="l" rtl="0" eaLnBrk="0">
                <a:lnSpc>
                  <a:spcPct val="86000"/>
                </a:lnSpc>
                <a:tabLst/>
              </a:pPr>
              <a:r>
                <a:rPr sz="1700" b="1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沃丰科技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Udesk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7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88925" indent="-276225" algn="l" rtl="0" eaLnBrk="0">
                <a:lnSpc>
                  <a:spcPct val="108000"/>
                </a:lnSpc>
                <a:spcBef>
                  <a:spcPts val="368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大模型技术应用到企业的营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销获客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、客户服务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、海外服务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员工共享服务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、企业知识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库等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各个场景,为行业提供专业的大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模型落地解决方案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8925" indent="-276859" algn="l" rtl="0" eaLnBrk="0">
                <a:lnSpc>
                  <a:spcPct val="107000"/>
                </a:lnSpc>
                <a:spcBef>
                  <a:spcPts val="123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支持超20种渠道接入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，可稳定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支撑千万级并发咨询量，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内置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情感计算引擎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05000"/>
                </a:lnSpc>
                <a:spcBef>
                  <a:spcPts val="10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https://www.udesk.c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608" name="picture 360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4157" y="2237028"/>
              <a:ext cx="122987" cy="168859"/>
            </a:xfrm>
            <a:prstGeom prst="rect">
              <a:avLst/>
            </a:prstGeom>
          </p:spPr>
        </p:pic>
        <p:pic>
          <p:nvPicPr>
            <p:cNvPr id="3610" name="picture 361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4157" y="1635049"/>
              <a:ext cx="122987" cy="168859"/>
            </a:xfrm>
            <a:prstGeom prst="rect">
              <a:avLst/>
            </a:prstGeom>
          </p:spPr>
        </p:pic>
        <p:pic>
          <p:nvPicPr>
            <p:cNvPr id="3612" name="picture 361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4157" y="631749"/>
              <a:ext cx="122987" cy="168859"/>
            </a:xfrm>
            <a:prstGeom prst="rect">
              <a:avLst/>
            </a:prstGeom>
          </p:spPr>
        </p:pic>
        <p:pic>
          <p:nvPicPr>
            <p:cNvPr id="3614" name="picture 361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50876" y="0"/>
              <a:ext cx="1569719" cy="388620"/>
            </a:xfrm>
            <a:prstGeom prst="rect">
              <a:avLst/>
            </a:prstGeom>
          </p:spPr>
        </p:pic>
      </p:grpSp>
      <p:grpSp>
        <p:nvGrpSpPr>
          <p:cNvPr id="254" name="group 254"/>
          <p:cNvGrpSpPr/>
          <p:nvPr/>
        </p:nvGrpSpPr>
        <p:grpSpPr>
          <a:xfrm rot="21600000">
            <a:off x="9142476" y="3890771"/>
            <a:ext cx="2706623" cy="2708148"/>
            <a:chOff x="0" y="0"/>
            <a:chExt cx="2706623" cy="2708148"/>
          </a:xfrm>
        </p:grpSpPr>
        <p:pic>
          <p:nvPicPr>
            <p:cNvPr id="3616" name="picture 361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332963"/>
              <a:ext cx="2706623" cy="2375184"/>
            </a:xfrm>
            <a:prstGeom prst="rect">
              <a:avLst/>
            </a:prstGeom>
          </p:spPr>
        </p:pic>
        <p:sp>
          <p:nvSpPr>
            <p:cNvPr id="3618" name="textbox 3618"/>
            <p:cNvSpPr/>
            <p:nvPr/>
          </p:nvSpPr>
          <p:spPr>
            <a:xfrm>
              <a:off x="185140" y="85979"/>
              <a:ext cx="2350135" cy="2498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98194" algn="l" rtl="0" eaLnBrk="0">
                <a:lnSpc>
                  <a:spcPts val="2282"/>
                </a:lnSpc>
                <a:tabLst/>
              </a:pPr>
              <a:r>
                <a:rPr sz="17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Kl</a:t>
              </a:r>
              <a:r>
                <a:rPr sz="1700" b="1" kern="0" spc="-3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aviyo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7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85750" indent="-273684" algn="l" rtl="0" eaLnBrk="0">
                <a:lnSpc>
                  <a:spcPct val="113000"/>
                </a:lnSpc>
                <a:spcBef>
                  <a:spcPts val="371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强大的营销自动化平台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，通过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分析用户消费数据和行为轨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迹，预测其购买意向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8925" indent="-276225" algn="l" rtl="0" eaLnBrk="0">
                <a:lnSpc>
                  <a:spcPct val="113000"/>
                </a:lnSpc>
                <a:spcBef>
                  <a:spcPts val="899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自动触发个性化的邮件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和短信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营销活动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，如购物车召回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、新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品推荐，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以提升用户生命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周期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价值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5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4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https://www.klaviyo.com/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620" name="picture 362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7840" y="2385237"/>
              <a:ext cx="122987" cy="168859"/>
            </a:xfrm>
            <a:prstGeom prst="rect">
              <a:avLst/>
            </a:prstGeom>
          </p:spPr>
        </p:pic>
        <p:pic>
          <p:nvPicPr>
            <p:cNvPr id="3622" name="picture 362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7840" y="1432737"/>
              <a:ext cx="122987" cy="168859"/>
            </a:xfrm>
            <a:prstGeom prst="rect">
              <a:avLst/>
            </a:prstGeom>
          </p:spPr>
        </p:pic>
        <p:pic>
          <p:nvPicPr>
            <p:cNvPr id="3624" name="picture 362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7840" y="699313"/>
              <a:ext cx="122987" cy="168859"/>
            </a:xfrm>
            <a:prstGeom prst="rect">
              <a:avLst/>
            </a:prstGeom>
          </p:spPr>
        </p:pic>
        <p:pic>
          <p:nvPicPr>
            <p:cNvPr id="3626" name="picture 3626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603504" y="0"/>
              <a:ext cx="1501140" cy="533400"/>
            </a:xfrm>
            <a:prstGeom prst="rect">
              <a:avLst/>
            </a:prstGeom>
          </p:spPr>
        </p:pic>
      </p:grpSp>
      <p:grpSp>
        <p:nvGrpSpPr>
          <p:cNvPr id="256" name="group 256"/>
          <p:cNvGrpSpPr/>
          <p:nvPr/>
        </p:nvGrpSpPr>
        <p:grpSpPr>
          <a:xfrm rot="21600000">
            <a:off x="382524" y="989076"/>
            <a:ext cx="2700527" cy="2691383"/>
            <a:chOff x="0" y="0"/>
            <a:chExt cx="2700527" cy="2691383"/>
          </a:xfrm>
        </p:grpSpPr>
        <p:pic>
          <p:nvPicPr>
            <p:cNvPr id="3628" name="picture 362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0" y="0"/>
              <a:ext cx="2700527" cy="2691383"/>
            </a:xfrm>
            <a:prstGeom prst="rect">
              <a:avLst/>
            </a:prstGeom>
          </p:spPr>
        </p:pic>
        <p:sp>
          <p:nvSpPr>
            <p:cNvPr id="3630" name="textbox 3630"/>
            <p:cNvSpPr/>
            <p:nvPr/>
          </p:nvSpPr>
          <p:spPr>
            <a:xfrm>
              <a:off x="-12700" y="-12700"/>
              <a:ext cx="2726054" cy="27285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6409" indent="-279400" algn="l" rtl="0" eaLnBrk="0">
                <a:lnSpc>
                  <a:spcPct val="108000"/>
                </a:lnSpc>
                <a:spcBef>
                  <a:spcPts val="3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对话式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客服平台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，在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自然语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言处理和理解上有深厚积累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意图识别精准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，擅长处理复杂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多轮对话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4505" indent="-277495" algn="l" rtl="0" eaLnBrk="0">
                <a:lnSpc>
                  <a:spcPct val="105000"/>
                </a:lnSpc>
                <a:spcBef>
                  <a:spcPts val="275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并可深度集成百度搜索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、知识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图谱等生态能力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，适合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术底座和定制化能力有要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求的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大型企业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7009" algn="l" rtl="0" eaLnBrk="0">
                <a:lnSpc>
                  <a:spcPct val="105000"/>
                </a:lnSpc>
                <a:spcBef>
                  <a:spcPts val="109"/>
                </a:spcBef>
                <a:tabLst>
                  <a:tab pos="33020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https://cloud.baidu.com/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632" name="picture 363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4792" y="2183688"/>
              <a:ext cx="122986" cy="168859"/>
            </a:xfrm>
            <a:prstGeom prst="rect">
              <a:avLst/>
            </a:prstGeom>
          </p:spPr>
        </p:pic>
        <p:pic>
          <p:nvPicPr>
            <p:cNvPr id="3634" name="picture 3634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94792" y="1381048"/>
              <a:ext cx="122986" cy="168859"/>
            </a:xfrm>
            <a:prstGeom prst="rect">
              <a:avLst/>
            </a:prstGeom>
          </p:spPr>
        </p:pic>
        <p:pic>
          <p:nvPicPr>
            <p:cNvPr id="3636" name="picture 363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94792" y="578408"/>
              <a:ext cx="122986" cy="168859"/>
            </a:xfrm>
            <a:prstGeom prst="rect">
              <a:avLst/>
            </a:prstGeom>
          </p:spPr>
        </p:pic>
      </p:grpSp>
      <p:grpSp>
        <p:nvGrpSpPr>
          <p:cNvPr id="258" name="group 258"/>
          <p:cNvGrpSpPr/>
          <p:nvPr/>
        </p:nvGrpSpPr>
        <p:grpSpPr>
          <a:xfrm rot="21600000">
            <a:off x="379475" y="3921252"/>
            <a:ext cx="2706624" cy="2677667"/>
            <a:chOff x="0" y="0"/>
            <a:chExt cx="2706624" cy="2677667"/>
          </a:xfrm>
        </p:grpSpPr>
        <p:pic>
          <p:nvPicPr>
            <p:cNvPr id="3638" name="picture 3638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0" y="302483"/>
              <a:ext cx="2706624" cy="2375184"/>
            </a:xfrm>
            <a:prstGeom prst="rect">
              <a:avLst/>
            </a:prstGeom>
          </p:spPr>
        </p:pic>
        <p:sp>
          <p:nvSpPr>
            <p:cNvPr id="3640" name="textbox 3640"/>
            <p:cNvSpPr/>
            <p:nvPr/>
          </p:nvSpPr>
          <p:spPr>
            <a:xfrm>
              <a:off x="185140" y="-12700"/>
              <a:ext cx="2350135" cy="25673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63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6850" algn="l" rtl="0" eaLnBrk="0">
                <a:lnSpc>
                  <a:spcPct val="100000"/>
                </a:lnSpc>
                <a:tabLst/>
              </a:pPr>
              <a:r>
                <a:rPr sz="3100" kern="0" spc="-260" dirty="0">
                  <a:solidFill>
                    <a:srgbClr val="324DE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它sale</a:t>
              </a:r>
              <a:r>
                <a:rPr sz="3100" kern="0" spc="-640" dirty="0">
                  <a:solidFill>
                    <a:srgbClr val="324DE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3100" kern="0" spc="-260" dirty="0">
                  <a:solidFill>
                    <a:srgbClr val="324DE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smartly</a:t>
              </a:r>
              <a:endParaRPr sz="3100" dirty="0">
                <a:latin typeface="Arial"/>
                <a:ea typeface="Arial"/>
                <a:cs typeface="Arial"/>
              </a:endParaRPr>
            </a:p>
            <a:p>
              <a:pPr marL="289559" indent="3810" algn="l" rtl="0" eaLnBrk="0">
                <a:lnSpc>
                  <a:spcPct val="118000"/>
                </a:lnSpc>
                <a:spcBef>
                  <a:spcPts val="1229"/>
                </a:spcBef>
                <a:tabLst/>
              </a:pP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专注为跨境独立站和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出海卖家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提供“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客服+营销 ”一体化解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决方案的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SaaS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635" algn="l" rtl="0" eaLnBrk="0">
                <a:lnSpc>
                  <a:spcPct val="114000"/>
                </a:lnSpc>
                <a:spcBef>
                  <a:spcPts val="977"/>
                </a:spcBef>
                <a:tabLst/>
              </a:pPr>
              <a:r>
                <a:rPr sz="1800" kern="0" spc="-10" baseline="-8681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核心能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</a:t>
              </a:r>
              <a:r>
                <a:rPr sz="1800" kern="0" spc="-10" baseline="-8681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1800" kern="0" spc="-20" baseline="-8681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外主流社交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通讯渠道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，并提供自动翻译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营销自动化等功能，</a:t>
              </a:r>
              <a:r>
                <a:rPr sz="12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极高的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性价比帮助卖家管理全球客户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5000"/>
                </a:lnSpc>
                <a:spcBef>
                  <a:spcPts val="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</a:t>
              </a:r>
              <a:r>
                <a:rPr sz="1200" u="sng" kern="0" spc="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://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u="sng" kern="0" spc="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ss</a:t>
              </a:r>
              <a:r>
                <a:rPr sz="1200" u="sng" kern="0" spc="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-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chat</a:t>
              </a:r>
              <a:r>
                <a:rPr sz="1200" u="sng" kern="0" spc="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com</a:t>
              </a:r>
              <a:r>
                <a:rPr sz="1200" u="sng" kern="0" spc="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642" name="picture 3642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7840" y="2354757"/>
              <a:ext cx="122986" cy="168859"/>
            </a:xfrm>
            <a:prstGeom prst="rect">
              <a:avLst/>
            </a:prstGeom>
          </p:spPr>
        </p:pic>
        <p:pic>
          <p:nvPicPr>
            <p:cNvPr id="3644" name="picture 3644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630121" y="1307718"/>
              <a:ext cx="167792" cy="245719"/>
            </a:xfrm>
            <a:prstGeom prst="rect">
              <a:avLst/>
            </a:prstGeom>
          </p:spPr>
        </p:pic>
        <p:pic>
          <p:nvPicPr>
            <p:cNvPr id="3646" name="picture 364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467891" y="1310690"/>
              <a:ext cx="154939" cy="242442"/>
            </a:xfrm>
            <a:prstGeom prst="rect">
              <a:avLst/>
            </a:prstGeom>
          </p:spPr>
        </p:pic>
        <p:pic>
          <p:nvPicPr>
            <p:cNvPr id="3648" name="picture 3648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1248435" y="1290345"/>
              <a:ext cx="219455" cy="264617"/>
            </a:xfrm>
            <a:prstGeom prst="rect">
              <a:avLst/>
            </a:prstGeom>
          </p:spPr>
        </p:pic>
        <p:pic>
          <p:nvPicPr>
            <p:cNvPr id="3650" name="picture 3650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930579" y="1292631"/>
              <a:ext cx="236956" cy="262940"/>
            </a:xfrm>
            <a:prstGeom prst="rect">
              <a:avLst/>
            </a:prstGeom>
          </p:spPr>
        </p:pic>
      </p:grpSp>
      <p:grpSp>
        <p:nvGrpSpPr>
          <p:cNvPr id="260" name="group 260"/>
          <p:cNvGrpSpPr/>
          <p:nvPr/>
        </p:nvGrpSpPr>
        <p:grpSpPr>
          <a:xfrm rot="21600000">
            <a:off x="3304032" y="3936492"/>
            <a:ext cx="2700527" cy="2659379"/>
            <a:chOff x="0" y="0"/>
            <a:chExt cx="2700527" cy="2659379"/>
          </a:xfrm>
        </p:grpSpPr>
        <p:pic>
          <p:nvPicPr>
            <p:cNvPr id="3652" name="picture 3652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0" y="0"/>
              <a:ext cx="2700527" cy="2659379"/>
            </a:xfrm>
            <a:prstGeom prst="rect">
              <a:avLst/>
            </a:prstGeom>
          </p:spPr>
        </p:pic>
        <p:sp>
          <p:nvSpPr>
            <p:cNvPr id="3654" name="textbox 3654"/>
            <p:cNvSpPr/>
            <p:nvPr/>
          </p:nvSpPr>
          <p:spPr>
            <a:xfrm>
              <a:off x="-12700" y="-12700"/>
              <a:ext cx="2726054" cy="26962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5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3869" indent="-278129" algn="l" rtl="0" eaLnBrk="0">
                <a:lnSpc>
                  <a:spcPct val="114000"/>
                </a:lnSpc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一款集成了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聊天机器人的客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户服务软件 ，可自动捕获网站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访客线索并即时响应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2600" indent="-276859" algn="l" rtl="0" eaLnBrk="0">
                <a:lnSpc>
                  <a:spcPct val="116000"/>
                </a:lnSpc>
                <a:spcBef>
                  <a:spcPts val="820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</a:t>
              </a:r>
              <a:r>
                <a:rPr sz="1200" kern="0" spc="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F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  <a:r>
                <a:rPr sz="12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e</a:t>
              </a:r>
              <a:r>
                <a:rPr sz="1200" kern="0" spc="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o</a:t>
              </a:r>
              <a:r>
                <a:rPr sz="1200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o</a:t>
              </a:r>
              <a:r>
                <a:rPr sz="1200" kern="0" spc="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k  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Instagram等多平台消息同步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特别适合中小电商实现客服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05740" algn="l" rtl="0" eaLnBrk="0">
                <a:lnSpc>
                  <a:spcPct val="105000"/>
                </a:lnSpc>
                <a:spcBef>
                  <a:spcPts val="4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7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w.tidio.com/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656" name="picture 3656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 rot="21600000">
              <a:off x="193649" y="2339517"/>
              <a:ext cx="122986" cy="168859"/>
            </a:xfrm>
            <a:prstGeom prst="rect">
              <a:avLst/>
            </a:prstGeom>
          </p:spPr>
        </p:pic>
        <p:pic>
          <p:nvPicPr>
            <p:cNvPr id="3658" name="picture 3658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 rot="21600000">
              <a:off x="193649" y="1387017"/>
              <a:ext cx="122986" cy="168859"/>
            </a:xfrm>
            <a:prstGeom prst="rect">
              <a:avLst/>
            </a:prstGeom>
          </p:spPr>
        </p:pic>
        <p:pic>
          <p:nvPicPr>
            <p:cNvPr id="3660" name="picture 3660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 rot="21600000">
              <a:off x="193649" y="653592"/>
              <a:ext cx="122986" cy="168859"/>
            </a:xfrm>
            <a:prstGeom prst="rect">
              <a:avLst/>
            </a:prstGeom>
          </p:spPr>
        </p:pic>
      </p:grpSp>
      <p:grpSp>
        <p:nvGrpSpPr>
          <p:cNvPr id="262" name="group 262"/>
          <p:cNvGrpSpPr/>
          <p:nvPr/>
        </p:nvGrpSpPr>
        <p:grpSpPr>
          <a:xfrm rot="21600000">
            <a:off x="6222491" y="1309756"/>
            <a:ext cx="2705099" cy="2373751"/>
            <a:chOff x="0" y="0"/>
            <a:chExt cx="2705099" cy="2373751"/>
          </a:xfrm>
        </p:grpSpPr>
        <p:pic>
          <p:nvPicPr>
            <p:cNvPr id="3662" name="picture 3662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21600000">
              <a:off x="0" y="0"/>
              <a:ext cx="2705099" cy="2373751"/>
            </a:xfrm>
            <a:prstGeom prst="rect">
              <a:avLst/>
            </a:prstGeom>
          </p:spPr>
        </p:pic>
        <p:sp>
          <p:nvSpPr>
            <p:cNvPr id="3664" name="textbox 3664"/>
            <p:cNvSpPr/>
            <p:nvPr/>
          </p:nvSpPr>
          <p:spPr>
            <a:xfrm>
              <a:off x="-12700" y="-12700"/>
              <a:ext cx="2730500" cy="24098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5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7495" algn="l" rtl="0" eaLnBrk="0">
                <a:lnSpc>
                  <a:spcPct val="106000"/>
                </a:lnSpc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智能客服方案提供商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，采用自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MPaaS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大模型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编排平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能灵活集成多种主流大模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6225" algn="l" rtl="0" eaLnBrk="0">
                <a:lnSpc>
                  <a:spcPct val="106000"/>
                </a:lnSpc>
                <a:spcBef>
                  <a:spcPts val="24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其核心优势在于高意图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识别准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确率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、开箱即用的工程化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和全渠道一体化服务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在实现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显著降本增效的同时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具备权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威资质背书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8915" algn="l" rtl="0" eaLnBrk="0">
                <a:lnSpc>
                  <a:spcPct val="104000"/>
                </a:lnSpc>
                <a:spcBef>
                  <a:spcPts val="123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https://www.hollycrm.com/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666" name="picture 3666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 rot="21600000">
              <a:off x="196824" y="2063668"/>
              <a:ext cx="122986" cy="168859"/>
            </a:xfrm>
            <a:prstGeom prst="rect">
              <a:avLst/>
            </a:prstGeom>
          </p:spPr>
        </p:pic>
        <p:pic>
          <p:nvPicPr>
            <p:cNvPr id="3668" name="picture 3668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 rot="21600000">
              <a:off x="196824" y="1060368"/>
              <a:ext cx="122986" cy="168859"/>
            </a:xfrm>
            <a:prstGeom prst="rect">
              <a:avLst/>
            </a:prstGeom>
          </p:spPr>
        </p:pic>
        <p:pic>
          <p:nvPicPr>
            <p:cNvPr id="3670" name="picture 3670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 rot="21600000">
              <a:off x="196824" y="257728"/>
              <a:ext cx="122986" cy="168859"/>
            </a:xfrm>
            <a:prstGeom prst="rect">
              <a:avLst/>
            </a:prstGeom>
          </p:spPr>
        </p:pic>
      </p:grpSp>
      <p:pic>
        <p:nvPicPr>
          <p:cNvPr id="3672" name="picture 367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674" name="textbox 3674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AI客户服务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76" name="picture 367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6938771" y="955547"/>
            <a:ext cx="1272540" cy="350520"/>
          </a:xfrm>
          <a:prstGeom prst="rect">
            <a:avLst/>
          </a:prstGeom>
        </p:spPr>
      </p:pic>
      <p:sp>
        <p:nvSpPr>
          <p:cNvPr id="3678" name="textbox 3678"/>
          <p:cNvSpPr/>
          <p:nvPr/>
        </p:nvSpPr>
        <p:spPr>
          <a:xfrm>
            <a:off x="564616" y="4577384"/>
            <a:ext cx="148589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endParaRPr sz="1200" dirty="0">
              <a:latin typeface="MS Gothic"/>
              <a:ea typeface="MS Gothic"/>
              <a:cs typeface="MS Gothic"/>
            </a:endParaRPr>
          </a:p>
        </p:txBody>
      </p:sp>
      <p:pic>
        <p:nvPicPr>
          <p:cNvPr id="3680" name="picture 368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577316" y="4590084"/>
            <a:ext cx="122986" cy="168859"/>
          </a:xfrm>
          <a:prstGeom prst="rect">
            <a:avLst/>
          </a:prstGeom>
        </p:spPr>
      </p:pic>
      <p:sp>
        <p:nvSpPr>
          <p:cNvPr id="3682" name="textbox 3682"/>
          <p:cNvSpPr/>
          <p:nvPr/>
        </p:nvSpPr>
        <p:spPr>
          <a:xfrm>
            <a:off x="564616" y="5310809"/>
            <a:ext cx="148589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endParaRPr sz="1200" dirty="0">
              <a:latin typeface="MS Gothic"/>
              <a:ea typeface="MS Gothic"/>
              <a:cs typeface="MS Gothic"/>
            </a:endParaRPr>
          </a:p>
        </p:txBody>
      </p:sp>
      <p:pic>
        <p:nvPicPr>
          <p:cNvPr id="3684" name="picture 368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77316" y="5323509"/>
            <a:ext cx="122986" cy="16885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" name="picture 36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74480" y="3703320"/>
            <a:ext cx="2706623" cy="2895599"/>
          </a:xfrm>
          <a:prstGeom prst="rect">
            <a:avLst/>
          </a:prstGeom>
        </p:spPr>
      </p:pic>
      <p:grpSp>
        <p:nvGrpSpPr>
          <p:cNvPr id="264" name="group 264"/>
          <p:cNvGrpSpPr/>
          <p:nvPr/>
        </p:nvGrpSpPr>
        <p:grpSpPr>
          <a:xfrm rot="21600000">
            <a:off x="6251448" y="3703320"/>
            <a:ext cx="2700527" cy="2892551"/>
            <a:chOff x="0" y="0"/>
            <a:chExt cx="2700527" cy="2892551"/>
          </a:xfrm>
        </p:grpSpPr>
        <p:pic>
          <p:nvPicPr>
            <p:cNvPr id="3688" name="picture 368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2191"/>
              <a:ext cx="2700527" cy="2880359"/>
            </a:xfrm>
            <a:prstGeom prst="rect">
              <a:avLst/>
            </a:prstGeom>
          </p:spPr>
        </p:pic>
        <p:sp>
          <p:nvSpPr>
            <p:cNvPr id="3690" name="textbox 3690"/>
            <p:cNvSpPr/>
            <p:nvPr/>
          </p:nvSpPr>
          <p:spPr>
            <a:xfrm>
              <a:off x="181838" y="604773"/>
              <a:ext cx="2397125" cy="18345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8925" indent="-276859" algn="l" rtl="0" eaLnBrk="0">
                <a:lnSpc>
                  <a:spcPct val="108000"/>
                </a:lnSpc>
                <a:spcBef>
                  <a:spcPts val="1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自动执行发票查重校验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、收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付款认领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、业财对账及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算税报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税等任务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，协同大模型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技术处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理核算规则匹配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、现金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流类别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指定与异常交易识别等场景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278129" algn="l" rtl="0" eaLnBrk="0">
                <a:lnSpc>
                  <a:spcPct val="107000"/>
                </a:lnSpc>
                <a:spcBef>
                  <a:spcPts val="104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实现财务分析-业务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归因-决策建议-行动闭环管理，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全面提升财务核算质效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04000"/>
                </a:lnSpc>
                <a:spcBef>
                  <a:spcPts val="11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https://www.jdy.com/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692" name="picture 369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4538" y="2240584"/>
              <a:ext cx="122987" cy="168859"/>
            </a:xfrm>
            <a:prstGeom prst="rect">
              <a:avLst/>
            </a:prstGeom>
          </p:spPr>
        </p:pic>
        <p:pic>
          <p:nvPicPr>
            <p:cNvPr id="3694" name="picture 369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4538" y="1638604"/>
              <a:ext cx="122987" cy="168859"/>
            </a:xfrm>
            <a:prstGeom prst="rect">
              <a:avLst/>
            </a:prstGeom>
          </p:spPr>
        </p:pic>
        <p:pic>
          <p:nvPicPr>
            <p:cNvPr id="3696" name="picture 369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4538" y="635304"/>
              <a:ext cx="122987" cy="168859"/>
            </a:xfrm>
            <a:prstGeom prst="rect">
              <a:avLst/>
            </a:prstGeom>
          </p:spPr>
        </p:pic>
        <p:pic>
          <p:nvPicPr>
            <p:cNvPr id="3698" name="picture 369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694944" y="0"/>
              <a:ext cx="1310640" cy="457200"/>
            </a:xfrm>
            <a:prstGeom prst="rect">
              <a:avLst/>
            </a:prstGeom>
          </p:spPr>
        </p:pic>
      </p:grpSp>
      <p:grpSp>
        <p:nvGrpSpPr>
          <p:cNvPr id="266" name="group 266"/>
          <p:cNvGrpSpPr/>
          <p:nvPr/>
        </p:nvGrpSpPr>
        <p:grpSpPr>
          <a:xfrm rot="21600000">
            <a:off x="3325367" y="3715511"/>
            <a:ext cx="2700527" cy="2880359"/>
            <a:chOff x="0" y="0"/>
            <a:chExt cx="2700527" cy="2880359"/>
          </a:xfrm>
        </p:grpSpPr>
        <p:pic>
          <p:nvPicPr>
            <p:cNvPr id="3700" name="picture 37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700527" cy="2880359"/>
            </a:xfrm>
            <a:prstGeom prst="rect">
              <a:avLst/>
            </a:prstGeom>
          </p:spPr>
        </p:pic>
        <p:sp>
          <p:nvSpPr>
            <p:cNvPr id="3702" name="textbox 3702"/>
            <p:cNvSpPr/>
            <p:nvPr/>
          </p:nvSpPr>
          <p:spPr>
            <a:xfrm>
              <a:off x="181838" y="592582"/>
              <a:ext cx="2350135" cy="1635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67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8925" indent="-276225" algn="l" rtl="0" eaLnBrk="0">
                <a:lnSpc>
                  <a:spcPct val="108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供应链自主规划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「运小沓4</a:t>
              </a:r>
              <a:r>
                <a:rPr sz="1200" kern="0" spc="-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.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0」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致力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于推动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供应链智能化迈向全链路自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主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决策新阶段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277495" algn="l" rtl="0" eaLnBrk="0">
                <a:lnSpc>
                  <a:spcPct val="107000"/>
                </a:lnSpc>
                <a:spcBef>
                  <a:spcPts val="129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用户可自主定制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员工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实现从感知 、分析到决策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、执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行的自动化闭环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05000"/>
                </a:lnSpc>
                <a:spcBef>
                  <a:spcPts val="99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ww.oneaix.com/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704" name="picture 370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4538" y="2027732"/>
              <a:ext cx="122986" cy="168859"/>
            </a:xfrm>
            <a:prstGeom prst="rect">
              <a:avLst/>
            </a:prstGeom>
          </p:spPr>
        </p:pic>
        <p:pic>
          <p:nvPicPr>
            <p:cNvPr id="3706" name="picture 370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4538" y="1425752"/>
              <a:ext cx="122986" cy="168859"/>
            </a:xfrm>
            <a:prstGeom prst="rect">
              <a:avLst/>
            </a:prstGeom>
          </p:spPr>
        </p:pic>
        <p:pic>
          <p:nvPicPr>
            <p:cNvPr id="3708" name="picture 370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538" y="623112"/>
              <a:ext cx="122986" cy="168859"/>
            </a:xfrm>
            <a:prstGeom prst="rect">
              <a:avLst/>
            </a:prstGeom>
          </p:spPr>
        </p:pic>
        <p:pic>
          <p:nvPicPr>
            <p:cNvPr id="3710" name="picture 371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370332" y="41147"/>
              <a:ext cx="1958340" cy="350520"/>
            </a:xfrm>
            <a:prstGeom prst="rect">
              <a:avLst/>
            </a:prstGeom>
          </p:spPr>
        </p:pic>
      </p:grpSp>
      <p:pic>
        <p:nvPicPr>
          <p:cNvPr id="3712" name="picture 37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96240" y="3733800"/>
            <a:ext cx="2706624" cy="2865119"/>
          </a:xfrm>
          <a:prstGeom prst="rect">
            <a:avLst/>
          </a:prstGeom>
        </p:spPr>
      </p:pic>
      <p:pic>
        <p:nvPicPr>
          <p:cNvPr id="3714" name="picture 37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9177527" y="865632"/>
            <a:ext cx="2700528" cy="2574035"/>
          </a:xfrm>
          <a:prstGeom prst="rect">
            <a:avLst/>
          </a:prstGeom>
        </p:spPr>
      </p:pic>
      <p:grpSp>
        <p:nvGrpSpPr>
          <p:cNvPr id="268" name="group 268"/>
          <p:cNvGrpSpPr/>
          <p:nvPr/>
        </p:nvGrpSpPr>
        <p:grpSpPr>
          <a:xfrm rot="21600000">
            <a:off x="6248400" y="876300"/>
            <a:ext cx="2706623" cy="2566415"/>
            <a:chOff x="0" y="0"/>
            <a:chExt cx="2706623" cy="2566415"/>
          </a:xfrm>
        </p:grpSpPr>
        <p:pic>
          <p:nvPicPr>
            <p:cNvPr id="3716" name="picture 3716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2706623" cy="2566415"/>
            </a:xfrm>
            <a:prstGeom prst="rect">
              <a:avLst/>
            </a:prstGeom>
          </p:spPr>
        </p:pic>
        <p:sp>
          <p:nvSpPr>
            <p:cNvPr id="3718" name="textbox 3718"/>
            <p:cNvSpPr/>
            <p:nvPr/>
          </p:nvSpPr>
          <p:spPr>
            <a:xfrm>
              <a:off x="-12700" y="-12700"/>
              <a:ext cx="2732404" cy="2603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680" indent="-277495" algn="l" rtl="0" eaLnBrk="0">
                <a:lnSpc>
                  <a:spcPct val="105000"/>
                </a:lnSpc>
                <a:spcBef>
                  <a:spcPts val="4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采购数字化及供应链协同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连接供应商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、采购方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及供应链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各方，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Al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+供应链发展降本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增效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8315" indent="-278129" algn="l" rtl="0" eaLnBrk="0">
                <a:lnSpc>
                  <a:spcPct val="108000"/>
                </a:lnSpc>
                <a:spcBef>
                  <a:spcPts val="100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具备理解复杂业务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场景的能力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，可用于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预测供应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商交付风险和识别价格异常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有效降低供应链风险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10184" algn="l" rtl="0" eaLnBrk="0">
                <a:lnSpc>
                  <a:spcPct val="105000"/>
                </a:lnSpc>
                <a:spcBef>
                  <a:spcPts val="110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8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.51qqt.com/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720" name="picture 372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7586" y="2250109"/>
              <a:ext cx="122987" cy="168859"/>
            </a:xfrm>
            <a:prstGeom prst="rect">
              <a:avLst/>
            </a:prstGeom>
          </p:spPr>
        </p:pic>
        <p:pic>
          <p:nvPicPr>
            <p:cNvPr id="3722" name="picture 372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7586" y="1447469"/>
              <a:ext cx="122987" cy="168859"/>
            </a:xfrm>
            <a:prstGeom prst="rect">
              <a:avLst/>
            </a:prstGeom>
          </p:spPr>
        </p:pic>
        <p:pic>
          <p:nvPicPr>
            <p:cNvPr id="3724" name="picture 3724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7586" y="644829"/>
              <a:ext cx="122987" cy="168859"/>
            </a:xfrm>
            <a:prstGeom prst="rect">
              <a:avLst/>
            </a:prstGeom>
          </p:spPr>
        </p:pic>
      </p:grpSp>
      <p:grpSp>
        <p:nvGrpSpPr>
          <p:cNvPr id="270" name="group 270"/>
          <p:cNvGrpSpPr/>
          <p:nvPr/>
        </p:nvGrpSpPr>
        <p:grpSpPr>
          <a:xfrm rot="21600000">
            <a:off x="3322320" y="905255"/>
            <a:ext cx="2706624" cy="2537459"/>
            <a:chOff x="0" y="0"/>
            <a:chExt cx="2706624" cy="2537459"/>
          </a:xfrm>
        </p:grpSpPr>
        <p:pic>
          <p:nvPicPr>
            <p:cNvPr id="3726" name="picture 372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0"/>
              <a:ext cx="2706624" cy="2537459"/>
            </a:xfrm>
            <a:prstGeom prst="rect">
              <a:avLst/>
            </a:prstGeom>
          </p:spPr>
        </p:pic>
        <p:sp>
          <p:nvSpPr>
            <p:cNvPr id="3728" name="textbox 3728"/>
            <p:cNvSpPr/>
            <p:nvPr/>
          </p:nvSpPr>
          <p:spPr>
            <a:xfrm>
              <a:off x="-12700" y="-12700"/>
              <a:ext cx="2732404" cy="25736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2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6225" algn="l" rtl="0" eaLnBrk="0">
                <a:lnSpc>
                  <a:spcPct val="104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面向大型企业的采购数字化平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，基于云原生技术构建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供高并发的采购协同服务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225" algn="l" rtl="0" eaLnBrk="0">
                <a:lnSpc>
                  <a:spcPct val="105000"/>
                </a:lnSpc>
                <a:spcBef>
                  <a:spcPts val="270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其千机阁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PaaS</a:t>
              </a:r>
              <a:r>
                <a:rPr sz="12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平台支持灵活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配置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，聚贤阁开放平台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则连接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了多家主流电商与服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务商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，形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成采购生态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10184" algn="l" rtl="0" eaLnBrk="0">
                <a:lnSpc>
                  <a:spcPct val="104000"/>
                </a:lnSpc>
                <a:spcBef>
                  <a:spcPts val="115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w.sunyur.com/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730" name="picture 3730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7586" y="2020494"/>
              <a:ext cx="122986" cy="168859"/>
            </a:xfrm>
            <a:prstGeom prst="rect">
              <a:avLst/>
            </a:prstGeom>
          </p:spPr>
        </p:pic>
        <p:pic>
          <p:nvPicPr>
            <p:cNvPr id="3732" name="picture 3732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197586" y="1217853"/>
              <a:ext cx="122986" cy="168859"/>
            </a:xfrm>
            <a:prstGeom prst="rect">
              <a:avLst/>
            </a:prstGeom>
          </p:spPr>
        </p:pic>
        <p:pic>
          <p:nvPicPr>
            <p:cNvPr id="3734" name="picture 3734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97586" y="615873"/>
              <a:ext cx="122986" cy="168859"/>
            </a:xfrm>
            <a:prstGeom prst="rect">
              <a:avLst/>
            </a:prstGeom>
          </p:spPr>
        </p:pic>
      </p:grpSp>
      <p:grpSp>
        <p:nvGrpSpPr>
          <p:cNvPr id="272" name="group 272"/>
          <p:cNvGrpSpPr/>
          <p:nvPr/>
        </p:nvGrpSpPr>
        <p:grpSpPr>
          <a:xfrm rot="21600000">
            <a:off x="399288" y="911352"/>
            <a:ext cx="2700527" cy="2528315"/>
            <a:chOff x="0" y="0"/>
            <a:chExt cx="2700527" cy="2528315"/>
          </a:xfrm>
        </p:grpSpPr>
        <p:pic>
          <p:nvPicPr>
            <p:cNvPr id="3736" name="picture 3736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0" y="7619"/>
              <a:ext cx="2700527" cy="2520696"/>
            </a:xfrm>
            <a:prstGeom prst="rect">
              <a:avLst/>
            </a:prstGeom>
          </p:spPr>
        </p:pic>
        <p:pic>
          <p:nvPicPr>
            <p:cNvPr id="3738" name="picture 3738">
              <a:hlinkClick r:id="rId29" action="ppaction://hlinkfile"/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81736" y="2000757"/>
              <a:ext cx="2337435" cy="401320"/>
            </a:xfrm>
            <a:prstGeom prst="rect">
              <a:avLst/>
            </a:prstGeom>
          </p:spPr>
        </p:pic>
        <p:sp>
          <p:nvSpPr>
            <p:cNvPr id="3740" name="textbox 3740"/>
            <p:cNvSpPr/>
            <p:nvPr/>
          </p:nvSpPr>
          <p:spPr>
            <a:xfrm>
              <a:off x="181838" y="579246"/>
              <a:ext cx="2350770" cy="1854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79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8925" indent="-276859" algn="l" rtl="0" eaLnBrk="0">
                <a:lnSpc>
                  <a:spcPct val="107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JusLink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专注于通过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智能体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提升供应链管理的智能化与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透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明度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1465" indent="-278765" algn="l" rtl="0" eaLnBrk="0">
                <a:lnSpc>
                  <a:spcPct val="105000"/>
                </a:lnSpc>
                <a:spcBef>
                  <a:spcPts val="270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提供生产备料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、成品交付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、运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输查单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、风险预警等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六大领域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的智能解决方案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，利用自然语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言处理技术优化全链路效率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5275" indent="-282575" algn="l" rtl="0" eaLnBrk="0">
                <a:lnSpc>
                  <a:spcPct val="112000"/>
                </a:lnSpc>
                <a:spcBef>
                  <a:spcPts val="120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</a:t>
              </a:r>
              <a:r>
                <a:rPr sz="1200" u="sng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://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u="sng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jusdaglobal</a:t>
              </a:r>
              <a:r>
                <a:rPr sz="1200" u="sng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co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m/en/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742" name="picture 3742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194538" y="2014397"/>
              <a:ext cx="122986" cy="168859"/>
            </a:xfrm>
            <a:prstGeom prst="rect">
              <a:avLst/>
            </a:prstGeom>
          </p:spPr>
        </p:pic>
        <p:pic>
          <p:nvPicPr>
            <p:cNvPr id="3744" name="picture 3744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194538" y="1211757"/>
              <a:ext cx="122986" cy="168859"/>
            </a:xfrm>
            <a:prstGeom prst="rect">
              <a:avLst/>
            </a:prstGeom>
          </p:spPr>
        </p:pic>
        <p:pic>
          <p:nvPicPr>
            <p:cNvPr id="3746" name="picture 374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194538" y="609777"/>
              <a:ext cx="122986" cy="168859"/>
            </a:xfrm>
            <a:prstGeom prst="rect">
              <a:avLst/>
            </a:prstGeom>
          </p:spPr>
        </p:pic>
        <p:pic>
          <p:nvPicPr>
            <p:cNvPr id="3748" name="picture 3748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748283" y="0"/>
              <a:ext cx="1205483" cy="365759"/>
            </a:xfrm>
            <a:prstGeom prst="rect">
              <a:avLst/>
            </a:prstGeom>
          </p:spPr>
        </p:pic>
      </p:grpSp>
      <p:pic>
        <p:nvPicPr>
          <p:cNvPr id="3750" name="picture 3750">
            <a:hlinkClick r:id="rId36" action="ppaction://hlinkfil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9359265" y="6130925"/>
            <a:ext cx="2337434" cy="401320"/>
          </a:xfrm>
          <a:prstGeom prst="rect">
            <a:avLst/>
          </a:prstGeom>
        </p:spPr>
      </p:pic>
      <p:sp>
        <p:nvSpPr>
          <p:cNvPr id="3752" name="textbox 3752"/>
          <p:cNvSpPr/>
          <p:nvPr/>
        </p:nvSpPr>
        <p:spPr>
          <a:xfrm>
            <a:off x="9359366" y="4308094"/>
            <a:ext cx="2350135" cy="2255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语音发起采购需求，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业务场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景运用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RPA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，让采购智能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7000"/>
              </a:lnSpc>
              <a:spcBef>
                <a:spcPts val="24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依托泛微协同管理基因的采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购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管理平台，特色功能覆盖12种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寻源模式的全程电子化招采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以及供应商资质与合同履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约风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险的实时预警系统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保障采购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合规透明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1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weaver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54" name="picture 375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9372066" y="6144564"/>
            <a:ext cx="122987" cy="168859"/>
          </a:xfrm>
          <a:prstGeom prst="rect">
            <a:avLst/>
          </a:prstGeom>
        </p:spPr>
      </p:pic>
      <p:pic>
        <p:nvPicPr>
          <p:cNvPr id="3756" name="picture 375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9372066" y="4940604"/>
            <a:ext cx="122987" cy="168859"/>
          </a:xfrm>
          <a:prstGeom prst="rect">
            <a:avLst/>
          </a:prstGeom>
        </p:spPr>
      </p:pic>
      <p:pic>
        <p:nvPicPr>
          <p:cNvPr id="3758" name="picture 375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9372066" y="4338624"/>
            <a:ext cx="122987" cy="168859"/>
          </a:xfrm>
          <a:prstGeom prst="rect">
            <a:avLst/>
          </a:prstGeom>
        </p:spPr>
      </p:pic>
      <p:pic>
        <p:nvPicPr>
          <p:cNvPr id="3760" name="picture 3760">
            <a:hlinkClick r:id="rId30" action="ppaction://hlinkfile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359265" y="2912109"/>
            <a:ext cx="2337434" cy="401320"/>
          </a:xfrm>
          <a:prstGeom prst="rect">
            <a:avLst/>
          </a:prstGeom>
        </p:spPr>
      </p:pic>
      <p:sp>
        <p:nvSpPr>
          <p:cNvPr id="3762" name="textbox 3762"/>
          <p:cNvSpPr/>
          <p:nvPr/>
        </p:nvSpPr>
        <p:spPr>
          <a:xfrm>
            <a:off x="9359366" y="1508429"/>
            <a:ext cx="2350135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73684" algn="l" rtl="0" eaLnBrk="0">
              <a:lnSpc>
                <a:spcPct val="105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提供产业互联网级别的数字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引擎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，支持全栈式部署，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需求预测引擎实现动态库存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4000"/>
              </a:lnSpc>
              <a:spcBef>
                <a:spcPts val="24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同时整合区块链技术保障跨境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合规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，尤其适合制造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业集群协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同与大型集团的生态构建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2000"/>
              </a:lnSpc>
              <a:spcBef>
                <a:spcPts val="12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shushangyun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64" name="picture 376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9372066" y="2925750"/>
            <a:ext cx="122987" cy="168859"/>
          </a:xfrm>
          <a:prstGeom prst="rect">
            <a:avLst/>
          </a:prstGeom>
        </p:spPr>
      </p:pic>
      <p:pic>
        <p:nvPicPr>
          <p:cNvPr id="3766" name="picture 376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9372066" y="2323769"/>
            <a:ext cx="122987" cy="168859"/>
          </a:xfrm>
          <a:prstGeom prst="rect">
            <a:avLst/>
          </a:prstGeom>
        </p:spPr>
      </p:pic>
      <p:pic>
        <p:nvPicPr>
          <p:cNvPr id="3768" name="picture 376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9372066" y="1521129"/>
            <a:ext cx="122987" cy="168859"/>
          </a:xfrm>
          <a:prstGeom prst="rect">
            <a:avLst/>
          </a:prstGeom>
        </p:spPr>
      </p:pic>
      <p:sp>
        <p:nvSpPr>
          <p:cNvPr id="3770" name="textbox 3770"/>
          <p:cNvSpPr/>
          <p:nvPr/>
        </p:nvSpPr>
        <p:spPr>
          <a:xfrm>
            <a:off x="858494" y="4334764"/>
            <a:ext cx="2073275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67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99000"/>
              </a:lnSpc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深耕国内市场的全场景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解决方案提供商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，提供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经营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、营销推广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、创意生成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效率工具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2000"/>
              </a:lnSpc>
              <a:spcBef>
                <a:spcPts val="133"/>
              </a:spcBef>
              <a:tabLst/>
            </a:pPr>
            <a:r>
              <a:rPr sz="1800" kern="0" spc="-14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提供针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800" kern="0" spc="-14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700" kern="0" spc="50" baseline="9645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800" kern="0" spc="-7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7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饮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70" baseline="-86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、农贸等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行业的定制化功能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如多门店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分账 、冷链监控等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并通过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SaaS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轻量化部署降低企业使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72" name="picture 377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2092865" y="5079730"/>
            <a:ext cx="167792" cy="236343"/>
          </a:xfrm>
          <a:prstGeom prst="rect">
            <a:avLst/>
          </a:prstGeom>
        </p:spPr>
      </p:pic>
      <p:pic>
        <p:nvPicPr>
          <p:cNvPr id="3774" name="picture 377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1586458" y="5062981"/>
            <a:ext cx="219455" cy="250447"/>
          </a:xfrm>
          <a:prstGeom prst="rect">
            <a:avLst/>
          </a:prstGeom>
        </p:spPr>
      </p:pic>
      <p:pic>
        <p:nvPicPr>
          <p:cNvPr id="3776" name="picture 377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1276273" y="5065185"/>
            <a:ext cx="238175" cy="246920"/>
          </a:xfrm>
          <a:prstGeom prst="rect">
            <a:avLst/>
          </a:prstGeom>
        </p:spPr>
      </p:pic>
      <p:pic>
        <p:nvPicPr>
          <p:cNvPr id="3778" name="picture 377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780" name="textbox 3780"/>
          <p:cNvSpPr/>
          <p:nvPr/>
        </p:nvSpPr>
        <p:spPr>
          <a:xfrm>
            <a:off x="82291" y="-31740"/>
            <a:ext cx="3051810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供应链管理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82" name="textbox 3782"/>
          <p:cNvSpPr/>
          <p:nvPr/>
        </p:nvSpPr>
        <p:spPr>
          <a:xfrm>
            <a:off x="581126" y="5944006"/>
            <a:ext cx="2331085" cy="400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86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用门槛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5000"/>
              </a:lnSpc>
              <a:spcBef>
                <a:spcPts val="10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w.77ircloud.com/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84" name="picture 378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93826" y="6144564"/>
            <a:ext cx="122986" cy="168859"/>
          </a:xfrm>
          <a:prstGeom prst="rect">
            <a:avLst/>
          </a:prstGeom>
        </p:spPr>
      </p:pic>
      <p:sp>
        <p:nvSpPr>
          <p:cNvPr id="3786" name="textbox 3786"/>
          <p:cNvSpPr/>
          <p:nvPr/>
        </p:nvSpPr>
        <p:spPr>
          <a:xfrm>
            <a:off x="581126" y="4325924"/>
            <a:ext cx="148589" cy="100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endParaRPr sz="12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endParaRPr sz="1200" dirty="0">
              <a:latin typeface="MS Gothic"/>
              <a:ea typeface="MS Gothic"/>
              <a:cs typeface="MS Gothic"/>
            </a:endParaRPr>
          </a:p>
        </p:txBody>
      </p:sp>
      <p:pic>
        <p:nvPicPr>
          <p:cNvPr id="3788" name="picture 378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593826" y="5141264"/>
            <a:ext cx="122986" cy="168859"/>
          </a:xfrm>
          <a:prstGeom prst="rect">
            <a:avLst/>
          </a:prstGeom>
        </p:spPr>
      </p:pic>
      <p:pic>
        <p:nvPicPr>
          <p:cNvPr id="3790" name="picture 3790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593826" y="4338624"/>
            <a:ext cx="122986" cy="16885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2" name="picture 37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4904" y="836676"/>
            <a:ext cx="2700527" cy="2743200"/>
          </a:xfrm>
          <a:prstGeom prst="rect">
            <a:avLst/>
          </a:prstGeom>
        </p:spPr>
      </p:pic>
      <p:grpSp>
        <p:nvGrpSpPr>
          <p:cNvPr id="274" name="group 274"/>
          <p:cNvGrpSpPr/>
          <p:nvPr/>
        </p:nvGrpSpPr>
        <p:grpSpPr>
          <a:xfrm rot="21600000">
            <a:off x="3297935" y="862583"/>
            <a:ext cx="2706623" cy="2720340"/>
            <a:chOff x="0" y="0"/>
            <a:chExt cx="2706623" cy="2720340"/>
          </a:xfrm>
        </p:grpSpPr>
        <p:pic>
          <p:nvPicPr>
            <p:cNvPr id="3794" name="picture 379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06623" cy="2720340"/>
            </a:xfrm>
            <a:prstGeom prst="rect">
              <a:avLst/>
            </a:prstGeom>
          </p:spPr>
        </p:pic>
        <p:sp>
          <p:nvSpPr>
            <p:cNvPr id="3796" name="textbox 3796"/>
            <p:cNvSpPr/>
            <p:nvPr/>
          </p:nvSpPr>
          <p:spPr>
            <a:xfrm>
              <a:off x="-12700" y="-12700"/>
              <a:ext cx="2732404" cy="2757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8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7044" indent="-277495" algn="l" rtl="0" eaLnBrk="0">
                <a:lnSpc>
                  <a:spcPct val="105000"/>
                </a:lnSpc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专注于大中型企业人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力资源数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字化的解决方案，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高安全性的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私有化部署和基于低代码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的灵活定制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680" indent="-278129" algn="l" rtl="0" eaLnBrk="0">
                <a:lnSpc>
                  <a:spcPct val="108000"/>
                </a:lnSpc>
                <a:spcBef>
                  <a:spcPts val="102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能力覆盖智能简历解析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字人面试官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、智能人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岗匹配等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场景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，深度适配国企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和大型集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团的复杂组织架构与合规要求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05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https://www.hr-so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4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ft.cn/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798" name="picture 379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7205" y="2224456"/>
              <a:ext cx="122986" cy="168859"/>
            </a:xfrm>
            <a:prstGeom prst="rect">
              <a:avLst/>
            </a:prstGeom>
          </p:spPr>
        </p:pic>
        <p:pic>
          <p:nvPicPr>
            <p:cNvPr id="3800" name="picture 38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7205" y="1421816"/>
              <a:ext cx="122986" cy="168859"/>
            </a:xfrm>
            <a:prstGeom prst="rect">
              <a:avLst/>
            </a:prstGeom>
          </p:spPr>
        </p:pic>
        <p:pic>
          <p:nvPicPr>
            <p:cNvPr id="3802" name="picture 380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7205" y="619176"/>
              <a:ext cx="122986" cy="168859"/>
            </a:xfrm>
            <a:prstGeom prst="rect">
              <a:avLst/>
            </a:prstGeom>
          </p:spPr>
        </p:pic>
      </p:grpSp>
      <p:pic>
        <p:nvPicPr>
          <p:cNvPr id="3804" name="picture 38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71856" y="3767328"/>
            <a:ext cx="2706624" cy="2706624"/>
          </a:xfrm>
          <a:prstGeom prst="rect">
            <a:avLst/>
          </a:prstGeom>
        </p:spPr>
      </p:pic>
      <p:grpSp>
        <p:nvGrpSpPr>
          <p:cNvPr id="276" name="group 276"/>
          <p:cNvGrpSpPr/>
          <p:nvPr/>
        </p:nvGrpSpPr>
        <p:grpSpPr>
          <a:xfrm rot="21600000">
            <a:off x="3300983" y="3774947"/>
            <a:ext cx="2700528" cy="2695956"/>
            <a:chOff x="0" y="0"/>
            <a:chExt cx="2700528" cy="2695956"/>
          </a:xfrm>
        </p:grpSpPr>
        <p:pic>
          <p:nvPicPr>
            <p:cNvPr id="3806" name="picture 380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700528" cy="2695956"/>
            </a:xfrm>
            <a:prstGeom prst="rect">
              <a:avLst/>
            </a:prstGeom>
          </p:spPr>
        </p:pic>
        <p:sp>
          <p:nvSpPr>
            <p:cNvPr id="3808" name="textbox 3808"/>
            <p:cNvSpPr/>
            <p:nvPr/>
          </p:nvSpPr>
          <p:spPr>
            <a:xfrm>
              <a:off x="-12700" y="-12700"/>
              <a:ext cx="2726054" cy="27330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08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2600" indent="-276225" algn="l" rtl="0" eaLnBrk="0">
                <a:lnSpc>
                  <a:spcPct val="111000"/>
                </a:lnSpc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数字员工“小爱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”和AI智能体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覆盖招聘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、绩效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、员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工服务全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流程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。支持智能JD生成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简历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筛选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、AI面试官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80670" algn="l" rtl="0" eaLnBrk="0">
                <a:lnSpc>
                  <a:spcPct val="105000"/>
                </a:lnSpc>
                <a:spcBef>
                  <a:spcPts val="9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绩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效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评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估 、法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务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咨</a:t>
              </a:r>
              <a:r>
                <a:rPr sz="12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询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24员工服务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实现流程自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动化与数据驱动决策，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幅提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升HR效率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0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https://www.ihr36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0.com/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810" name="picture 381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4157" y="2182291"/>
              <a:ext cx="122986" cy="168859"/>
            </a:xfrm>
            <a:prstGeom prst="rect">
              <a:avLst/>
            </a:prstGeom>
          </p:spPr>
        </p:pic>
        <p:pic>
          <p:nvPicPr>
            <p:cNvPr id="3812" name="picture 381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4157" y="1379651"/>
              <a:ext cx="122986" cy="168859"/>
            </a:xfrm>
            <a:prstGeom prst="rect">
              <a:avLst/>
            </a:prstGeom>
          </p:spPr>
        </p:pic>
        <p:pic>
          <p:nvPicPr>
            <p:cNvPr id="3814" name="picture 381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157" y="577011"/>
              <a:ext cx="122986" cy="168859"/>
            </a:xfrm>
            <a:prstGeom prst="rect">
              <a:avLst/>
            </a:prstGeom>
          </p:spPr>
        </p:pic>
      </p:grpSp>
      <p:pic>
        <p:nvPicPr>
          <p:cNvPr id="3816" name="picture 38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153144" y="886574"/>
            <a:ext cx="2700528" cy="2693301"/>
          </a:xfrm>
          <a:prstGeom prst="rect">
            <a:avLst/>
          </a:prstGeom>
        </p:spPr>
      </p:pic>
      <p:grpSp>
        <p:nvGrpSpPr>
          <p:cNvPr id="278" name="group 278"/>
          <p:cNvGrpSpPr/>
          <p:nvPr/>
        </p:nvGrpSpPr>
        <p:grpSpPr>
          <a:xfrm rot="21600000">
            <a:off x="6227063" y="3794759"/>
            <a:ext cx="2700527" cy="2677668"/>
            <a:chOff x="0" y="0"/>
            <a:chExt cx="2700527" cy="2677668"/>
          </a:xfrm>
        </p:grpSpPr>
        <p:pic>
          <p:nvPicPr>
            <p:cNvPr id="3818" name="picture 381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156972"/>
              <a:ext cx="2700527" cy="2520696"/>
            </a:xfrm>
            <a:prstGeom prst="rect">
              <a:avLst/>
            </a:prstGeom>
          </p:spPr>
        </p:pic>
        <p:sp>
          <p:nvSpPr>
            <p:cNvPr id="3820" name="textbox 3820"/>
            <p:cNvSpPr/>
            <p:nvPr/>
          </p:nvSpPr>
          <p:spPr>
            <a:xfrm>
              <a:off x="-12700" y="-12700"/>
              <a:ext cx="2726054" cy="27146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00709" algn="l" rtl="0" eaLnBrk="0">
                <a:lnSpc>
                  <a:spcPts val="2675"/>
                </a:lnSpc>
                <a:tabLst/>
              </a:pPr>
              <a:r>
                <a:rPr sz="3600" kern="0" spc="2090" dirty="0">
                  <a:solidFill>
                    <a:srgbClr val="5C99D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sz="3600" kern="0" spc="-790" dirty="0">
                  <a:solidFill>
                    <a:srgbClr val="5C99D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-460" dirty="0">
                  <a:solidFill>
                    <a:srgbClr val="5C99D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Moka</a:t>
              </a:r>
              <a:endParaRPr sz="36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79425" indent="-273684" algn="l" rtl="0" eaLnBrk="0">
                <a:lnSpc>
                  <a:spcPct val="104000"/>
                </a:lnSpc>
                <a:spcBef>
                  <a:spcPts val="363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一款基于大语言模型的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新一代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HR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SaaS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，无缝集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HR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的日常工作场景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7495" algn="l" rtl="0" eaLnBrk="0">
                <a:lnSpc>
                  <a:spcPct val="106000"/>
                </a:lnSpc>
                <a:spcBef>
                  <a:spcPts val="281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其智能招聘助手可自动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完成大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量简历初筛工作并通过深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度分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析实现人岗匹配，</a:t>
              </a:r>
              <a:r>
                <a:rPr sz="12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旨在极大提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升招聘效率，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为企业提供数据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驱动的招聘洞察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5740" algn="l" rtl="0" eaLnBrk="0">
                <a:lnSpc>
                  <a:spcPct val="105000"/>
                </a:lnSpc>
                <a:spcBef>
                  <a:spcPts val="99"/>
                </a:spcBef>
                <a:tabLst>
                  <a:tab pos="328929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https://www.mokahr.com/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822" name="picture 3822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3522" y="2162479"/>
              <a:ext cx="122987" cy="168859"/>
            </a:xfrm>
            <a:prstGeom prst="rect">
              <a:avLst/>
            </a:prstGeom>
          </p:spPr>
        </p:pic>
        <p:pic>
          <p:nvPicPr>
            <p:cNvPr id="3824" name="picture 382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3522" y="1159179"/>
              <a:ext cx="122987" cy="168859"/>
            </a:xfrm>
            <a:prstGeom prst="rect">
              <a:avLst/>
            </a:prstGeom>
          </p:spPr>
        </p:pic>
        <p:pic>
          <p:nvPicPr>
            <p:cNvPr id="3826" name="picture 382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3522" y="557199"/>
              <a:ext cx="122987" cy="168859"/>
            </a:xfrm>
            <a:prstGeom prst="rect">
              <a:avLst/>
            </a:prstGeom>
          </p:spPr>
        </p:pic>
      </p:grpSp>
      <p:grpSp>
        <p:nvGrpSpPr>
          <p:cNvPr id="280" name="group 280"/>
          <p:cNvGrpSpPr/>
          <p:nvPr/>
        </p:nvGrpSpPr>
        <p:grpSpPr>
          <a:xfrm rot="21600000">
            <a:off x="6224015" y="929639"/>
            <a:ext cx="2706624" cy="2653284"/>
            <a:chOff x="0" y="0"/>
            <a:chExt cx="2706624" cy="2653284"/>
          </a:xfrm>
        </p:grpSpPr>
        <p:pic>
          <p:nvPicPr>
            <p:cNvPr id="3828" name="picture 382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2706624" cy="2653284"/>
            </a:xfrm>
            <a:prstGeom prst="rect">
              <a:avLst/>
            </a:prstGeom>
          </p:spPr>
        </p:pic>
        <p:sp>
          <p:nvSpPr>
            <p:cNvPr id="3830" name="textbox 3830"/>
            <p:cNvSpPr/>
            <p:nvPr/>
          </p:nvSpPr>
          <p:spPr>
            <a:xfrm>
              <a:off x="-12700" y="-12700"/>
              <a:ext cx="2732404" cy="26904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6409" indent="-276859" algn="l" rtl="0" eaLnBrk="0">
                <a:lnSpc>
                  <a:spcPct val="104000"/>
                </a:lnSpc>
                <a:spcBef>
                  <a:spcPts val="6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一体化云端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HCM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SaaS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提供从招聘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、测评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、绩效到核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心人事的全流程管理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10000"/>
                </a:lnSpc>
                <a:spcBef>
                  <a:spcPts val="78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“北森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Family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”包含7大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助手覆盖30多个业务场景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，基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于人才管理技术知识形成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垂直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行业模型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，助力中大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型企业实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现人才管理的规模化AI应用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4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https://www.beis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en.com/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832" name="picture 3832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7205" y="2157400"/>
              <a:ext cx="122986" cy="168859"/>
            </a:xfrm>
            <a:prstGeom prst="rect">
              <a:avLst/>
            </a:prstGeom>
          </p:spPr>
        </p:pic>
        <p:pic>
          <p:nvPicPr>
            <p:cNvPr id="3834" name="picture 3834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7205" y="1154100"/>
              <a:ext cx="122986" cy="168859"/>
            </a:xfrm>
            <a:prstGeom prst="rect">
              <a:avLst/>
            </a:prstGeom>
          </p:spPr>
        </p:pic>
        <p:pic>
          <p:nvPicPr>
            <p:cNvPr id="3836" name="picture 3836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97205" y="552120"/>
              <a:ext cx="122986" cy="168859"/>
            </a:xfrm>
            <a:prstGeom prst="rect">
              <a:avLst/>
            </a:prstGeom>
          </p:spPr>
        </p:pic>
      </p:grpSp>
      <p:pic>
        <p:nvPicPr>
          <p:cNvPr id="3838" name="picture 383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150096" y="4100291"/>
            <a:ext cx="2706623" cy="2375184"/>
          </a:xfrm>
          <a:prstGeom prst="rect">
            <a:avLst/>
          </a:prstGeom>
        </p:spPr>
      </p:pic>
      <p:pic>
        <p:nvPicPr>
          <p:cNvPr id="3840" name="picture 3840">
            <a:hlinkClick r:id="rId27" action="ppaction://hlinkfile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334500" y="5943600"/>
            <a:ext cx="2337434" cy="401319"/>
          </a:xfrm>
          <a:prstGeom prst="rect">
            <a:avLst/>
          </a:prstGeom>
        </p:spPr>
      </p:pic>
      <p:sp>
        <p:nvSpPr>
          <p:cNvPr id="3842" name="textbox 3842"/>
          <p:cNvSpPr/>
          <p:nvPr/>
        </p:nvSpPr>
        <p:spPr>
          <a:xfrm>
            <a:off x="9334601" y="3699763"/>
            <a:ext cx="2350135" cy="2676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6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5794" algn="l" rtl="0" eaLnBrk="0">
              <a:lnSpc>
                <a:spcPct val="85000"/>
              </a:lnSpc>
              <a:tabLst/>
            </a:pPr>
            <a:r>
              <a:rPr sz="3900" kern="0" spc="60" dirty="0">
                <a:solidFill>
                  <a:srgbClr val="8895A6">
                    <a:alpha val="100000"/>
                  </a:srgbClr>
                </a:solidFill>
                <a:latin typeface="Arial"/>
                <a:ea typeface="Arial"/>
                <a:cs typeface="Arial"/>
              </a:rPr>
              <a:t>wmy</a:t>
            </a:r>
            <a:endParaRPr sz="39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4000"/>
              </a:lnSpc>
              <a:spcBef>
                <a:spcPts val="107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全球知名的云端财务和人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力资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本管理解决方案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，将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为平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台核心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08000"/>
              </a:lnSpc>
              <a:spcBef>
                <a:spcPts val="11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提供由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驱动的一站式人力资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源管理和人才情报分析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，其强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大的分析预测能力旨在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优化员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工队伍管理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，主要服务于大型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与超大型企业客户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12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https://www.workday.com.c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44" name="picture 384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347301" y="5957239"/>
            <a:ext cx="122987" cy="168859"/>
          </a:xfrm>
          <a:prstGeom prst="rect">
            <a:avLst/>
          </a:prstGeom>
        </p:spPr>
      </p:pic>
      <p:pic>
        <p:nvPicPr>
          <p:cNvPr id="3846" name="picture 384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347301" y="4953939"/>
            <a:ext cx="122987" cy="168859"/>
          </a:xfrm>
          <a:prstGeom prst="rect">
            <a:avLst/>
          </a:prstGeom>
        </p:spPr>
      </p:pic>
      <p:pic>
        <p:nvPicPr>
          <p:cNvPr id="3848" name="picture 384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9347301" y="4351959"/>
            <a:ext cx="122987" cy="168859"/>
          </a:xfrm>
          <a:prstGeom prst="rect">
            <a:avLst/>
          </a:prstGeom>
        </p:spPr>
      </p:pic>
      <p:pic>
        <p:nvPicPr>
          <p:cNvPr id="3850" name="picture 3850">
            <a:hlinkClick r:id="rId33" action="ppaction://hlinkfile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334500" y="3073400"/>
            <a:ext cx="2337434" cy="401320"/>
          </a:xfrm>
          <a:prstGeom prst="rect">
            <a:avLst/>
          </a:prstGeom>
        </p:spPr>
      </p:pic>
      <p:sp>
        <p:nvSpPr>
          <p:cNvPr id="3852" name="textbox 3852"/>
          <p:cNvSpPr/>
          <p:nvPr/>
        </p:nvSpPr>
        <p:spPr>
          <a:xfrm>
            <a:off x="9334601" y="946404"/>
            <a:ext cx="2350135" cy="2540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01725" indent="-1270" algn="l" rtl="0" eaLnBrk="0">
              <a:lnSpc>
                <a:spcPct val="92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星瀚人力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云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8000"/>
              </a:lnSpc>
              <a:spcBef>
                <a:spcPts val="19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金蝶面向大型及超大型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企业打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造的HR全球数字化平台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，强调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“人财一体化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”深度融合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08000"/>
              </a:lnSpc>
              <a:spcBef>
                <a:spcPts val="12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基于金蝶云</a:t>
            </a:r>
            <a:r>
              <a:rPr sz="12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·苍穹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GPT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力提供个性化学习路径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、人才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评估与发展等服务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，依托金蝶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生态实现与财务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、业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务系统的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无缝集成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07000"/>
              </a:lnSpc>
              <a:spcBef>
                <a:spcPts val="11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https://www.kingdee.c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om/p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roducts/cosmic_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hr.html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54" name="picture 385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9347301" y="3087039"/>
            <a:ext cx="122987" cy="168859"/>
          </a:xfrm>
          <a:prstGeom prst="rect">
            <a:avLst/>
          </a:prstGeom>
        </p:spPr>
      </p:pic>
      <p:pic>
        <p:nvPicPr>
          <p:cNvPr id="3856" name="picture 385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9347301" y="2083739"/>
            <a:ext cx="122987" cy="168859"/>
          </a:xfrm>
          <a:prstGeom prst="rect">
            <a:avLst/>
          </a:prstGeom>
        </p:spPr>
      </p:pic>
      <p:pic>
        <p:nvPicPr>
          <p:cNvPr id="3858" name="picture 385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9347301" y="1481759"/>
            <a:ext cx="122987" cy="168859"/>
          </a:xfrm>
          <a:prstGeom prst="rect">
            <a:avLst/>
          </a:prstGeom>
        </p:spPr>
      </p:pic>
      <p:pic>
        <p:nvPicPr>
          <p:cNvPr id="3860" name="picture 3860">
            <a:hlinkClick r:id="rId38" action="ppaction://hlinkfile"/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556259" y="2872740"/>
            <a:ext cx="2337435" cy="401319"/>
          </a:xfrm>
          <a:prstGeom prst="rect">
            <a:avLst/>
          </a:prstGeom>
        </p:spPr>
      </p:pic>
      <p:sp>
        <p:nvSpPr>
          <p:cNvPr id="3862" name="textbox 3862"/>
          <p:cNvSpPr/>
          <p:nvPr/>
        </p:nvSpPr>
        <p:spPr>
          <a:xfrm>
            <a:off x="556361" y="1469059"/>
            <a:ext cx="2350770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05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数据驱动的一体化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HR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SaaS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台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，致力于为企业提供覆盖人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力资源全模块的数字化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解决方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4000"/>
              </a:lnSpc>
              <a:spcBef>
                <a:spcPts val="24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产品旨在帮助企业实现人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力资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源管理的自动化和智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能化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通过数据洞察赋能业务决策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12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xinrenxinshi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64" name="picture 386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569061" y="2886379"/>
            <a:ext cx="122986" cy="168859"/>
          </a:xfrm>
          <a:prstGeom prst="rect">
            <a:avLst/>
          </a:prstGeom>
        </p:spPr>
      </p:pic>
      <p:pic>
        <p:nvPicPr>
          <p:cNvPr id="3866" name="picture 386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569061" y="2284400"/>
            <a:ext cx="122986" cy="168859"/>
          </a:xfrm>
          <a:prstGeom prst="rect">
            <a:avLst/>
          </a:prstGeom>
        </p:spPr>
      </p:pic>
      <p:pic>
        <p:nvPicPr>
          <p:cNvPr id="3868" name="picture 386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569061" y="1481759"/>
            <a:ext cx="122986" cy="168859"/>
          </a:xfrm>
          <a:prstGeom prst="rect">
            <a:avLst/>
          </a:prstGeom>
        </p:spPr>
      </p:pic>
      <p:sp>
        <p:nvSpPr>
          <p:cNvPr id="3870" name="textbox 3870"/>
          <p:cNvSpPr/>
          <p:nvPr/>
        </p:nvSpPr>
        <p:spPr>
          <a:xfrm>
            <a:off x="830376" y="4321428"/>
            <a:ext cx="2125979" cy="140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73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105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人力资源管理整体解决方案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提供商，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通过“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数据底座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能力+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智能中枢 ”构建人机智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能共生体系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7779" indent="-2540" algn="l" rtl="0" eaLnBrk="0">
              <a:lnSpc>
                <a:spcPct val="98000"/>
              </a:lnSpc>
              <a:spcBef>
                <a:spcPts val="12"/>
              </a:spcBef>
              <a:tabLst/>
            </a:pPr>
            <a:r>
              <a:rPr sz="1700" kern="0" spc="-60" baseline="-306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在智能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700" kern="0" spc="-60" baseline="-306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聘</a:t>
            </a:r>
            <a:r>
              <a:rPr sz="2600" kern="0" spc="-30" baseline="2003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蚁</a:t>
            </a:r>
            <a:r>
              <a:rPr sz="1700" kern="0" spc="-30" baseline="-306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700" kern="0" spc="-30" baseline="-306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人事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40" baseline="-306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、薪酬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监管等场景实现全链路智能化，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深度适配“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三全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”监管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等国资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72" name="picture 387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2112423" y="5113769"/>
            <a:ext cx="167792" cy="200737"/>
          </a:xfrm>
          <a:prstGeom prst="rect">
            <a:avLst/>
          </a:prstGeom>
        </p:spPr>
      </p:pic>
      <p:pic>
        <p:nvPicPr>
          <p:cNvPr id="3874" name="picture 387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1950193" y="5116696"/>
            <a:ext cx="154939" cy="190157"/>
          </a:xfrm>
          <a:prstGeom prst="rect">
            <a:avLst/>
          </a:prstGeom>
        </p:spPr>
      </p:pic>
      <p:pic>
        <p:nvPicPr>
          <p:cNvPr id="3876" name="picture 387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254861" y="5098913"/>
            <a:ext cx="237871" cy="214243"/>
          </a:xfrm>
          <a:prstGeom prst="rect">
            <a:avLst/>
          </a:prstGeom>
        </p:spPr>
      </p:pic>
      <p:pic>
        <p:nvPicPr>
          <p:cNvPr id="3878" name="picture 387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3880" name="textbox 3880"/>
          <p:cNvSpPr/>
          <p:nvPr/>
        </p:nvSpPr>
        <p:spPr>
          <a:xfrm>
            <a:off x="82291" y="-31740"/>
            <a:ext cx="356044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人力资源管理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82" name="picture 3882">
            <a:hlinkClick r:id="rId28" action="ppaction://hlinkfile"/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556259" y="5943600"/>
            <a:ext cx="2337435" cy="401319"/>
          </a:xfrm>
          <a:prstGeom prst="rect">
            <a:avLst/>
          </a:prstGeom>
        </p:spPr>
      </p:pic>
      <p:sp>
        <p:nvSpPr>
          <p:cNvPr id="3884" name="textbox 3884"/>
          <p:cNvSpPr/>
          <p:nvPr/>
        </p:nvSpPr>
        <p:spPr>
          <a:xfrm>
            <a:off x="556361" y="5756833"/>
            <a:ext cx="2350135" cy="619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86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1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hcmcloud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86" name="picture 388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569061" y="5957239"/>
            <a:ext cx="122986" cy="168859"/>
          </a:xfrm>
          <a:prstGeom prst="rect">
            <a:avLst/>
          </a:prstGeom>
        </p:spPr>
      </p:pic>
      <p:sp>
        <p:nvSpPr>
          <p:cNvPr id="3888" name="textbox 3888"/>
          <p:cNvSpPr/>
          <p:nvPr/>
        </p:nvSpPr>
        <p:spPr>
          <a:xfrm>
            <a:off x="556361" y="4339259"/>
            <a:ext cx="148589" cy="100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endParaRPr sz="12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endParaRPr sz="1200" dirty="0">
              <a:latin typeface="MS Gothic"/>
              <a:ea typeface="MS Gothic"/>
              <a:cs typeface="MS Gothic"/>
            </a:endParaRPr>
          </a:p>
        </p:txBody>
      </p:sp>
      <p:pic>
        <p:nvPicPr>
          <p:cNvPr id="3890" name="picture 389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569061" y="5154599"/>
            <a:ext cx="122986" cy="168859"/>
          </a:xfrm>
          <a:prstGeom prst="rect">
            <a:avLst/>
          </a:prstGeom>
        </p:spPr>
      </p:pic>
      <p:pic>
        <p:nvPicPr>
          <p:cNvPr id="3892" name="picture 3892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69061" y="4351959"/>
            <a:ext cx="122986" cy="16885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4" name="picture 38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4131" y="3717035"/>
            <a:ext cx="2706623" cy="2918460"/>
          </a:xfrm>
          <a:prstGeom prst="rect">
            <a:avLst/>
          </a:prstGeom>
        </p:spPr>
      </p:pic>
      <p:pic>
        <p:nvPicPr>
          <p:cNvPr id="3896" name="picture 38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247631" y="3720083"/>
            <a:ext cx="2706623" cy="2915412"/>
          </a:xfrm>
          <a:prstGeom prst="rect">
            <a:avLst/>
          </a:prstGeom>
        </p:spPr>
      </p:pic>
      <p:pic>
        <p:nvPicPr>
          <p:cNvPr id="3898" name="picture 38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66688" y="3726180"/>
            <a:ext cx="2700528" cy="2906267"/>
          </a:xfrm>
          <a:prstGeom prst="rect">
            <a:avLst/>
          </a:prstGeom>
        </p:spPr>
      </p:pic>
      <p:grpSp>
        <p:nvGrpSpPr>
          <p:cNvPr id="282" name="group 282"/>
          <p:cNvGrpSpPr/>
          <p:nvPr/>
        </p:nvGrpSpPr>
        <p:grpSpPr>
          <a:xfrm rot="21600000">
            <a:off x="316991" y="687323"/>
            <a:ext cx="2699004" cy="2784347"/>
            <a:chOff x="0" y="0"/>
            <a:chExt cx="2699004" cy="2784347"/>
          </a:xfrm>
        </p:grpSpPr>
        <p:pic>
          <p:nvPicPr>
            <p:cNvPr id="3900" name="picture 3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99004" cy="2784347"/>
            </a:xfrm>
            <a:prstGeom prst="rect">
              <a:avLst/>
            </a:prstGeom>
          </p:spPr>
        </p:pic>
        <p:sp>
          <p:nvSpPr>
            <p:cNvPr id="3902" name="textbox 3902"/>
            <p:cNvSpPr/>
            <p:nvPr/>
          </p:nvSpPr>
          <p:spPr>
            <a:xfrm>
              <a:off x="-12700" y="-12700"/>
              <a:ext cx="2724785" cy="2820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2600" indent="-277495" algn="l" rtl="0" eaLnBrk="0">
                <a:lnSpc>
                  <a:spcPct val="107000"/>
                </a:lnSpc>
                <a:spcBef>
                  <a:spcPts val="3"/>
                </a:spcBef>
                <a:tabLst>
                  <a:tab pos="3282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以同方知网的华知大模型为技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术底座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，整合农业科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技文献与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专业数据资源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，具备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自然语言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处理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、计算机视觉及多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模态能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力，支持标量数据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、全文数据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向量数据的混合查询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869" indent="-278765" algn="l" rtl="0" eaLnBrk="0">
                <a:lnSpc>
                  <a:spcPct val="104000"/>
                </a:lnSpc>
                <a:spcBef>
                  <a:spcPts val="264"/>
                </a:spcBef>
                <a:tabLst>
                  <a:tab pos="3282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应用场景覆盖农业科技创新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生产服务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、知识科普及辅助决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策等领域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5104" algn="l" rtl="0" eaLnBrk="0">
                <a:lnSpc>
                  <a:spcPct val="104000"/>
                </a:lnSpc>
                <a:spcBef>
                  <a:spcPts val="114"/>
                </a:spcBef>
                <a:tabLst>
                  <a:tab pos="32829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https://ai.agri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know.cn/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904" name="picture 390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3014" y="2490520"/>
              <a:ext cx="122986" cy="168859"/>
            </a:xfrm>
            <a:prstGeom prst="rect">
              <a:avLst/>
            </a:prstGeom>
          </p:spPr>
        </p:pic>
        <p:pic>
          <p:nvPicPr>
            <p:cNvPr id="3906" name="picture 390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93014" y="1888540"/>
              <a:ext cx="122986" cy="168859"/>
            </a:xfrm>
            <a:prstGeom prst="rect">
              <a:avLst/>
            </a:prstGeom>
          </p:spPr>
        </p:pic>
        <p:pic>
          <p:nvPicPr>
            <p:cNvPr id="3908" name="picture 390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3014" y="684580"/>
              <a:ext cx="122986" cy="168859"/>
            </a:xfrm>
            <a:prstGeom prst="rect">
              <a:avLst/>
            </a:prstGeom>
          </p:spPr>
        </p:pic>
      </p:grpSp>
      <p:grpSp>
        <p:nvGrpSpPr>
          <p:cNvPr id="284" name="group 284"/>
          <p:cNvGrpSpPr/>
          <p:nvPr/>
        </p:nvGrpSpPr>
        <p:grpSpPr>
          <a:xfrm rot="21600000">
            <a:off x="3291840" y="733044"/>
            <a:ext cx="2706623" cy="2741676"/>
            <a:chOff x="0" y="0"/>
            <a:chExt cx="2706623" cy="2741676"/>
          </a:xfrm>
        </p:grpSpPr>
        <p:pic>
          <p:nvPicPr>
            <p:cNvPr id="3910" name="picture 391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706623" cy="2741676"/>
            </a:xfrm>
            <a:prstGeom prst="rect">
              <a:avLst/>
            </a:prstGeom>
          </p:spPr>
        </p:pic>
        <p:sp>
          <p:nvSpPr>
            <p:cNvPr id="3912" name="textbox 3912"/>
            <p:cNvSpPr/>
            <p:nvPr/>
          </p:nvSpPr>
          <p:spPr>
            <a:xfrm>
              <a:off x="-12700" y="-12700"/>
              <a:ext cx="2732404" cy="2778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7044" indent="-276859" algn="l" rtl="0" eaLnBrk="0">
                <a:lnSpc>
                  <a:spcPct val="107000"/>
                </a:lnSpc>
                <a:spcBef>
                  <a:spcPts val="6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北京市农林科学院研发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的多模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态农业大模型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，不仅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能为农户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提供种养殖知识在线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解答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具备农业执法案卷评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阅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、农产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品市场行情智能分析等特色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225" algn="l" rtl="0" eaLnBrk="0">
                <a:lnSpc>
                  <a:spcPct val="107000"/>
                </a:lnSpc>
                <a:spcBef>
                  <a:spcPts val="109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已累计提供超11万次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在线服务，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是面向政务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、园区和农户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的综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合性智能平台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10184" algn="l" rtl="0" eaLnBrk="0">
                <a:lnSpc>
                  <a:spcPct val="104000"/>
                </a:lnSpc>
                <a:spcBef>
                  <a:spcPts val="124"/>
                </a:spcBef>
                <a:tabLst>
                  <a:tab pos="332740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https://llm.bjzntd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914" name="picture 391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7586" y="2444800"/>
              <a:ext cx="122986" cy="168859"/>
            </a:xfrm>
            <a:prstGeom prst="rect">
              <a:avLst/>
            </a:prstGeom>
          </p:spPr>
        </p:pic>
        <p:pic>
          <p:nvPicPr>
            <p:cNvPr id="3916" name="picture 391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7586" y="1842820"/>
              <a:ext cx="122986" cy="168859"/>
            </a:xfrm>
            <a:prstGeom prst="rect">
              <a:avLst/>
            </a:prstGeom>
          </p:spPr>
        </p:pic>
        <p:pic>
          <p:nvPicPr>
            <p:cNvPr id="3918" name="picture 391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7586" y="638860"/>
              <a:ext cx="122986" cy="168859"/>
            </a:xfrm>
            <a:prstGeom prst="rect">
              <a:avLst/>
            </a:prstGeom>
          </p:spPr>
        </p:pic>
      </p:grpSp>
      <p:grpSp>
        <p:nvGrpSpPr>
          <p:cNvPr id="286" name="group 286"/>
          <p:cNvGrpSpPr/>
          <p:nvPr/>
        </p:nvGrpSpPr>
        <p:grpSpPr>
          <a:xfrm rot="21600000">
            <a:off x="6271259" y="762000"/>
            <a:ext cx="2705100" cy="2712720"/>
            <a:chOff x="0" y="0"/>
            <a:chExt cx="2705100" cy="2712720"/>
          </a:xfrm>
        </p:grpSpPr>
        <p:pic>
          <p:nvPicPr>
            <p:cNvPr id="3920" name="picture 392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705100" cy="2712720"/>
            </a:xfrm>
            <a:prstGeom prst="rect">
              <a:avLst/>
            </a:prstGeom>
          </p:spPr>
        </p:pic>
        <p:sp>
          <p:nvSpPr>
            <p:cNvPr id="3922" name="textbox 3922"/>
            <p:cNvSpPr/>
            <p:nvPr/>
          </p:nvSpPr>
          <p:spPr>
            <a:xfrm>
              <a:off x="-12700" y="-12700"/>
              <a:ext cx="2730500" cy="27489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6409" indent="-276859" algn="l" rtl="0" eaLnBrk="0">
                <a:lnSpc>
                  <a:spcPct val="104000"/>
                </a:lnSpc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高度拟合农业专业术语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，提供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高质量的外部知识库证据检索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精准数据分析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77495" algn="l" rtl="0" eaLnBrk="0">
                <a:lnSpc>
                  <a:spcPct val="106000"/>
                </a:lnSpc>
                <a:spcBef>
                  <a:spcPts val="278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针对农作物品种推荐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种植流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程管理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、病虫害的诊断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和防治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等农事决策任务给出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有效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、合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 、精准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、实际可操作的决策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指导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4000"/>
                </a:lnSpc>
                <a:spcBef>
                  <a:spcPts val="11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6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https://www.tgkwai.com/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924" name="picture 392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6951" y="2215184"/>
              <a:ext cx="122987" cy="168859"/>
            </a:xfrm>
            <a:prstGeom prst="rect">
              <a:avLst/>
            </a:prstGeom>
          </p:spPr>
        </p:pic>
        <p:pic>
          <p:nvPicPr>
            <p:cNvPr id="3926" name="picture 392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6951" y="1211884"/>
              <a:ext cx="122987" cy="168859"/>
            </a:xfrm>
            <a:prstGeom prst="rect">
              <a:avLst/>
            </a:prstGeom>
          </p:spPr>
        </p:pic>
        <p:pic>
          <p:nvPicPr>
            <p:cNvPr id="3928" name="picture 392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96951" y="609904"/>
              <a:ext cx="122987" cy="168859"/>
            </a:xfrm>
            <a:prstGeom prst="rect">
              <a:avLst/>
            </a:prstGeom>
          </p:spPr>
        </p:pic>
      </p:grpSp>
      <p:pic>
        <p:nvPicPr>
          <p:cNvPr id="3930" name="picture 393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9252204" y="835152"/>
            <a:ext cx="2700528" cy="2636519"/>
          </a:xfrm>
          <a:prstGeom prst="rect">
            <a:avLst/>
          </a:prstGeom>
        </p:spPr>
      </p:pic>
      <p:pic>
        <p:nvPicPr>
          <p:cNvPr id="3932" name="picture 393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282695" y="4111752"/>
            <a:ext cx="2699004" cy="2520695"/>
          </a:xfrm>
          <a:prstGeom prst="rect">
            <a:avLst/>
          </a:prstGeom>
        </p:spPr>
      </p:pic>
      <p:pic>
        <p:nvPicPr>
          <p:cNvPr id="3934" name="picture 3934">
            <a:hlinkClick r:id="rId23" action="ppaction://hlinkfile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432925" y="6153784"/>
            <a:ext cx="2337434" cy="401320"/>
          </a:xfrm>
          <a:prstGeom prst="rect">
            <a:avLst/>
          </a:prstGeom>
        </p:spPr>
      </p:pic>
      <p:sp>
        <p:nvSpPr>
          <p:cNvPr id="3936" name="textbox 3936"/>
          <p:cNvSpPr/>
          <p:nvPr/>
        </p:nvSpPr>
        <p:spPr>
          <a:xfrm>
            <a:off x="9433026" y="3703456"/>
            <a:ext cx="2425064" cy="286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43025" indent="-6350" algn="l" rtl="0" eaLnBrk="0">
              <a:lnSpc>
                <a:spcPct val="107000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虫情测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报一体机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5000"/>
              </a:lnSpc>
              <a:spcBef>
                <a:spcPts val="123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全球首款集成卫星遥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、无人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机高光谱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、物联网传感与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模型等新技术的珈和虫情监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6000"/>
              </a:lnSpc>
              <a:spcBef>
                <a:spcPts val="27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通过集成卫星遥感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、无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人机高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光谱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、物联网传感与A|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大模型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等技术，构建“天-空-地-人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四维联动监测体系，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实现虫情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从被动响应到主动预判的升级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7000"/>
              </a:lnSpc>
              <a:spcBef>
                <a:spcPts val="10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datall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cong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qing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38" name="picture 393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445726" y="6167424"/>
            <a:ext cx="122987" cy="168859"/>
          </a:xfrm>
          <a:prstGeom prst="rect">
            <a:avLst/>
          </a:prstGeom>
        </p:spPr>
      </p:pic>
      <p:pic>
        <p:nvPicPr>
          <p:cNvPr id="3940" name="picture 394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445726" y="5164124"/>
            <a:ext cx="122987" cy="168859"/>
          </a:xfrm>
          <a:prstGeom prst="rect">
            <a:avLst/>
          </a:prstGeom>
        </p:spPr>
      </p:pic>
      <p:pic>
        <p:nvPicPr>
          <p:cNvPr id="3942" name="picture 394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445726" y="4361484"/>
            <a:ext cx="122987" cy="168859"/>
          </a:xfrm>
          <a:prstGeom prst="rect">
            <a:avLst/>
          </a:prstGeom>
        </p:spPr>
      </p:pic>
      <p:pic>
        <p:nvPicPr>
          <p:cNvPr id="3944" name="picture 3944">
            <a:hlinkClick r:id="rId28" action="ppaction://hlinkfile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9434194" y="2963545"/>
            <a:ext cx="2337435" cy="401320"/>
          </a:xfrm>
          <a:prstGeom prst="rect">
            <a:avLst/>
          </a:prstGeom>
        </p:spPr>
      </p:pic>
      <p:sp>
        <p:nvSpPr>
          <p:cNvPr id="3946" name="textbox 3946"/>
          <p:cNvSpPr/>
          <p:nvPr/>
        </p:nvSpPr>
        <p:spPr>
          <a:xfrm>
            <a:off x="9434296" y="872794"/>
            <a:ext cx="2350770" cy="2503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7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65910" algn="l" rtl="0" eaLnBrk="0">
              <a:lnSpc>
                <a:spcPct val="86000"/>
              </a:lnSpc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问稷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08000"/>
              </a:lnSpc>
              <a:spcBef>
                <a:spcPts val="37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托普云农运用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技术构建的农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智能体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，构建海量的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农业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知识体系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，并基于R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AG技术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通过语音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、文字等方式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与用户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进行对话交互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7000"/>
              </a:lnSpc>
              <a:spcBef>
                <a:spcPts val="8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如同农业从业者身边的农业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顾问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，助力解答各类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复杂的农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业问题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7000"/>
              </a:lnSpc>
              <a:spcBef>
                <a:spcPts val="13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https://www.t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pyn.net/produ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ctshow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_608.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html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48" name="picture 394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446996" y="2977184"/>
            <a:ext cx="122987" cy="168859"/>
          </a:xfrm>
          <a:prstGeom prst="rect">
            <a:avLst/>
          </a:prstGeom>
        </p:spPr>
      </p:pic>
      <p:pic>
        <p:nvPicPr>
          <p:cNvPr id="3950" name="picture 395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446996" y="2375204"/>
            <a:ext cx="122987" cy="168859"/>
          </a:xfrm>
          <a:prstGeom prst="rect">
            <a:avLst/>
          </a:prstGeom>
        </p:spPr>
      </p:pic>
      <p:pic>
        <p:nvPicPr>
          <p:cNvPr id="3952" name="picture 395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9446996" y="1371904"/>
            <a:ext cx="122987" cy="168859"/>
          </a:xfrm>
          <a:prstGeom prst="rect">
            <a:avLst/>
          </a:prstGeom>
        </p:spPr>
      </p:pic>
      <p:pic>
        <p:nvPicPr>
          <p:cNvPr id="3954" name="picture 3954">
            <a:hlinkClick r:id="rId33" action="ppaction://hlinkfile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447790" y="5953125"/>
            <a:ext cx="2337434" cy="601980"/>
          </a:xfrm>
          <a:prstGeom prst="rect">
            <a:avLst/>
          </a:prstGeom>
        </p:spPr>
      </p:pic>
      <p:sp>
        <p:nvSpPr>
          <p:cNvPr id="3956" name="textbox 3956"/>
          <p:cNvSpPr/>
          <p:nvPr/>
        </p:nvSpPr>
        <p:spPr>
          <a:xfrm>
            <a:off x="6447891" y="4348784"/>
            <a:ext cx="2399664" cy="2225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由捷佳润科技集团推出的综合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性农业智能系统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，定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位为农户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口袋里的“24小时农业专家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1465" indent="-278765" algn="l" rtl="0" eaLnBrk="0">
              <a:lnSpc>
                <a:spcPct val="106000"/>
              </a:lnSpc>
              <a:spcBef>
                <a:spcPts val="99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能通过卫星地理信息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、气象和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土壤数据为地块推荐适种作物，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并具备病虫害图像识别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、市场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分析等功能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，帮助用户进行科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学决策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9000"/>
              </a:lnSpc>
              <a:spcBef>
                <a:spcPts val="11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-1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</a:t>
            </a:r>
            <a:r>
              <a:rPr sz="1200" u="sng" kern="0" spc="-1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-1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-1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far</a:t>
            </a:r>
            <a:r>
              <a:rPr sz="1200" u="sng" kern="0" spc="-1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</a:t>
            </a:r>
            <a:r>
              <a:rPr sz="1200" u="sng" kern="0" spc="-1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-busi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4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ness</a:t>
            </a:r>
            <a:r>
              <a:rPr sz="1200" u="sng" kern="0" spc="-1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card.jjr.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vip/#/pages/tudi/ind</a:t>
            </a:r>
            <a:r>
              <a:rPr sz="1200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ex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58" name="picture 395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460591" y="5966764"/>
            <a:ext cx="122987" cy="168859"/>
          </a:xfrm>
          <a:prstGeom prst="rect">
            <a:avLst/>
          </a:prstGeom>
        </p:spPr>
      </p:pic>
      <p:pic>
        <p:nvPicPr>
          <p:cNvPr id="3960" name="picture 396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6460591" y="4963464"/>
            <a:ext cx="122987" cy="168859"/>
          </a:xfrm>
          <a:prstGeom prst="rect">
            <a:avLst/>
          </a:prstGeom>
        </p:spPr>
      </p:pic>
      <p:pic>
        <p:nvPicPr>
          <p:cNvPr id="3962" name="picture 396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6460591" y="4361484"/>
            <a:ext cx="122987" cy="168859"/>
          </a:xfrm>
          <a:prstGeom prst="rect">
            <a:avLst/>
          </a:prstGeom>
        </p:spPr>
      </p:pic>
      <p:sp>
        <p:nvSpPr>
          <p:cNvPr id="3964" name="textbox 3964"/>
          <p:cNvSpPr/>
          <p:nvPr/>
        </p:nvSpPr>
        <p:spPr>
          <a:xfrm>
            <a:off x="3359911" y="3745483"/>
            <a:ext cx="2493645" cy="2018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600"/>
              </a:lnSpc>
              <a:tabLst/>
            </a:pPr>
            <a:r>
              <a:rPr sz="2300" kern="0" spc="-190" dirty="0">
                <a:solidFill>
                  <a:srgbClr val="76AD8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念田</a:t>
            </a:r>
            <a:r>
              <a:rPr sz="2300" kern="0" spc="-180" dirty="0">
                <a:solidFill>
                  <a:srgbClr val="76AD8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艺科技·AI农艺</a:t>
            </a:r>
            <a:r>
              <a:rPr sz="2300" kern="0" spc="-50" dirty="0">
                <a:solidFill>
                  <a:srgbClr val="76AD8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师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93065" indent="-277495" algn="l" rtl="0" eaLnBrk="0">
              <a:lnSpc>
                <a:spcPct val="107000"/>
              </a:lnSpc>
              <a:spcBef>
                <a:spcPts val="1024"/>
              </a:spcBef>
              <a:tabLst>
                <a:tab pos="23875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模型为核心的农业决策系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统，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旨在通过精准预测和远程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管理提升农业生产效率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90525" indent="-274954" algn="l" rtl="0" eaLnBrk="0">
              <a:lnSpc>
                <a:spcPct val="109000"/>
              </a:lnSpc>
              <a:spcBef>
                <a:spcPts val="117"/>
              </a:spcBef>
              <a:tabLst>
                <a:tab pos="23875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相较于传统依赖经验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的式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农艺师能减少水肥浪费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人工成本，并提升产量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15570" algn="l" rtl="0" eaLnBrk="0">
              <a:lnSpc>
                <a:spcPct val="104000"/>
              </a:lnSpc>
              <a:spcBef>
                <a:spcPts val="26"/>
              </a:spcBef>
              <a:tabLst>
                <a:tab pos="238759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https://agrioo.cn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66" name="picture 396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3476091" y="5565444"/>
            <a:ext cx="122986" cy="168859"/>
          </a:xfrm>
          <a:prstGeom prst="rect">
            <a:avLst/>
          </a:prstGeom>
        </p:spPr>
      </p:pic>
      <p:pic>
        <p:nvPicPr>
          <p:cNvPr id="3968" name="picture 396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3476091" y="4963464"/>
            <a:ext cx="122986" cy="168859"/>
          </a:xfrm>
          <a:prstGeom prst="rect">
            <a:avLst/>
          </a:prstGeom>
        </p:spPr>
      </p:pic>
      <p:pic>
        <p:nvPicPr>
          <p:cNvPr id="3970" name="picture 397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3476091" y="4361484"/>
            <a:ext cx="122986" cy="168859"/>
          </a:xfrm>
          <a:prstGeom prst="rect">
            <a:avLst/>
          </a:prstGeom>
        </p:spPr>
      </p:pic>
      <p:pic>
        <p:nvPicPr>
          <p:cNvPr id="3972" name="picture 3972">
            <a:hlinkClick r:id="rId43" action="ppaction://hlinkfile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479425" y="5752465"/>
            <a:ext cx="2337435" cy="401320"/>
          </a:xfrm>
          <a:prstGeom prst="rect">
            <a:avLst/>
          </a:prstGeom>
        </p:spPr>
      </p:pic>
      <p:sp>
        <p:nvSpPr>
          <p:cNvPr id="3974" name="textbox 3974"/>
          <p:cNvSpPr/>
          <p:nvPr/>
        </p:nvSpPr>
        <p:spPr>
          <a:xfrm>
            <a:off x="479526" y="4348784"/>
            <a:ext cx="2350135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7020" indent="-274954" algn="l" rtl="0" eaLnBrk="0">
              <a:lnSpc>
                <a:spcPct val="105000"/>
              </a:lnSpc>
              <a:spcBef>
                <a:spcPts val="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中国农业大学发布的新一代农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大模型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，融合人工智能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农业科学，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为农业生产提供更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精准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、更高效的智能解决方案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879"/>
              </a:lnSpc>
              <a:spcBef>
                <a:spcPts val="247"/>
              </a:spcBef>
              <a:tabLst>
                <a:tab pos="135254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1800" kern="0" spc="-90" baseline="641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800" kern="0" spc="-90" baseline="641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</a:t>
            </a:r>
            <a:r>
              <a:rPr sz="1800" kern="0" spc="-90" baseline="9612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endParaRPr sz="1800" baseline="96124" dirty="0">
              <a:latin typeface="Microsoft YaHei"/>
              <a:ea typeface="Microsoft YaHei"/>
              <a:cs typeface="Microsoft YaHei"/>
            </a:endParaRPr>
          </a:p>
          <a:p>
            <a:pPr marL="304165" algn="l" rtl="0" eaLnBrk="0">
              <a:lnSpc>
                <a:spcPct val="86000"/>
              </a:lnSpc>
              <a:spcBef>
                <a:spcPts val="361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内容的直观展示与互动考核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13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shennong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cau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edu</a:t>
            </a:r>
            <a:r>
              <a:rPr sz="1200" u="sng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3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76" name="picture 397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492226" y="5766104"/>
            <a:ext cx="122986" cy="168859"/>
          </a:xfrm>
          <a:prstGeom prst="rect">
            <a:avLst/>
          </a:prstGeom>
        </p:spPr>
      </p:pic>
      <p:pic>
        <p:nvPicPr>
          <p:cNvPr id="3978" name="picture 397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492226" y="5164124"/>
            <a:ext cx="122986" cy="168859"/>
          </a:xfrm>
          <a:prstGeom prst="rect">
            <a:avLst/>
          </a:prstGeom>
        </p:spPr>
      </p:pic>
      <p:sp>
        <p:nvSpPr>
          <p:cNvPr id="3980" name="textbox 3980"/>
          <p:cNvSpPr/>
          <p:nvPr/>
        </p:nvSpPr>
        <p:spPr>
          <a:xfrm>
            <a:off x="2660599" y="5363819"/>
            <a:ext cx="169545" cy="18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82" name="textbox 3982"/>
          <p:cNvSpPr/>
          <p:nvPr/>
        </p:nvSpPr>
        <p:spPr>
          <a:xfrm>
            <a:off x="2884983" y="5173522"/>
            <a:ext cx="172085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84" name="textbox 3984"/>
          <p:cNvSpPr/>
          <p:nvPr/>
        </p:nvSpPr>
        <p:spPr>
          <a:xfrm>
            <a:off x="2498038" y="5365343"/>
            <a:ext cx="17335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教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86" name="textbox 3986"/>
          <p:cNvSpPr/>
          <p:nvPr/>
        </p:nvSpPr>
        <p:spPr>
          <a:xfrm>
            <a:off x="2724861" y="5163007"/>
            <a:ext cx="17335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88" name="textbox 3988"/>
          <p:cNvSpPr/>
          <p:nvPr/>
        </p:nvSpPr>
        <p:spPr>
          <a:xfrm>
            <a:off x="2338374" y="5365039"/>
            <a:ext cx="17398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种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90" name="textbox 3990"/>
          <p:cNvSpPr/>
          <p:nvPr/>
        </p:nvSpPr>
        <p:spPr>
          <a:xfrm>
            <a:off x="2565349" y="5164378"/>
            <a:ext cx="17398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种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92" name="textbox 3992"/>
          <p:cNvSpPr/>
          <p:nvPr/>
        </p:nvSpPr>
        <p:spPr>
          <a:xfrm>
            <a:off x="2182825" y="5361990"/>
            <a:ext cx="170814" cy="18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育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94" name="textbox 3994"/>
          <p:cNvSpPr/>
          <p:nvPr/>
        </p:nvSpPr>
        <p:spPr>
          <a:xfrm>
            <a:off x="2409799" y="5161330"/>
            <a:ext cx="170814" cy="18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育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96" name="picture 399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1992840" y="5176926"/>
            <a:ext cx="167792" cy="340106"/>
          </a:xfrm>
          <a:prstGeom prst="rect">
            <a:avLst/>
          </a:prstGeom>
        </p:spPr>
      </p:pic>
      <p:pic>
        <p:nvPicPr>
          <p:cNvPr id="3998" name="picture 399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1830610" y="5177078"/>
            <a:ext cx="154939" cy="336753"/>
          </a:xfrm>
          <a:prstGeom prst="rect">
            <a:avLst/>
          </a:prstGeom>
        </p:spPr>
      </p:pic>
      <p:pic>
        <p:nvPicPr>
          <p:cNvPr id="4000" name="picture 400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1248816" y="5174030"/>
            <a:ext cx="462508" cy="343001"/>
          </a:xfrm>
          <a:prstGeom prst="rect">
            <a:avLst/>
          </a:prstGeom>
        </p:spPr>
      </p:pic>
      <p:sp>
        <p:nvSpPr>
          <p:cNvPr id="4002" name="textbox 4002"/>
          <p:cNvSpPr/>
          <p:nvPr/>
        </p:nvSpPr>
        <p:spPr>
          <a:xfrm>
            <a:off x="756589" y="5363057"/>
            <a:ext cx="490219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机等智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04" name="textbox 4004"/>
          <p:cNvSpPr/>
          <p:nvPr/>
        </p:nvSpPr>
        <p:spPr>
          <a:xfrm>
            <a:off x="759180" y="5164073"/>
            <a:ext cx="487680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开发了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06" name="picture 4006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492226" y="4361484"/>
            <a:ext cx="122986" cy="168859"/>
          </a:xfrm>
          <a:prstGeom prst="rect">
            <a:avLst/>
          </a:prstGeom>
        </p:spPr>
      </p:pic>
      <p:pic>
        <p:nvPicPr>
          <p:cNvPr id="4008" name="picture 400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4010" name="textbox 4010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AI农业管理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2" name="picture 40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5759" y="3752088"/>
            <a:ext cx="2705100" cy="2942843"/>
          </a:xfrm>
          <a:prstGeom prst="rect">
            <a:avLst/>
          </a:prstGeom>
        </p:spPr>
      </p:pic>
      <p:pic>
        <p:nvPicPr>
          <p:cNvPr id="4014" name="picture 40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44000" y="3817620"/>
            <a:ext cx="2705100" cy="2877311"/>
          </a:xfrm>
          <a:prstGeom prst="rect">
            <a:avLst/>
          </a:prstGeom>
        </p:spPr>
      </p:pic>
      <p:pic>
        <p:nvPicPr>
          <p:cNvPr id="4016" name="picture 40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94888" y="3811523"/>
            <a:ext cx="2699004" cy="2880359"/>
          </a:xfrm>
          <a:prstGeom prst="rect">
            <a:avLst/>
          </a:prstGeom>
        </p:spPr>
      </p:pic>
      <p:pic>
        <p:nvPicPr>
          <p:cNvPr id="4018" name="picture 40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20967" y="3813048"/>
            <a:ext cx="2699003" cy="2878836"/>
          </a:xfrm>
          <a:prstGeom prst="rect">
            <a:avLst/>
          </a:prstGeom>
        </p:spPr>
      </p:pic>
      <p:pic>
        <p:nvPicPr>
          <p:cNvPr id="4020" name="picture 40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8808" y="832103"/>
            <a:ext cx="2699003" cy="2842260"/>
          </a:xfrm>
          <a:prstGeom prst="rect">
            <a:avLst/>
          </a:prstGeom>
        </p:spPr>
      </p:pic>
      <p:pic>
        <p:nvPicPr>
          <p:cNvPr id="4022" name="picture 40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47047" y="865632"/>
            <a:ext cx="2699004" cy="2808732"/>
          </a:xfrm>
          <a:prstGeom prst="rect">
            <a:avLst/>
          </a:prstGeom>
        </p:spPr>
      </p:pic>
      <p:pic>
        <p:nvPicPr>
          <p:cNvPr id="4024" name="picture 40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291840" y="1302227"/>
            <a:ext cx="2705100" cy="2375184"/>
          </a:xfrm>
          <a:prstGeom prst="rect">
            <a:avLst/>
          </a:prstGeom>
        </p:spPr>
      </p:pic>
      <p:grpSp>
        <p:nvGrpSpPr>
          <p:cNvPr id="288" name="group 288"/>
          <p:cNvGrpSpPr/>
          <p:nvPr/>
        </p:nvGrpSpPr>
        <p:grpSpPr>
          <a:xfrm rot="21600000">
            <a:off x="6217920" y="1302227"/>
            <a:ext cx="2705099" cy="2375184"/>
            <a:chOff x="0" y="0"/>
            <a:chExt cx="2705099" cy="2375184"/>
          </a:xfrm>
        </p:grpSpPr>
        <p:pic>
          <p:nvPicPr>
            <p:cNvPr id="4026" name="picture 40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705099" cy="2375184"/>
            </a:xfrm>
            <a:prstGeom prst="rect">
              <a:avLst/>
            </a:prstGeom>
          </p:spPr>
        </p:pic>
        <p:sp>
          <p:nvSpPr>
            <p:cNvPr id="4028" name="textbox 4028"/>
            <p:cNvSpPr/>
            <p:nvPr/>
          </p:nvSpPr>
          <p:spPr>
            <a:xfrm>
              <a:off x="184251" y="13111"/>
              <a:ext cx="2350770" cy="22371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85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8925" indent="-276859" algn="l" rtl="0" eaLnBrk="0">
                <a:lnSpc>
                  <a:spcPct val="108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驱动的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Chrome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Edge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浏览器扩展程序，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能够将漫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画书中的文字快速翻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译成135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种以上语言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8925" indent="-276225" algn="l" rtl="0" eaLnBrk="0">
                <a:lnSpc>
                  <a:spcPct val="105000"/>
                </a:lnSpc>
                <a:spcBef>
                  <a:spcPts val="278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用户只需上传漫画图片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，漫画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翻译器就可以提供快速准确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翻译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，支持市面上主流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的漫画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网站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ts val="1521"/>
                </a:lnSpc>
                <a:spcBef>
                  <a:spcPts val="112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</a:t>
              </a:r>
              <a:r>
                <a:rPr sz="1200" kern="0" spc="10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://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www</a:t>
              </a:r>
              <a:r>
                <a:rPr sz="1200" kern="0" spc="10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mangatranslat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2100" algn="l" rtl="0" eaLnBrk="0">
                <a:lnSpc>
                  <a:spcPts val="1521"/>
                </a:lnSpc>
                <a:spcBef>
                  <a:spcPts val="58"/>
                </a:spcBef>
                <a:tabLst/>
              </a:pP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o</a:t>
              </a:r>
              <a:r>
                <a:rPr sz="1200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 </a:t>
              </a: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r</a:t>
              </a:r>
              <a:r>
                <a:rPr sz="1200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 </a:t>
              </a: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.</a:t>
              </a:r>
              <a:r>
                <a:rPr sz="1200" kern="0" spc="1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</a:t>
              </a:r>
              <a:r>
                <a:rPr sz="1200" kern="0" spc="1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</a:t>
              </a:r>
              <a:r>
                <a:rPr sz="1200" kern="0" spc="1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r>
                <a:rPr sz="1200" kern="0" spc="1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z</a:t>
              </a:r>
              <a:r>
                <a:rPr sz="1200" kern="0" spc="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 </a:t>
              </a: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 </a:t>
              </a:r>
              <a:r>
                <a:rPr sz="1200" kern="0" spc="-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-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2100" algn="l" rtl="0" eaLnBrk="0">
                <a:lnSpc>
                  <a:spcPct val="105000"/>
                </a:lnSpc>
                <a:spcBef>
                  <a:spcPts val="58"/>
                </a:spcBef>
                <a:tabLst/>
              </a:pP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cn?ref=pidou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tv.com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030" name="picture 40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6951" y="1648922"/>
              <a:ext cx="122986" cy="168859"/>
            </a:xfrm>
            <a:prstGeom prst="rect">
              <a:avLst/>
            </a:prstGeom>
          </p:spPr>
        </p:pic>
        <p:pic>
          <p:nvPicPr>
            <p:cNvPr id="4032" name="picture 403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6951" y="846282"/>
              <a:ext cx="122986" cy="168859"/>
            </a:xfrm>
            <a:prstGeom prst="rect">
              <a:avLst/>
            </a:prstGeom>
          </p:spPr>
        </p:pic>
        <p:pic>
          <p:nvPicPr>
            <p:cNvPr id="4034" name="picture 403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6951" y="43642"/>
              <a:ext cx="122986" cy="168859"/>
            </a:xfrm>
            <a:prstGeom prst="rect">
              <a:avLst/>
            </a:prstGeom>
          </p:spPr>
        </p:pic>
        <p:sp>
          <p:nvSpPr>
            <p:cNvPr id="4036" name="path 4036">
              <a:hlinkClick r:id="rId10" action="ppaction://hlinkfile"/>
            </p:cNvPr>
            <p:cNvSpPr/>
            <p:nvPr/>
          </p:nvSpPr>
          <p:spPr>
            <a:xfrm>
              <a:off x="469899" y="1815622"/>
              <a:ext cx="2051684" cy="7620"/>
            </a:xfrm>
            <a:custGeom>
              <a:avLst/>
              <a:gdLst/>
              <a:ahLst/>
              <a:cxnLst/>
              <a:rect l="0" t="0" r="0" b="0"/>
              <a:pathLst>
                <a:path w="3230" h="12">
                  <a:moveTo>
                    <a:pt x="0" y="5"/>
                  </a:moveTo>
                  <a:lnTo>
                    <a:pt x="3230" y="5"/>
                  </a:lnTo>
                </a:path>
              </a:pathLst>
            </a:custGeom>
            <a:noFill/>
            <a:ln w="7620" cap="flat">
              <a:solidFill>
                <a:srgbClr val="0026E5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38" name="path 4038">
              <a:hlinkClick r:id="rId10" action="ppaction://hlinkfile"/>
            </p:cNvPr>
            <p:cNvSpPr/>
            <p:nvPr/>
          </p:nvSpPr>
          <p:spPr>
            <a:xfrm>
              <a:off x="469899" y="2016282"/>
              <a:ext cx="2051684" cy="7619"/>
            </a:xfrm>
            <a:custGeom>
              <a:avLst/>
              <a:gdLst/>
              <a:ahLst/>
              <a:cxnLst/>
              <a:rect l="0" t="0" r="0" b="0"/>
              <a:pathLst>
                <a:path w="3230" h="11">
                  <a:moveTo>
                    <a:pt x="0" y="5"/>
                  </a:moveTo>
                  <a:lnTo>
                    <a:pt x="3230" y="5"/>
                  </a:lnTo>
                </a:path>
              </a:pathLst>
            </a:custGeom>
            <a:noFill/>
            <a:ln w="7620" cap="flat">
              <a:solidFill>
                <a:srgbClr val="0026E5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4040" name="picture 4040">
            <a:hlinkClick r:id="rId16" action="ppaction://hlinkfile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475990" y="6117590"/>
            <a:ext cx="2337434" cy="401319"/>
          </a:xfrm>
          <a:prstGeom prst="rect">
            <a:avLst/>
          </a:prstGeom>
        </p:spPr>
      </p:pic>
      <p:sp>
        <p:nvSpPr>
          <p:cNvPr id="4042" name="textbox 4042"/>
          <p:cNvSpPr/>
          <p:nvPr/>
        </p:nvSpPr>
        <p:spPr>
          <a:xfrm>
            <a:off x="3476091" y="3820159"/>
            <a:ext cx="2350135" cy="271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5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0059" algn="l" rtl="0" eaLnBrk="0">
              <a:lnSpc>
                <a:spcPct val="86000"/>
              </a:lnSpc>
              <a:tabLst/>
            </a:pPr>
            <a:r>
              <a:rPr sz="2700" kern="0" spc="-400" dirty="0">
                <a:solidFill>
                  <a:srgbClr val="CABA8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日Belin</a:t>
            </a:r>
            <a:r>
              <a:rPr sz="2700" kern="0" spc="-590" dirty="0">
                <a:solidFill>
                  <a:srgbClr val="CABA8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400" dirty="0">
                <a:solidFill>
                  <a:srgbClr val="CABA8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</a:t>
            </a:r>
            <a:endParaRPr sz="27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111000"/>
              </a:lnSpc>
              <a:spcBef>
                <a:spcPts val="95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一款永久免费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、无限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档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翻译 工 具 ， 支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 P D F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DOC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、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PT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LSX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EPUB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、图片等10+格式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6000"/>
              </a:lnSpc>
              <a:spcBef>
                <a:spcPts val="8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内置OCR与多模型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，精准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保留原文排版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，支持60+语言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互译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，快速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、安全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、高质量完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成学术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、商务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、跨境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文档翻译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81304" algn="l" rtl="0" eaLnBrk="0">
              <a:lnSpc>
                <a:spcPct val="107000"/>
              </a:lnSpc>
              <a:spcBef>
                <a:spcPts val="13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https://belindoc.com/zh?ref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=pidoutv.com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44" name="picture 40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488791" y="6131229"/>
            <a:ext cx="122986" cy="168859"/>
          </a:xfrm>
          <a:prstGeom prst="rect">
            <a:avLst/>
          </a:prstGeom>
        </p:spPr>
      </p:pic>
      <p:pic>
        <p:nvPicPr>
          <p:cNvPr id="4046" name="picture 404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488791" y="5127929"/>
            <a:ext cx="122986" cy="168859"/>
          </a:xfrm>
          <a:prstGeom prst="rect">
            <a:avLst/>
          </a:prstGeom>
        </p:spPr>
      </p:pic>
      <p:pic>
        <p:nvPicPr>
          <p:cNvPr id="4048" name="picture 404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488791" y="4325289"/>
            <a:ext cx="122986" cy="168859"/>
          </a:xfrm>
          <a:prstGeom prst="rect">
            <a:avLst/>
          </a:prstGeom>
        </p:spPr>
      </p:pic>
      <p:pic>
        <p:nvPicPr>
          <p:cNvPr id="4050" name="picture 4050">
            <a:hlinkClick r:id="rId22" action="ppaction://hlinkfile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49909" y="6117590"/>
            <a:ext cx="2414269" cy="401319"/>
          </a:xfrm>
          <a:prstGeom prst="rect">
            <a:avLst/>
          </a:prstGeom>
        </p:spPr>
      </p:pic>
      <p:sp>
        <p:nvSpPr>
          <p:cNvPr id="4052" name="textbox 4052"/>
          <p:cNvSpPr/>
          <p:nvPr/>
        </p:nvSpPr>
        <p:spPr>
          <a:xfrm>
            <a:off x="550011" y="4312589"/>
            <a:ext cx="2429510" cy="2219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2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195" indent="-278129" algn="l" rtl="0" eaLnBrk="0">
              <a:lnSpc>
                <a:spcPct val="9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一个功能强大的在线字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幕生成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及翻译工具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8000"/>
              </a:lnSpc>
              <a:spcBef>
                <a:spcPts val="41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基于人工智能技术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提供了百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、腾讯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、小牛等多家引擎的</a:t>
            </a:r>
            <a:r>
              <a:rPr sz="1700" kern="0" spc="-20" baseline="612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自动在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700" kern="0" spc="-20" baseline="612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700" kern="0" spc="-30" baseline="612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种翻译服务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30" baseline="612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它支持包括中文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、英文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、俄语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粤语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、日语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、韩语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、德语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、法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、西班牙语等在内的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多种语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言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07000"/>
              </a:lnSpc>
              <a:spcBef>
                <a:spcPts val="12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https://www.zimujiang.com/?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ref=pidoutv.com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54" name="picture 40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562711" y="6131229"/>
            <a:ext cx="122986" cy="168859"/>
          </a:xfrm>
          <a:prstGeom prst="rect">
            <a:avLst/>
          </a:prstGeom>
        </p:spPr>
      </p:pic>
      <p:pic>
        <p:nvPicPr>
          <p:cNvPr id="4056" name="picture 405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562711" y="4726609"/>
            <a:ext cx="122986" cy="168859"/>
          </a:xfrm>
          <a:prstGeom prst="rect">
            <a:avLst/>
          </a:prstGeom>
        </p:spPr>
      </p:pic>
      <p:pic>
        <p:nvPicPr>
          <p:cNvPr id="4058" name="picture 405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970278" y="5143322"/>
            <a:ext cx="203123" cy="183565"/>
          </a:xfrm>
          <a:prstGeom prst="rect">
            <a:avLst/>
          </a:prstGeom>
        </p:spPr>
      </p:pic>
      <p:pic>
        <p:nvPicPr>
          <p:cNvPr id="4060" name="picture 406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820011" y="5139054"/>
            <a:ext cx="176072" cy="175259"/>
          </a:xfrm>
          <a:prstGeom prst="rect">
            <a:avLst/>
          </a:prstGeom>
        </p:spPr>
      </p:pic>
      <p:pic>
        <p:nvPicPr>
          <p:cNvPr id="4062" name="picture 406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623923" y="5127776"/>
            <a:ext cx="219455" cy="209169"/>
          </a:xfrm>
          <a:prstGeom prst="rect">
            <a:avLst/>
          </a:prstGeom>
        </p:spPr>
      </p:pic>
      <p:pic>
        <p:nvPicPr>
          <p:cNvPr id="4064" name="picture 406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1278610" y="5130063"/>
            <a:ext cx="254253" cy="203225"/>
          </a:xfrm>
          <a:prstGeom prst="rect">
            <a:avLst/>
          </a:prstGeom>
        </p:spPr>
      </p:pic>
      <p:pic>
        <p:nvPicPr>
          <p:cNvPr id="4066" name="picture 406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562711" y="4325289"/>
            <a:ext cx="122986" cy="168859"/>
          </a:xfrm>
          <a:prstGeom prst="rect">
            <a:avLst/>
          </a:prstGeom>
        </p:spPr>
      </p:pic>
      <p:pic>
        <p:nvPicPr>
          <p:cNvPr id="4068" name="picture 4068">
            <a:hlinkClick r:id="rId31" action="ppaction://hlinkfile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328150" y="6117590"/>
            <a:ext cx="2337434" cy="401319"/>
          </a:xfrm>
          <a:prstGeom prst="rect">
            <a:avLst/>
          </a:prstGeom>
        </p:spPr>
      </p:pic>
      <p:sp>
        <p:nvSpPr>
          <p:cNvPr id="4070" name="textbox 4070"/>
          <p:cNvSpPr/>
          <p:nvPr/>
        </p:nvSpPr>
        <p:spPr>
          <a:xfrm>
            <a:off x="9328251" y="4312589"/>
            <a:ext cx="2422525" cy="2219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一款专为科研人员设计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的英文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文献阅读与管理工具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，致力于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提升科研工作者在阅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、理解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和管理英文文献过程中的效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率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与体验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0" indent="-273684" algn="l" rtl="0" eaLnBrk="0">
              <a:lnSpc>
                <a:spcPct val="107000"/>
              </a:lnSpc>
              <a:spcBef>
                <a:spcPts val="26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平台集成了翻译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、笔记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、速读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AI解析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、文献管理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、写作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等多项功能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，尤其适用于阅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等高水平英文论文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81304" algn="l" rtl="0" eaLnBrk="0">
              <a:lnSpc>
                <a:spcPct val="107000"/>
              </a:lnSpc>
              <a:spcBef>
                <a:spcPts val="1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xljsci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/?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ref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=pidoutv.com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72" name="picture 407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340951" y="6131229"/>
            <a:ext cx="122987" cy="168859"/>
          </a:xfrm>
          <a:prstGeom prst="rect">
            <a:avLst/>
          </a:prstGeom>
        </p:spPr>
      </p:pic>
      <p:pic>
        <p:nvPicPr>
          <p:cNvPr id="4074" name="picture 407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9340951" y="5328589"/>
            <a:ext cx="122987" cy="168859"/>
          </a:xfrm>
          <a:prstGeom prst="rect">
            <a:avLst/>
          </a:prstGeom>
        </p:spPr>
      </p:pic>
      <p:pic>
        <p:nvPicPr>
          <p:cNvPr id="4076" name="picture 407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9340951" y="4325289"/>
            <a:ext cx="122987" cy="168859"/>
          </a:xfrm>
          <a:prstGeom prst="rect">
            <a:avLst/>
          </a:prstGeom>
        </p:spPr>
      </p:pic>
      <p:pic>
        <p:nvPicPr>
          <p:cNvPr id="4078" name="picture 4078">
            <a:hlinkClick r:id="rId36" action="ppaction://hlinkfil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545465" y="3138170"/>
            <a:ext cx="2337435" cy="401320"/>
          </a:xfrm>
          <a:prstGeom prst="rect">
            <a:avLst/>
          </a:prstGeom>
        </p:spPr>
      </p:pic>
      <p:sp>
        <p:nvSpPr>
          <p:cNvPr id="4080" name="textbox 4080"/>
          <p:cNvSpPr/>
          <p:nvPr/>
        </p:nvSpPr>
        <p:spPr>
          <a:xfrm>
            <a:off x="545566" y="1333169"/>
            <a:ext cx="2422525" cy="2219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阿里巴巴达摩院打造的多语种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智能翻译平台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，致力于“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让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业没有语言障碍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”。支持214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种语言互译，覆盖文本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、文档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语音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、图片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、视频等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多模态翻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译场景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4000"/>
              </a:lnSpc>
              <a:spcBef>
                <a:spcPts val="23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广泛应用于跨境电商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、企业办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 、语言服务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、教育培训等领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07000"/>
              </a:lnSpc>
              <a:spcBef>
                <a:spcPts val="13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https://tra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nslate.alibaba.co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m/?ref=pidoutv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82" name="picture 408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558266" y="3151809"/>
            <a:ext cx="122986" cy="168859"/>
          </a:xfrm>
          <a:prstGeom prst="rect">
            <a:avLst/>
          </a:prstGeom>
        </p:spPr>
      </p:pic>
      <p:pic>
        <p:nvPicPr>
          <p:cNvPr id="4084" name="picture 408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558266" y="2549829"/>
            <a:ext cx="122986" cy="168859"/>
          </a:xfrm>
          <a:prstGeom prst="rect">
            <a:avLst/>
          </a:prstGeom>
        </p:spPr>
      </p:pic>
      <p:pic>
        <p:nvPicPr>
          <p:cNvPr id="4086" name="picture 408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558266" y="1345869"/>
            <a:ext cx="122986" cy="168859"/>
          </a:xfrm>
          <a:prstGeom prst="rect">
            <a:avLst/>
          </a:prstGeom>
        </p:spPr>
      </p:pic>
      <p:pic>
        <p:nvPicPr>
          <p:cNvPr id="4088" name="picture 4088">
            <a:hlinkClick r:id="rId17" action="ppaction://hlinkfile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6401434" y="5515609"/>
            <a:ext cx="2376805" cy="401319"/>
          </a:xfrm>
          <a:prstGeom prst="rect">
            <a:avLst/>
          </a:prstGeom>
        </p:spPr>
      </p:pic>
      <p:sp>
        <p:nvSpPr>
          <p:cNvPr id="4090" name="textbox 4090"/>
          <p:cNvSpPr/>
          <p:nvPr/>
        </p:nvSpPr>
        <p:spPr>
          <a:xfrm>
            <a:off x="6401536" y="3801871"/>
            <a:ext cx="2389504" cy="2127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2590" algn="l" rtl="0" eaLnBrk="0">
              <a:lnSpc>
                <a:spcPts val="3072"/>
              </a:lnSpc>
              <a:tabLst/>
            </a:pPr>
            <a:r>
              <a:rPr sz="2100" kern="0" spc="-160" dirty="0">
                <a:solidFill>
                  <a:srgbClr val="A3A5D5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⃞Trans</a:t>
            </a:r>
            <a:r>
              <a:rPr sz="2100" kern="0" spc="-380" dirty="0">
                <a:solidFill>
                  <a:srgbClr val="A3A5D5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100" kern="0" spc="-160" dirty="0">
                <a:solidFill>
                  <a:srgbClr val="A3A5D5">
                    <a:alpha val="100000"/>
                  </a:srgbClr>
                </a:solidFill>
                <a:latin typeface="Arial"/>
                <a:ea typeface="Arial"/>
                <a:cs typeface="Arial"/>
              </a:rPr>
              <a:t>tat</a:t>
            </a:r>
            <a:r>
              <a:rPr sz="2100" kern="0" spc="-390" dirty="0">
                <a:solidFill>
                  <a:srgbClr val="A3A5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160" dirty="0">
                <a:solidFill>
                  <a:srgbClr val="A3A5D5">
                    <a:alpha val="100000"/>
                  </a:srgbClr>
                </a:solidFill>
                <a:latin typeface="Arial"/>
                <a:ea typeface="Arial"/>
                <a:cs typeface="Arial"/>
              </a:rPr>
              <a:t>epic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05000"/>
              </a:lnSpc>
              <a:spcBef>
                <a:spcPts val="97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一个在线图像翻译工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。它利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用人工智能技术识别图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像中的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文本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，并将其翻译成用户选择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的语言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00990" indent="-288290" algn="l" rtl="0" eaLnBrk="0">
              <a:lnSpc>
                <a:spcPct val="110000"/>
              </a:lnSpc>
              <a:spcBef>
                <a:spcPts val="10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支持超过140种语言的识别和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170多种目标语言的翻译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07000"/>
              </a:lnSpc>
              <a:spcBef>
                <a:spcPts val="1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https://translatepic.com/zh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/?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ref=pidoutv.com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92" name="picture 409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6414236" y="5529249"/>
            <a:ext cx="122987" cy="168859"/>
          </a:xfrm>
          <a:prstGeom prst="rect">
            <a:avLst/>
          </a:prstGeom>
        </p:spPr>
      </p:pic>
      <p:pic>
        <p:nvPicPr>
          <p:cNvPr id="4094" name="picture 4094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6414236" y="5127929"/>
            <a:ext cx="122987" cy="168859"/>
          </a:xfrm>
          <a:prstGeom prst="rect">
            <a:avLst/>
          </a:prstGeom>
        </p:spPr>
      </p:pic>
      <p:pic>
        <p:nvPicPr>
          <p:cNvPr id="4096" name="picture 409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6414236" y="4325289"/>
            <a:ext cx="122987" cy="168859"/>
          </a:xfrm>
          <a:prstGeom prst="rect">
            <a:avLst/>
          </a:prstGeom>
        </p:spPr>
      </p:pic>
      <p:pic>
        <p:nvPicPr>
          <p:cNvPr id="4098" name="picture 4098">
            <a:hlinkClick r:id="rId45" action="ppaction://hlinkfile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9328150" y="2736850"/>
            <a:ext cx="2337434" cy="401320"/>
          </a:xfrm>
          <a:prstGeom prst="rect">
            <a:avLst/>
          </a:prstGeom>
        </p:spPr>
      </p:pic>
      <p:sp>
        <p:nvSpPr>
          <p:cNvPr id="4100" name="textbox 4100"/>
          <p:cNvSpPr/>
          <p:nvPr/>
        </p:nvSpPr>
        <p:spPr>
          <a:xfrm>
            <a:off x="9328251" y="1333169"/>
            <a:ext cx="2350135" cy="1818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一个集视频听翻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、直播听翻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语音转写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、文档直翻功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能为一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体的AI智能语音转写听翻平台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5000"/>
              </a:lnSpc>
              <a:spcBef>
                <a:spcPts val="9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致力于用语音识别转写文字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机器翻译等技术为从事和爱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好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语音转写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、翻译的人员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提供更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便捷的听翻工具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7000"/>
              </a:lnSpc>
              <a:spcBef>
                <a:spcPts val="1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https://sight.youdao.com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/?r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ef=pidoutv.com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02" name="picture 410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340951" y="2750489"/>
            <a:ext cx="122987" cy="168859"/>
          </a:xfrm>
          <a:prstGeom prst="rect">
            <a:avLst/>
          </a:prstGeom>
        </p:spPr>
      </p:pic>
      <p:pic>
        <p:nvPicPr>
          <p:cNvPr id="4104" name="picture 410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9340951" y="1947850"/>
            <a:ext cx="122987" cy="168859"/>
          </a:xfrm>
          <a:prstGeom prst="rect">
            <a:avLst/>
          </a:prstGeom>
        </p:spPr>
      </p:pic>
      <p:pic>
        <p:nvPicPr>
          <p:cNvPr id="4106" name="picture 410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9340951" y="1345869"/>
            <a:ext cx="122987" cy="168859"/>
          </a:xfrm>
          <a:prstGeom prst="rect">
            <a:avLst/>
          </a:prstGeom>
        </p:spPr>
      </p:pic>
      <p:pic>
        <p:nvPicPr>
          <p:cNvPr id="4108" name="picture 4108">
            <a:hlinkClick r:id="rId50" action="ppaction://hlinkfile"/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3428364" y="2335529"/>
            <a:ext cx="2337435" cy="401320"/>
          </a:xfrm>
          <a:prstGeom prst="rect">
            <a:avLst/>
          </a:prstGeom>
        </p:spPr>
      </p:pic>
      <p:sp>
        <p:nvSpPr>
          <p:cNvPr id="4110" name="textbox 4110"/>
          <p:cNvSpPr/>
          <p:nvPr/>
        </p:nvSpPr>
        <p:spPr>
          <a:xfrm>
            <a:off x="3428466" y="1315339"/>
            <a:ext cx="2350770" cy="147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3370" indent="-280670" algn="l" rtl="0" eaLnBrk="0">
              <a:lnSpc>
                <a:spcPct val="112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驱动的多平台实时翻译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工具，支持60+种语言翻译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04000"/>
              </a:lnSpc>
              <a:spcBef>
                <a:spcPts val="7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致力于打破语言壁垒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，让全球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用户在任何网络场景中实现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“母语级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沟通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100" indent="-279400" algn="l" rtl="0" eaLnBrk="0">
              <a:lnSpc>
                <a:spcPct val="117000"/>
              </a:lnSpc>
              <a:spcBef>
                <a:spcPts val="11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https://bridgely.tech/?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ref=pi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50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doutv.com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12" name="picture 4112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3441166" y="2349169"/>
            <a:ext cx="122986" cy="168859"/>
          </a:xfrm>
          <a:prstGeom prst="rect">
            <a:avLst/>
          </a:prstGeom>
        </p:spPr>
      </p:pic>
      <p:pic>
        <p:nvPicPr>
          <p:cNvPr id="4114" name="picture 4114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3441166" y="1747189"/>
            <a:ext cx="122986" cy="168859"/>
          </a:xfrm>
          <a:prstGeom prst="rect">
            <a:avLst/>
          </a:prstGeom>
        </p:spPr>
      </p:pic>
      <p:pic>
        <p:nvPicPr>
          <p:cNvPr id="4116" name="picture 4116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3441166" y="1345869"/>
            <a:ext cx="122986" cy="168859"/>
          </a:xfrm>
          <a:prstGeom prst="rect">
            <a:avLst/>
          </a:prstGeom>
        </p:spPr>
      </p:pic>
      <p:pic>
        <p:nvPicPr>
          <p:cNvPr id="4118" name="picture 4118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4120" name="textbox 4120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AI语言翻译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22" name="picture 4122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6618731" y="818388"/>
            <a:ext cx="1905000" cy="448055"/>
          </a:xfrm>
          <a:prstGeom prst="rect">
            <a:avLst/>
          </a:prstGeom>
        </p:spPr>
      </p:pic>
      <p:sp>
        <p:nvSpPr>
          <p:cNvPr id="4124" name="textbox 4124"/>
          <p:cNvSpPr/>
          <p:nvPr/>
        </p:nvSpPr>
        <p:spPr>
          <a:xfrm>
            <a:off x="3564128" y="779780"/>
            <a:ext cx="1693545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63880" algn="l" rtl="0" eaLnBrk="0">
              <a:lnSpc>
                <a:spcPts val="2282"/>
              </a:lnSpc>
              <a:spcBef>
                <a:spcPts val="6"/>
              </a:spcBef>
              <a:tabLst>
                <a:tab pos="81915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Bridgely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26" name="picture 4126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3576828" y="792480"/>
            <a:ext cx="551688" cy="49987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roup 290"/>
          <p:cNvGrpSpPr/>
          <p:nvPr/>
        </p:nvGrpSpPr>
        <p:grpSpPr>
          <a:xfrm rot="21600000">
            <a:off x="3272028" y="3855720"/>
            <a:ext cx="2699004" cy="2700527"/>
            <a:chOff x="0" y="0"/>
            <a:chExt cx="2699004" cy="2700527"/>
          </a:xfrm>
        </p:grpSpPr>
        <p:pic>
          <p:nvPicPr>
            <p:cNvPr id="4128" name="picture 41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699004" cy="2700527"/>
            </a:xfrm>
            <a:prstGeom prst="rect">
              <a:avLst/>
            </a:prstGeom>
          </p:spPr>
        </p:pic>
        <p:sp>
          <p:nvSpPr>
            <p:cNvPr id="4130" name="textbox 4130"/>
            <p:cNvSpPr/>
            <p:nvPr/>
          </p:nvSpPr>
          <p:spPr>
            <a:xfrm>
              <a:off x="-12700" y="-12700"/>
              <a:ext cx="2724785" cy="27374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68680" algn="l" rtl="0" eaLnBrk="0">
                <a:lnSpc>
                  <a:spcPts val="2282"/>
                </a:lnSpc>
                <a:spcBef>
                  <a:spcPts val="7"/>
                </a:spcBef>
                <a:tabLst/>
              </a:pPr>
              <a:r>
                <a:rPr sz="17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Swapp.ai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8765" algn="l" rtl="0" eaLnBrk="0">
                <a:lnSpc>
                  <a:spcPct val="108000"/>
                </a:lnSpc>
                <a:spcBef>
                  <a:spcPts val="119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工具可自动识别</a:t>
              </a:r>
              <a:r>
                <a:rPr sz="12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PDF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/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DWG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的墙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、柱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、门窗，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含构造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层次的</a:t>
              </a:r>
              <a:r>
                <a:rPr sz="12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BIM模型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并自动标注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门窗表</a:t>
              </a:r>
              <a:r>
                <a:rPr sz="12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、墙身节点与楼梯详图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7044" indent="-280670" algn="l" rtl="0" eaLnBrk="0">
                <a:lnSpc>
                  <a:spcPct val="107000"/>
                </a:lnSpc>
                <a:spcBef>
                  <a:spcPts val="11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与Revit双向同步，建筑方案变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更后一键重新出图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，节省60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%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以上施工图人力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07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https://swapp.ai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132" name="picture 41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3903" y="2040559"/>
              <a:ext cx="122986" cy="168859"/>
            </a:xfrm>
            <a:prstGeom prst="rect">
              <a:avLst/>
            </a:prstGeom>
          </p:spPr>
        </p:pic>
        <p:pic>
          <p:nvPicPr>
            <p:cNvPr id="4134" name="picture 41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3903" y="1438579"/>
              <a:ext cx="122986" cy="168859"/>
            </a:xfrm>
            <a:prstGeom prst="rect">
              <a:avLst/>
            </a:prstGeom>
          </p:spPr>
        </p:pic>
        <p:pic>
          <p:nvPicPr>
            <p:cNvPr id="4136" name="picture 413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3903" y="635939"/>
              <a:ext cx="122986" cy="168859"/>
            </a:xfrm>
            <a:prstGeom prst="rect">
              <a:avLst/>
            </a:prstGeom>
          </p:spPr>
        </p:pic>
      </p:grpSp>
      <p:pic>
        <p:nvPicPr>
          <p:cNvPr id="4138" name="picture 41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24188" y="902208"/>
            <a:ext cx="2699004" cy="2700527"/>
          </a:xfrm>
          <a:prstGeom prst="rect">
            <a:avLst/>
          </a:prstGeom>
        </p:spPr>
      </p:pic>
      <p:grpSp>
        <p:nvGrpSpPr>
          <p:cNvPr id="292" name="group 292"/>
          <p:cNvGrpSpPr/>
          <p:nvPr/>
        </p:nvGrpSpPr>
        <p:grpSpPr>
          <a:xfrm rot="21600000">
            <a:off x="345948" y="902208"/>
            <a:ext cx="2699004" cy="2700527"/>
            <a:chOff x="0" y="0"/>
            <a:chExt cx="2699004" cy="2700527"/>
          </a:xfrm>
        </p:grpSpPr>
        <p:pic>
          <p:nvPicPr>
            <p:cNvPr id="4140" name="picture 41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699004" cy="2700527"/>
            </a:xfrm>
            <a:prstGeom prst="rect">
              <a:avLst/>
            </a:prstGeom>
          </p:spPr>
        </p:pic>
        <p:sp>
          <p:nvSpPr>
            <p:cNvPr id="4142" name="textbox 4142"/>
            <p:cNvSpPr/>
            <p:nvPr/>
          </p:nvSpPr>
          <p:spPr>
            <a:xfrm>
              <a:off x="-12700" y="-12700"/>
              <a:ext cx="2724785" cy="27374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2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16964" algn="l" rtl="0" eaLnBrk="0">
                <a:lnSpc>
                  <a:spcPct val="79000"/>
                </a:lnSpc>
                <a:tabLst/>
              </a:pP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ZOO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9400" algn="l" rtl="0" eaLnBrk="0">
                <a:lnSpc>
                  <a:spcPct val="108000"/>
                </a:lnSpc>
                <a:spcBef>
                  <a:spcPts val="1106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一款极具创新意义的AI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CAD绘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图平台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，致力于为现代硬件设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计赋能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3234" indent="-276859" algn="l" rtl="0" eaLnBrk="0">
                <a:lnSpc>
                  <a:spcPct val="108000"/>
                </a:lnSpc>
                <a:spcBef>
                  <a:spcPts val="201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借助前沿技术，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实现了通过文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本提示生成精确3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D</a:t>
              </a:r>
              <a:r>
                <a:rPr sz="1200" kern="0" spc="2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CAD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模型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的功能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，给CAD设计流程带来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了突破性变革，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大幅降低设计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门槛，提升设计效率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5000"/>
                </a:lnSpc>
                <a:spcBef>
                  <a:spcPts val="18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7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https://text-to-cad.zoo.dev/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144" name="picture 414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93903" y="2135936"/>
              <a:ext cx="122986" cy="168859"/>
            </a:xfrm>
            <a:prstGeom prst="rect">
              <a:avLst/>
            </a:prstGeom>
          </p:spPr>
        </p:pic>
        <p:pic>
          <p:nvPicPr>
            <p:cNvPr id="4146" name="picture 414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93903" y="1132636"/>
              <a:ext cx="122986" cy="168859"/>
            </a:xfrm>
            <a:prstGeom prst="rect">
              <a:avLst/>
            </a:prstGeom>
          </p:spPr>
        </p:pic>
        <p:pic>
          <p:nvPicPr>
            <p:cNvPr id="4148" name="picture 41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3903" y="530656"/>
              <a:ext cx="122986" cy="168859"/>
            </a:xfrm>
            <a:prstGeom prst="rect">
              <a:avLst/>
            </a:prstGeom>
          </p:spPr>
        </p:pic>
      </p:grpSp>
      <p:pic>
        <p:nvPicPr>
          <p:cNvPr id="4150" name="picture 41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198108" y="3855720"/>
            <a:ext cx="2699003" cy="2700527"/>
          </a:xfrm>
          <a:prstGeom prst="rect">
            <a:avLst/>
          </a:prstGeom>
        </p:spPr>
      </p:pic>
      <p:grpSp>
        <p:nvGrpSpPr>
          <p:cNvPr id="294" name="group 294"/>
          <p:cNvGrpSpPr/>
          <p:nvPr/>
        </p:nvGrpSpPr>
        <p:grpSpPr>
          <a:xfrm rot="21600000">
            <a:off x="3268979" y="1001776"/>
            <a:ext cx="2705100" cy="2604007"/>
            <a:chOff x="0" y="0"/>
            <a:chExt cx="2705100" cy="2604007"/>
          </a:xfrm>
        </p:grpSpPr>
        <p:pic>
          <p:nvPicPr>
            <p:cNvPr id="4152" name="picture 415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61804"/>
              <a:ext cx="2705100" cy="2542202"/>
            </a:xfrm>
            <a:prstGeom prst="rect">
              <a:avLst/>
            </a:prstGeom>
          </p:spPr>
        </p:pic>
        <p:sp>
          <p:nvSpPr>
            <p:cNvPr id="4154" name="textbox 4154"/>
            <p:cNvSpPr/>
            <p:nvPr/>
          </p:nvSpPr>
          <p:spPr>
            <a:xfrm>
              <a:off x="-12700" y="-12700"/>
              <a:ext cx="2730500" cy="26409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94384" algn="l" rtl="0" eaLnBrk="0">
                <a:lnSpc>
                  <a:spcPts val="2282"/>
                </a:lnSpc>
                <a:tabLst/>
              </a:pP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Text</a:t>
              </a:r>
              <a:r>
                <a:rPr sz="1700" b="1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CAD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488950" indent="-279400" algn="l" rtl="0" eaLnBrk="0">
                <a:lnSpc>
                  <a:spcPct val="109000"/>
                </a:lnSpc>
                <a:spcBef>
                  <a:spcPts val="1429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一款极具创新性的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辅助设计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平台，</a:t>
              </a:r>
              <a:r>
                <a:rPr sz="1200" kern="0" spc="-2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生成的模型支持多种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格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式导出，还能实现云端协作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8000"/>
                </a:lnSpc>
                <a:spcBef>
                  <a:spcPts val="38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借助前沿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能够将用户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使用自然语言表述的设计需求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如尺寸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、形状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、功能等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，迅速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转化为符合工程标准的高精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度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CAD模型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05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https://cad.blue/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156" name="picture 415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96951" y="2092883"/>
              <a:ext cx="122986" cy="168859"/>
            </a:xfrm>
            <a:prstGeom prst="rect">
              <a:avLst/>
            </a:prstGeom>
          </p:spPr>
        </p:pic>
        <p:pic>
          <p:nvPicPr>
            <p:cNvPr id="4158" name="picture 415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196951" y="1089583"/>
              <a:ext cx="122986" cy="168859"/>
            </a:xfrm>
            <a:prstGeom prst="rect">
              <a:avLst/>
            </a:prstGeom>
          </p:spPr>
        </p:pic>
        <p:pic>
          <p:nvPicPr>
            <p:cNvPr id="4160" name="picture 416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196951" y="487603"/>
              <a:ext cx="122986" cy="168859"/>
            </a:xfrm>
            <a:prstGeom prst="rect">
              <a:avLst/>
            </a:prstGeom>
          </p:spPr>
        </p:pic>
      </p:grpSp>
      <p:grpSp>
        <p:nvGrpSpPr>
          <p:cNvPr id="296" name="group 296"/>
          <p:cNvGrpSpPr/>
          <p:nvPr/>
        </p:nvGrpSpPr>
        <p:grpSpPr>
          <a:xfrm rot="21600000">
            <a:off x="6195059" y="1001776"/>
            <a:ext cx="2705100" cy="2604007"/>
            <a:chOff x="0" y="0"/>
            <a:chExt cx="2705100" cy="2604007"/>
          </a:xfrm>
        </p:grpSpPr>
        <p:pic>
          <p:nvPicPr>
            <p:cNvPr id="4162" name="picture 416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61804"/>
              <a:ext cx="2705100" cy="2542202"/>
            </a:xfrm>
            <a:prstGeom prst="rect">
              <a:avLst/>
            </a:prstGeom>
          </p:spPr>
        </p:pic>
        <p:sp>
          <p:nvSpPr>
            <p:cNvPr id="4164" name="textbox 4164"/>
            <p:cNvSpPr/>
            <p:nvPr/>
          </p:nvSpPr>
          <p:spPr>
            <a:xfrm>
              <a:off x="-12700" y="-12700"/>
              <a:ext cx="2730500" cy="26409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36955" algn="l" rtl="0" eaLnBrk="0">
                <a:lnSpc>
                  <a:spcPts val="2282"/>
                </a:lnSpc>
                <a:tabLst/>
              </a:pPr>
              <a:r>
                <a:rPr sz="17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Bild</a:t>
              </a:r>
              <a:r>
                <a:rPr sz="1700" b="1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485775" indent="-276225" algn="l" rtl="0" eaLnBrk="0">
                <a:lnSpc>
                  <a:spcPct val="104000"/>
                </a:lnSpc>
                <a:spcBef>
                  <a:spcPts val="1409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基于人工智能技术读取和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理解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建筑蓝图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，快速估算材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料成本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确保蓝图准确性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6409" indent="-276859" algn="l" rtl="0" eaLnBrk="0">
                <a:lnSpc>
                  <a:spcPct val="107000"/>
                </a:lnSpc>
                <a:spcBef>
                  <a:spcPts val="230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通过计算机视觉和自然语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言处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理技术，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自动解析蓝图中的细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节，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生成详细的材料清单和成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本估算，</a:t>
              </a:r>
              <a:r>
                <a:rPr sz="12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同时检查蓝图是否符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合建筑规范，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降低审批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驳回的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风险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9550" algn="l" rtl="0" eaLnBrk="0">
                <a:lnSpc>
                  <a:spcPct val="105000"/>
                </a:lnSpc>
                <a:spcBef>
                  <a:spcPts val="116"/>
                </a:spcBef>
                <a:tabLst>
                  <a:tab pos="33210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0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w.bild.ai/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166" name="picture 4166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6951" y="2275128"/>
              <a:ext cx="122987" cy="168859"/>
            </a:xfrm>
            <a:prstGeom prst="rect">
              <a:avLst/>
            </a:prstGeom>
          </p:spPr>
        </p:pic>
        <p:pic>
          <p:nvPicPr>
            <p:cNvPr id="4168" name="picture 416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6951" y="1071168"/>
              <a:ext cx="122987" cy="168859"/>
            </a:xfrm>
            <a:prstGeom prst="rect">
              <a:avLst/>
            </a:prstGeom>
          </p:spPr>
        </p:pic>
        <p:pic>
          <p:nvPicPr>
            <p:cNvPr id="4170" name="picture 417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96951" y="469188"/>
              <a:ext cx="122987" cy="168859"/>
            </a:xfrm>
            <a:prstGeom prst="rect">
              <a:avLst/>
            </a:prstGeom>
          </p:spPr>
        </p:pic>
      </p:grpSp>
      <p:pic>
        <p:nvPicPr>
          <p:cNvPr id="4172" name="picture 417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342900" y="4017093"/>
            <a:ext cx="2705100" cy="2542202"/>
          </a:xfrm>
          <a:prstGeom prst="rect">
            <a:avLst/>
          </a:prstGeom>
        </p:spPr>
      </p:pic>
      <p:pic>
        <p:nvPicPr>
          <p:cNvPr id="4174" name="picture 417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121140" y="4017093"/>
            <a:ext cx="2705100" cy="2542202"/>
          </a:xfrm>
          <a:prstGeom prst="rect">
            <a:avLst/>
          </a:prstGeom>
        </p:spPr>
      </p:pic>
      <p:pic>
        <p:nvPicPr>
          <p:cNvPr id="4176" name="picture 4176">
            <a:hlinkClick r:id="rId27" action="ppaction://hlinkfile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526415" y="6083300"/>
            <a:ext cx="2337435" cy="401320"/>
          </a:xfrm>
          <a:prstGeom prst="rect">
            <a:avLst/>
          </a:prstGeom>
        </p:spPr>
      </p:pic>
      <p:sp>
        <p:nvSpPr>
          <p:cNvPr id="4178" name="textbox 4178"/>
          <p:cNvSpPr/>
          <p:nvPr/>
        </p:nvSpPr>
        <p:spPr>
          <a:xfrm>
            <a:off x="526516" y="4018660"/>
            <a:ext cx="2350770" cy="2479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ts val="2282"/>
              </a:lnSpc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BIMBase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300990" indent="-288290" algn="l" rtl="0" eaLnBrk="0">
              <a:lnSpc>
                <a:spcPct val="110000"/>
              </a:lnSpc>
              <a:spcBef>
                <a:spcPts val="119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北京构力科技2023年发布的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国产Revit插件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1000"/>
              </a:lnSpc>
              <a:spcBef>
                <a:spcPts val="8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在云端把白模自动赋材质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800" kern="0" spc="-140" baseline="578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补人物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800" kern="0" spc="-140" baseline="578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植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700" kern="0" spc="50" baseline="-5787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800" kern="0" spc="-30" baseline="578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30" baseline="578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依据中国光</a:t>
            </a:r>
            <a:r>
              <a:rPr sz="12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照数据库实时调节曝光</a:t>
            </a:r>
            <a:r>
              <a:rPr sz="1200" kern="0" spc="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内可输出4K级效果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图或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720°全景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，用于方案汇报与投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，单张成本低于0.5元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0" indent="-273684" algn="l" rtl="0" eaLnBrk="0">
              <a:lnSpc>
                <a:spcPct val="107000"/>
              </a:lnSpc>
              <a:spcBef>
                <a:spcPts val="10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https://product.pkpm.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cn/do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wnloadlist?pI</a:t>
            </a:r>
            <a:r>
              <a:rPr sz="1200" u="sng" kern="0" spc="-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d=1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80" name="picture 418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539216" y="6096939"/>
            <a:ext cx="122986" cy="168859"/>
          </a:xfrm>
          <a:prstGeom prst="rect">
            <a:avLst/>
          </a:prstGeom>
        </p:spPr>
      </p:pic>
      <p:pic>
        <p:nvPicPr>
          <p:cNvPr id="4182" name="picture 418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539216" y="4892979"/>
            <a:ext cx="122986" cy="168859"/>
          </a:xfrm>
          <a:prstGeom prst="rect">
            <a:avLst/>
          </a:prstGeom>
        </p:spPr>
      </p:pic>
      <p:pic>
        <p:nvPicPr>
          <p:cNvPr id="4184" name="picture 418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2070945" y="5098795"/>
            <a:ext cx="167792" cy="181737"/>
          </a:xfrm>
          <a:prstGeom prst="rect">
            <a:avLst/>
          </a:prstGeom>
        </p:spPr>
      </p:pic>
      <p:pic>
        <p:nvPicPr>
          <p:cNvPr id="4186" name="picture 418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1540865" y="5081422"/>
            <a:ext cx="219455" cy="209169"/>
          </a:xfrm>
          <a:prstGeom prst="rect">
            <a:avLst/>
          </a:prstGeom>
        </p:spPr>
      </p:pic>
      <p:pic>
        <p:nvPicPr>
          <p:cNvPr id="4188" name="picture 418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1224406" y="5083708"/>
            <a:ext cx="236829" cy="203225"/>
          </a:xfrm>
          <a:prstGeom prst="rect">
            <a:avLst/>
          </a:prstGeom>
        </p:spPr>
      </p:pic>
      <p:pic>
        <p:nvPicPr>
          <p:cNvPr id="4190" name="picture 419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539216" y="4491659"/>
            <a:ext cx="122986" cy="168859"/>
          </a:xfrm>
          <a:prstGeom prst="rect">
            <a:avLst/>
          </a:prstGeom>
        </p:spPr>
      </p:pic>
      <p:pic>
        <p:nvPicPr>
          <p:cNvPr id="4192" name="picture 4192">
            <a:hlinkClick r:id="rId36" action="ppaction://hlinkfil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9305290" y="3062605"/>
            <a:ext cx="2337434" cy="401319"/>
          </a:xfrm>
          <a:prstGeom prst="rect">
            <a:avLst/>
          </a:prstGeom>
        </p:spPr>
      </p:pic>
      <p:sp>
        <p:nvSpPr>
          <p:cNvPr id="4194" name="textbox 4194"/>
          <p:cNvSpPr/>
          <p:nvPr/>
        </p:nvSpPr>
        <p:spPr>
          <a:xfrm>
            <a:off x="9305391" y="1054226"/>
            <a:ext cx="2350770" cy="2421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8680" algn="l" rtl="0" eaLnBrk="0">
              <a:lnSpc>
                <a:spcPct val="79000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TSDP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10000"/>
              </a:lnSpc>
              <a:spcBef>
                <a:spcPts val="141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北京探索者2022年发布该国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产AI审图软件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9000"/>
              </a:lnSpc>
              <a:spcBef>
                <a:spcPts val="6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基于300万张结构图纸训练的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CV模型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，可自动核查梁配筋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柱箍筋加密区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、边缘构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件体积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配箍率等</a:t>
            </a:r>
            <a:r>
              <a:rPr sz="1200" kern="0" spc="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30余项规范条文 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2h完成3000张图审阅，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误报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率&lt;3%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0" indent="-273684" algn="l" rtl="0" eaLnBrk="0">
              <a:lnSpc>
                <a:spcPct val="107000"/>
              </a:lnSpc>
              <a:spcBef>
                <a:spcPts val="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tsz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Dra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wPlane.js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96" name="picture 419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9318091" y="3076244"/>
            <a:ext cx="122987" cy="168859"/>
          </a:xfrm>
          <a:prstGeom prst="rect">
            <a:avLst/>
          </a:prstGeom>
        </p:spPr>
      </p:pic>
      <p:pic>
        <p:nvPicPr>
          <p:cNvPr id="4198" name="picture 419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9318091" y="1872284"/>
            <a:ext cx="122987" cy="168859"/>
          </a:xfrm>
          <a:prstGeom prst="rect">
            <a:avLst/>
          </a:prstGeom>
        </p:spPr>
      </p:pic>
      <p:pic>
        <p:nvPicPr>
          <p:cNvPr id="4200" name="picture 420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9318091" y="1470964"/>
            <a:ext cx="122987" cy="168859"/>
          </a:xfrm>
          <a:prstGeom prst="rect">
            <a:avLst/>
          </a:prstGeom>
        </p:spPr>
      </p:pic>
      <p:pic>
        <p:nvPicPr>
          <p:cNvPr id="4202" name="picture 4202">
            <a:hlinkClick r:id="rId28" action="ppaction://hlinkfile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305290" y="5826759"/>
            <a:ext cx="2337434" cy="401319"/>
          </a:xfrm>
          <a:prstGeom prst="rect">
            <a:avLst/>
          </a:prstGeom>
        </p:spPr>
      </p:pic>
      <p:sp>
        <p:nvSpPr>
          <p:cNvPr id="4204" name="textbox 4204"/>
          <p:cNvSpPr/>
          <p:nvPr/>
        </p:nvSpPr>
        <p:spPr>
          <a:xfrm>
            <a:off x="9305391" y="4018660"/>
            <a:ext cx="2422525" cy="2222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0684" algn="l" rtl="0" eaLnBrk="0">
              <a:lnSpc>
                <a:spcPts val="2282"/>
              </a:lnSpc>
              <a:tabLst/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HD-AidMaster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05000"/>
              </a:lnSpc>
              <a:spcBef>
                <a:spcPts val="89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湖南省建筑设计院数字研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究院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2023年发布的云端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AIGC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9000"/>
              </a:lnSpc>
              <a:spcBef>
                <a:spcPts val="3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搭载自研Archi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Master大模型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可在同一套权重下生成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超高层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住宅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、展馆等多类型建筑图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支持中文关键词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，并一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键分离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主体与背景，方便后期精修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7000"/>
              </a:lnSpc>
              <a:spcBef>
                <a:spcPts val="31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https://www.aidmaster.cn/#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/poster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06" name="picture 420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9318091" y="5840399"/>
            <a:ext cx="122987" cy="168859"/>
          </a:xfrm>
          <a:prstGeom prst="rect">
            <a:avLst/>
          </a:prstGeom>
        </p:spPr>
      </p:pic>
      <p:pic>
        <p:nvPicPr>
          <p:cNvPr id="4208" name="picture 420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9318091" y="4837099"/>
            <a:ext cx="122987" cy="168859"/>
          </a:xfrm>
          <a:prstGeom prst="rect">
            <a:avLst/>
          </a:prstGeom>
        </p:spPr>
      </p:pic>
      <p:pic>
        <p:nvPicPr>
          <p:cNvPr id="4210" name="picture 421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9318091" y="4435779"/>
            <a:ext cx="122987" cy="168859"/>
          </a:xfrm>
          <a:prstGeom prst="rect">
            <a:avLst/>
          </a:prstGeom>
        </p:spPr>
      </p:pic>
      <p:pic>
        <p:nvPicPr>
          <p:cNvPr id="4212" name="picture 4212">
            <a:hlinkClick r:id="rId45" action="ppaction://hlinkfile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6378575" y="5681979"/>
            <a:ext cx="2337434" cy="401319"/>
          </a:xfrm>
          <a:prstGeom prst="rect">
            <a:avLst/>
          </a:prstGeom>
        </p:spPr>
      </p:pic>
      <p:sp>
        <p:nvSpPr>
          <p:cNvPr id="4214" name="textbox 4214"/>
          <p:cNvSpPr/>
          <p:nvPr/>
        </p:nvSpPr>
        <p:spPr>
          <a:xfrm>
            <a:off x="6378676" y="4018660"/>
            <a:ext cx="2350135" cy="209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7194" algn="l" rtl="0" eaLnBrk="0">
              <a:lnSpc>
                <a:spcPts val="2282"/>
              </a:lnSpc>
              <a:tabLst/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BricsCAD</a:t>
            </a:r>
            <a:r>
              <a:rPr sz="17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IM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7000"/>
              </a:lnSpc>
              <a:spcBef>
                <a:spcPts val="121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 模块可将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2D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草图自动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升级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为带属性的</a:t>
            </a:r>
            <a:r>
              <a:rPr sz="1200" kern="0" spc="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实体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，并实时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校正尺寸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、注释与碰撞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06000"/>
              </a:lnSpc>
              <a:spcBef>
                <a:spcPts val="24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内置生成式设计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，可根据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楼层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、材料与造价约束一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次性输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出多方案，供建筑师快速比选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4000"/>
              </a:lnSpc>
              <a:spcBef>
                <a:spcPts val="26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5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https://www.bricsys.com/en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734" algn="l" rtl="0" eaLnBrk="0">
              <a:lnSpc>
                <a:spcPct val="115000"/>
              </a:lnSpc>
              <a:spcBef>
                <a:spcPts val="79"/>
              </a:spcBef>
              <a:tabLst/>
            </a:pP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us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bricscad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28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bim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16" name="picture 421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6391376" y="5695619"/>
            <a:ext cx="122987" cy="168859"/>
          </a:xfrm>
          <a:prstGeom prst="rect">
            <a:avLst/>
          </a:prstGeom>
        </p:spPr>
      </p:pic>
      <p:pic>
        <p:nvPicPr>
          <p:cNvPr id="4218" name="picture 421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6391376" y="5093639"/>
            <a:ext cx="122987" cy="168859"/>
          </a:xfrm>
          <a:prstGeom prst="rect">
            <a:avLst/>
          </a:prstGeom>
        </p:spPr>
      </p:pic>
      <p:pic>
        <p:nvPicPr>
          <p:cNvPr id="4220" name="picture 422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6391376" y="4491659"/>
            <a:ext cx="122987" cy="168859"/>
          </a:xfrm>
          <a:prstGeom prst="rect">
            <a:avLst/>
          </a:prstGeom>
        </p:spPr>
      </p:pic>
      <p:pic>
        <p:nvPicPr>
          <p:cNvPr id="4222" name="picture 4222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4224" name="textbox 4224"/>
          <p:cNvSpPr/>
          <p:nvPr/>
        </p:nvSpPr>
        <p:spPr>
          <a:xfrm>
            <a:off x="82291" y="-31740"/>
            <a:ext cx="254317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AI土木工程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roup 298"/>
          <p:cNvGrpSpPr/>
          <p:nvPr/>
        </p:nvGrpSpPr>
        <p:grpSpPr>
          <a:xfrm rot="21600000">
            <a:off x="6220967" y="3724655"/>
            <a:ext cx="2699003" cy="2910839"/>
            <a:chOff x="0" y="0"/>
            <a:chExt cx="2699003" cy="2910839"/>
          </a:xfrm>
        </p:grpSpPr>
        <p:pic>
          <p:nvPicPr>
            <p:cNvPr id="4226" name="picture 42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30479"/>
              <a:ext cx="2699003" cy="2880359"/>
            </a:xfrm>
            <a:prstGeom prst="rect">
              <a:avLst/>
            </a:prstGeom>
          </p:spPr>
        </p:pic>
        <p:sp>
          <p:nvSpPr>
            <p:cNvPr id="4228" name="textbox 4228"/>
            <p:cNvSpPr/>
            <p:nvPr/>
          </p:nvSpPr>
          <p:spPr>
            <a:xfrm>
              <a:off x="180568" y="587933"/>
              <a:ext cx="2350135" cy="18167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0195" indent="-278129" algn="l" rtl="0" eaLnBrk="0">
                <a:lnSpc>
                  <a:spcPct val="105000"/>
                </a:lnSpc>
                <a:spcBef>
                  <a:spcPts val="1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一个专注于提供学术写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作服务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的平台，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旨在帮助用户降低论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文的重复率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，提高学术作品的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原创性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0195" indent="-277495" algn="l" rtl="0" eaLnBrk="0">
                <a:lnSpc>
                  <a:spcPct val="105000"/>
                </a:lnSpc>
                <a:spcBef>
                  <a:spcPts val="272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专注于语言风格的优化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。能精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准识别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内容的特征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然后针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对性地调整词汇搭配和语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法结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构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04000"/>
                </a:lnSpc>
                <a:spcBef>
                  <a:spcPts val="115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8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ww.mypitaya.com/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230" name="picture 42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3268" y="2205913"/>
              <a:ext cx="122987" cy="168859"/>
            </a:xfrm>
            <a:prstGeom prst="rect">
              <a:avLst/>
            </a:prstGeom>
          </p:spPr>
        </p:pic>
        <p:pic>
          <p:nvPicPr>
            <p:cNvPr id="4232" name="picture 42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3268" y="1403273"/>
              <a:ext cx="122987" cy="168859"/>
            </a:xfrm>
            <a:prstGeom prst="rect">
              <a:avLst/>
            </a:prstGeom>
          </p:spPr>
        </p:pic>
        <p:pic>
          <p:nvPicPr>
            <p:cNvPr id="4234" name="picture 423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3268" y="600633"/>
              <a:ext cx="122987" cy="168859"/>
            </a:xfrm>
            <a:prstGeom prst="rect">
              <a:avLst/>
            </a:prstGeom>
          </p:spPr>
        </p:pic>
        <p:pic>
          <p:nvPicPr>
            <p:cNvPr id="4236" name="picture 423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669036" y="0"/>
              <a:ext cx="1362456" cy="504444"/>
            </a:xfrm>
            <a:prstGeom prst="rect">
              <a:avLst/>
            </a:prstGeom>
          </p:spPr>
        </p:pic>
      </p:grpSp>
      <p:pic>
        <p:nvPicPr>
          <p:cNvPr id="4238" name="picture 42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5759" y="3753611"/>
            <a:ext cx="2705100" cy="2883407"/>
          </a:xfrm>
          <a:prstGeom prst="rect">
            <a:avLst/>
          </a:prstGeom>
        </p:spPr>
      </p:pic>
      <p:grpSp>
        <p:nvGrpSpPr>
          <p:cNvPr id="300" name="group 300"/>
          <p:cNvGrpSpPr/>
          <p:nvPr/>
        </p:nvGrpSpPr>
        <p:grpSpPr>
          <a:xfrm rot="21600000">
            <a:off x="3294888" y="3744467"/>
            <a:ext cx="2699004" cy="2889503"/>
            <a:chOff x="0" y="0"/>
            <a:chExt cx="2699004" cy="2889503"/>
          </a:xfrm>
        </p:grpSpPr>
        <p:pic>
          <p:nvPicPr>
            <p:cNvPr id="4240" name="picture 424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10667"/>
              <a:ext cx="2699004" cy="2878835"/>
            </a:xfrm>
            <a:prstGeom prst="rect">
              <a:avLst/>
            </a:prstGeom>
          </p:spPr>
        </p:pic>
        <p:pic>
          <p:nvPicPr>
            <p:cNvPr id="4242" name="picture 4242">
              <a:hlinkClick r:id="rId11" action="ppaction://hlinkfile"/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81102" y="2373122"/>
              <a:ext cx="2337434" cy="401319"/>
            </a:xfrm>
            <a:prstGeom prst="rect">
              <a:avLst/>
            </a:prstGeom>
          </p:spPr>
        </p:pic>
        <p:sp>
          <p:nvSpPr>
            <p:cNvPr id="4244" name="textbox 4244"/>
            <p:cNvSpPr/>
            <p:nvPr/>
          </p:nvSpPr>
          <p:spPr>
            <a:xfrm>
              <a:off x="181203" y="568121"/>
              <a:ext cx="2399664" cy="22548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843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0195" indent="-278129" algn="l" rtl="0" eaLnBrk="0">
                <a:lnSpc>
                  <a:spcPct val="106000"/>
                </a:lnSpc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一款专为中英文文本降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重设计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它通过深度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学习和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自然语言处理技术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在保持原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意不变的前提下进行智能改写，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有效降低重复率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88925" indent="-276859" algn="l" rtl="0" eaLnBrk="0">
                <a:lnSpc>
                  <a:spcPct val="108000"/>
                </a:lnSpc>
                <a:spcBef>
                  <a:spcPts val="96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WriteGenie对比同类工具效果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更突出，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能在100%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保留原文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核心含义的前提下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，将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文本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检测率与重复率降至最低水平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98450" indent="-285750" algn="l" rtl="0" eaLnBrk="0">
                <a:lnSpc>
                  <a:spcPct val="117000"/>
                </a:lnSpc>
                <a:spcBef>
                  <a:spcPts val="118"/>
                </a:spcBef>
                <a:tabLst>
                  <a:tab pos="135254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https://www.aiwbds.com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/?tj</a:t>
              </a: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1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2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Id=6225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246" name="picture 424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3903" y="2386761"/>
              <a:ext cx="122986" cy="168859"/>
            </a:xfrm>
            <a:prstGeom prst="rect">
              <a:avLst/>
            </a:prstGeom>
          </p:spPr>
        </p:pic>
        <p:pic>
          <p:nvPicPr>
            <p:cNvPr id="4248" name="picture 424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93903" y="1584121"/>
              <a:ext cx="122986" cy="168859"/>
            </a:xfrm>
            <a:prstGeom prst="rect">
              <a:avLst/>
            </a:prstGeom>
          </p:spPr>
        </p:pic>
        <p:pic>
          <p:nvPicPr>
            <p:cNvPr id="4250" name="picture 425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93903" y="580821"/>
              <a:ext cx="122986" cy="168859"/>
            </a:xfrm>
            <a:prstGeom prst="rect">
              <a:avLst/>
            </a:prstGeom>
          </p:spPr>
        </p:pic>
        <p:pic>
          <p:nvPicPr>
            <p:cNvPr id="4252" name="picture 425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569975" y="0"/>
              <a:ext cx="1571244" cy="466344"/>
            </a:xfrm>
            <a:prstGeom prst="rect">
              <a:avLst/>
            </a:prstGeom>
          </p:spPr>
        </p:pic>
      </p:grpSp>
      <p:pic>
        <p:nvPicPr>
          <p:cNvPr id="4254" name="picture 425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9144000" y="3777996"/>
            <a:ext cx="2705100" cy="2860548"/>
          </a:xfrm>
          <a:prstGeom prst="rect">
            <a:avLst/>
          </a:prstGeom>
        </p:spPr>
      </p:pic>
      <p:grpSp>
        <p:nvGrpSpPr>
          <p:cNvPr id="302" name="group 302"/>
          <p:cNvGrpSpPr/>
          <p:nvPr/>
        </p:nvGrpSpPr>
        <p:grpSpPr>
          <a:xfrm rot="21600000">
            <a:off x="9147047" y="777240"/>
            <a:ext cx="2699004" cy="2820923"/>
            <a:chOff x="0" y="0"/>
            <a:chExt cx="2699004" cy="2820923"/>
          </a:xfrm>
        </p:grpSpPr>
        <p:pic>
          <p:nvPicPr>
            <p:cNvPr id="4256" name="picture 425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2699004" cy="2820923"/>
            </a:xfrm>
            <a:prstGeom prst="rect">
              <a:avLst/>
            </a:prstGeom>
          </p:spPr>
        </p:pic>
        <p:sp>
          <p:nvSpPr>
            <p:cNvPr id="4258" name="textbox 4258"/>
            <p:cNvSpPr/>
            <p:nvPr/>
          </p:nvSpPr>
          <p:spPr>
            <a:xfrm>
              <a:off x="-12700" y="-12700"/>
              <a:ext cx="2724785" cy="28568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3869" indent="-277495" algn="l" rtl="0" eaLnBrk="0">
                <a:lnSpc>
                  <a:spcPct val="107000"/>
                </a:lnSpc>
                <a:spcBef>
                  <a:spcPts val="3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一款基于大数据的写作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与创新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辅助工具,收录整理了超过7亿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元数据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，25亿引文数据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，覆盖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图书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，期刊，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学位论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，会议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论文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，报纸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，标准，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专利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，互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联网博客等文献类型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85140" indent="-278765" algn="l" rtl="0" eaLnBrk="0">
                <a:lnSpc>
                  <a:spcPct val="97000"/>
                </a:lnSpc>
                <a:spcBef>
                  <a:spcPts val="242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平台围绕毕业论文写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作和职称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论文写作服务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06375" algn="l" rtl="0" eaLnBrk="0">
                <a:lnSpc>
                  <a:spcPct val="104000"/>
                </a:lnSpc>
                <a:spcBef>
                  <a:spcPts val="240"/>
                </a:spcBef>
                <a:tabLst>
                  <a:tab pos="32956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5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1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https://www.biga</a:t>
              </a:r>
              <a:r>
                <a:rPr sz="1200" u="sng" kern="0" spc="-2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19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n.net/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260" name="picture 426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193903" y="2159939"/>
              <a:ext cx="122987" cy="168859"/>
            </a:xfrm>
            <a:prstGeom prst="rect">
              <a:avLst/>
            </a:prstGeom>
          </p:spPr>
        </p:pic>
        <p:pic>
          <p:nvPicPr>
            <p:cNvPr id="4262" name="picture 426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193903" y="1758619"/>
              <a:ext cx="122987" cy="168859"/>
            </a:xfrm>
            <a:prstGeom prst="rect">
              <a:avLst/>
            </a:prstGeom>
          </p:spPr>
        </p:pic>
        <p:pic>
          <p:nvPicPr>
            <p:cNvPr id="4264" name="picture 426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93903" y="554659"/>
              <a:ext cx="122987" cy="168859"/>
            </a:xfrm>
            <a:prstGeom prst="rect">
              <a:avLst/>
            </a:prstGeom>
          </p:spPr>
        </p:pic>
      </p:grpSp>
      <p:pic>
        <p:nvPicPr>
          <p:cNvPr id="4266" name="picture 426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68808" y="797052"/>
            <a:ext cx="2699003" cy="2801111"/>
          </a:xfrm>
          <a:prstGeom prst="rect">
            <a:avLst/>
          </a:prstGeom>
        </p:spPr>
      </p:pic>
      <p:grpSp>
        <p:nvGrpSpPr>
          <p:cNvPr id="304" name="group 304"/>
          <p:cNvGrpSpPr/>
          <p:nvPr/>
        </p:nvGrpSpPr>
        <p:grpSpPr>
          <a:xfrm rot="21600000">
            <a:off x="3291840" y="850391"/>
            <a:ext cx="2705100" cy="2750820"/>
            <a:chOff x="0" y="0"/>
            <a:chExt cx="2705100" cy="2750820"/>
          </a:xfrm>
        </p:grpSpPr>
        <p:pic>
          <p:nvPicPr>
            <p:cNvPr id="4268" name="picture 426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0" y="0"/>
              <a:ext cx="2705100" cy="2750820"/>
            </a:xfrm>
            <a:prstGeom prst="rect">
              <a:avLst/>
            </a:prstGeom>
          </p:spPr>
        </p:pic>
        <p:sp>
          <p:nvSpPr>
            <p:cNvPr id="4270" name="textbox 4270"/>
            <p:cNvSpPr/>
            <p:nvPr/>
          </p:nvSpPr>
          <p:spPr>
            <a:xfrm>
              <a:off x="-12700" y="-12700"/>
              <a:ext cx="2730500" cy="2787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45134" indent="-277495" algn="l" rtl="0" eaLnBrk="0">
                <a:lnSpc>
                  <a:spcPct val="105000"/>
                </a:lnSpc>
                <a:spcBef>
                  <a:spcPts val="3"/>
                </a:spcBef>
                <a:tabLst>
                  <a:tab pos="2901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一款专业且安全的写作工具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采用智能验证系统</a:t>
              </a: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确保了连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接的安全性并防止自动化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的滥用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443865" indent="-276225" algn="l" rtl="0" eaLnBrk="0">
                <a:lnSpc>
                  <a:spcPct val="105000"/>
                </a:lnSpc>
                <a:spcBef>
                  <a:spcPts val="264"/>
                </a:spcBef>
                <a:tabLst>
                  <a:tab pos="290195" algn="l"/>
                </a:tabLst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2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提供基本的文本编辑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功能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，配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备了强大的内容优化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，助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您更有效地表达思想并提升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写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作质量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67639" algn="l" rtl="0" eaLnBrk="0">
                <a:lnSpc>
                  <a:spcPct val="105000"/>
                </a:lnSpc>
                <a:spcBef>
                  <a:spcPts val="117"/>
                </a:spcBef>
                <a:tabLst>
                  <a:tab pos="290195" algn="l"/>
                </a:tabLst>
              </a:pPr>
              <a:r>
                <a:rPr sz="1200" kern="0" spc="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	</a:t>
              </a:r>
              <a:r>
                <a:rPr sz="1200" kern="0" spc="4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  </a:t>
              </a:r>
              <a:r>
                <a:rPr sz="1200" u="sng" kern="0" spc="-26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 </a:t>
              </a:r>
              <a:r>
                <a:rPr sz="1200" u="sng" kern="0" spc="-30" dirty="0">
                  <a:solidFill>
                    <a:srgbClr val="0026E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xmlns:r="http://schemas.openxmlformats.org/officeDocument/2006/relationships" r:id="rId25" tooltip="">
                    <a:extLst>
                      <a:ext uri="{DAF060AB-1E55-43B9-8AAB-6FB025537F2F}">
                        <wpsdc:hlinkClr xmlns:wpsdc="http://www.wps.cn/officeDocument/2017/drawingmlCustomData" val="0026E5"/>
                        <wpsdc:folHlinkClr xmlns:wpsdc="http://www.wps.cn/officeDocument/2017/drawingmlCustomData" val="0026E5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https://quillbot.com/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272" name="picture 427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155041" y="2086787"/>
              <a:ext cx="122986" cy="168859"/>
            </a:xfrm>
            <a:prstGeom prst="rect">
              <a:avLst/>
            </a:prstGeom>
          </p:spPr>
        </p:pic>
        <p:pic>
          <p:nvPicPr>
            <p:cNvPr id="4274" name="picture 4274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155041" y="1284147"/>
              <a:ext cx="122986" cy="168859"/>
            </a:xfrm>
            <a:prstGeom prst="rect">
              <a:avLst/>
            </a:prstGeom>
          </p:spPr>
        </p:pic>
        <p:pic>
          <p:nvPicPr>
            <p:cNvPr id="4276" name="picture 427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155041" y="481507"/>
              <a:ext cx="122986" cy="168859"/>
            </a:xfrm>
            <a:prstGeom prst="rect">
              <a:avLst/>
            </a:prstGeom>
          </p:spPr>
        </p:pic>
      </p:grpSp>
      <p:pic>
        <p:nvPicPr>
          <p:cNvPr id="4278" name="picture 427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217920" y="850391"/>
            <a:ext cx="2705099" cy="2750820"/>
          </a:xfrm>
          <a:prstGeom prst="rect">
            <a:avLst/>
          </a:prstGeom>
        </p:spPr>
      </p:pic>
      <p:pic>
        <p:nvPicPr>
          <p:cNvPr id="4280" name="picture 4280">
            <a:hlinkClick r:id="rId31" action="ppaction://hlinkfile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545465" y="2923540"/>
            <a:ext cx="2337435" cy="601979"/>
          </a:xfrm>
          <a:prstGeom prst="rect">
            <a:avLst/>
          </a:prstGeom>
        </p:spPr>
      </p:pic>
      <p:sp>
        <p:nvSpPr>
          <p:cNvPr id="4282" name="textbox 4282"/>
          <p:cNvSpPr/>
          <p:nvPr/>
        </p:nvSpPr>
        <p:spPr>
          <a:xfrm>
            <a:off x="545566" y="1301369"/>
            <a:ext cx="2350770" cy="2272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08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一款专注于降低文本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GC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检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测率的在线工具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，主要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应用于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学术场景如论文降重和降低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生成内容比例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3370" indent="-281304" algn="l" rtl="0" eaLnBrk="0">
              <a:lnSpc>
                <a:spcPct val="106000"/>
              </a:lnSpc>
              <a:spcBef>
                <a:spcPts val="26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支持知网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、维普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、万方等主流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学术检测平台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，处理后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率可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降至20%以下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达标率超过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4640" algn="l" rtl="0" eaLnBrk="0">
              <a:lnSpc>
                <a:spcPts val="1521"/>
              </a:lnSpc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97%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5000"/>
              </a:lnSpc>
              <a:spcBef>
                <a:spcPts val="45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https://www.aigclean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er.com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/?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source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=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csdn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keyword</a:t>
            </a:r>
            <a:r>
              <a:rPr sz="1200" u="sng" kern="0" spc="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=0</a:t>
            </a:r>
            <a:r>
              <a:rPr sz="1200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1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928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84" name="picture 428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558266" y="2937179"/>
            <a:ext cx="122986" cy="168859"/>
          </a:xfrm>
          <a:prstGeom prst="rect">
            <a:avLst/>
          </a:prstGeom>
        </p:spPr>
      </p:pic>
      <p:pic>
        <p:nvPicPr>
          <p:cNvPr id="4286" name="picture 428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558266" y="2134539"/>
            <a:ext cx="122986" cy="168859"/>
          </a:xfrm>
          <a:prstGeom prst="rect">
            <a:avLst/>
          </a:prstGeom>
        </p:spPr>
      </p:pic>
      <p:pic>
        <p:nvPicPr>
          <p:cNvPr id="4288" name="picture 428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558266" y="1331899"/>
            <a:ext cx="122986" cy="168859"/>
          </a:xfrm>
          <a:prstGeom prst="rect">
            <a:avLst/>
          </a:prstGeom>
        </p:spPr>
      </p:pic>
      <p:pic>
        <p:nvPicPr>
          <p:cNvPr id="4290" name="picture 4290">
            <a:hlinkClick r:id="rId36" action="ppaction://hlinkfil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9328150" y="5515609"/>
            <a:ext cx="2337434" cy="601979"/>
          </a:xfrm>
          <a:prstGeom prst="rect">
            <a:avLst/>
          </a:prstGeom>
        </p:spPr>
      </p:pic>
      <p:sp>
        <p:nvSpPr>
          <p:cNvPr id="4292" name="textbox 4292"/>
          <p:cNvSpPr/>
          <p:nvPr/>
        </p:nvSpPr>
        <p:spPr>
          <a:xfrm>
            <a:off x="9328251" y="4294758"/>
            <a:ext cx="2422525" cy="1847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12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面向专业领域的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写作工具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提供一站式AI创作服务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225" algn="l" rtl="0" eaLnBrk="0">
              <a:lnSpc>
                <a:spcPct val="105000"/>
              </a:lnSpc>
              <a:spcBef>
                <a:spcPts val="107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可以帮你在线快速生成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论文开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题报告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、论文摘要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、论文大纲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文献推荐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、公文写作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、商业计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划书写作等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5275" indent="-282575" algn="l" rtl="0" eaLnBrk="0">
              <a:lnSpc>
                <a:spcPct val="107000"/>
              </a:lnSpc>
              <a:spcBef>
                <a:spcPts val="10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https://ibi</a:t>
            </a:r>
            <a:r>
              <a:rPr sz="1200" u="sng" kern="0" spc="-1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7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ling.</a:t>
            </a:r>
            <a:r>
              <a:rPr sz="1200" u="sng" kern="0" spc="-19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7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cn/paper</a:t>
            </a:r>
            <a:r>
              <a:rPr sz="1200" u="sng" kern="0" spc="-1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pass?from=zh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jiangaigjhj910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86384" algn="l" rtl="0" eaLnBrk="0">
              <a:lnSpc>
                <a:spcPct val="69000"/>
              </a:lnSpc>
              <a:tabLst/>
            </a:pP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6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yy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94" name="picture 429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9340951" y="5529249"/>
            <a:ext cx="122987" cy="168859"/>
          </a:xfrm>
          <a:prstGeom prst="rect">
            <a:avLst/>
          </a:prstGeom>
        </p:spPr>
      </p:pic>
      <p:pic>
        <p:nvPicPr>
          <p:cNvPr id="4296" name="picture 429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9340951" y="4726609"/>
            <a:ext cx="122987" cy="168859"/>
          </a:xfrm>
          <a:prstGeom prst="rect">
            <a:avLst/>
          </a:prstGeom>
        </p:spPr>
      </p:pic>
      <p:pic>
        <p:nvPicPr>
          <p:cNvPr id="4298" name="picture 429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340951" y="4325289"/>
            <a:ext cx="122987" cy="168859"/>
          </a:xfrm>
          <a:prstGeom prst="rect">
            <a:avLst/>
          </a:prstGeom>
        </p:spPr>
      </p:pic>
      <p:pic>
        <p:nvPicPr>
          <p:cNvPr id="4300" name="picture 4300">
            <a:hlinkClick r:id="rId42" action="ppaction://hlinkfile"/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6402070" y="2522220"/>
            <a:ext cx="2337434" cy="401320"/>
          </a:xfrm>
          <a:prstGeom prst="rect">
            <a:avLst/>
          </a:prstGeom>
        </p:spPr>
      </p:pic>
      <p:sp>
        <p:nvSpPr>
          <p:cNvPr id="4302" name="textbox 4302"/>
          <p:cNvSpPr/>
          <p:nvPr/>
        </p:nvSpPr>
        <p:spPr>
          <a:xfrm>
            <a:off x="6402171" y="1319199"/>
            <a:ext cx="2350135" cy="1635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3370" indent="-280670" algn="l" rtl="0" eaLnBrk="0">
              <a:lnSpc>
                <a:spcPct val="97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一款针对学术论文的智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能降重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7495" algn="l" rtl="0" eaLnBrk="0">
              <a:lnSpc>
                <a:spcPct val="105000"/>
              </a:lnSpc>
              <a:spcBef>
                <a:spcPts val="402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其核心功能是通过语义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重构和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句式替换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，有效降低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文本的重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复率并移除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生成痕迹，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帮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助用户通过学术查重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8925" indent="-276859" algn="l" rtl="0" eaLnBrk="0">
              <a:lnSpc>
                <a:spcPct val="112000"/>
              </a:lnSpc>
              <a:spcBef>
                <a:spcPts val="123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5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https://www.qianb</a:t>
            </a:r>
            <a:r>
              <a:rPr sz="1200" u="sng" kern="0" spc="-1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iaigc.com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4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304" name="picture 430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6414871" y="2535859"/>
            <a:ext cx="122986" cy="168859"/>
          </a:xfrm>
          <a:prstGeom prst="rect">
            <a:avLst/>
          </a:prstGeom>
        </p:spPr>
      </p:pic>
      <p:pic>
        <p:nvPicPr>
          <p:cNvPr id="4306" name="picture 430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6414871" y="1733219"/>
            <a:ext cx="122986" cy="168859"/>
          </a:xfrm>
          <a:prstGeom prst="rect">
            <a:avLst/>
          </a:prstGeom>
        </p:spPr>
      </p:pic>
      <p:pic>
        <p:nvPicPr>
          <p:cNvPr id="4308" name="picture 430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6414871" y="1331899"/>
            <a:ext cx="122986" cy="168859"/>
          </a:xfrm>
          <a:prstGeom prst="rect">
            <a:avLst/>
          </a:prstGeom>
        </p:spPr>
      </p:pic>
      <p:pic>
        <p:nvPicPr>
          <p:cNvPr id="4310" name="picture 4310">
            <a:hlinkClick r:id="rId12" action="ppaction://hlinkfile"/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549909" y="5314950"/>
            <a:ext cx="2337435" cy="401319"/>
          </a:xfrm>
          <a:prstGeom prst="rect">
            <a:avLst/>
          </a:prstGeom>
        </p:spPr>
      </p:pic>
      <p:sp>
        <p:nvSpPr>
          <p:cNvPr id="4312" name="textbox 4312"/>
          <p:cNvSpPr/>
          <p:nvPr/>
        </p:nvSpPr>
        <p:spPr>
          <a:xfrm>
            <a:off x="550011" y="4294758"/>
            <a:ext cx="2350770" cy="145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3370" indent="-281304" algn="l" rtl="0" eaLnBrk="0">
              <a:lnSpc>
                <a:spcPct val="106000"/>
              </a:lnSpc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提供精准的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检测功能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，具备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强大的降重能力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0195" indent="-278129" algn="l" rtl="0" eaLnBrk="0">
              <a:lnSpc>
                <a:spcPct val="107000"/>
              </a:lnSpc>
              <a:spcBef>
                <a:spcPts val="98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能够识别出论文中的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成部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，并提供修改建议，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助用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户迅速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蚁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endParaRPr sz="1300" dirty="0">
              <a:latin typeface="Arial"/>
              <a:ea typeface="Arial"/>
              <a:cs typeface="Arial"/>
            </a:endParaRPr>
          </a:p>
          <a:p>
            <a:pPr marL="295275" indent="-282575" algn="l" rtl="0" eaLnBrk="0">
              <a:lnSpc>
                <a:spcPct val="112000"/>
              </a:lnSpc>
              <a:spcBef>
                <a:spcPts val="14"/>
              </a:spcBef>
              <a:tabLst>
                <a:tab pos="135254" algn="l"/>
              </a:tabLst>
            </a:pP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200" kern="0" spc="4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1200" u="sng" kern="0" spc="-28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3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https://w</a:t>
            </a:r>
            <a:r>
              <a:rPr sz="1200" u="sng" kern="0" spc="2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ww.paperdashi.co</a:t>
            </a:r>
            <a:r>
              <a:rPr sz="1200" kern="0" spc="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u="sng" kern="0" spc="-60" dirty="0">
                <a:solidFill>
                  <a:srgbClr val="0026E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12" tooltip="">
                  <a:extLst>
                    <a:ext uri="{DAF060AB-1E55-43B9-8AAB-6FB025537F2F}">
                      <wpsdc:hlinkClr xmlns:wpsdc="http://www.wps.cn/officeDocument/2017/drawingmlCustomData" val="0026E5"/>
                      <wpsdc:folHlinkClr xmlns:wpsdc="http://www.wps.cn/officeDocument/2017/drawingmlCustomData" val="0026E5"/>
                      <wpsdc:hlinkUnderline xmlns:wpsdc="http://www.wps.cn/officeDocument/2017/drawingmlCustomData" val="0"/>
                    </a:ext>
                  </a:extLst>
                </a:hlinkClick>
              </a:rPr>
              <a:t>m/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314" name="picture 431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562711" y="5328589"/>
            <a:ext cx="122986" cy="168859"/>
          </a:xfrm>
          <a:prstGeom prst="rect">
            <a:avLst/>
          </a:prstGeom>
        </p:spPr>
      </p:pic>
      <p:pic>
        <p:nvPicPr>
          <p:cNvPr id="4316" name="picture 431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562711" y="4726609"/>
            <a:ext cx="122986" cy="168859"/>
          </a:xfrm>
          <a:prstGeom prst="rect">
            <a:avLst/>
          </a:prstGeom>
        </p:spPr>
      </p:pic>
      <p:pic>
        <p:nvPicPr>
          <p:cNvPr id="4318" name="picture 431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1830666" y="5090972"/>
            <a:ext cx="182575" cy="189357"/>
          </a:xfrm>
          <a:prstGeom prst="rect">
            <a:avLst/>
          </a:prstGeom>
        </p:spPr>
      </p:pic>
      <p:pic>
        <p:nvPicPr>
          <p:cNvPr id="4320" name="picture 432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1193800" y="5072913"/>
            <a:ext cx="246938" cy="207111"/>
          </a:xfrm>
          <a:prstGeom prst="rect">
            <a:avLst/>
          </a:prstGeom>
        </p:spPr>
      </p:pic>
      <p:pic>
        <p:nvPicPr>
          <p:cNvPr id="4322" name="picture 4322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562711" y="4325289"/>
            <a:ext cx="122986" cy="168859"/>
          </a:xfrm>
          <a:prstGeom prst="rect">
            <a:avLst/>
          </a:prstGeom>
        </p:spPr>
      </p:pic>
      <p:pic>
        <p:nvPicPr>
          <p:cNvPr id="4324" name="picture 4324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4326" name="textbox 4326"/>
          <p:cNvSpPr/>
          <p:nvPr/>
        </p:nvSpPr>
        <p:spPr>
          <a:xfrm>
            <a:off x="102586" y="-31740"/>
            <a:ext cx="2522854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65"/>
              </a:lnSpc>
              <a:tabLst/>
            </a:pPr>
            <a:r>
              <a:rPr sz="39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去AI味工具</a:t>
            </a:r>
            <a:endParaRPr sz="3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8" name="picture 43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8868" y="2279903"/>
            <a:ext cx="3773423" cy="3837432"/>
          </a:xfrm>
          <a:prstGeom prst="rect">
            <a:avLst/>
          </a:prstGeom>
        </p:spPr>
      </p:pic>
      <p:sp>
        <p:nvSpPr>
          <p:cNvPr id="4330" name="textbox 4330"/>
          <p:cNvSpPr/>
          <p:nvPr/>
        </p:nvSpPr>
        <p:spPr>
          <a:xfrm>
            <a:off x="499363" y="5871443"/>
            <a:ext cx="11228705" cy="853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92"/>
              </a:lnSpc>
              <a:tabLst/>
            </a:pPr>
            <a:r>
              <a:rPr sz="1700" b="1" kern="0" spc="-14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（但：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700" b="1" kern="0" spc="-14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推荐自己导</a:t>
            </a:r>
            <a:r>
              <a:rPr sz="1700" b="1" kern="0" spc="-15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入数据）</a:t>
            </a:r>
            <a:endParaRPr sz="1700" dirty="0">
              <a:latin typeface="STKaiti"/>
              <a:ea typeface="STKaiti"/>
              <a:cs typeface="STKait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1129" algn="l" rtl="0" eaLnBrk="0">
              <a:lnSpc>
                <a:spcPct val="97000"/>
              </a:lnSpc>
              <a:spcBef>
                <a:spcPts val="4"/>
              </a:spcBef>
              <a:tabLst>
                <a:tab pos="525144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	</a:t>
            </a: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多工具智能协同：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集成检索 、 分析 、 写作等模块，  自动执行文献整理 、  图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表生成 、知识建模等高强度任务。</a:t>
            </a:r>
            <a:endParaRPr sz="1700" dirty="0">
              <a:latin typeface="STKaiti"/>
              <a:ea typeface="STKaiti"/>
              <a:cs typeface="STKaiti"/>
            </a:endParaRPr>
          </a:p>
        </p:txBody>
      </p:sp>
      <p:pic>
        <p:nvPicPr>
          <p:cNvPr id="4332" name="picture 43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2063" y="6499424"/>
            <a:ext cx="138466" cy="168656"/>
          </a:xfrm>
          <a:prstGeom prst="rect">
            <a:avLst/>
          </a:prstGeom>
        </p:spPr>
      </p:pic>
      <p:sp>
        <p:nvSpPr>
          <p:cNvPr id="4334" name="textbox 4334"/>
          <p:cNvSpPr/>
          <p:nvPr/>
        </p:nvSpPr>
        <p:spPr>
          <a:xfrm>
            <a:off x="7828280" y="3018535"/>
            <a:ext cx="3281045" cy="2489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550" indent="-69850" algn="l" rtl="0" eaLnBrk="0">
              <a:lnSpc>
                <a:spcPct val="97000"/>
              </a:lnSpc>
              <a:tabLst/>
            </a:pPr>
            <a:r>
              <a:rPr sz="2600" kern="0" spc="160" dirty="0">
                <a:solidFill>
                  <a:srgbClr val="25AF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一句话生成图文并茂</a:t>
            </a:r>
            <a:r>
              <a:rPr sz="2600" kern="0" spc="150" dirty="0">
                <a:solidFill>
                  <a:srgbClr val="2EAA7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的国内外研究现状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marL="82550" indent="-69850" algn="l" rtl="0" eaLnBrk="0">
              <a:lnSpc>
                <a:spcPct val="101000"/>
              </a:lnSpc>
              <a:spcBef>
                <a:spcPts val="418"/>
              </a:spcBef>
              <a:tabLst/>
            </a:pPr>
            <a:r>
              <a:rPr sz="2600" kern="0" spc="160" dirty="0">
                <a:solidFill>
                  <a:srgbClr val="24A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一句话生成图文并茂</a:t>
            </a:r>
            <a:r>
              <a:rPr sz="2600" kern="0" spc="140" dirty="0">
                <a:solidFill>
                  <a:srgbClr val="41AC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的百万字研究报告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marL="33655" indent="-20954" algn="l" rtl="0" eaLnBrk="0">
              <a:lnSpc>
                <a:spcPct val="101000"/>
              </a:lnSpc>
              <a:spcBef>
                <a:spcPts val="418"/>
              </a:spcBef>
              <a:tabLst/>
            </a:pPr>
            <a:r>
              <a:rPr sz="2600" kern="0" spc="110" dirty="0">
                <a:solidFill>
                  <a:srgbClr val="2FA77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一句话生成1O张精美</a:t>
            </a:r>
            <a:r>
              <a:rPr sz="2600" kern="0" spc="140" dirty="0">
                <a:solidFill>
                  <a:srgbClr val="2FC57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复杂的可视化图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36" name="textbox 4336"/>
          <p:cNvSpPr/>
          <p:nvPr/>
        </p:nvSpPr>
        <p:spPr>
          <a:xfrm>
            <a:off x="418678" y="256425"/>
            <a:ext cx="5498465" cy="1160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9884" algn="l" rtl="0" eaLnBrk="0">
              <a:lnSpc>
                <a:spcPts val="5401"/>
              </a:lnSpc>
              <a:tabLst/>
            </a:pPr>
            <a:r>
              <a:rPr sz="38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ZeeLin</a:t>
            </a:r>
            <a:r>
              <a:rPr sz="3800" b="1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 Sc</a:t>
            </a:r>
            <a:r>
              <a:rPr sz="32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ientist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7"/>
              </a:spcBef>
              <a:tabLst/>
            </a:pP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软件于2025年10月13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</a:t>
            </a: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日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更新为</a:t>
            </a:r>
            <a:r>
              <a:rPr sz="2300" b="1" kern="0" spc="-30" dirty="0">
                <a:solidFill>
                  <a:srgbClr val="FF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V20251010</a:t>
            </a: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版</a:t>
            </a:r>
            <a:endParaRPr sz="2300" dirty="0">
              <a:latin typeface="STKaiti"/>
              <a:ea typeface="STKaiti"/>
              <a:cs typeface="STKaiti"/>
            </a:endParaRPr>
          </a:p>
        </p:txBody>
      </p:sp>
      <p:sp>
        <p:nvSpPr>
          <p:cNvPr id="4338" name="textbox 4338"/>
          <p:cNvSpPr/>
          <p:nvPr/>
        </p:nvSpPr>
        <p:spPr>
          <a:xfrm>
            <a:off x="6046723" y="3021584"/>
            <a:ext cx="1424939" cy="2059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500" kern="0" spc="250" dirty="0">
                <a:solidFill>
                  <a:srgbClr val="33C47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研究综述</a:t>
            </a:r>
            <a:endParaRPr sz="2500" dirty="0">
              <a:latin typeface="Microsoft YaHei"/>
              <a:ea typeface="Microsoft YaHei"/>
              <a:cs typeface="Microsoft YaHei"/>
            </a:endParaRPr>
          </a:p>
          <a:p>
            <a:pPr marL="17145" indent="-4444" algn="l" rtl="0" eaLnBrk="0">
              <a:lnSpc>
                <a:spcPct val="224000"/>
              </a:lnSpc>
              <a:spcBef>
                <a:spcPts val="1"/>
              </a:spcBef>
              <a:tabLst/>
            </a:pPr>
            <a:r>
              <a:rPr sz="2500" kern="0" spc="230" dirty="0">
                <a:solidFill>
                  <a:srgbClr val="3EC57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研究报告</a:t>
            </a:r>
            <a:r>
              <a:rPr sz="2500" kern="0" spc="190" dirty="0">
                <a:solidFill>
                  <a:srgbClr val="2FAD6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可视绘图</a:t>
            </a:r>
            <a:endParaRPr sz="2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40" name="textbox 4340"/>
          <p:cNvSpPr/>
          <p:nvPr/>
        </p:nvSpPr>
        <p:spPr>
          <a:xfrm>
            <a:off x="6429822" y="2264059"/>
            <a:ext cx="4947284" cy="543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一句话上手的AI学术工具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342" name="picture 43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4344" name="textbox 4344"/>
          <p:cNvSpPr/>
          <p:nvPr/>
        </p:nvSpPr>
        <p:spPr>
          <a:xfrm>
            <a:off x="5897879" y="1653540"/>
            <a:ext cx="5334634" cy="394970"/>
          </a:xfrm>
          <a:prstGeom prst="rect">
            <a:avLst/>
          </a:prstGeom>
          <a:solidFill>
            <a:srgbClr val="FF00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80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59" algn="l" rtl="0" eaLnBrk="0">
              <a:lnSpc>
                <a:spcPct val="97000"/>
              </a:lnSpc>
              <a:tabLst/>
            </a:pP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世界上第一个一句话生成一本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书的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AIGK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46" name="textbox 4346"/>
          <p:cNvSpPr/>
          <p:nvPr/>
        </p:nvSpPr>
        <p:spPr>
          <a:xfrm>
            <a:off x="6886956" y="1013459"/>
            <a:ext cx="3357879" cy="394970"/>
          </a:xfrm>
          <a:prstGeom prst="rect">
            <a:avLst/>
          </a:prstGeom>
          <a:solidFill>
            <a:srgbClr val="FF00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8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429" algn="l" rtl="0" eaLnBrk="0">
              <a:lnSpc>
                <a:spcPct val="97000"/>
              </a:lnSpc>
              <a:tabLst/>
            </a:pP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23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直接交付可编辑的结果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06" name="group 306"/>
          <p:cNvGrpSpPr/>
          <p:nvPr/>
        </p:nvGrpSpPr>
        <p:grpSpPr>
          <a:xfrm rot="21600000">
            <a:off x="861060" y="1584325"/>
            <a:ext cx="2379980" cy="433704"/>
            <a:chOff x="0" y="0"/>
            <a:chExt cx="2379980" cy="433704"/>
          </a:xfrm>
        </p:grpSpPr>
        <p:sp>
          <p:nvSpPr>
            <p:cNvPr id="4348" name="path 4348"/>
            <p:cNvSpPr/>
            <p:nvPr/>
          </p:nvSpPr>
          <p:spPr>
            <a:xfrm>
              <a:off x="0" y="0"/>
              <a:ext cx="2379980" cy="433704"/>
            </a:xfrm>
            <a:custGeom>
              <a:avLst/>
              <a:gdLst/>
              <a:ahLst/>
              <a:cxnLst/>
              <a:rect l="0" t="0" r="0" b="0"/>
              <a:pathLst>
                <a:path w="3748" h="682">
                  <a:moveTo>
                    <a:pt x="0" y="68"/>
                  </a:moveTo>
                  <a:lnTo>
                    <a:pt x="2894" y="68"/>
                  </a:lnTo>
                  <a:lnTo>
                    <a:pt x="2894" y="579"/>
                  </a:lnTo>
                  <a:lnTo>
                    <a:pt x="0" y="579"/>
                  </a:lnTo>
                  <a:lnTo>
                    <a:pt x="0" y="68"/>
                  </a:lnTo>
                  <a:close/>
                </a:path>
                <a:path w="3748" h="682">
                  <a:moveTo>
                    <a:pt x="2005" y="0"/>
                  </a:moveTo>
                  <a:lnTo>
                    <a:pt x="2451" y="0"/>
                  </a:lnTo>
                  <a:lnTo>
                    <a:pt x="2451" y="682"/>
                  </a:lnTo>
                  <a:lnTo>
                    <a:pt x="2005" y="682"/>
                  </a:lnTo>
                  <a:lnTo>
                    <a:pt x="2005" y="0"/>
                  </a:lnTo>
                  <a:close/>
                </a:path>
                <a:path w="3748" h="682">
                  <a:moveTo>
                    <a:pt x="2437" y="0"/>
                  </a:moveTo>
                  <a:lnTo>
                    <a:pt x="3748" y="0"/>
                  </a:lnTo>
                  <a:lnTo>
                    <a:pt x="3748" y="682"/>
                  </a:lnTo>
                  <a:lnTo>
                    <a:pt x="2437" y="682"/>
                  </a:lnTo>
                  <a:lnTo>
                    <a:pt x="2437" y="0"/>
                  </a:lnTo>
                  <a:close/>
                </a:path>
              </a:pathLst>
            </a:custGeom>
            <a:solidFill>
              <a:srgbClr val="FFFF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50" name="textbox 4350"/>
            <p:cNvSpPr/>
            <p:nvPr/>
          </p:nvSpPr>
          <p:spPr>
            <a:xfrm>
              <a:off x="-12700" y="-12700"/>
              <a:ext cx="2406014" cy="4591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683"/>
                </a:lnSpc>
                <a:spcBef>
                  <a:spcPts val="1"/>
                </a:spcBef>
                <a:tabLst/>
              </a:pPr>
              <a:r>
                <a:rPr sz="1900" kern="0" spc="-110" dirty="0">
                  <a:solidFill>
                    <a:srgbClr val="FF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【软件获取网址】</a:t>
              </a:r>
              <a:endParaRPr sz="19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4352" name="picture 43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42276" y="3150107"/>
            <a:ext cx="38100" cy="189128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4" name="picture 4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894588"/>
            <a:ext cx="12192000" cy="5681471"/>
          </a:xfrm>
          <a:prstGeom prst="rect">
            <a:avLst/>
          </a:prstGeom>
        </p:spPr>
      </p:pic>
      <p:sp>
        <p:nvSpPr>
          <p:cNvPr id="4356" name="textbox 4356"/>
          <p:cNvSpPr/>
          <p:nvPr/>
        </p:nvSpPr>
        <p:spPr>
          <a:xfrm>
            <a:off x="220350" y="28008"/>
            <a:ext cx="8074025" cy="676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软件生成样例</a:t>
            </a:r>
            <a:r>
              <a:rPr sz="3200" b="1" kern="0" spc="-20" dirty="0">
                <a:solidFill>
                  <a:srgbClr val="00B0F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--</a:t>
            </a:r>
            <a:r>
              <a:rPr sz="2000" b="1" kern="0" spc="-20" dirty="0">
                <a:solidFill>
                  <a:srgbClr val="00B0F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可视绘图/研究综述/</a:t>
            </a:r>
            <a:r>
              <a:rPr sz="2000" b="1" kern="0" spc="-30" dirty="0">
                <a:solidFill>
                  <a:srgbClr val="00B0F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研究论文/研究报告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358" name="picture 43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4360" name="textbox 4360"/>
          <p:cNvSpPr/>
          <p:nvPr/>
        </p:nvSpPr>
        <p:spPr>
          <a:xfrm>
            <a:off x="179844" y="3802799"/>
            <a:ext cx="251523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校园地理分布图</a:t>
            </a:r>
            <a:r>
              <a:rPr sz="9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（世界范围内合</a:t>
            </a:r>
            <a:r>
              <a:rPr sz="9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作高校分布）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2" name="picture 4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44467" y="2325623"/>
            <a:ext cx="8290560" cy="4105655"/>
          </a:xfrm>
          <a:prstGeom prst="rect">
            <a:avLst/>
          </a:prstGeom>
        </p:spPr>
      </p:pic>
      <p:pic>
        <p:nvPicPr>
          <p:cNvPr id="4364" name="picture 43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1752" y="0"/>
            <a:ext cx="3261359" cy="6832092"/>
          </a:xfrm>
          <a:prstGeom prst="rect">
            <a:avLst/>
          </a:prstGeom>
        </p:spPr>
      </p:pic>
      <p:pic>
        <p:nvPicPr>
          <p:cNvPr id="4366" name="picture 4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49623" y="2412491"/>
            <a:ext cx="3471671" cy="3936491"/>
          </a:xfrm>
          <a:prstGeom prst="rect">
            <a:avLst/>
          </a:prstGeom>
        </p:spPr>
      </p:pic>
      <p:sp>
        <p:nvSpPr>
          <p:cNvPr id="4368" name="textbox 4368"/>
          <p:cNvSpPr/>
          <p:nvPr/>
        </p:nvSpPr>
        <p:spPr>
          <a:xfrm>
            <a:off x="3792728" y="860552"/>
            <a:ext cx="7756525" cy="1078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30019" algn="l" rtl="0" eaLnBrk="0">
              <a:lnSpc>
                <a:spcPct val="97000"/>
              </a:lnSpc>
              <a:spcBef>
                <a:spcPts val="6"/>
              </a:spcBef>
              <a:tabLst>
                <a:tab pos="185356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软件更新信息</a:t>
            </a:r>
            <a:r>
              <a:rPr sz="35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3500" b="1" kern="0" spc="-6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软件教程信息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370" name="picture 43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805428" y="873252"/>
            <a:ext cx="1417320" cy="1053083"/>
          </a:xfrm>
          <a:prstGeom prst="rect">
            <a:avLst/>
          </a:prstGeom>
        </p:spPr>
      </p:pic>
      <p:pic>
        <p:nvPicPr>
          <p:cNvPr id="4372" name="picture 43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91471" y="2887979"/>
            <a:ext cx="2372867" cy="3229355"/>
          </a:xfrm>
          <a:prstGeom prst="rect">
            <a:avLst/>
          </a:prstGeom>
        </p:spPr>
      </p:pic>
      <p:pic>
        <p:nvPicPr>
          <p:cNvPr id="4374" name="picture 43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sp>
        <p:nvSpPr>
          <p:cNvPr id="4376" name="textbox 4376"/>
          <p:cNvSpPr/>
          <p:nvPr/>
        </p:nvSpPr>
        <p:spPr>
          <a:xfrm>
            <a:off x="8103413" y="3769771"/>
            <a:ext cx="488950" cy="1640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97000"/>
              </a:lnSpc>
              <a:spcBef>
                <a:spcPts val="246"/>
              </a:spcBef>
              <a:tabLst/>
            </a:pPr>
            <a:r>
              <a:rPr sz="3500" b="1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97000"/>
              </a:lnSpc>
              <a:spcBef>
                <a:spcPts val="246"/>
              </a:spcBef>
              <a:tabLst/>
            </a:pP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378" name="picture 43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91371" y="4101083"/>
            <a:ext cx="685800" cy="1065276"/>
          </a:xfrm>
          <a:prstGeom prst="rect">
            <a:avLst/>
          </a:prstGeom>
        </p:spPr>
      </p:pic>
      <p:sp>
        <p:nvSpPr>
          <p:cNvPr id="4380" name="textbox 4380"/>
          <p:cNvSpPr/>
          <p:nvPr/>
        </p:nvSpPr>
        <p:spPr>
          <a:xfrm>
            <a:off x="7515403" y="3785646"/>
            <a:ext cx="474980" cy="1640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97000"/>
              </a:lnSpc>
              <a:spcBef>
                <a:spcPts val="246"/>
              </a:spcBef>
              <a:tabLst/>
            </a:pP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97000"/>
              </a:lnSpc>
              <a:spcBef>
                <a:spcPts val="246"/>
              </a:spcBef>
              <a:tabLst/>
            </a:pPr>
            <a:r>
              <a:rPr sz="3500" b="1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手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" name="textbox 4382"/>
          <p:cNvSpPr/>
          <p:nvPr/>
        </p:nvSpPr>
        <p:spPr>
          <a:xfrm>
            <a:off x="360650" y="1349021"/>
            <a:ext cx="5477509" cy="1647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tabLst/>
            </a:pP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主办单位：</a:t>
            </a:r>
            <a:r>
              <a:rPr sz="1700" b="1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北京大学出版社有限公司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520"/>
              </a:spcBef>
              <a:tabLst/>
            </a:pP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时间：</a:t>
            </a:r>
            <a:r>
              <a:rPr sz="1700" b="1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2026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1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30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-2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2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</a:t>
            </a:r>
            <a:r>
              <a:rPr sz="1700" b="1" kern="0" spc="-38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30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日报到，</a:t>
            </a:r>
            <a:r>
              <a:rPr sz="1700" b="1" kern="0" spc="-20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50" dirty="0">
                <a:solidFill>
                  <a:srgbClr val="FF3131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2</a:t>
            </a:r>
            <a:r>
              <a:rPr sz="1700" b="1" kern="0" spc="-60" dirty="0">
                <a:solidFill>
                  <a:srgbClr val="FF31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日返程）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9000"/>
              </a:lnSpc>
              <a:spcBef>
                <a:spcPts val="1546"/>
              </a:spcBef>
              <a:tabLst/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地点：</a:t>
            </a:r>
            <a:r>
              <a:rPr sz="1700" b="1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北京牡丹宾馆</a:t>
            </a:r>
            <a:r>
              <a:rPr sz="17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（北京市海淀区花园东路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31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号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线上：</a:t>
            </a:r>
            <a:r>
              <a:rPr sz="1700" b="1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北京大学出版社博雅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e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学堂平台</a:t>
            </a:r>
            <a:r>
              <a:rPr sz="17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（直播）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08" name="group 308"/>
          <p:cNvGrpSpPr/>
          <p:nvPr/>
        </p:nvGrpSpPr>
        <p:grpSpPr>
          <a:xfrm rot="21600000">
            <a:off x="8954236" y="3139757"/>
            <a:ext cx="2468334" cy="3302863"/>
            <a:chOff x="0" y="0"/>
            <a:chExt cx="2468334" cy="3302863"/>
          </a:xfrm>
        </p:grpSpPr>
        <p:pic>
          <p:nvPicPr>
            <p:cNvPr id="4384" name="picture 438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290860" cy="3032442"/>
            </a:xfrm>
            <a:prstGeom prst="rect">
              <a:avLst/>
            </a:prstGeom>
          </p:spPr>
        </p:pic>
        <p:pic>
          <p:nvPicPr>
            <p:cNvPr id="4386" name="picture 438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38989" y="1857723"/>
              <a:ext cx="2329345" cy="1445140"/>
            </a:xfrm>
            <a:prstGeom prst="rect">
              <a:avLst/>
            </a:prstGeom>
          </p:spPr>
        </p:pic>
        <p:sp>
          <p:nvSpPr>
            <p:cNvPr id="4388" name="textbox 4388"/>
            <p:cNvSpPr/>
            <p:nvPr/>
          </p:nvSpPr>
          <p:spPr>
            <a:xfrm>
              <a:off x="263736" y="2582227"/>
              <a:ext cx="1852929" cy="6743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9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1300" b="1" kern="0" spc="1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和鸿鹏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30480" algn="l" rtl="0" eaLnBrk="0">
                <a:lnSpc>
                  <a:spcPct val="88000"/>
                </a:lnSpc>
                <a:spcBef>
                  <a:spcPts val="496"/>
                </a:spcBef>
                <a:tabLst/>
              </a:pPr>
              <a:r>
                <a:rPr sz="1000" b="1" kern="0" spc="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北京航空航天大学高研院副教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30480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000" b="1" kern="0" spc="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授，科技治理中心副主任</a:t>
              </a:r>
              <a:endParaRPr sz="1000" dirty="0">
                <a:latin typeface="SimHei"/>
                <a:ea typeface="SimHei"/>
                <a:cs typeface="SimHei"/>
              </a:endParaRPr>
            </a:p>
          </p:txBody>
        </p:sp>
        <p:pic>
          <p:nvPicPr>
            <p:cNvPr id="4390" name="picture 43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755864" y="101587"/>
              <a:ext cx="440779" cy="873277"/>
            </a:xfrm>
            <a:prstGeom prst="rect">
              <a:avLst/>
            </a:prstGeom>
          </p:spPr>
        </p:pic>
        <p:pic>
          <p:nvPicPr>
            <p:cNvPr id="4392" name="picture 439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38989" y="637616"/>
              <a:ext cx="401853" cy="873277"/>
            </a:xfrm>
            <a:prstGeom prst="rect">
              <a:avLst/>
            </a:prstGeom>
          </p:spPr>
        </p:pic>
        <p:pic>
          <p:nvPicPr>
            <p:cNvPr id="4394" name="picture 439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76246" y="1396466"/>
              <a:ext cx="353097" cy="440778"/>
            </a:xfrm>
            <a:prstGeom prst="rect">
              <a:avLst/>
            </a:prstGeom>
          </p:spPr>
        </p:pic>
      </p:grpSp>
      <p:pic>
        <p:nvPicPr>
          <p:cNvPr id="4396" name="picture 43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172608" y="3241344"/>
            <a:ext cx="440778" cy="873277"/>
          </a:xfrm>
          <a:prstGeom prst="rect">
            <a:avLst/>
          </a:prstGeom>
        </p:spPr>
      </p:pic>
      <p:grpSp>
        <p:nvGrpSpPr>
          <p:cNvPr id="310" name="group 310"/>
          <p:cNvGrpSpPr/>
          <p:nvPr/>
        </p:nvGrpSpPr>
        <p:grpSpPr>
          <a:xfrm rot="21600000">
            <a:off x="3856469" y="4018102"/>
            <a:ext cx="1756918" cy="1477035"/>
            <a:chOff x="0" y="0"/>
            <a:chExt cx="1756918" cy="1477035"/>
          </a:xfrm>
        </p:grpSpPr>
        <p:sp>
          <p:nvSpPr>
            <p:cNvPr id="4398" name="path 4398"/>
            <p:cNvSpPr/>
            <p:nvPr/>
          </p:nvSpPr>
          <p:spPr>
            <a:xfrm>
              <a:off x="772325" y="148653"/>
              <a:ext cx="984593" cy="1328369"/>
            </a:xfrm>
            <a:custGeom>
              <a:avLst/>
              <a:gdLst/>
              <a:ahLst/>
              <a:cxnLst/>
              <a:rect l="0" t="0" r="0" b="0"/>
              <a:pathLst>
                <a:path w="1550" h="2091">
                  <a:moveTo>
                    <a:pt x="0" y="0"/>
                  </a:moveTo>
                  <a:lnTo>
                    <a:pt x="1550" y="0"/>
                  </a:lnTo>
                  <a:lnTo>
                    <a:pt x="1550" y="2091"/>
                  </a:lnTo>
                  <a:lnTo>
                    <a:pt x="0" y="20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EC8F6">
                <a:alpha val="49803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00" name="path 4400"/>
            <p:cNvSpPr/>
            <p:nvPr/>
          </p:nvSpPr>
          <p:spPr>
            <a:xfrm>
              <a:off x="0" y="0"/>
              <a:ext cx="769023" cy="1477035"/>
            </a:xfrm>
            <a:custGeom>
              <a:avLst/>
              <a:gdLst/>
              <a:ahLst/>
              <a:cxnLst/>
              <a:rect l="0" t="0" r="0" b="0"/>
              <a:pathLst>
                <a:path w="1211" h="2326">
                  <a:moveTo>
                    <a:pt x="0" y="0"/>
                  </a:moveTo>
                  <a:lnTo>
                    <a:pt x="1211" y="0"/>
                  </a:lnTo>
                  <a:lnTo>
                    <a:pt x="1211" y="2326"/>
                  </a:lnTo>
                  <a:lnTo>
                    <a:pt x="0" y="2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C2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4402" name="picture 44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393004" y="4536223"/>
            <a:ext cx="353098" cy="440778"/>
          </a:xfrm>
          <a:prstGeom prst="rect">
            <a:avLst/>
          </a:prstGeom>
        </p:spPr>
      </p:pic>
      <p:pic>
        <p:nvPicPr>
          <p:cNvPr id="4404" name="picture 440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555733" y="3777373"/>
            <a:ext cx="401853" cy="873277"/>
          </a:xfrm>
          <a:prstGeom prst="rect">
            <a:avLst/>
          </a:prstGeom>
        </p:spPr>
      </p:pic>
      <p:pic>
        <p:nvPicPr>
          <p:cNvPr id="4406" name="picture 440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416757" y="3139757"/>
            <a:ext cx="716445" cy="464768"/>
          </a:xfrm>
          <a:prstGeom prst="rect">
            <a:avLst/>
          </a:prstGeom>
        </p:spPr>
      </p:pic>
      <p:pic>
        <p:nvPicPr>
          <p:cNvPr id="4408" name="picture 44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555733" y="3341439"/>
            <a:ext cx="2329345" cy="3101181"/>
          </a:xfrm>
          <a:prstGeom prst="rect">
            <a:avLst/>
          </a:prstGeom>
        </p:spPr>
      </p:pic>
      <p:pic>
        <p:nvPicPr>
          <p:cNvPr id="4410" name="picture 44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02170" y="3139757"/>
            <a:ext cx="2329345" cy="2355379"/>
          </a:xfrm>
          <a:prstGeom prst="rect">
            <a:avLst/>
          </a:prstGeom>
        </p:spPr>
      </p:pic>
      <p:grpSp>
        <p:nvGrpSpPr>
          <p:cNvPr id="312" name="group 312"/>
          <p:cNvGrpSpPr/>
          <p:nvPr/>
        </p:nvGrpSpPr>
        <p:grpSpPr>
          <a:xfrm rot="21600000">
            <a:off x="741146" y="3373292"/>
            <a:ext cx="2329345" cy="3069328"/>
            <a:chOff x="0" y="0"/>
            <a:chExt cx="2329345" cy="3069328"/>
          </a:xfrm>
        </p:grpSpPr>
        <p:pic>
          <p:nvPicPr>
            <p:cNvPr id="4412" name="picture 441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329345" cy="3069328"/>
            </a:xfrm>
            <a:prstGeom prst="rect">
              <a:avLst/>
            </a:prstGeom>
          </p:spPr>
        </p:pic>
        <p:sp>
          <p:nvSpPr>
            <p:cNvPr id="4414" name="textbox 4414"/>
            <p:cNvSpPr/>
            <p:nvPr/>
          </p:nvSpPr>
          <p:spPr>
            <a:xfrm>
              <a:off x="-12700" y="-12700"/>
              <a:ext cx="2355214" cy="30949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12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1764" algn="l" rtl="0" eaLnBrk="0">
                <a:lnSpc>
                  <a:spcPct val="93000"/>
                </a:lnSpc>
                <a:tabLst/>
              </a:pPr>
              <a:r>
                <a:rPr sz="1300" b="1" kern="0" spc="1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孙琳琳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147320" algn="l" rtl="0" eaLnBrk="0">
                <a:lnSpc>
                  <a:spcPct val="88000"/>
                </a:lnSpc>
                <a:spcBef>
                  <a:spcPts val="475"/>
                </a:spcBef>
                <a:tabLst/>
              </a:pPr>
              <a:r>
                <a:rPr sz="1000" b="1" kern="0" spc="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北京航空航天大学教授，博士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marL="151129" algn="l" rtl="0" eaLnBrk="0">
                <a:lnSpc>
                  <a:spcPts val="2104"/>
                </a:lnSpc>
                <a:tabLst/>
              </a:pPr>
              <a:r>
                <a:rPr sz="1000" b="1" kern="0" spc="8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生导师，高研院副院长</a:t>
              </a:r>
              <a:endParaRPr sz="10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416" name="picture 44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231115" y="3139757"/>
            <a:ext cx="2329344" cy="3032442"/>
          </a:xfrm>
          <a:prstGeom prst="rect">
            <a:avLst/>
          </a:prstGeom>
        </p:spPr>
      </p:pic>
      <p:pic>
        <p:nvPicPr>
          <p:cNvPr id="4418" name="picture 44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9118092" y="0"/>
            <a:ext cx="3073907" cy="752855"/>
          </a:xfrm>
          <a:prstGeom prst="rect">
            <a:avLst/>
          </a:prstGeom>
        </p:spPr>
      </p:pic>
      <p:pic>
        <p:nvPicPr>
          <p:cNvPr id="4420" name="picture 44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9806584" y="1203769"/>
            <a:ext cx="1850276" cy="1669084"/>
          </a:xfrm>
          <a:prstGeom prst="rect">
            <a:avLst/>
          </a:prstGeom>
        </p:spPr>
      </p:pic>
      <p:sp>
        <p:nvSpPr>
          <p:cNvPr id="4422" name="textbox 4422"/>
          <p:cNvSpPr/>
          <p:nvPr/>
        </p:nvSpPr>
        <p:spPr>
          <a:xfrm>
            <a:off x="370636" y="686879"/>
            <a:ext cx="11227434" cy="586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6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4100" b="1" kern="0" spc="0" dirty="0">
                <a:solidFill>
                  <a:srgbClr val="5954E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AI</a:t>
            </a:r>
            <a:r>
              <a:rPr sz="4100" b="1" kern="0" spc="80" dirty="0">
                <a:solidFill>
                  <a:srgbClr val="5954E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赋能高校教师教学与科研能力提升专题研修班</a:t>
            </a:r>
            <a:endParaRPr sz="4100" dirty="0">
              <a:latin typeface="SimHei"/>
              <a:ea typeface="SimHei"/>
              <a:cs typeface="SimHei"/>
            </a:endParaRPr>
          </a:p>
        </p:txBody>
      </p:sp>
      <p:grpSp>
        <p:nvGrpSpPr>
          <p:cNvPr id="314" name="group 314"/>
          <p:cNvGrpSpPr/>
          <p:nvPr/>
        </p:nvGrpSpPr>
        <p:grpSpPr>
          <a:xfrm rot="21600000">
            <a:off x="6370103" y="4997481"/>
            <a:ext cx="2329345" cy="1445140"/>
            <a:chOff x="0" y="0"/>
            <a:chExt cx="2329345" cy="1445140"/>
          </a:xfrm>
        </p:grpSpPr>
        <p:pic>
          <p:nvPicPr>
            <p:cNvPr id="4424" name="picture 442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2329345" cy="1445140"/>
            </a:xfrm>
            <a:prstGeom prst="rect">
              <a:avLst/>
            </a:prstGeom>
          </p:spPr>
        </p:pic>
        <p:sp>
          <p:nvSpPr>
            <p:cNvPr id="4426" name="textbox 4426"/>
            <p:cNvSpPr/>
            <p:nvPr/>
          </p:nvSpPr>
          <p:spPr>
            <a:xfrm>
              <a:off x="-12700" y="-12700"/>
              <a:ext cx="2355214" cy="14706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71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9860" algn="l" rtl="0" eaLnBrk="0">
                <a:lnSpc>
                  <a:spcPct val="93000"/>
                </a:lnSpc>
                <a:tabLst/>
              </a:pPr>
              <a:r>
                <a:rPr sz="1300" b="1" kern="0" spc="10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何静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158750" algn="l" rtl="0" eaLnBrk="0">
                <a:lnSpc>
                  <a:spcPct val="88000"/>
                </a:lnSpc>
                <a:spcBef>
                  <a:spcPts val="470"/>
                </a:spcBef>
                <a:tabLst/>
              </a:pPr>
              <a:r>
                <a:rPr sz="1000" b="1" kern="0" spc="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北京航空航天大学高研院副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158114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000" b="1" kern="0" spc="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教授，科技治理中心副主任</a:t>
              </a:r>
              <a:endParaRPr sz="10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428" name="picture 44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8130993" y="1855824"/>
            <a:ext cx="1616817" cy="833193"/>
          </a:xfrm>
          <a:prstGeom prst="rect">
            <a:avLst/>
          </a:prstGeom>
        </p:spPr>
      </p:pic>
      <p:sp>
        <p:nvSpPr>
          <p:cNvPr id="4430" name="textbox 4430"/>
          <p:cNvSpPr/>
          <p:nvPr/>
        </p:nvSpPr>
        <p:spPr>
          <a:xfrm rot="21180000">
            <a:off x="5865411" y="1834209"/>
            <a:ext cx="3315970" cy="372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400" b="1" kern="0" spc="290" dirty="0">
                <a:solidFill>
                  <a:srgbClr val="FF313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扫码咨询+获取日程文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4432" name="textbox 4432"/>
          <p:cNvSpPr/>
          <p:nvPr/>
        </p:nvSpPr>
        <p:spPr>
          <a:xfrm>
            <a:off x="3679603" y="5721984"/>
            <a:ext cx="1957070" cy="693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b="1" kern="0" spc="1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余成峰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8000"/>
              </a:lnSpc>
              <a:spcBef>
                <a:spcPts val="650"/>
              </a:spcBef>
              <a:tabLst/>
            </a:pPr>
            <a:r>
              <a:rPr sz="10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北京航空航天大学高研院教授，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29209" algn="l" rtl="0" eaLnBrk="0">
              <a:lnSpc>
                <a:spcPts val="2104"/>
              </a:lnSpc>
              <a:tabLst/>
            </a:pPr>
            <a:r>
              <a:rPr sz="1000" b="1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科技治理中心主任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4434" name="textbox 4434"/>
          <p:cNvSpPr/>
          <p:nvPr/>
        </p:nvSpPr>
        <p:spPr>
          <a:xfrm>
            <a:off x="3132226" y="3251327"/>
            <a:ext cx="2903220" cy="329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92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就是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36" name="textbox 4436"/>
          <p:cNvSpPr/>
          <p:nvPr/>
        </p:nvSpPr>
        <p:spPr>
          <a:xfrm>
            <a:off x="5208380" y="6599078"/>
            <a:ext cx="247015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4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本次研修班</a:t>
            </a:r>
            <a:r>
              <a:rPr sz="1400" kern="0" spc="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授课老师</a:t>
            </a:r>
            <a:r>
              <a:rPr sz="1400" kern="0" spc="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4438" name="textbox 4438"/>
          <p:cNvSpPr/>
          <p:nvPr/>
        </p:nvSpPr>
        <p:spPr>
          <a:xfrm rot="21180000">
            <a:off x="7436414" y="2488324"/>
            <a:ext cx="329565" cy="358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2400" b="1" kern="0" spc="-30" dirty="0">
                <a:solidFill>
                  <a:srgbClr val="FF313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件</a:t>
            </a:r>
            <a:endParaRPr sz="2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2026-02-10T13:58:52Z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2026-02-10T13:57:44</vt:filetime>
  </property>
</Properties>
</file>